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17"/>
  </p:notesMasterIdLst>
  <p:handoutMasterIdLst>
    <p:handoutMasterId r:id="rId18"/>
  </p:handoutMasterIdLst>
  <p:sldIdLst>
    <p:sldId id="386" r:id="rId2"/>
    <p:sldId id="345" r:id="rId3"/>
    <p:sldId id="382" r:id="rId4"/>
    <p:sldId id="376" r:id="rId5"/>
    <p:sldId id="383" r:id="rId6"/>
    <p:sldId id="378" r:id="rId7"/>
    <p:sldId id="380" r:id="rId8"/>
    <p:sldId id="381" r:id="rId9"/>
    <p:sldId id="384" r:id="rId10"/>
    <p:sldId id="377" r:id="rId11"/>
    <p:sldId id="379" r:id="rId12"/>
    <p:sldId id="385" r:id="rId13"/>
    <p:sldId id="372" r:id="rId14"/>
    <p:sldId id="387" r:id="rId15"/>
    <p:sldId id="388" r:id="rId16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434" autoAdjust="0"/>
  </p:normalViewPr>
  <p:slideViewPr>
    <p:cSldViewPr snapToObjects="1">
      <p:cViewPr varScale="1">
        <p:scale>
          <a:sx n="74" d="100"/>
          <a:sy n="74" d="100"/>
        </p:scale>
        <p:origin x="111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‹N°›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" y="594359"/>
            <a:ext cx="3436986" cy="2286000"/>
          </a:xfrm>
        </p:spPr>
        <p:txBody>
          <a:bodyPr/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Kiểm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20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phút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Trịnh Lê Huy</a:t>
            </a:r>
            <a:endParaRPr lang="sv-S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36CB-44A3-4A56-9571-5AC9E7D220F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10" name="Group 7"/>
          <p:cNvGrpSpPr/>
          <p:nvPr/>
        </p:nvGrpSpPr>
        <p:grpSpPr>
          <a:xfrm>
            <a:off x="-93712" y="3557074"/>
            <a:ext cx="3530698" cy="3267838"/>
            <a:chOff x="137464" y="2501423"/>
            <a:chExt cx="4702265" cy="3267837"/>
          </a:xfrm>
        </p:grpSpPr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464" y="2501423"/>
              <a:ext cx="4702265" cy="3267837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2162690" y="3338990"/>
              <a:ext cx="495055" cy="2250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2046923" y="3270466"/>
              <a:ext cx="700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rgbClr val="FF0000"/>
                  </a:solidFill>
                  <a:latin typeface="+mn-lt"/>
                  <a:cs typeface="Times" panose="02020603050405020304" pitchFamily="18" charset="0"/>
                </a:rPr>
                <a:t>450 </a:t>
              </a:r>
              <a:r>
                <a:rPr lang="en-US" sz="1600" dirty="0">
                  <a:solidFill>
                    <a:srgbClr val="FF0000"/>
                  </a:solidFill>
                  <a:latin typeface="+mn-lt"/>
                  <a:cs typeface="Times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sz="1600" dirty="0">
                <a:solidFill>
                  <a:srgbClr val="FF0000"/>
                </a:solidFill>
                <a:latin typeface="+mn-lt"/>
                <a:cs typeface="Times" panose="02020603050405020304" pitchFamily="18" charset="0"/>
              </a:endParaRPr>
            </a:p>
          </p:txBody>
        </p:sp>
      </p:grpSp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986" y="1544076"/>
            <a:ext cx="6480720" cy="5287617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202483" y="155819"/>
            <a:ext cx="9411551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DC Load line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Q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:</a:t>
            </a:r>
            <a:endParaRPr lang="en-US" dirty="0"/>
          </a:p>
          <a:p>
            <a:pPr algn="l"/>
            <a:r>
              <a:rPr lang="en-US" dirty="0" smtClean="0"/>
              <a:t>-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Ipp</a:t>
            </a:r>
            <a:r>
              <a:rPr lang="en-US" dirty="0" smtClean="0"/>
              <a:t>=400uA</a:t>
            </a:r>
          </a:p>
          <a:p>
            <a:pPr algn="l"/>
            <a:r>
              <a:rPr lang="en-US" dirty="0" smtClean="0"/>
              <a:t>-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ko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62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vi-V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 tích các mạch khuếch đại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căn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bản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CE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CB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CC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Bài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tập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3902D6-C657-4B29-B264-8EF0B5FCC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BJT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BE86935-5FA1-4390-B326-F7720374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A87BBCB-7E08-4D36-8105-2E27CD4A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3EB83E1-FCF9-4393-842C-6E64C9EEB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8" y="3814333"/>
            <a:ext cx="5539401" cy="30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787DE00-1008-41B8-BC34-EC74F5A95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10" y="2628420"/>
            <a:ext cx="2238375" cy="2771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5171AE0-C316-41A5-A578-A57AC198E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771" y="1841547"/>
            <a:ext cx="4132379" cy="2034402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xmlns="" id="{C0015F8F-FD1E-44E9-B5EE-ABC13626C2FC}"/>
              </a:ext>
            </a:extLst>
          </p:cNvPr>
          <p:cNvSpPr/>
          <p:nvPr/>
        </p:nvSpPr>
        <p:spPr>
          <a:xfrm>
            <a:off x="2632909" y="3354693"/>
            <a:ext cx="1098862" cy="11725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0918B8F-09C8-4BFB-8355-8E1356584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563" y="2384050"/>
            <a:ext cx="1896485" cy="100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9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5" y="2109914"/>
            <a:ext cx="3184270" cy="4181216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4727975" y="5625570"/>
            <a:ext cx="3109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76BBEE6-225A-4A17-A716-EAAC359BB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598" y="1906018"/>
            <a:ext cx="6534817" cy="35032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F39A8AB-4BEE-49AE-A527-CFBBFBB67956}"/>
              </a:ext>
            </a:extLst>
          </p:cNvPr>
          <p:cNvSpPr txBox="1"/>
          <p:nvPr/>
        </p:nvSpPr>
        <p:spPr>
          <a:xfrm>
            <a:off x="3637773" y="2109914"/>
            <a:ext cx="21804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hiệu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lớn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284574" y="5570166"/>
            <a:ext cx="3672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R</a:t>
            </a:r>
            <a:r>
              <a:rPr lang="en-US" baseline="-25000" dirty="0"/>
              <a:t>in(base)</a:t>
            </a:r>
            <a:r>
              <a:rPr lang="en-US" dirty="0"/>
              <a:t>, R</a:t>
            </a:r>
            <a:r>
              <a:rPr lang="en-US" baseline="-25000" dirty="0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  <p:pic>
        <p:nvPicPr>
          <p:cNvPr id="10" name="Image 6">
            <a:extLst>
              <a:ext uri="{FF2B5EF4-FFF2-40B4-BE49-F238E27FC236}">
                <a16:creationId xmlns:a16="http://schemas.microsoft.com/office/drawing/2014/main" xmlns="" id="{85F6FDBE-C839-44A1-AA2C-BDA6A73DA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4" y="1888774"/>
            <a:ext cx="3168595" cy="44705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A102A54E-7FF5-4770-BA56-165972988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598" y="1906018"/>
            <a:ext cx="6534817" cy="35032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CE53BE8-3BA9-44D2-813D-A106C6B79DCF}"/>
              </a:ext>
            </a:extLst>
          </p:cNvPr>
          <p:cNvSpPr txBox="1"/>
          <p:nvPr/>
        </p:nvSpPr>
        <p:spPr>
          <a:xfrm>
            <a:off x="3647855" y="1928056"/>
            <a:ext cx="2262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hiệu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nhỏ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902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42510" y="3023955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980" y="1920370"/>
            <a:ext cx="50006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0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026" y="1803995"/>
            <a:ext cx="6572250" cy="450532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362490" y="2357122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9131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260" y="1851945"/>
            <a:ext cx="5429250" cy="4467225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362490" y="2357122"/>
            <a:ext cx="43059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just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R</a:t>
            </a:r>
            <a:r>
              <a:rPr lang="en-US" baseline="-25000" dirty="0"/>
              <a:t>E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0 </a:t>
            </a:r>
            <a:r>
              <a:rPr lang="en-US" dirty="0" err="1"/>
              <a:t>đến</a:t>
            </a:r>
            <a:r>
              <a:rPr lang="en-US" dirty="0"/>
              <a:t> 100</a:t>
            </a:r>
          </a:p>
        </p:txBody>
      </p:sp>
    </p:spTree>
    <p:extLst>
      <p:ext uri="{BB962C8B-B14F-4D97-AF65-F5344CB8AC3E}">
        <p14:creationId xmlns:p14="http://schemas.microsoft.com/office/powerpoint/2010/main" val="2758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D7D376B-1908-403A-A354-ED4288D3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620089"/>
            <a:ext cx="7921845" cy="4114800"/>
          </a:xfrm>
          <a:prstGeom prst="rect">
            <a:avLst/>
          </a:prstGeom>
        </p:spPr>
      </p:pic>
      <p:sp>
        <p:nvSpPr>
          <p:cNvPr id="8" name="ZoneTexte 8">
            <a:extLst>
              <a:ext uri="{FF2B5EF4-FFF2-40B4-BE49-F238E27FC236}">
                <a16:creationId xmlns:a16="http://schemas.microsoft.com/office/drawing/2014/main" xmlns="" id="{4550DC46-99C9-4F7F-B9C2-4FE6D482B695}"/>
              </a:ext>
            </a:extLst>
          </p:cNvPr>
          <p:cNvSpPr txBox="1"/>
          <p:nvPr/>
        </p:nvSpPr>
        <p:spPr>
          <a:xfrm>
            <a:off x="878180" y="1763227"/>
            <a:ext cx="6325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CE </a:t>
            </a:r>
            <a:r>
              <a:rPr lang="en-US" dirty="0" err="1"/>
              <a:t>có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 -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pPr algn="l"/>
            <a:r>
              <a:rPr lang="en-US" dirty="0"/>
              <a:t>-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20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5" y="2710063"/>
            <a:ext cx="2008854" cy="273427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895" y="2356955"/>
            <a:ext cx="5467350" cy="3419475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667635" y="1824671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  <p:pic>
        <p:nvPicPr>
          <p:cNvPr id="13" name="Image 9">
            <a:extLst>
              <a:ext uri="{FF2B5EF4-FFF2-40B4-BE49-F238E27FC236}">
                <a16:creationId xmlns:a16="http://schemas.microsoft.com/office/drawing/2014/main" xmlns="" id="{94BCE199-B4D8-44CA-8D4C-E7B627A8B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458" y="4332304"/>
            <a:ext cx="2653702" cy="24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39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35368" y="2655668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1808820"/>
            <a:ext cx="446722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2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17BCC69-AF5D-4222-BC3B-E1FD2BAC5943}"/>
              </a:ext>
            </a:extLst>
          </p:cNvPr>
          <p:cNvSpPr txBox="1"/>
          <p:nvPr/>
        </p:nvSpPr>
        <p:spPr>
          <a:xfrm>
            <a:off x="666217" y="1744064"/>
            <a:ext cx="436209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CC </a:t>
            </a:r>
            <a:r>
              <a:rPr lang="en-US" dirty="0" err="1"/>
              <a:t>có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 -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1</a:t>
            </a:r>
          </a:p>
          <a:p>
            <a:pPr algn="l"/>
            <a:r>
              <a:rPr lang="en-US" dirty="0"/>
              <a:t> -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  <a:p>
            <a:pPr algn="l"/>
            <a:r>
              <a:rPr lang="en-US" dirty="0"/>
              <a:t> -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CF5CD86-C3E3-424D-A6C2-BC4B37773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3322066"/>
            <a:ext cx="7584574" cy="288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0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1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15 </a:t>
            </a:r>
            <a:r>
              <a:rPr lang="en-US" dirty="0" err="1" smtClean="0"/>
              <a:t>phút</a:t>
            </a:r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Trịnh Lê Huy</a:t>
            </a:r>
            <a:endParaRPr lang="sv-S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xmlns="" id="{176BBEE6-225A-4A17-A716-EAAC359BB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645" y="2078850"/>
            <a:ext cx="6140550" cy="329184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141653" y="5398092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strike="sngStrike" dirty="0" err="1"/>
              <a:t>Tính</a:t>
            </a:r>
            <a:r>
              <a:rPr lang="en-US" strike="sngStrike" dirty="0"/>
              <a:t> </a:t>
            </a:r>
            <a:r>
              <a:rPr lang="en-US" strike="sngStrike" dirty="0" err="1"/>
              <a:t>R</a:t>
            </a:r>
            <a:r>
              <a:rPr lang="en-US" strike="sngStrike" baseline="-25000" dirty="0" err="1"/>
              <a:t>in</a:t>
            </a:r>
            <a:r>
              <a:rPr lang="en-US" strike="sngStrike" baseline="-25000" dirty="0"/>
              <a:t>(base)</a:t>
            </a:r>
            <a:r>
              <a:rPr lang="en-US" strike="sngStrike" dirty="0"/>
              <a:t>, </a:t>
            </a:r>
            <a:r>
              <a:rPr lang="en-US" strike="sngStrike" dirty="0" err="1"/>
              <a:t>R</a:t>
            </a:r>
            <a:r>
              <a:rPr lang="en-US" strike="sngStrike" baseline="-25000" dirty="0" err="1"/>
              <a:t>in</a:t>
            </a:r>
            <a:r>
              <a:rPr lang="en-US" strike="sngStrike" dirty="0"/>
              <a:t>, A</a:t>
            </a:r>
            <a:r>
              <a:rPr lang="en-US" strike="sngStrike" baseline="-25000" dirty="0"/>
              <a:t>v</a:t>
            </a:r>
            <a:r>
              <a:rPr lang="en-US" strike="sngStrike" dirty="0"/>
              <a:t>, A</a:t>
            </a:r>
            <a:r>
              <a:rPr lang="en-US" strike="sngStrike" baseline="-25000" dirty="0"/>
              <a:t>i</a:t>
            </a:r>
            <a:r>
              <a:rPr lang="en-US" strike="sngStrike" dirty="0"/>
              <a:t>, </a:t>
            </a:r>
            <a:r>
              <a:rPr lang="en-US" strike="sngStrike" dirty="0" err="1"/>
              <a:t>A</a:t>
            </a:r>
            <a:r>
              <a:rPr lang="en-US" strike="sngStrike" baseline="-25000" dirty="0" err="1"/>
              <a:t>p</a:t>
            </a:r>
            <a:r>
              <a:rPr lang="en-US" strike="sngStrik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7833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15 </a:t>
            </a:r>
            <a:r>
              <a:rPr lang="en-US" dirty="0" err="1" smtClean="0"/>
              <a:t>phút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35368" y="2655668"/>
            <a:ext cx="3672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/>
              <a:t>Tính</a:t>
            </a:r>
            <a:r>
              <a:rPr lang="en-US" dirty="0"/>
              <a:t> I</a:t>
            </a:r>
            <a:r>
              <a:rPr lang="en-US" baseline="-25000" dirty="0"/>
              <a:t>E</a:t>
            </a:r>
            <a:r>
              <a:rPr lang="en-US" dirty="0"/>
              <a:t>, I</a:t>
            </a:r>
            <a:r>
              <a:rPr lang="en-US" baseline="-25000" dirty="0"/>
              <a:t>C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, V</a:t>
            </a:r>
            <a:r>
              <a:rPr lang="en-US" baseline="-25000" dirty="0"/>
              <a:t>B</a:t>
            </a:r>
            <a:r>
              <a:rPr lang="en-US" dirty="0"/>
              <a:t>, V</a:t>
            </a:r>
            <a:r>
              <a:rPr lang="en-US" baseline="-25000" dirty="0"/>
              <a:t>C</a:t>
            </a:r>
            <a:r>
              <a:rPr lang="en-US" dirty="0"/>
              <a:t>?</a:t>
            </a:r>
          </a:p>
          <a:p>
            <a:pPr algn="l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baseline="-25000" dirty="0"/>
              <a:t>(base)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, A</a:t>
            </a:r>
            <a:r>
              <a:rPr lang="en-US" baseline="-25000" dirty="0"/>
              <a:t>v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p</a:t>
            </a:r>
            <a:r>
              <a:rPr lang="en-US" dirty="0"/>
              <a:t>?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1808820"/>
            <a:ext cx="446722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3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49782</TotalTime>
  <Words>454</Words>
  <Application>Microsoft Office PowerPoint</Application>
  <PresentationFormat>Format A4 (210 x 297 mm)</PresentationFormat>
  <Paragraphs>81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</vt:lpstr>
      <vt:lpstr>Times New Roman</vt:lpstr>
      <vt:lpstr>Wingdings</vt:lpstr>
      <vt:lpstr>Retrospect</vt:lpstr>
      <vt:lpstr>Kiểm tra 20 phút</vt:lpstr>
      <vt:lpstr>Chương 4</vt:lpstr>
      <vt:lpstr>Mạch tương đương của BJT</vt:lpstr>
      <vt:lpstr>Phân tích mạch khuếch đại CE</vt:lpstr>
      <vt:lpstr>Phân tích mạch khuếch đại CE</vt:lpstr>
      <vt:lpstr>Phân tích mạch khuếch đại CE</vt:lpstr>
      <vt:lpstr>Phân tích mạch khuếch đại CE</vt:lpstr>
      <vt:lpstr>Phân tích mạch khuếch đại CE</vt:lpstr>
      <vt:lpstr>Phân tích mạch khuếch đại CE</vt:lpstr>
      <vt:lpstr>Phân tích mạch khuếch đại CC</vt:lpstr>
      <vt:lpstr>Phân tích mạch khuếch đại CC</vt:lpstr>
      <vt:lpstr>Phân tích mạch khuếch đại CC</vt:lpstr>
      <vt:lpstr>Thank you!</vt:lpstr>
      <vt:lpstr>Kiểm tra 15 phút</vt:lpstr>
      <vt:lpstr>Kiểm tra 15 phút</vt:lpstr>
    </vt:vector>
  </TitlesOfParts>
  <Company>Mid Sweden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Le Huy Trinh</cp:lastModifiedBy>
  <cp:revision>897</cp:revision>
  <cp:lastPrinted>2004-10-20T11:26:57Z</cp:lastPrinted>
  <dcterms:created xsi:type="dcterms:W3CDTF">2005-06-07T08:25:50Z</dcterms:created>
  <dcterms:modified xsi:type="dcterms:W3CDTF">2017-11-09T01:21:53Z</dcterms:modified>
</cp:coreProperties>
</file>