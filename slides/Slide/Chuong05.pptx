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75" r:id="rId1"/>
  </p:sldMasterIdLst>
  <p:notesMasterIdLst>
    <p:notesMasterId r:id="rId27"/>
  </p:notesMasterIdLst>
  <p:handoutMasterIdLst>
    <p:handoutMasterId r:id="rId28"/>
  </p:handoutMasterIdLst>
  <p:sldIdLst>
    <p:sldId id="345" r:id="rId2"/>
    <p:sldId id="376" r:id="rId3"/>
    <p:sldId id="379" r:id="rId4"/>
    <p:sldId id="377" r:id="rId5"/>
    <p:sldId id="378" r:id="rId6"/>
    <p:sldId id="380" r:id="rId7"/>
    <p:sldId id="381" r:id="rId8"/>
    <p:sldId id="382" r:id="rId9"/>
    <p:sldId id="383" r:id="rId10"/>
    <p:sldId id="384" r:id="rId11"/>
    <p:sldId id="385" r:id="rId12"/>
    <p:sldId id="388" r:id="rId13"/>
    <p:sldId id="390" r:id="rId14"/>
    <p:sldId id="391" r:id="rId15"/>
    <p:sldId id="392" r:id="rId16"/>
    <p:sldId id="398" r:id="rId17"/>
    <p:sldId id="399" r:id="rId18"/>
    <p:sldId id="393" r:id="rId19"/>
    <p:sldId id="394" r:id="rId20"/>
    <p:sldId id="395" r:id="rId21"/>
    <p:sldId id="396" r:id="rId22"/>
    <p:sldId id="397" r:id="rId23"/>
    <p:sldId id="400" r:id="rId24"/>
    <p:sldId id="372" r:id="rId25"/>
    <p:sldId id="401" r:id="rId26"/>
  </p:sldIdLst>
  <p:sldSz cx="9906000" cy="6858000" type="A4"/>
  <p:notesSz cx="6881813" cy="9296400"/>
  <p:defaultTextStyle>
    <a:defPPr>
      <a:defRPr lang="sv-SE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14F0"/>
    <a:srgbClr val="FFFF99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0211" autoAdjust="0"/>
  </p:normalViewPr>
  <p:slideViewPr>
    <p:cSldViewPr snapToObjects="1">
      <p:cViewPr varScale="1">
        <p:scale>
          <a:sx n="60" d="100"/>
          <a:sy n="60" d="100"/>
        </p:scale>
        <p:origin x="1536" y="4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88" d="100"/>
          <a:sy n="88" d="100"/>
        </p:scale>
        <p:origin x="3822" y="66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9694" y="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58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9694" y="883158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1AC2784-202A-43B4-8BBE-F1C2E4013BCD}" type="slidenum">
              <a:rPr lang="sv-SE"/>
              <a:pPr/>
              <a:t>‹N°›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84149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694" y="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3925" y="696913"/>
            <a:ext cx="5033963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5790"/>
            <a:ext cx="5046663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694" y="883158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B3A6057-268F-4F30-9FDB-4F3BD4328747}" type="slidenum">
              <a:rPr lang="sv-SE"/>
              <a:pPr/>
              <a:t>‹N°›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05230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0" y="758952"/>
            <a:ext cx="817245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3791" y="4455621"/>
            <a:ext cx="817245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6CE6A-4F36-49F2-9B13-8DEAF960F767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61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156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758952"/>
            <a:ext cx="817245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4453128"/>
            <a:ext cx="817245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03C9-52B0-430A-AEB2-F6AD00D0027A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168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540" y="1845734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2060" y="1845735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9FBD9-45E0-447C-8C83-56BDF85B5FD9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866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54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5206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5206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9C9A-188C-42DE-97CB-2E31ACB1EA45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952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05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14CD8-DB15-496A-A859-82D24A1AF52A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754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29126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282557" y="0"/>
            <a:ext cx="5200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594359"/>
            <a:ext cx="2600325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0488" y="731520"/>
            <a:ext cx="5274945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475" y="2926080"/>
            <a:ext cx="2600325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00487" y="6459787"/>
            <a:ext cx="3776663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1D136CB-44A3-4A56-9571-5AC9E7D220FF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20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90342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3" y="491507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5074920"/>
            <a:ext cx="8217337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9905988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1540" y="5907024"/>
            <a:ext cx="822198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B1C77-4CB1-498D-9F07-B554D165B420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1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D9B1D-FDCB-443F-93C0-5F97D675AD51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70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412302"/>
            <a:ext cx="2135981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412302"/>
            <a:ext cx="6284119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071D-A73F-4BA5-9F02-094D29CF2789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195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9906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9906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39" y="1845734"/>
            <a:ext cx="817245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6F0065D-453A-49D6-B09C-0939AFFF0617}" type="slidenum">
              <a:rPr lang="sv-SE" smtClean="0"/>
              <a:pPr/>
              <a:t>‹N°›</a:t>
            </a:fld>
            <a:endParaRPr lang="sv-SE" sz="1400"/>
          </a:p>
        </p:txBody>
      </p:sp>
      <p:cxnSp>
        <p:nvCxnSpPr>
          <p:cNvPr id="10" name="Straight Connector 9"/>
          <p:cNvCxnSpPr/>
          <p:nvPr/>
        </p:nvCxnSpPr>
        <p:spPr>
          <a:xfrm>
            <a:off x="969745" y="1737845"/>
            <a:ext cx="809815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4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jpe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Chương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5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32820" y="731520"/>
            <a:ext cx="6573180" cy="52578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CÁC THIẾT BỊ VÀ MẠCH ĐIỆN TỬ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>
              <a:buClr>
                <a:srgbClr val="FFC000"/>
              </a:buClr>
            </a:pP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Transistor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Hiệu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ứng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trường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FET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Cấu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tạo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đặc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tính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JFET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cực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JFET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Cấu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tạo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đặc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tính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và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cực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MOSFET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kênh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liên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tục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Cấu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tạo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đặc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tính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và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cực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MOSFET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kênh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gián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đoạn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</a:t>
            </a:fld>
            <a:endParaRPr lang="sv-SE" sz="1400">
              <a:latin typeface="Times" pitchFamily="1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783455" y="2951780"/>
            <a:ext cx="3509010" cy="1737360"/>
            <a:chOff x="5141976" y="2438890"/>
            <a:chExt cx="3509010" cy="1737360"/>
          </a:xfrm>
        </p:grpSpPr>
        <p:pic>
          <p:nvPicPr>
            <p:cNvPr id="1026" name="Picture 2" descr="http://portal.uit.edu.vn/Styles/profi/images/logo186x150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1976" y="2646045"/>
              <a:ext cx="1771650" cy="1428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3626" y="2438890"/>
              <a:ext cx="1737360" cy="17373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0908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Transistor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JFET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9" name="Picture 21" descr="field-effect transisto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68035" y="2078850"/>
            <a:ext cx="4335736" cy="335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4196475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1930: Julius </a:t>
            </a:r>
            <a:r>
              <a:rPr lang="en-US" dirty="0" err="1"/>
              <a:t>Lilienfeld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sáng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ý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transistor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.</a:t>
            </a:r>
          </a:p>
          <a:p>
            <a:pPr marL="0" indent="0" fontAlgn="auto">
              <a:buNone/>
            </a:pPr>
            <a:r>
              <a:rPr lang="en-US" dirty="0" err="1"/>
              <a:t>Tuy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,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,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ý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J. </a:t>
            </a:r>
            <a:r>
              <a:rPr lang="en-US" dirty="0" err="1"/>
              <a:t>Lilienfeld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. Do </a:t>
            </a:r>
            <a:r>
              <a:rPr lang="en-US" dirty="0" err="1"/>
              <a:t>đó</a:t>
            </a:r>
            <a:r>
              <a:rPr lang="en-US" dirty="0"/>
              <a:t> ý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giấy</a:t>
            </a:r>
            <a:r>
              <a:rPr lang="en-US" dirty="0"/>
              <a:t>!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1959: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, transistor FET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đời</a:t>
            </a:r>
            <a:r>
              <a:rPr lang="en-US" dirty="0"/>
              <a:t> bởi  </a:t>
            </a:r>
            <a:r>
              <a:rPr lang="en-US" dirty="0" err="1"/>
              <a:t>Dawon</a:t>
            </a:r>
            <a:r>
              <a:rPr lang="en-US" dirty="0"/>
              <a:t> </a:t>
            </a:r>
            <a:r>
              <a:rPr lang="en-US" dirty="0" err="1"/>
              <a:t>Kahng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Martin </a:t>
            </a:r>
            <a:r>
              <a:rPr lang="en-US" dirty="0" err="1"/>
              <a:t>Atalla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44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Transistor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JFET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4196475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Ý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transistor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trường</a:t>
            </a:r>
            <a:endParaRPr lang="en-US" dirty="0"/>
          </a:p>
        </p:txBody>
      </p:sp>
      <p:pic>
        <p:nvPicPr>
          <p:cNvPr id="1026" name="Picture 2" descr="Image result for ohm law funn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777" y="2534090"/>
            <a:ext cx="3810000" cy="3505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see mem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080" y="222929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5927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Transistor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JFET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4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419647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Transistor </a:t>
            </a:r>
            <a:r>
              <a:rPr lang="en-US" dirty="0" err="1"/>
              <a:t>hiêu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FET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switch </a:t>
            </a:r>
            <a:r>
              <a:rPr lang="en-US" dirty="0" err="1"/>
              <a:t>đóng</a:t>
            </a:r>
            <a:r>
              <a:rPr lang="en-US" dirty="0"/>
              <a:t> ở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. (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qua)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transistor FET, switch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sang </a:t>
            </a:r>
            <a:r>
              <a:rPr lang="en-US" dirty="0" err="1"/>
              <a:t>mở</a:t>
            </a:r>
            <a:r>
              <a:rPr lang="en-US" dirty="0"/>
              <a:t>. (</a:t>
            </a:r>
            <a:r>
              <a:rPr lang="en-US" dirty="0" err="1"/>
              <a:t>cường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)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FET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2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N </a:t>
            </a:r>
            <a:r>
              <a:rPr lang="en-US" dirty="0" err="1"/>
              <a:t>và</a:t>
            </a:r>
            <a:r>
              <a:rPr lang="en-US" dirty="0"/>
              <a:t> P.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Drain (</a:t>
            </a:r>
            <a:r>
              <a:rPr lang="en-US" dirty="0" err="1"/>
              <a:t>máng</a:t>
            </a:r>
            <a:r>
              <a:rPr lang="en-US" dirty="0"/>
              <a:t>) </a:t>
            </a:r>
            <a:r>
              <a:rPr lang="en-US" dirty="0" err="1"/>
              <a:t>và</a:t>
            </a:r>
            <a:r>
              <a:rPr lang="en-US" dirty="0"/>
              <a:t> Source (</a:t>
            </a:r>
            <a:r>
              <a:rPr lang="en-US" dirty="0" err="1"/>
              <a:t>nguồn</a:t>
            </a:r>
            <a:r>
              <a:rPr lang="en-US" dirty="0"/>
              <a:t>)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kênh</a:t>
            </a:r>
            <a:r>
              <a:rPr lang="en-US" dirty="0"/>
              <a:t> N.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Gate (</a:t>
            </a:r>
            <a:r>
              <a:rPr lang="en-US" dirty="0" err="1"/>
              <a:t>cổng</a:t>
            </a:r>
            <a:r>
              <a:rPr lang="en-US" dirty="0"/>
              <a:t>)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2 </a:t>
            </a:r>
            <a:r>
              <a:rPr lang="en-US" dirty="0" err="1"/>
              <a:t>kênh</a:t>
            </a:r>
            <a:r>
              <a:rPr lang="en-US" dirty="0"/>
              <a:t> P </a:t>
            </a:r>
            <a:r>
              <a:rPr lang="en-US" dirty="0" err="1"/>
              <a:t>của</a:t>
            </a:r>
            <a:r>
              <a:rPr lang="en-US" dirty="0"/>
              <a:t> FET.</a:t>
            </a:r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070" y="2033845"/>
            <a:ext cx="3838575" cy="29146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2520" y="4149080"/>
            <a:ext cx="4455495" cy="21152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èche à angle droit 7"/>
          <p:cNvSpPr/>
          <p:nvPr/>
        </p:nvSpPr>
        <p:spPr>
          <a:xfrm rot="16200000" flipH="1">
            <a:off x="5631507" y="4269829"/>
            <a:ext cx="730920" cy="1817898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81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Transistor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JFET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419647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65" y="2622919"/>
            <a:ext cx="3108960" cy="2221941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937" y="2622919"/>
            <a:ext cx="6540139" cy="2194560"/>
          </a:xfrm>
          <a:prstGeom prst="rect">
            <a:avLst/>
          </a:prstGeom>
        </p:spPr>
      </p:pic>
      <p:cxnSp>
        <p:nvCxnSpPr>
          <p:cNvPr id="13" name="Connecteur droit avec flèche 12"/>
          <p:cNvCxnSpPr/>
          <p:nvPr/>
        </p:nvCxnSpPr>
        <p:spPr>
          <a:xfrm flipV="1">
            <a:off x="891540" y="4959170"/>
            <a:ext cx="7976895" cy="1305144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/>
          <p:cNvSpPr txBox="1"/>
          <p:nvPr/>
        </p:nvSpPr>
        <p:spPr>
          <a:xfrm>
            <a:off x="4311950" y="5139190"/>
            <a:ext cx="6080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V</a:t>
            </a:r>
            <a:r>
              <a:rPr lang="en-US" baseline="-25000" dirty="0">
                <a:latin typeface="+mj-lt"/>
              </a:rPr>
              <a:t>GG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4352342" y="2071244"/>
            <a:ext cx="1055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+mj-lt"/>
              </a:rPr>
              <a:t>V</a:t>
            </a:r>
            <a:r>
              <a:rPr lang="en-US" b="1" baseline="-25000" dirty="0">
                <a:latin typeface="+mj-lt"/>
              </a:rPr>
              <a:t>GG</a:t>
            </a:r>
            <a:r>
              <a:rPr lang="en-US" b="1" dirty="0">
                <a:latin typeface="+mj-lt"/>
              </a:rPr>
              <a:t> &lt; 0</a:t>
            </a:r>
            <a:endParaRPr lang="en-US" b="1" baseline="-25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01304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Transistor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JFET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6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419647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hiệu</a:t>
            </a:r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083" y="2303875"/>
            <a:ext cx="5559363" cy="286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29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JFET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7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419647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Drain (</a:t>
            </a:r>
            <a:r>
              <a:rPr lang="en-US" dirty="0" err="1"/>
              <a:t>máng</a:t>
            </a:r>
            <a:r>
              <a:rPr lang="en-US" dirty="0"/>
              <a:t>)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015" y="2584532"/>
            <a:ext cx="4752975" cy="332422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96" y="3021382"/>
            <a:ext cx="4458099" cy="261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872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JFET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8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419647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Drain (</a:t>
            </a:r>
            <a:r>
              <a:rPr lang="en-US" dirty="0" err="1"/>
              <a:t>máng</a:t>
            </a:r>
            <a:r>
              <a:rPr lang="en-US" dirty="0"/>
              <a:t>)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450" y="2269055"/>
            <a:ext cx="6686550" cy="390525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76" y="3293985"/>
            <a:ext cx="3333658" cy="213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364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JFET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9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583" y="1932134"/>
            <a:ext cx="7333413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846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JFET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10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10" y="1898830"/>
            <a:ext cx="8861775" cy="417703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5268035" y="2843935"/>
            <a:ext cx="0" cy="2743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226627" y="2798930"/>
            <a:ext cx="87127" cy="8630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5315970" y="2637462"/>
            <a:ext cx="717150" cy="155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33120" y="2415008"/>
            <a:ext cx="381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V</a:t>
            </a:r>
            <a:r>
              <a:rPr lang="en-US" sz="1400" baseline="-25000" dirty="0"/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911" y="2754491"/>
            <a:ext cx="26014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+mj-lt"/>
              </a:rPr>
              <a:t>Thông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thường</a:t>
            </a:r>
            <a:r>
              <a:rPr lang="en-US" b="1" dirty="0">
                <a:latin typeface="+mj-lt"/>
              </a:rPr>
              <a:t>,</a:t>
            </a:r>
          </a:p>
          <a:p>
            <a:r>
              <a:rPr lang="en-US" b="1" dirty="0">
                <a:latin typeface="+mj-lt"/>
              </a:rPr>
              <a:t>|</a:t>
            </a:r>
            <a:r>
              <a:rPr lang="en-US" b="1" dirty="0" err="1">
                <a:latin typeface="+mj-lt"/>
              </a:rPr>
              <a:t>V</a:t>
            </a:r>
            <a:r>
              <a:rPr lang="en-US" b="1" baseline="-25000" dirty="0" err="1">
                <a:latin typeface="+mj-lt"/>
              </a:rPr>
              <a:t>pinch</a:t>
            </a:r>
            <a:r>
              <a:rPr lang="en-US" b="1" baseline="-25000" dirty="0">
                <a:latin typeface="+mj-lt"/>
              </a:rPr>
              <a:t>-off</a:t>
            </a:r>
            <a:r>
              <a:rPr lang="en-US" b="1" dirty="0">
                <a:latin typeface="+mj-lt"/>
              </a:rPr>
              <a:t>| = |</a:t>
            </a:r>
            <a:r>
              <a:rPr lang="en-US" b="1" dirty="0" err="1">
                <a:latin typeface="+mj-lt"/>
              </a:rPr>
              <a:t>V</a:t>
            </a:r>
            <a:r>
              <a:rPr lang="en-US" b="1" baseline="-25000" dirty="0" err="1">
                <a:latin typeface="+mj-lt"/>
              </a:rPr>
              <a:t>cut</a:t>
            </a:r>
            <a:r>
              <a:rPr lang="en-US" b="1" baseline="-25000" dirty="0">
                <a:latin typeface="+mj-lt"/>
              </a:rPr>
              <a:t>-off</a:t>
            </a:r>
            <a:r>
              <a:rPr lang="en-US" b="1" dirty="0">
                <a:latin typeface="+mj-lt"/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659132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JFET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11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17245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(self-bias)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chia </a:t>
            </a:r>
            <a:r>
              <a:rPr lang="en-US" dirty="0" err="1"/>
              <a:t>áp</a:t>
            </a:r>
            <a:r>
              <a:rPr lang="en-US" dirty="0"/>
              <a:t> (voltage-divider bias)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Phân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cực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nhờ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nguồn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dòng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(current-source bias)</a:t>
            </a:r>
          </a:p>
        </p:txBody>
      </p:sp>
    </p:spTree>
    <p:extLst>
      <p:ext uri="{BB962C8B-B14F-4D97-AF65-F5344CB8AC3E}">
        <p14:creationId xmlns:p14="http://schemas.microsoft.com/office/powerpoint/2010/main" val="2018559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JFET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12</a:t>
            </a:fld>
            <a:endParaRPr lang="sv-SE" sz="1400">
              <a:latin typeface="Times" pitchFamily="1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1"/>
              <p:cNvSpPr txBox="1">
                <a:spLocks/>
              </p:cNvSpPr>
              <p:nvPr/>
            </p:nvSpPr>
            <p:spPr>
              <a:xfrm>
                <a:off x="891540" y="1898017"/>
                <a:ext cx="4196475" cy="4366297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 fontAlgn="auto">
                  <a:buFont typeface="Wingdings" panose="05000000000000000000" pitchFamily="2" charset="2"/>
                  <a:buChar char="Ø"/>
                </a:pPr>
                <a:r>
                  <a:rPr lang="en-US" dirty="0"/>
                  <a:t> </a:t>
                </a:r>
                <a:r>
                  <a:rPr lang="en-US" b="1" dirty="0" err="1"/>
                  <a:t>Tự</a:t>
                </a:r>
                <a:r>
                  <a:rPr lang="en-US" b="1" dirty="0"/>
                  <a:t> </a:t>
                </a:r>
                <a:r>
                  <a:rPr lang="en-US" b="1" dirty="0" err="1"/>
                  <a:t>phân</a:t>
                </a:r>
                <a:r>
                  <a:rPr lang="en-US" b="1" dirty="0"/>
                  <a:t> </a:t>
                </a:r>
                <a:r>
                  <a:rPr lang="en-US" b="1" dirty="0" err="1"/>
                  <a:t>cực</a:t>
                </a:r>
                <a:endParaRPr lang="en-US" b="1" dirty="0"/>
              </a:p>
              <a:p>
                <a:pPr lvl="1" algn="just" fontAlgn="auto">
                  <a:buFont typeface="Wingdings" panose="05000000000000000000" pitchFamily="2" charset="2"/>
                  <a:buChar char="§"/>
                </a:pPr>
                <a:r>
                  <a:rPr lang="en-US" dirty="0"/>
                  <a:t> </a:t>
                </a:r>
                <a:r>
                  <a:rPr lang="en-US" dirty="0" err="1"/>
                  <a:t>Thường</a:t>
                </a:r>
                <a:r>
                  <a:rPr lang="en-US" dirty="0"/>
                  <a:t> </a:t>
                </a:r>
                <a:r>
                  <a:rPr lang="en-US" dirty="0" err="1"/>
                  <a:t>xuyên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sử</a:t>
                </a:r>
                <a:r>
                  <a:rPr lang="en-US" dirty="0"/>
                  <a:t> </a:t>
                </a:r>
                <a:r>
                  <a:rPr lang="en-US" dirty="0" err="1"/>
                  <a:t>dụng</a:t>
                </a:r>
                <a:r>
                  <a:rPr lang="en-US" dirty="0"/>
                  <a:t> 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phân</a:t>
                </a:r>
                <a:r>
                  <a:rPr lang="en-US" dirty="0"/>
                  <a:t> </a:t>
                </a:r>
                <a:r>
                  <a:rPr lang="en-US" dirty="0" err="1"/>
                  <a:t>cực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transistor JFET</a:t>
                </a:r>
              </a:p>
              <a:p>
                <a:pPr lvl="1" algn="just" fontAlgn="auto">
                  <a:buFont typeface="Wingdings" panose="05000000000000000000" pitchFamily="2" charset="2"/>
                  <a:buChar char="§"/>
                </a:pPr>
                <a:r>
                  <a:rPr lang="en-US" dirty="0"/>
                  <a:t> </a:t>
                </a:r>
                <a:r>
                  <a:rPr lang="en-US" dirty="0" err="1"/>
                  <a:t>Để</a:t>
                </a:r>
                <a:r>
                  <a:rPr lang="en-US" dirty="0"/>
                  <a:t> JFET </a:t>
                </a:r>
                <a:r>
                  <a:rPr lang="en-US" dirty="0" err="1"/>
                  <a:t>hoạt</a:t>
                </a:r>
                <a:r>
                  <a:rPr lang="en-US" dirty="0"/>
                  <a:t> </a:t>
                </a:r>
                <a:r>
                  <a:rPr lang="en-US" dirty="0" err="1"/>
                  <a:t>động</a:t>
                </a:r>
                <a:r>
                  <a:rPr lang="en-US" dirty="0"/>
                  <a:t>, ta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phải</a:t>
                </a:r>
                <a:r>
                  <a:rPr lang="en-US" dirty="0"/>
                  <a:t> </a:t>
                </a:r>
                <a:r>
                  <a:rPr lang="en-US" dirty="0" err="1"/>
                  <a:t>phân</a:t>
                </a:r>
                <a:r>
                  <a:rPr lang="en-US" dirty="0"/>
                  <a:t> </a:t>
                </a:r>
                <a:r>
                  <a:rPr lang="en-US" dirty="0" err="1"/>
                  <a:t>cực</a:t>
                </a:r>
                <a:r>
                  <a:rPr lang="en-US" dirty="0"/>
                  <a:t> </a:t>
                </a:r>
                <a:r>
                  <a:rPr lang="en-US" dirty="0" err="1"/>
                  <a:t>nghịch</a:t>
                </a:r>
                <a:r>
                  <a:rPr lang="en-US" dirty="0"/>
                  <a:t> </a:t>
                </a:r>
                <a:r>
                  <a:rPr lang="en-US" dirty="0" err="1"/>
                  <a:t>mối</a:t>
                </a:r>
                <a:r>
                  <a:rPr lang="en-US" dirty="0"/>
                  <a:t> </a:t>
                </a:r>
                <a:r>
                  <a:rPr lang="en-US" dirty="0" err="1"/>
                  <a:t>nối</a:t>
                </a:r>
                <a:r>
                  <a:rPr lang="en-US" dirty="0"/>
                  <a:t> Gate-Source.</a:t>
                </a:r>
              </a:p>
              <a:p>
                <a:pPr lvl="1" algn="just" fontAlgn="auto"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pPr lvl="1" algn="just" fontAlgn="auto"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pPr lvl="1" algn="just" fontAlgn="auto">
                  <a:buFont typeface="Wingdings" panose="05000000000000000000" pitchFamily="2" charset="2"/>
                  <a:buChar char="§"/>
                </a:pPr>
                <a:r>
                  <a:rPr lang="en-US" dirty="0"/>
                  <a:t> </a:t>
                </a:r>
                <a:r>
                  <a:rPr lang="en-US" dirty="0" err="1"/>
                  <a:t>Cực</a:t>
                </a:r>
                <a:r>
                  <a:rPr lang="en-US" dirty="0"/>
                  <a:t> Gate </a:t>
                </a:r>
                <a:r>
                  <a:rPr lang="en-US" dirty="0" err="1"/>
                  <a:t>sẽ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nối</a:t>
                </a:r>
                <a:r>
                  <a:rPr lang="en-US" dirty="0"/>
                  <a:t> </a:t>
                </a:r>
                <a:r>
                  <a:rPr lang="en-US" dirty="0" err="1"/>
                  <a:t>đất</a:t>
                </a:r>
                <a:r>
                  <a:rPr lang="en-US" dirty="0"/>
                  <a:t> </a:t>
                </a:r>
                <a:r>
                  <a:rPr lang="en-US" dirty="0" err="1"/>
                  <a:t>thông</a:t>
                </a:r>
                <a:r>
                  <a:rPr lang="en-US" dirty="0"/>
                  <a:t> qua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điện</a:t>
                </a:r>
                <a:r>
                  <a:rPr lang="en-US" dirty="0"/>
                  <a:t> </a:t>
                </a:r>
                <a:r>
                  <a:rPr lang="en-US" dirty="0" err="1"/>
                  <a:t>trở</a:t>
                </a:r>
                <a:r>
                  <a:rPr lang="en-US" dirty="0"/>
                  <a:t> R</a:t>
                </a:r>
                <a:r>
                  <a:rPr lang="en-US" baseline="-25000" dirty="0"/>
                  <a:t>G</a:t>
                </a:r>
                <a:r>
                  <a:rPr lang="en-US" dirty="0"/>
                  <a:t>.</a:t>
                </a:r>
              </a:p>
              <a:p>
                <a:pPr lvl="1" algn="just" fontAlgn="auto">
                  <a:buFont typeface="Wingdings" panose="05000000000000000000" pitchFamily="2" charset="2"/>
                  <a:buChar char="§"/>
                </a:pPr>
                <a:r>
                  <a:rPr lang="en-US" dirty="0"/>
                  <a:t> </a:t>
                </a:r>
                <a:r>
                  <a:rPr lang="en-US" dirty="0" err="1"/>
                  <a:t>Điện</a:t>
                </a:r>
                <a:r>
                  <a:rPr lang="en-US" dirty="0"/>
                  <a:t> </a:t>
                </a:r>
                <a:r>
                  <a:rPr lang="en-US" dirty="0" err="1"/>
                  <a:t>trở</a:t>
                </a:r>
                <a:r>
                  <a:rPr lang="en-US" dirty="0"/>
                  <a:t> R</a:t>
                </a:r>
                <a:r>
                  <a:rPr lang="en-US" baseline="-25000" dirty="0"/>
                  <a:t>G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tác</a:t>
                </a:r>
                <a:r>
                  <a:rPr lang="en-US" dirty="0"/>
                  <a:t> </a:t>
                </a:r>
                <a:r>
                  <a:rPr lang="en-US" dirty="0" err="1"/>
                  <a:t>dụng</a:t>
                </a:r>
                <a:r>
                  <a:rPr lang="en-US" dirty="0"/>
                  <a:t> </a:t>
                </a:r>
                <a:r>
                  <a:rPr lang="en-US" dirty="0" err="1"/>
                  <a:t>cách</a:t>
                </a:r>
                <a:r>
                  <a:rPr lang="en-US" dirty="0"/>
                  <a:t> </a:t>
                </a:r>
                <a:r>
                  <a:rPr lang="en-US" dirty="0" err="1"/>
                  <a:t>ly</a:t>
                </a:r>
                <a:r>
                  <a:rPr lang="en-US" dirty="0"/>
                  <a:t> </a:t>
                </a:r>
                <a:r>
                  <a:rPr lang="en-US" dirty="0" err="1"/>
                  <a:t>dòng</a:t>
                </a:r>
                <a:r>
                  <a:rPr lang="en-US" dirty="0"/>
                  <a:t> </a:t>
                </a:r>
                <a:r>
                  <a:rPr lang="en-US" dirty="0" err="1"/>
                  <a:t>xoay</a:t>
                </a:r>
                <a:r>
                  <a:rPr lang="en-US" dirty="0"/>
                  <a:t> </a:t>
                </a:r>
                <a:r>
                  <a:rPr lang="en-US" dirty="0" err="1"/>
                  <a:t>chiều</a:t>
                </a:r>
                <a:r>
                  <a:rPr lang="en-US" dirty="0"/>
                  <a:t> AC </a:t>
                </a:r>
                <a:r>
                  <a:rPr lang="en-US" dirty="0" err="1"/>
                  <a:t>rò</a:t>
                </a:r>
                <a:r>
                  <a:rPr lang="en-US" dirty="0"/>
                  <a:t> </a:t>
                </a:r>
                <a:r>
                  <a:rPr lang="en-US" dirty="0" err="1"/>
                  <a:t>từ</a:t>
                </a:r>
                <a:r>
                  <a:rPr lang="en-US" dirty="0"/>
                  <a:t> GND </a:t>
                </a:r>
                <a:r>
                  <a:rPr lang="en-US" dirty="0" err="1"/>
                  <a:t>ảnh</a:t>
                </a:r>
                <a:r>
                  <a:rPr lang="en-US" dirty="0"/>
                  <a:t> </a:t>
                </a:r>
                <a:r>
                  <a:rPr lang="en-US" dirty="0" err="1"/>
                  <a:t>hưởng</a:t>
                </a:r>
                <a:r>
                  <a:rPr lang="en-US" dirty="0"/>
                  <a:t> </a:t>
                </a:r>
                <a:r>
                  <a:rPr lang="en-US" dirty="0" err="1"/>
                  <a:t>đến</a:t>
                </a:r>
                <a:r>
                  <a:rPr lang="en-US" dirty="0"/>
                  <a:t> JFET.</a:t>
                </a:r>
              </a:p>
              <a:p>
                <a:pPr marL="201168" lvl="1" indent="0" algn="just" fontAlgn="auto">
                  <a:buNone/>
                </a:pPr>
                <a:r>
                  <a:rPr lang="en-US" dirty="0"/>
                  <a:t>	</a:t>
                </a:r>
              </a:p>
              <a:p>
                <a:pPr marL="201168" lvl="1" indent="0" algn="just" fontAlgn="auto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𝑮𝑺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𝑽𝑮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𝑽𝑺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𝑰𝑺𝑹𝑺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= −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𝑰𝑫𝑹𝑺</m:t>
                      </m:r>
                    </m:oMath>
                  </m:oMathPara>
                </a14:m>
                <a:endParaRPr lang="en-US" b="1" baseline="-25000" dirty="0"/>
              </a:p>
              <a:p>
                <a:pPr marL="201168" lvl="1" indent="0" algn="just" fontAlgn="auto">
                  <a:buNone/>
                </a:pPr>
                <a:endParaRPr lang="en-US" dirty="0"/>
              </a:p>
              <a:p>
                <a:pPr marL="201168" lvl="1" indent="0" algn="just" fontAlgn="auto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1" name="Content Placeholder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40" y="1898017"/>
                <a:ext cx="4196475" cy="4366297"/>
              </a:xfrm>
              <a:prstGeom prst="rect">
                <a:avLst/>
              </a:prstGeom>
              <a:blipFill>
                <a:blip r:embed="rId2"/>
                <a:stretch>
                  <a:fillRect l="-3483" t="-1395" r="-3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025" y="2258870"/>
            <a:ext cx="4617512" cy="3420379"/>
          </a:xfrm>
          <a:prstGeom prst="rect">
            <a:avLst/>
          </a:prstGeom>
        </p:spPr>
      </p:pic>
      <p:sp>
        <p:nvSpPr>
          <p:cNvPr id="5" name="Down Arrow 4"/>
          <p:cNvSpPr/>
          <p:nvPr/>
        </p:nvSpPr>
        <p:spPr>
          <a:xfrm>
            <a:off x="2702750" y="3519009"/>
            <a:ext cx="292276" cy="4500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623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JFET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13</a:t>
            </a:fld>
            <a:endParaRPr lang="sv-SE" sz="1400">
              <a:latin typeface="Times" pitchFamily="1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1"/>
              <p:cNvSpPr txBox="1">
                <a:spLocks/>
              </p:cNvSpPr>
              <p:nvPr/>
            </p:nvSpPr>
            <p:spPr>
              <a:xfrm>
                <a:off x="891540" y="1898017"/>
                <a:ext cx="5231590" cy="4366297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 fontAlgn="auto">
                  <a:buFont typeface="Wingdings" panose="05000000000000000000" pitchFamily="2" charset="2"/>
                  <a:buChar char="Ø"/>
                </a:pPr>
                <a:r>
                  <a:rPr lang="en-US" dirty="0"/>
                  <a:t> </a:t>
                </a:r>
                <a:r>
                  <a:rPr lang="en-US" b="1" dirty="0" err="1"/>
                  <a:t>Phân</a:t>
                </a:r>
                <a:r>
                  <a:rPr lang="en-US" b="1" dirty="0"/>
                  <a:t> </a:t>
                </a:r>
                <a:r>
                  <a:rPr lang="en-US" b="1" dirty="0" err="1"/>
                  <a:t>cực</a:t>
                </a:r>
                <a:r>
                  <a:rPr lang="en-US" b="1" dirty="0"/>
                  <a:t> </a:t>
                </a:r>
                <a:r>
                  <a:rPr lang="en-US" b="1" dirty="0" err="1"/>
                  <a:t>bằng</a:t>
                </a:r>
                <a:r>
                  <a:rPr lang="en-US" b="1" dirty="0"/>
                  <a:t> </a:t>
                </a:r>
                <a:r>
                  <a:rPr lang="en-US" b="1" dirty="0" err="1"/>
                  <a:t>cầu</a:t>
                </a:r>
                <a:r>
                  <a:rPr lang="en-US" b="1" dirty="0"/>
                  <a:t> chia </a:t>
                </a:r>
                <a:r>
                  <a:rPr lang="en-US" b="1" dirty="0" err="1"/>
                  <a:t>áp</a:t>
                </a:r>
                <a:endParaRPr lang="en-US" b="1" dirty="0"/>
              </a:p>
              <a:p>
                <a:pPr lvl="1" algn="just" fontAlgn="auto">
                  <a:buFont typeface="Wingdings" panose="05000000000000000000" pitchFamily="2" charset="2"/>
                  <a:buChar char="§"/>
                </a:pPr>
                <a:r>
                  <a:rPr lang="en-US" dirty="0" err="1"/>
                  <a:t>Hoạt</a:t>
                </a:r>
                <a:r>
                  <a:rPr lang="en-US" dirty="0"/>
                  <a:t> </a:t>
                </a:r>
                <a:r>
                  <a:rPr lang="en-US" dirty="0" err="1"/>
                  <a:t>động</a:t>
                </a:r>
                <a:r>
                  <a:rPr lang="en-US" dirty="0"/>
                  <a:t> </a:t>
                </a:r>
                <a:r>
                  <a:rPr lang="en-US" dirty="0" err="1"/>
                  <a:t>ổn</a:t>
                </a:r>
                <a:r>
                  <a:rPr lang="en-US" dirty="0"/>
                  <a:t> </a:t>
                </a:r>
                <a:r>
                  <a:rPr lang="en-US" dirty="0" err="1"/>
                  <a:t>định</a:t>
                </a:r>
                <a:r>
                  <a:rPr lang="en-US" dirty="0"/>
                  <a:t> </a:t>
                </a:r>
                <a:r>
                  <a:rPr lang="en-US" dirty="0" err="1"/>
                  <a:t>hơn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pháp</a:t>
                </a:r>
                <a:r>
                  <a:rPr lang="en-US" dirty="0"/>
                  <a:t> </a:t>
                </a:r>
                <a:r>
                  <a:rPr lang="en-US" dirty="0" err="1"/>
                  <a:t>tự</a:t>
                </a:r>
                <a:r>
                  <a:rPr lang="en-US" dirty="0"/>
                  <a:t> </a:t>
                </a:r>
                <a:r>
                  <a:rPr lang="en-US" dirty="0" err="1"/>
                  <a:t>phân</a:t>
                </a:r>
                <a:r>
                  <a:rPr lang="en-US" dirty="0"/>
                  <a:t> </a:t>
                </a:r>
                <a:r>
                  <a:rPr lang="en-US" dirty="0" err="1"/>
                  <a:t>cực</a:t>
                </a:r>
                <a:endParaRPr lang="en-US" dirty="0"/>
              </a:p>
              <a:p>
                <a:pPr lvl="1" algn="just" fontAlgn="auto">
                  <a:buFont typeface="Wingdings" panose="05000000000000000000" pitchFamily="2" charset="2"/>
                  <a:buChar char="§"/>
                </a:pPr>
                <a:r>
                  <a:rPr lang="en-US" dirty="0" err="1"/>
                  <a:t>Sử</a:t>
                </a:r>
                <a:r>
                  <a:rPr lang="en-US" dirty="0"/>
                  <a:t> </a:t>
                </a:r>
                <a:r>
                  <a:rPr lang="en-US" dirty="0" err="1"/>
                  <a:t>dụng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cầu</a:t>
                </a:r>
                <a:r>
                  <a:rPr lang="en-US" dirty="0"/>
                  <a:t> </a:t>
                </a:r>
                <a:r>
                  <a:rPr lang="en-US" dirty="0" err="1"/>
                  <a:t>phân</a:t>
                </a:r>
                <a:r>
                  <a:rPr lang="en-US" dirty="0"/>
                  <a:t> </a:t>
                </a:r>
                <a:r>
                  <a:rPr lang="en-US" dirty="0" err="1"/>
                  <a:t>áp</a:t>
                </a:r>
                <a:r>
                  <a:rPr lang="en-US" dirty="0"/>
                  <a:t> 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cấp</a:t>
                </a:r>
                <a:r>
                  <a:rPr lang="en-US" dirty="0"/>
                  <a:t> </a:t>
                </a:r>
                <a:r>
                  <a:rPr lang="en-US" dirty="0" err="1"/>
                  <a:t>nguồn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cực</a:t>
                </a:r>
                <a:r>
                  <a:rPr lang="en-US" dirty="0"/>
                  <a:t> Gate </a:t>
                </a:r>
                <a:r>
                  <a:rPr lang="en-US" dirty="0" err="1"/>
                  <a:t>của</a:t>
                </a:r>
                <a:r>
                  <a:rPr lang="en-US" dirty="0"/>
                  <a:t> JFET.</a:t>
                </a:r>
              </a:p>
              <a:p>
                <a:pPr lvl="1" algn="just" fontAlgn="auto">
                  <a:buFont typeface="Wingdings" panose="05000000000000000000" pitchFamily="2" charset="2"/>
                  <a:buChar char="§"/>
                </a:pPr>
                <a:r>
                  <a:rPr lang="en-US" dirty="0" err="1"/>
                  <a:t>Để</a:t>
                </a:r>
                <a:r>
                  <a:rPr lang="en-US" dirty="0"/>
                  <a:t> JFET </a:t>
                </a:r>
                <a:r>
                  <a:rPr lang="en-US" dirty="0" err="1"/>
                  <a:t>hoạt</a:t>
                </a:r>
                <a:r>
                  <a:rPr lang="en-US" dirty="0"/>
                  <a:t> </a:t>
                </a:r>
                <a:r>
                  <a:rPr lang="en-US" dirty="0" err="1"/>
                  <a:t>động</a:t>
                </a:r>
                <a:r>
                  <a:rPr lang="en-US" dirty="0"/>
                  <a:t>, ta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phải</a:t>
                </a:r>
                <a:r>
                  <a:rPr lang="en-US" dirty="0"/>
                  <a:t> </a:t>
                </a:r>
                <a:r>
                  <a:rPr lang="en-US" dirty="0" err="1"/>
                  <a:t>phân</a:t>
                </a:r>
                <a:r>
                  <a:rPr lang="en-US" dirty="0"/>
                  <a:t> </a:t>
                </a:r>
                <a:r>
                  <a:rPr lang="en-US" dirty="0" err="1"/>
                  <a:t>cực</a:t>
                </a:r>
                <a:r>
                  <a:rPr lang="en-US" dirty="0"/>
                  <a:t> </a:t>
                </a:r>
                <a:r>
                  <a:rPr lang="en-US" dirty="0" err="1"/>
                  <a:t>nghịch</a:t>
                </a:r>
                <a:r>
                  <a:rPr lang="en-US" dirty="0"/>
                  <a:t> </a:t>
                </a:r>
                <a:r>
                  <a:rPr lang="en-US" dirty="0" err="1"/>
                  <a:t>mối</a:t>
                </a:r>
                <a:r>
                  <a:rPr lang="en-US" dirty="0"/>
                  <a:t> </a:t>
                </a:r>
                <a:r>
                  <a:rPr lang="en-US" dirty="0" err="1"/>
                  <a:t>nối</a:t>
                </a:r>
                <a:r>
                  <a:rPr lang="en-US" dirty="0"/>
                  <a:t> Gate-Source. </a:t>
                </a:r>
                <a:r>
                  <a:rPr lang="en-US" dirty="0" err="1"/>
                  <a:t>Tức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V</a:t>
                </a:r>
                <a:r>
                  <a:rPr lang="en-US" baseline="-25000" dirty="0"/>
                  <a:t>G</a:t>
                </a:r>
                <a:r>
                  <a:rPr lang="en-US" dirty="0"/>
                  <a:t> &lt; V</a:t>
                </a:r>
                <a:r>
                  <a:rPr lang="en-US" baseline="-25000" dirty="0"/>
                  <a:t>S</a:t>
                </a:r>
                <a:r>
                  <a:rPr lang="en-US" dirty="0"/>
                  <a:t>. Do </a:t>
                </a:r>
                <a:r>
                  <a:rPr lang="en-US" dirty="0" err="1"/>
                  <a:t>đó</a:t>
                </a:r>
                <a:r>
                  <a:rPr lang="en-US" dirty="0"/>
                  <a:t>, </a:t>
                </a:r>
                <a:r>
                  <a:rPr lang="en-US" dirty="0" err="1"/>
                  <a:t>việc</a:t>
                </a:r>
                <a:r>
                  <a:rPr lang="en-US" dirty="0"/>
                  <a:t> </a:t>
                </a:r>
                <a:r>
                  <a:rPr lang="en-US" dirty="0" err="1"/>
                  <a:t>lựa</a:t>
                </a:r>
                <a:r>
                  <a:rPr lang="en-US" dirty="0"/>
                  <a:t> </a:t>
                </a:r>
                <a:r>
                  <a:rPr lang="en-US" dirty="0" err="1"/>
                  <a:t>chọn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giá</a:t>
                </a:r>
                <a:r>
                  <a:rPr lang="en-US" dirty="0"/>
                  <a:t> </a:t>
                </a:r>
                <a:r>
                  <a:rPr lang="en-US" dirty="0" err="1"/>
                  <a:t>trị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R</a:t>
                </a:r>
                <a:r>
                  <a:rPr lang="en-US" baseline="-25000" dirty="0"/>
                  <a:t>1</a:t>
                </a:r>
                <a:r>
                  <a:rPr lang="en-US" dirty="0"/>
                  <a:t>, R</a:t>
                </a:r>
                <a:r>
                  <a:rPr lang="en-US" baseline="-25000" dirty="0"/>
                  <a:t>2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R</a:t>
                </a:r>
                <a:r>
                  <a:rPr lang="en-US" baseline="-25000" dirty="0"/>
                  <a:t>S</a:t>
                </a:r>
                <a:r>
                  <a:rPr lang="en-US" dirty="0"/>
                  <a:t>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toán</a:t>
                </a:r>
                <a:r>
                  <a:rPr lang="en-US" dirty="0"/>
                  <a:t> </a:t>
                </a:r>
                <a:r>
                  <a:rPr lang="en-US" dirty="0" err="1"/>
                  <a:t>thật</a:t>
                </a:r>
                <a:r>
                  <a:rPr lang="en-US" dirty="0"/>
                  <a:t> </a:t>
                </a:r>
                <a:r>
                  <a:rPr lang="en-US" dirty="0" err="1"/>
                  <a:t>chính</a:t>
                </a:r>
                <a:r>
                  <a:rPr lang="en-US" dirty="0"/>
                  <a:t> </a:t>
                </a:r>
                <a:r>
                  <a:rPr lang="en-US" dirty="0" err="1"/>
                  <a:t>xác</a:t>
                </a:r>
                <a:r>
                  <a:rPr lang="en-US" dirty="0"/>
                  <a:t>.</a:t>
                </a:r>
              </a:p>
              <a:p>
                <a:pPr marL="201168" lvl="1" indent="0" algn="just" fontAlgn="auto">
                  <a:buNone/>
                </a:pPr>
                <a:endParaRPr lang="en-US" baseline="-25000" dirty="0"/>
              </a:p>
              <a:p>
                <a:pPr marL="201168" lvl="1" indent="0" algn="just" fontAlgn="auto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baseline="-2500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baseline="-2500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baseline="-2500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baseline="-25000" dirty="0" smtClean="0">
                          <a:latin typeface="Cambria Math" panose="02040503050406030204" pitchFamily="18" charset="0"/>
                        </a:rPr>
                        <m:t>𝐷𝐷</m:t>
                      </m:r>
                    </m:oMath>
                  </m:oMathPara>
                </a14:m>
                <a:endParaRPr lang="en-US" dirty="0"/>
              </a:p>
              <a:p>
                <a:pPr marL="201168" lvl="1" indent="0" algn="just" fontAlgn="auto">
                  <a:buNone/>
                </a:pPr>
                <a:endParaRPr lang="en-US" dirty="0"/>
              </a:p>
              <a:p>
                <a:pPr marL="201168" lvl="1" indent="0" algn="just" fontAlgn="auto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b="0" baseline="-25000" dirty="0"/>
              </a:p>
              <a:p>
                <a:pPr marL="201168" lvl="1" indent="0" algn="just" fontAlgn="auto">
                  <a:buNone/>
                </a:pPr>
                <a:endParaRPr lang="en-US" baseline="-25000" dirty="0"/>
              </a:p>
              <a:p>
                <a:pPr marL="201168" lvl="1" indent="0" algn="just" fontAlgn="auto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b="1" i="1" baseline="-25000" dirty="0">
                          <a:latin typeface="Cambria Math" panose="02040503050406030204" pitchFamily="18" charset="0"/>
                        </a:rPr>
                        <m:t>𝑮𝑺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𝑽𝑮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𝑽𝑺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b="1" baseline="-25000" dirty="0"/>
              </a:p>
              <a:p>
                <a:pPr marL="201168" lvl="1" indent="0" algn="just" fontAlgn="auto">
                  <a:buNone/>
                </a:pPr>
                <a:endParaRPr lang="en-US" baseline="-25000" dirty="0"/>
              </a:p>
              <a:p>
                <a:pPr marL="201168" lvl="1" indent="0" algn="just" fontAlgn="auto">
                  <a:buNone/>
                </a:pPr>
                <a:endParaRPr lang="en-US" baseline="-25000" dirty="0"/>
              </a:p>
              <a:p>
                <a:pPr marL="201168" lvl="1" indent="0" algn="just" fontAlgn="auto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1" name="Content Placeholder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40" y="1898017"/>
                <a:ext cx="5231590" cy="4366297"/>
              </a:xfrm>
              <a:prstGeom prst="rect">
                <a:avLst/>
              </a:prstGeom>
              <a:blipFill>
                <a:blip r:embed="rId2"/>
                <a:stretch>
                  <a:fillRect l="-2797" t="-1395" r="-2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375" y="1782168"/>
            <a:ext cx="2173587" cy="452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072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14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17245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MOSFET (Metal Oxide Semiconductor Field Effect Transistor)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JFET, </a:t>
            </a:r>
            <a:r>
              <a:rPr lang="en-US" dirty="0" err="1"/>
              <a:t>cực</a:t>
            </a:r>
            <a:r>
              <a:rPr lang="en-US" dirty="0"/>
              <a:t> Gate </a:t>
            </a:r>
            <a:r>
              <a:rPr lang="en-US" dirty="0" err="1"/>
              <a:t>của</a:t>
            </a:r>
            <a:r>
              <a:rPr lang="en-US" dirty="0"/>
              <a:t> MOSFET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ly</a:t>
            </a:r>
            <a:r>
              <a:rPr lang="en-US" dirty="0"/>
              <a:t>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Silicon Oxide (SiO</a:t>
            </a:r>
            <a:r>
              <a:rPr lang="en-US" baseline="-25000" dirty="0"/>
              <a:t>2</a:t>
            </a:r>
            <a:r>
              <a:rPr lang="en-US" dirty="0"/>
              <a:t>).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transistor MOSFET: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MOSFET </a:t>
            </a:r>
            <a:r>
              <a:rPr lang="en-US" dirty="0" err="1"/>
              <a:t>kênh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(D-MOSFET)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MOSFET </a:t>
            </a:r>
            <a:r>
              <a:rPr lang="en-US" dirty="0" err="1"/>
              <a:t>kênh</a:t>
            </a:r>
            <a:r>
              <a:rPr lang="en-US" dirty="0"/>
              <a:t> </a:t>
            </a:r>
            <a:r>
              <a:rPr lang="en-US" dirty="0" err="1"/>
              <a:t>gián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(E-MOSFET)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442610" y="4081165"/>
            <a:ext cx="3060340" cy="2178161"/>
            <a:chOff x="1442610" y="4081165"/>
            <a:chExt cx="3060340" cy="2178161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2610" y="4081165"/>
              <a:ext cx="2961225" cy="182880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2389262" y="5920772"/>
              <a:ext cx="106792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</a:rPr>
                <a:t>D-MOSFET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442610" y="4172605"/>
              <a:ext cx="3060340" cy="20698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358045" y="4194470"/>
            <a:ext cx="3060340" cy="2069845"/>
            <a:chOff x="5358045" y="4194470"/>
            <a:chExt cx="3060340" cy="206984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60588" y="4211920"/>
              <a:ext cx="2954881" cy="173736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6308719" y="5925761"/>
              <a:ext cx="10486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</a:rPr>
                <a:t>E-MOSFET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358045" y="4194470"/>
              <a:ext cx="3060340" cy="2069844"/>
            </a:xfrm>
            <a:prstGeom prst="rect">
              <a:avLst/>
            </a:prstGeom>
            <a:noFill/>
            <a:ln w="381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3107795" y="4261215"/>
            <a:ext cx="1296040" cy="14180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019429" y="4261215"/>
            <a:ext cx="1296040" cy="14180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243469" y="3896465"/>
            <a:ext cx="32894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00B050"/>
                </a:solidFill>
                <a:latin typeface="+mn-lt"/>
              </a:rPr>
              <a:t>Thường</a:t>
            </a:r>
            <a:r>
              <a:rPr lang="en-US" sz="1600" b="1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sz="1600" b="1" dirty="0" err="1">
                <a:solidFill>
                  <a:srgbClr val="00B050"/>
                </a:solidFill>
                <a:latin typeface="+mn-lt"/>
              </a:rPr>
              <a:t>được</a:t>
            </a:r>
            <a:r>
              <a:rPr lang="en-US" sz="1600" b="1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sz="1600" b="1" dirty="0" err="1">
                <a:solidFill>
                  <a:srgbClr val="00B050"/>
                </a:solidFill>
                <a:latin typeface="+mn-lt"/>
              </a:rPr>
              <a:t>sử</a:t>
            </a:r>
            <a:r>
              <a:rPr lang="en-US" sz="1600" b="1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sz="1600" b="1" dirty="0" err="1">
                <a:solidFill>
                  <a:srgbClr val="00B050"/>
                </a:solidFill>
                <a:latin typeface="+mn-lt"/>
              </a:rPr>
              <a:t>dụng</a:t>
            </a:r>
            <a:r>
              <a:rPr lang="en-US" sz="1600" b="1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sz="1600" b="1" dirty="0" err="1">
                <a:solidFill>
                  <a:srgbClr val="00B050"/>
                </a:solidFill>
                <a:latin typeface="+mn-lt"/>
              </a:rPr>
              <a:t>trong</a:t>
            </a:r>
            <a:r>
              <a:rPr lang="en-US" sz="1600" b="1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sz="1600" b="1" dirty="0" err="1">
                <a:solidFill>
                  <a:srgbClr val="00B050"/>
                </a:solidFill>
                <a:latin typeface="+mn-lt"/>
              </a:rPr>
              <a:t>thực</a:t>
            </a:r>
            <a:r>
              <a:rPr lang="en-US" sz="1600" b="1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sz="1600" b="1" dirty="0" err="1">
                <a:solidFill>
                  <a:srgbClr val="00B050"/>
                </a:solidFill>
                <a:latin typeface="+mn-lt"/>
              </a:rPr>
              <a:t>tế</a:t>
            </a:r>
            <a:endParaRPr lang="en-US" sz="1600" b="1" dirty="0">
              <a:solidFill>
                <a:srgbClr val="00B05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1657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D-MOSFET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39" y="1898017"/>
            <a:ext cx="842694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D-MOSFET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2 </a:t>
            </a:r>
            <a:r>
              <a:rPr lang="en-US" dirty="0" err="1"/>
              <a:t>phần</a:t>
            </a:r>
            <a:r>
              <a:rPr lang="en-US" dirty="0"/>
              <a:t>,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P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Drain </a:t>
            </a:r>
            <a:r>
              <a:rPr lang="en-US" dirty="0" err="1"/>
              <a:t>và</a:t>
            </a:r>
            <a:r>
              <a:rPr lang="en-US" dirty="0"/>
              <a:t> Source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2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N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Gate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gián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N </a:t>
            </a:r>
            <a:r>
              <a:rPr lang="en-US" dirty="0" err="1"/>
              <a:t>thông</a:t>
            </a:r>
            <a:r>
              <a:rPr lang="en-US" dirty="0"/>
              <a:t> qua 1 </a:t>
            </a:r>
            <a:r>
              <a:rPr lang="en-US" dirty="0" err="1"/>
              <a:t>lớp</a:t>
            </a:r>
            <a:r>
              <a:rPr lang="en-US" dirty="0"/>
              <a:t> SiO</a:t>
            </a:r>
            <a:r>
              <a:rPr lang="en-US" baseline="-25000" dirty="0"/>
              <a:t>2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466" y="3523353"/>
            <a:ext cx="5588598" cy="2743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8085" y="5499230"/>
            <a:ext cx="1541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Depletion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6366" y="5499230"/>
            <a:ext cx="18755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Enhancement Mode</a:t>
            </a:r>
          </a:p>
        </p:txBody>
      </p:sp>
    </p:spTree>
    <p:extLst>
      <p:ext uri="{BB962C8B-B14F-4D97-AF65-F5344CB8AC3E}">
        <p14:creationId xmlns:p14="http://schemas.microsoft.com/office/powerpoint/2010/main" val="1065430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D-MOSFET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16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39" y="1898017"/>
            <a:ext cx="842694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thiên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I</a:t>
            </a:r>
            <a:r>
              <a:rPr lang="en-US" baseline="-25000" dirty="0"/>
              <a:t>D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V</a:t>
            </a:r>
            <a:r>
              <a:rPr lang="en-US" baseline="-25000" dirty="0"/>
              <a:t>GS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011" y="4401423"/>
            <a:ext cx="1869359" cy="186289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8011" y="2581571"/>
            <a:ext cx="1758243" cy="17221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75797" y="5329953"/>
            <a:ext cx="18755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Enhancement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991" y="3429327"/>
            <a:ext cx="1541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Depletion Mode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707" y="2779814"/>
            <a:ext cx="5483865" cy="324321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02750" y="3429327"/>
            <a:ext cx="914400" cy="9720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5956128" y="4419068"/>
            <a:ext cx="3611241" cy="18452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5956127" y="2493495"/>
            <a:ext cx="3611241" cy="18452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467328" y="3840256"/>
            <a:ext cx="2195603" cy="18452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3676638" y="3823261"/>
            <a:ext cx="2195603" cy="18452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280366" y="2088565"/>
            <a:ext cx="1370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channel</a:t>
            </a:r>
          </a:p>
        </p:txBody>
      </p:sp>
    </p:spTree>
    <p:extLst>
      <p:ext uri="{BB962C8B-B14F-4D97-AF65-F5344CB8AC3E}">
        <p14:creationId xmlns:p14="http://schemas.microsoft.com/office/powerpoint/2010/main" val="3117883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D-MOSFET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17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1026" name="Picture 2" descr="Image result for question bon hom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600" y="3368215"/>
            <a:ext cx="2155237" cy="2896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985" y="3032526"/>
            <a:ext cx="3000946" cy="3231788"/>
          </a:xfrm>
          <a:prstGeom prst="rect">
            <a:avLst/>
          </a:prstGeom>
        </p:spPr>
      </p:pic>
      <p:sp>
        <p:nvSpPr>
          <p:cNvPr id="13" name="Content Placeholder 11"/>
          <p:cNvSpPr txBox="1">
            <a:spLocks/>
          </p:cNvSpPr>
          <p:nvPr/>
        </p:nvSpPr>
        <p:spPr>
          <a:xfrm>
            <a:off x="891539" y="1898017"/>
            <a:ext cx="842694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E-MOSFET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, ta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V</a:t>
            </a:r>
            <a:r>
              <a:rPr lang="en-US" baseline="-25000" dirty="0"/>
              <a:t>GS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V</a:t>
            </a:r>
            <a:r>
              <a:rPr lang="en-US" baseline="-25000" dirty="0"/>
              <a:t>GS(off)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baseline="-25000" dirty="0"/>
              <a:t> </a:t>
            </a:r>
            <a:r>
              <a:rPr lang="en-US" dirty="0" err="1"/>
              <a:t>Vì</a:t>
            </a:r>
            <a:r>
              <a:rPr lang="en-US" dirty="0"/>
              <a:t> D-MOSFET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V</a:t>
            </a:r>
            <a:r>
              <a:rPr lang="en-US" baseline="-25000" dirty="0"/>
              <a:t>GS</a:t>
            </a:r>
            <a:r>
              <a:rPr lang="en-US" dirty="0"/>
              <a:t> &lt; 0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V</a:t>
            </a:r>
            <a:r>
              <a:rPr lang="en-US" baseline="-25000" dirty="0"/>
              <a:t>GS</a:t>
            </a:r>
            <a:r>
              <a:rPr lang="en-US" dirty="0"/>
              <a:t> &gt; 0. Do </a:t>
            </a:r>
            <a:r>
              <a:rPr lang="en-US" dirty="0" err="1"/>
              <a:t>đó</a:t>
            </a:r>
            <a:r>
              <a:rPr lang="en-US" dirty="0"/>
              <a:t>,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,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giản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, </a:t>
            </a:r>
            <a:r>
              <a:rPr lang="en-US" dirty="0" err="1"/>
              <a:t>người</a:t>
            </a:r>
            <a:r>
              <a:rPr lang="en-US" dirty="0"/>
              <a:t> ta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D-MOSFET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Gate </a:t>
            </a:r>
            <a:r>
              <a:rPr lang="en-US" dirty="0" err="1"/>
              <a:t>xuống</a:t>
            </a:r>
            <a:r>
              <a:rPr lang="en-US" dirty="0"/>
              <a:t> GND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V</a:t>
            </a:r>
            <a:r>
              <a:rPr lang="en-US" baseline="-25000" dirty="0"/>
              <a:t>GS</a:t>
            </a:r>
            <a:r>
              <a:rPr lang="en-US" dirty="0"/>
              <a:t> = 0  </a:t>
            </a:r>
            <a:r>
              <a:rPr lang="en-US" dirty="0" err="1"/>
              <a:t>và</a:t>
            </a:r>
            <a:r>
              <a:rPr lang="en-US" dirty="0"/>
              <a:t> I</a:t>
            </a:r>
            <a:r>
              <a:rPr lang="en-US" baseline="-25000" dirty="0"/>
              <a:t>D</a:t>
            </a:r>
            <a:r>
              <a:rPr lang="en-US" dirty="0"/>
              <a:t> = I</a:t>
            </a:r>
            <a:r>
              <a:rPr lang="en-US" baseline="-25000" dirty="0"/>
              <a:t>DSS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3511196"/>
            <a:ext cx="3979785" cy="2422879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203250" y="4284095"/>
            <a:ext cx="450050" cy="4500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193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E-MOSFET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18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39" y="1898017"/>
            <a:ext cx="842694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D-MOSFET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3 </a:t>
            </a:r>
            <a:r>
              <a:rPr lang="en-US" dirty="0" err="1"/>
              <a:t>phần</a:t>
            </a:r>
            <a:r>
              <a:rPr lang="en-US" dirty="0"/>
              <a:t>, 2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P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Drain </a:t>
            </a:r>
            <a:r>
              <a:rPr lang="en-US" dirty="0" err="1"/>
              <a:t>và</a:t>
            </a:r>
            <a:r>
              <a:rPr lang="en-US" dirty="0"/>
              <a:t> Source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2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N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Gate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gián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N </a:t>
            </a:r>
            <a:r>
              <a:rPr lang="en-US" dirty="0" err="1"/>
              <a:t>thông</a:t>
            </a:r>
            <a:r>
              <a:rPr lang="en-US" dirty="0"/>
              <a:t> qua 1 </a:t>
            </a:r>
            <a:r>
              <a:rPr lang="en-US" dirty="0" err="1"/>
              <a:t>lớp</a:t>
            </a:r>
            <a:r>
              <a:rPr lang="en-US" dirty="0"/>
              <a:t> SiO</a:t>
            </a:r>
            <a:r>
              <a:rPr lang="en-US" baseline="-25000" dirty="0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3958" y="4782762"/>
            <a:ext cx="18755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Enhancement Mode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079" y="3639765"/>
            <a:ext cx="4275475" cy="262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474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E-MOSFET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19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39" y="1898017"/>
            <a:ext cx="842694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thiên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I</a:t>
            </a:r>
            <a:r>
              <a:rPr lang="en-US" baseline="-25000" dirty="0"/>
              <a:t>D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V</a:t>
            </a:r>
            <a:r>
              <a:rPr lang="en-US" baseline="-25000" dirty="0"/>
              <a:t>GS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803" y="3017533"/>
            <a:ext cx="6011800" cy="330740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840" y="2608363"/>
            <a:ext cx="2159726" cy="2743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412" y="2878908"/>
            <a:ext cx="1920534" cy="261891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928" y="2483895"/>
            <a:ext cx="3054928" cy="340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48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E-MOSFET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20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39" y="1898017"/>
            <a:ext cx="842694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E-MOSFET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, ta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V</a:t>
            </a:r>
            <a:r>
              <a:rPr lang="en-US" baseline="-25000" dirty="0"/>
              <a:t>GS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V</a:t>
            </a:r>
            <a:r>
              <a:rPr lang="en-US" baseline="-25000" dirty="0"/>
              <a:t>GS(</a:t>
            </a:r>
            <a:r>
              <a:rPr lang="en-US" baseline="-25000" dirty="0" err="1"/>
              <a:t>th</a:t>
            </a:r>
            <a:r>
              <a:rPr lang="en-US" baseline="-25000" dirty="0"/>
              <a:t>)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2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E-MOSFET: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áp</a:t>
            </a: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Drain-feedback </a:t>
            </a:r>
            <a:endParaRPr lang="en-US" baseline="-25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3210" y="2882683"/>
            <a:ext cx="6011800" cy="330740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568" y="2915893"/>
            <a:ext cx="2159726" cy="2743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8712" y="3338990"/>
            <a:ext cx="3537050" cy="2631946"/>
          </a:xfrm>
          <a:prstGeom prst="rect">
            <a:avLst/>
          </a:prstGeom>
        </p:spPr>
      </p:pic>
      <p:pic>
        <p:nvPicPr>
          <p:cNvPr id="1026" name="Picture 2" descr="Image result for question bon homm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201" y="2722121"/>
            <a:ext cx="2653887" cy="356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Arrow Connector 11"/>
          <p:cNvCxnSpPr/>
          <p:nvPr/>
        </p:nvCxnSpPr>
        <p:spPr>
          <a:xfrm flipH="1">
            <a:off x="7698305" y="2271218"/>
            <a:ext cx="450050" cy="336302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456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E-MOSFET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21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39" y="1898017"/>
            <a:ext cx="842694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V</a:t>
            </a:r>
            <a:r>
              <a:rPr lang="en-US" baseline="-25000" dirty="0"/>
              <a:t>GS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V</a:t>
            </a:r>
            <a:r>
              <a:rPr lang="en-US" baseline="-25000" dirty="0"/>
              <a:t>DS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E-MOSFET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?</a:t>
            </a:r>
          </a:p>
          <a:p>
            <a:pPr marL="0" indent="0" algn="just" fontAlgn="auto">
              <a:buNone/>
            </a:pPr>
            <a:r>
              <a:rPr lang="en-US" dirty="0" err="1"/>
              <a:t>Biết</a:t>
            </a:r>
            <a:r>
              <a:rPr lang="en-US" dirty="0"/>
              <a:t> I</a:t>
            </a:r>
            <a:r>
              <a:rPr lang="en-US" baseline="-25000" dirty="0"/>
              <a:t>D(on) </a:t>
            </a:r>
            <a:r>
              <a:rPr lang="en-US" dirty="0"/>
              <a:t>= 200mA, V</a:t>
            </a:r>
            <a:r>
              <a:rPr lang="en-US" baseline="-25000" dirty="0"/>
              <a:t>GS</a:t>
            </a:r>
            <a:r>
              <a:rPr lang="en-US" dirty="0"/>
              <a:t> = 4V, V</a:t>
            </a:r>
            <a:r>
              <a:rPr lang="en-US" baseline="-25000" dirty="0"/>
              <a:t>GS(</a:t>
            </a:r>
            <a:r>
              <a:rPr lang="en-US" baseline="-25000" dirty="0" err="1"/>
              <a:t>th</a:t>
            </a:r>
            <a:r>
              <a:rPr lang="en-US" baseline="-25000" dirty="0"/>
              <a:t>)</a:t>
            </a:r>
            <a:r>
              <a:rPr lang="en-US" dirty="0"/>
              <a:t> = 2V</a:t>
            </a:r>
            <a:endParaRPr lang="en-US" baseline="-25000" dirty="0"/>
          </a:p>
          <a:p>
            <a:pPr marL="0" indent="0" algn="just" fontAlgn="auto">
              <a:buNone/>
            </a:pPr>
            <a:endParaRPr lang="en-US" baseline="-25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181" y="2322161"/>
            <a:ext cx="2590800" cy="39624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386" y="5700623"/>
            <a:ext cx="3524758" cy="4477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3969" y="3113965"/>
            <a:ext cx="101502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</a:t>
            </a:r>
            <a:r>
              <a:rPr lang="en-US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GS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= ?</a:t>
            </a:r>
          </a:p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 = ?</a:t>
            </a:r>
          </a:p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</a:t>
            </a:r>
            <a:r>
              <a:rPr lang="en-US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= ?</a:t>
            </a:r>
          </a:p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</a:t>
            </a:r>
            <a:r>
              <a:rPr lang="en-US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= ?</a:t>
            </a:r>
          </a:p>
        </p:txBody>
      </p:sp>
    </p:spTree>
    <p:extLst>
      <p:ext uri="{BB962C8B-B14F-4D97-AF65-F5344CB8AC3E}">
        <p14:creationId xmlns:p14="http://schemas.microsoft.com/office/powerpoint/2010/main" val="1574259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E-MOSFET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22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39" y="1898017"/>
            <a:ext cx="842694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V</a:t>
            </a:r>
            <a:r>
              <a:rPr lang="en-US" baseline="-25000" dirty="0"/>
              <a:t>GS</a:t>
            </a:r>
            <a:r>
              <a:rPr lang="en-US" dirty="0"/>
              <a:t>, V</a:t>
            </a:r>
            <a:r>
              <a:rPr lang="en-US" baseline="-25000" dirty="0"/>
              <a:t>DS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I</a:t>
            </a:r>
            <a:r>
              <a:rPr lang="en-US" baseline="-25000" dirty="0"/>
              <a:t>D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E-MOSFET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?</a:t>
            </a:r>
          </a:p>
          <a:p>
            <a:pPr marL="0" indent="0" algn="just" fontAlgn="auto">
              <a:buNone/>
            </a:pP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đo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voltmeter </a:t>
            </a:r>
            <a:r>
              <a:rPr lang="en-US" dirty="0" err="1"/>
              <a:t>là</a:t>
            </a:r>
            <a:r>
              <a:rPr lang="en-US" dirty="0"/>
              <a:t> 5V</a:t>
            </a:r>
            <a:endParaRPr lang="en-US" baseline="-25000" dirty="0"/>
          </a:p>
        </p:txBody>
      </p:sp>
      <p:sp>
        <p:nvSpPr>
          <p:cNvPr id="8" name="TextBox 7"/>
          <p:cNvSpPr txBox="1"/>
          <p:nvPr/>
        </p:nvSpPr>
        <p:spPr>
          <a:xfrm>
            <a:off x="913969" y="3113965"/>
            <a:ext cx="10150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</a:t>
            </a:r>
            <a:r>
              <a:rPr lang="en-US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GS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= ?</a:t>
            </a:r>
          </a:p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</a:t>
            </a:r>
            <a:r>
              <a:rPr lang="en-US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= ?</a:t>
            </a:r>
          </a:p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</a:t>
            </a:r>
            <a:r>
              <a:rPr lang="en-US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= 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120" y="2267496"/>
            <a:ext cx="370522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48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23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39" y="1898017"/>
            <a:ext cx="842694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3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JFET?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JFET </a:t>
            </a:r>
            <a:r>
              <a:rPr lang="en-US" dirty="0" err="1"/>
              <a:t>kênh</a:t>
            </a:r>
            <a:r>
              <a:rPr lang="en-US" dirty="0"/>
              <a:t> N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,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V</a:t>
            </a:r>
            <a:r>
              <a:rPr lang="en-US" baseline="-25000" dirty="0"/>
              <a:t>GS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dương</a:t>
            </a:r>
            <a:r>
              <a:rPr lang="en-US" dirty="0"/>
              <a:t> hay </a:t>
            </a:r>
            <a:r>
              <a:rPr lang="en-US" dirty="0" err="1"/>
              <a:t>âm</a:t>
            </a:r>
            <a:r>
              <a:rPr lang="en-US" dirty="0"/>
              <a:t>?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baseline="-25000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Drain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ta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V</a:t>
            </a:r>
            <a:r>
              <a:rPr lang="en-US" baseline="-25000" dirty="0"/>
              <a:t>GS</a:t>
            </a:r>
            <a:r>
              <a:rPr lang="en-US" dirty="0"/>
              <a:t>?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JFET </a:t>
            </a:r>
            <a:r>
              <a:rPr lang="en-US" dirty="0" err="1"/>
              <a:t>kênh</a:t>
            </a:r>
            <a:r>
              <a:rPr lang="en-US" dirty="0"/>
              <a:t> n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, ID=8mA, RS=1kOhm, </a:t>
            </a:r>
            <a:r>
              <a:rPr lang="en-US" dirty="0" err="1"/>
              <a:t>Tính</a:t>
            </a:r>
            <a:r>
              <a:rPr lang="en-US" dirty="0"/>
              <a:t> VGS?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baseline="-25000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2 </a:t>
            </a:r>
            <a:r>
              <a:rPr lang="en-US" dirty="0" err="1"/>
              <a:t>loại</a:t>
            </a:r>
            <a:r>
              <a:rPr lang="en-US" dirty="0"/>
              <a:t> MOSFET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?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E-MOSFET, VGS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ID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hay </a:t>
            </a:r>
            <a:r>
              <a:rPr lang="en-US" dirty="0" err="1"/>
              <a:t>giảm</a:t>
            </a:r>
            <a:r>
              <a:rPr lang="en-US" dirty="0"/>
              <a:t>?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baseline="-25000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D-MOSFET, VGS </a:t>
            </a:r>
            <a:r>
              <a:rPr lang="en-US" dirty="0" err="1"/>
              <a:t>giảm</a:t>
            </a:r>
            <a:r>
              <a:rPr lang="en-US"/>
              <a:t> thì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ID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hay </a:t>
            </a:r>
            <a:r>
              <a:rPr lang="en-US" dirty="0" err="1"/>
              <a:t>giảm</a:t>
            </a:r>
            <a:r>
              <a:rPr lang="en-US" dirty="0"/>
              <a:t>?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406218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24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910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endParaRPr lang="en-US" dirty="0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6013" y="2041174"/>
            <a:ext cx="7856554" cy="4114800"/>
          </a:xfrm>
          <a:prstGeom prst="rect">
            <a:avLst/>
          </a:prstGeom>
        </p:spPr>
      </p:pic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Trịnh Lê Huy</a:t>
            </a:r>
            <a:endParaRPr lang="sv-S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25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137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46987</TotalTime>
  <Words>1191</Words>
  <Application>Microsoft Office PowerPoint</Application>
  <PresentationFormat>Format A4 (210 x 297 mm)</PresentationFormat>
  <Paragraphs>168</Paragraphs>
  <Slides>25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2" baseType="lpstr">
      <vt:lpstr>Calibri</vt:lpstr>
      <vt:lpstr>Calibri Light</vt:lpstr>
      <vt:lpstr>Cambria Math</vt:lpstr>
      <vt:lpstr>Times</vt:lpstr>
      <vt:lpstr>Times New Roman</vt:lpstr>
      <vt:lpstr>Wingdings</vt:lpstr>
      <vt:lpstr>Retrospect</vt:lpstr>
      <vt:lpstr>Chương 5</vt:lpstr>
      <vt:lpstr>Transistor hiệu ứng trường JFET</vt:lpstr>
      <vt:lpstr>Transistor hiệu ứng trường JFET</vt:lpstr>
      <vt:lpstr>Transistor hiệu ứng trường JFET</vt:lpstr>
      <vt:lpstr>Transistor hiệu ứng trường JFET</vt:lpstr>
      <vt:lpstr>Transistor hiệu ứng trường JFET</vt:lpstr>
      <vt:lpstr>Đặc tính của JFET</vt:lpstr>
      <vt:lpstr>Đặc tính của JFET</vt:lpstr>
      <vt:lpstr>Đặc tính của JFET</vt:lpstr>
      <vt:lpstr>Đặc tính của JFET</vt:lpstr>
      <vt:lpstr>Cách phân cực JFET</vt:lpstr>
      <vt:lpstr>Cách phân cực JFET</vt:lpstr>
      <vt:lpstr>Cách phân cực JFET</vt:lpstr>
      <vt:lpstr>MOSFET</vt:lpstr>
      <vt:lpstr>Cấu tạo của D-MOSFET</vt:lpstr>
      <vt:lpstr>Đặc tính của D-MOSFET</vt:lpstr>
      <vt:lpstr>Cách phân cực cho D-MOSFET</vt:lpstr>
      <vt:lpstr>Cấu tạo của E-MOSFET</vt:lpstr>
      <vt:lpstr>Đặc tính của E-MOSFET</vt:lpstr>
      <vt:lpstr>Cách phân cực cho E-MOSFET</vt:lpstr>
      <vt:lpstr>Cách phân cực cho E-MOSFET</vt:lpstr>
      <vt:lpstr>Cách phân cực cho E-MOSFET</vt:lpstr>
      <vt:lpstr>Câu hỏi</vt:lpstr>
      <vt:lpstr>Thank you!</vt:lpstr>
      <vt:lpstr>Bài tập</vt:lpstr>
    </vt:vector>
  </TitlesOfParts>
  <Company>Mid Sweden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Kent Bertilsson</dc:creator>
  <cp:lastModifiedBy>Le Huy Trinh</cp:lastModifiedBy>
  <cp:revision>925</cp:revision>
  <cp:lastPrinted>2017-01-10T07:42:01Z</cp:lastPrinted>
  <dcterms:created xsi:type="dcterms:W3CDTF">2005-06-07T08:25:50Z</dcterms:created>
  <dcterms:modified xsi:type="dcterms:W3CDTF">2017-11-09T01:22:02Z</dcterms:modified>
</cp:coreProperties>
</file>