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19"/>
  </p:notesMasterIdLst>
  <p:handoutMasterIdLst>
    <p:handoutMasterId r:id="rId20"/>
  </p:handoutMasterIdLst>
  <p:sldIdLst>
    <p:sldId id="449" r:id="rId2"/>
    <p:sldId id="345" r:id="rId3"/>
    <p:sldId id="376" r:id="rId4"/>
    <p:sldId id="402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4" r:id="rId13"/>
    <p:sldId id="445" r:id="rId14"/>
    <p:sldId id="446" r:id="rId15"/>
    <p:sldId id="447" r:id="rId16"/>
    <p:sldId id="448" r:id="rId17"/>
    <p:sldId id="419" r:id="rId18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82" d="100"/>
          <a:sy n="82" d="100"/>
        </p:scale>
        <p:origin x="1306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‹#›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36CB-44A3-4A56-9571-5AC9E7D220F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896542" y="363526"/>
            <a:ext cx="2647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V</a:t>
            </a:r>
            <a:r>
              <a:rPr lang="en-US" baseline="-25000" dirty="0"/>
              <a:t>OUT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830" y="2680046"/>
            <a:ext cx="5070893" cy="1843960"/>
          </a:xfrm>
          <a:prstGeom prst="rect">
            <a:avLst/>
          </a:prstGeom>
        </p:spPr>
      </p:pic>
      <p:pic>
        <p:nvPicPr>
          <p:cNvPr id="11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589" y="932821"/>
            <a:ext cx="6384894" cy="1947538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32" y="4524005"/>
            <a:ext cx="3634448" cy="22443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EDE5AD9-142E-00F2-A53B-B5C00563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49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8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sánh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Cộng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trừ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vi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/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vi </a:t>
            </a:r>
            <a:r>
              <a:rPr lang="en-US" dirty="0" err="1"/>
              <a:t>phân</a:t>
            </a:r>
            <a:r>
              <a:rPr lang="en-US" dirty="0"/>
              <a:t>/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ụng</a:t>
            </a:r>
            <a:r>
              <a:rPr lang="en-US" dirty="0"/>
              <a:t> Op-Amp</a:t>
            </a:r>
            <a:endParaRPr lang="en-US" b="1" dirty="0"/>
          </a:p>
        </p:txBody>
      </p:sp>
      <p:pic>
        <p:nvPicPr>
          <p:cNvPr id="3074" name="Picture 2" descr="Image result for i want you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38" y="3300643"/>
            <a:ext cx="4857960" cy="294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2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,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bé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hở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1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bão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(</a:t>
            </a:r>
            <a:r>
              <a:rPr lang="en-US" dirty="0">
                <a:sym typeface="Symbol" panose="05050102010706020507" pitchFamily="18" charset="2"/>
              </a:rPr>
              <a:t> </a:t>
            </a:r>
            <a:r>
              <a:rPr lang="en-US" dirty="0"/>
              <a:t>V</a:t>
            </a:r>
            <a:r>
              <a:rPr lang="en-US" baseline="-25000" dirty="0"/>
              <a:t>MAX</a:t>
            </a:r>
            <a:r>
              <a:rPr lang="en-US" dirty="0"/>
              <a:t>).</a:t>
            </a:r>
          </a:p>
          <a:p>
            <a:pPr marL="0" indent="0" algn="ctr" fontAlgn="auto">
              <a:buNone/>
            </a:pPr>
            <a:r>
              <a:rPr lang="en-US" b="1" dirty="0"/>
              <a:t>Zero level Detector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385" y="4159330"/>
            <a:ext cx="58102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4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0</a:t>
            </a:r>
          </a:p>
          <a:p>
            <a:pPr marL="0" indent="0" algn="ctr" fontAlgn="auto">
              <a:buNone/>
            </a:pPr>
            <a:r>
              <a:rPr lang="en-US" b="1" dirty="0"/>
              <a:t>Non Zero level Detector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634" y="2623216"/>
            <a:ext cx="4086225" cy="2990850"/>
          </a:xfrm>
          <a:prstGeom prst="rect">
            <a:avLst/>
          </a:prstGeom>
        </p:spPr>
      </p:pic>
      <p:pic>
        <p:nvPicPr>
          <p:cNvPr id="1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8970"/>
            <a:ext cx="5791200" cy="191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8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?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2213865"/>
            <a:ext cx="8143875" cy="18192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00" y="4029332"/>
            <a:ext cx="4949385" cy="2837475"/>
          </a:xfrm>
          <a:prstGeom prst="rect">
            <a:avLst/>
          </a:prstGeom>
        </p:spPr>
      </p:pic>
      <p:sp>
        <p:nvSpPr>
          <p:cNvPr id="10" name="Content Placeholder 11"/>
          <p:cNvSpPr txBox="1">
            <a:spLocks/>
          </p:cNvSpPr>
          <p:nvPr/>
        </p:nvSpPr>
        <p:spPr>
          <a:xfrm>
            <a:off x="5358045" y="5087363"/>
            <a:ext cx="4476244" cy="725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070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2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UTP (upper trigger point) </a:t>
            </a:r>
            <a:r>
              <a:rPr lang="en-US" dirty="0" err="1"/>
              <a:t>và</a:t>
            </a:r>
            <a:r>
              <a:rPr lang="en-US" dirty="0"/>
              <a:t> LTP (lower trigger point).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630" y="3779395"/>
            <a:ext cx="4666505" cy="2529925"/>
          </a:xfrm>
          <a:prstGeom prst="rect">
            <a:avLst/>
          </a:prstGeom>
        </p:spPr>
      </p:pic>
      <p:pic>
        <p:nvPicPr>
          <p:cNvPr id="4098" name="Picture 2" descr="Image result for how it 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451" y="3886757"/>
            <a:ext cx="3086932" cy="231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84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2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R1 </a:t>
            </a:r>
            <a:r>
              <a:rPr lang="en-US" dirty="0" err="1"/>
              <a:t>và</a:t>
            </a:r>
            <a:r>
              <a:rPr lang="en-US" dirty="0"/>
              <a:t> R2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97" y="3248980"/>
            <a:ext cx="8210550" cy="24098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28" y="4991798"/>
            <a:ext cx="2314575" cy="5715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765" y="5010848"/>
            <a:ext cx="22764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53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(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5V).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1 </a:t>
            </a:r>
            <a:r>
              <a:rPr lang="en-US" dirty="0" err="1"/>
              <a:t>hoặc</a:t>
            </a:r>
            <a:r>
              <a:rPr lang="en-US" dirty="0"/>
              <a:t> 2 diode </a:t>
            </a:r>
            <a:r>
              <a:rPr lang="en-US" dirty="0" err="1"/>
              <a:t>zener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Diode </a:t>
            </a:r>
            <a:r>
              <a:rPr lang="en-US" dirty="0" err="1"/>
              <a:t>Zener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thuân</a:t>
            </a:r>
            <a:r>
              <a:rPr lang="en-US" dirty="0"/>
              <a:t>,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2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Zener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nhiêu</a:t>
            </a:r>
            <a:r>
              <a:rPr lang="en-US" dirty="0"/>
              <a:t>?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nghịch</a:t>
            </a:r>
            <a:r>
              <a:rPr lang="en-US" dirty="0"/>
              <a:t>,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2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Zener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nhiêu</a:t>
            </a:r>
            <a:r>
              <a:rPr lang="en-US" dirty="0"/>
              <a:t>?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grpSp>
        <p:nvGrpSpPr>
          <p:cNvPr id="16" name="Groupe 15"/>
          <p:cNvGrpSpPr/>
          <p:nvPr/>
        </p:nvGrpSpPr>
        <p:grpSpPr>
          <a:xfrm>
            <a:off x="3197044" y="4524840"/>
            <a:ext cx="2774497" cy="956720"/>
            <a:chOff x="3197044" y="4524840"/>
            <a:chExt cx="2774497" cy="956720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5615" y="4524840"/>
              <a:ext cx="828675" cy="285750"/>
            </a:xfrm>
            <a:prstGeom prst="rect">
              <a:avLst/>
            </a:prstGeom>
          </p:spPr>
        </p:pic>
        <p:sp>
          <p:nvSpPr>
            <p:cNvPr id="12" name="ZoneTexte 11"/>
            <p:cNvSpPr txBox="1"/>
            <p:nvPr/>
          </p:nvSpPr>
          <p:spPr>
            <a:xfrm>
              <a:off x="5107202" y="4723586"/>
              <a:ext cx="8643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V</a:t>
              </a:r>
              <a:r>
                <a:rPr lang="en-US" baseline="-25000" dirty="0" err="1"/>
                <a:t>diode</a:t>
              </a:r>
              <a:endParaRPr lang="en-US" baseline="-25000" dirty="0"/>
            </a:p>
          </p:txBody>
        </p:sp>
        <p:cxnSp>
          <p:nvCxnSpPr>
            <p:cNvPr id="13" name="Connecteur droit avec flèche 12"/>
            <p:cNvCxnSpPr/>
            <p:nvPr/>
          </p:nvCxnSpPr>
          <p:spPr>
            <a:xfrm>
              <a:off x="4125615" y="5019895"/>
              <a:ext cx="8286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/>
            <p:cNvCxnSpPr/>
            <p:nvPr/>
          </p:nvCxnSpPr>
          <p:spPr>
            <a:xfrm>
              <a:off x="4125615" y="5277707"/>
              <a:ext cx="82867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14"/>
            <p:cNvSpPr txBox="1"/>
            <p:nvPr/>
          </p:nvSpPr>
          <p:spPr>
            <a:xfrm>
              <a:off x="3197044" y="5019895"/>
              <a:ext cx="8867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V</a:t>
              </a:r>
              <a:r>
                <a:rPr lang="en-US" baseline="-25000" dirty="0" err="1"/>
                <a:t>Zener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3998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76" y="2618910"/>
            <a:ext cx="4457700" cy="32575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280897"/>
            <a:ext cx="455295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 err="1"/>
              <a:t>Mạch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Analog sang Digital: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39" y="2326652"/>
            <a:ext cx="3483800" cy="429768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583" y="2483895"/>
            <a:ext cx="4351561" cy="37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6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002" y="3744035"/>
            <a:ext cx="3584444" cy="204441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91655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R1=R2=</a:t>
            </a:r>
            <a:r>
              <a:rPr lang="en-US" dirty="0" err="1"/>
              <a:t>Rf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: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9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0799" y="1808820"/>
            <a:ext cx="3666647" cy="1970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63" y="3474005"/>
            <a:ext cx="4914900" cy="7905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49" y="4905180"/>
            <a:ext cx="5124450" cy="6667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565" y="5724255"/>
            <a:ext cx="57435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07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sang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(DAC)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465" y="2798930"/>
            <a:ext cx="4875204" cy="2939461"/>
          </a:xfrm>
          <a:prstGeom prst="rect">
            <a:avLst/>
          </a:prstGeom>
        </p:spPr>
      </p:pic>
      <p:pic>
        <p:nvPicPr>
          <p:cNvPr id="5122" name="Picture 2" descr="Image result for DAC 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10" y="3282822"/>
            <a:ext cx="3971925" cy="197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690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sang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</a:t>
            </a:r>
            <a:r>
              <a:rPr lang="en-US"/>
              <a:t>DAC) 4-bit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685" y="2636468"/>
            <a:ext cx="49815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0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25" y="3590550"/>
            <a:ext cx="6333822" cy="27432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r>
              <a:rPr lang="en-US" dirty="0"/>
              <a:t>							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800" y="4135546"/>
            <a:ext cx="25527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0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 err="1"/>
              <a:t>Mạch</a:t>
            </a:r>
            <a:r>
              <a:rPr lang="en-US" dirty="0"/>
              <a:t> vi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vi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vi </a:t>
            </a:r>
            <a:r>
              <a:rPr lang="en-US" dirty="0" err="1"/>
              <a:t>phân</a:t>
            </a:r>
            <a:r>
              <a:rPr lang="en-US" dirty="0"/>
              <a:t>.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,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vi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vi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6" y="3375823"/>
            <a:ext cx="8122918" cy="287371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60" y="3149263"/>
            <a:ext cx="23622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00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56881</TotalTime>
  <Words>824</Words>
  <Application>Microsoft Office PowerPoint</Application>
  <PresentationFormat>A4 Paper (210x297 mm)</PresentationFormat>
  <Paragraphs>103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Calibri Light</vt:lpstr>
      <vt:lpstr>Symbol</vt:lpstr>
      <vt:lpstr>Times</vt:lpstr>
      <vt:lpstr>Times New Roman</vt:lpstr>
      <vt:lpstr>Wingdings</vt:lpstr>
      <vt:lpstr>Retrospect</vt:lpstr>
      <vt:lpstr>PowerPoint Presentation</vt:lpstr>
      <vt:lpstr>Chương 8</vt:lpstr>
      <vt:lpstr>Mục tiêu</vt:lpstr>
      <vt:lpstr>Mạch so sánh sử dụng Op-Amp</vt:lpstr>
      <vt:lpstr>Mạch so sánh sử dụng Op-Amp</vt:lpstr>
      <vt:lpstr>Mạch so sánh sử dụng Op-Amp</vt:lpstr>
      <vt:lpstr>Mạch so sánh sử dụng Op-Amp</vt:lpstr>
      <vt:lpstr>Mạch so sánh sử dụng Op-Amp</vt:lpstr>
      <vt:lpstr>Mạch so sánh sử dụng Op-Amp</vt:lpstr>
      <vt:lpstr>Mạch so sánh sử dụng Op-Amp</vt:lpstr>
      <vt:lpstr>Các ứng dụng của Mạch so sánh sử dụng Op-Amp</vt:lpstr>
      <vt:lpstr>Mạch cộng sử dụng Op-Amp</vt:lpstr>
      <vt:lpstr>Ứng dụng của Mạch cộng sử dụng Op-Amp</vt:lpstr>
      <vt:lpstr>Ứng dụng của Mạch cộng sử dụng Op-Amp</vt:lpstr>
      <vt:lpstr> Mạch tích phân sử dụng Op-Amp</vt:lpstr>
      <vt:lpstr> Mạch vi phân sử dụng Op-Amp</vt:lpstr>
      <vt:lpstr>Thank you!</vt:lpstr>
    </vt:vector>
  </TitlesOfParts>
  <Company>Mid Sweden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Trịnh Lê Huy</cp:lastModifiedBy>
  <cp:revision>1011</cp:revision>
  <cp:lastPrinted>2004-10-20T11:26:57Z</cp:lastPrinted>
  <dcterms:created xsi:type="dcterms:W3CDTF">2005-06-07T08:25:50Z</dcterms:created>
  <dcterms:modified xsi:type="dcterms:W3CDTF">2025-12-01T01:11:13Z</dcterms:modified>
</cp:coreProperties>
</file>