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23"/>
  </p:notesMasterIdLst>
  <p:handoutMasterIdLst>
    <p:handoutMasterId r:id="rId24"/>
  </p:handoutMasterIdLst>
  <p:sldIdLst>
    <p:sldId id="345" r:id="rId2"/>
    <p:sldId id="376" r:id="rId3"/>
    <p:sldId id="402" r:id="rId4"/>
    <p:sldId id="420" r:id="rId5"/>
    <p:sldId id="421" r:id="rId6"/>
    <p:sldId id="422" r:id="rId7"/>
    <p:sldId id="423" r:id="rId8"/>
    <p:sldId id="424" r:id="rId9"/>
    <p:sldId id="425" r:id="rId10"/>
    <p:sldId id="426" r:id="rId11"/>
    <p:sldId id="427" r:id="rId12"/>
    <p:sldId id="428" r:id="rId13"/>
    <p:sldId id="429" r:id="rId14"/>
    <p:sldId id="430" r:id="rId15"/>
    <p:sldId id="431" r:id="rId16"/>
    <p:sldId id="432" r:id="rId17"/>
    <p:sldId id="433" r:id="rId18"/>
    <p:sldId id="434" r:id="rId19"/>
    <p:sldId id="435" r:id="rId20"/>
    <p:sldId id="419" r:id="rId21"/>
    <p:sldId id="436" r:id="rId22"/>
  </p:sldIdLst>
  <p:sldSz cx="9906000" cy="6858000" type="A4"/>
  <p:notesSz cx="6858000" cy="91440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03" autoAdjust="0"/>
    <p:restoredTop sz="80211" autoAdjust="0"/>
  </p:normalViewPr>
  <p:slideViewPr>
    <p:cSldViewPr snapToObjects="1">
      <p:cViewPr varScale="1">
        <p:scale>
          <a:sx n="74" d="100"/>
          <a:sy n="74" d="100"/>
        </p:scale>
        <p:origin x="1476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‹N°›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Các thông số kỹ thuật và mạch tương đương 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Mạch khuếch đại CS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Bài 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023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‹N°›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‹N°›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9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khuếch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đại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thuật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toán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Op-Amp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hài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Sin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sóng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xung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Clr>
                <a:srgbClr val="FFC000"/>
              </a:buClr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sóng</a:t>
            </a:r>
            <a:r>
              <a:rPr lang="en-US" dirty="0"/>
              <a:t> sin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dao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</a:t>
            </a:r>
            <a:endParaRPr lang="en-US" b="1" dirty="0"/>
          </a:p>
        </p:txBody>
      </p:sp>
      <p:pic>
        <p:nvPicPr>
          <p:cNvPr id="3074" name="Picture 2" descr="Image result for i want you washingt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138" y="3300643"/>
            <a:ext cx="4857960" cy="294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(</a:t>
            </a:r>
            <a:r>
              <a:rPr lang="en-US" dirty="0" err="1"/>
              <a:t>multivibrator</a:t>
            </a:r>
            <a:r>
              <a:rPr lang="en-US" dirty="0"/>
              <a:t>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song </a:t>
            </a:r>
            <a:r>
              <a:rPr lang="en-US" dirty="0" err="1"/>
              <a:t>vuông</a:t>
            </a:r>
            <a:r>
              <a:rPr lang="en-US" dirty="0"/>
              <a:t>.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: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bão</a:t>
            </a:r>
            <a:r>
              <a:rPr lang="en-US" dirty="0"/>
              <a:t> </a:t>
            </a:r>
            <a:r>
              <a:rPr lang="en-US" dirty="0" err="1"/>
              <a:t>hòa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3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547" y="4017287"/>
            <a:ext cx="5337485" cy="2232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548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688759" cy="456176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bền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, 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b="1" dirty="0"/>
              <a:t>saturation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saturation</a:t>
            </a:r>
            <a:r>
              <a:rPr lang="en-US" dirty="0"/>
              <a:t>, 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,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b="1" dirty="0" err="1"/>
              <a:t>tốt</a:t>
            </a:r>
            <a:r>
              <a:rPr lang="en-US" b="1" dirty="0"/>
              <a:t> </a:t>
            </a:r>
            <a:r>
              <a:rPr lang="en-US" b="1" dirty="0" err="1"/>
              <a:t>hơn</a:t>
            </a:r>
            <a:r>
              <a:rPr lang="en-US" b="1" dirty="0"/>
              <a:t> </a:t>
            </a:r>
            <a:r>
              <a:rPr lang="en-US" dirty="0"/>
              <a:t>Q</a:t>
            </a:r>
            <a:r>
              <a:rPr lang="en-US" baseline="-25000" dirty="0"/>
              <a:t>2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V</a:t>
            </a:r>
            <a:r>
              <a:rPr lang="en-US" baseline="-25000" dirty="0"/>
              <a:t>CE1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giảm</a:t>
            </a:r>
            <a:r>
              <a:rPr lang="en-US" dirty="0"/>
              <a:t>, do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B </a:t>
            </a:r>
            <a:r>
              <a:rPr lang="en-US" dirty="0" err="1"/>
              <a:t>của</a:t>
            </a:r>
            <a:r>
              <a:rPr lang="en-US" dirty="0"/>
              <a:t> 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I</a:t>
            </a:r>
            <a:r>
              <a:rPr lang="en-US" baseline="-25000" dirty="0"/>
              <a:t>B2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giảm</a:t>
            </a:r>
            <a:r>
              <a:rPr lang="en-US" dirty="0"/>
              <a:t>.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I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b="1" dirty="0" err="1"/>
              <a:t>giảm</a:t>
            </a:r>
            <a:r>
              <a:rPr lang="en-US" dirty="0"/>
              <a:t> do I</a:t>
            </a:r>
            <a:r>
              <a:rPr lang="en-US" baseline="-25000" dirty="0"/>
              <a:t>B2</a:t>
            </a:r>
            <a:r>
              <a:rPr lang="en-US" dirty="0"/>
              <a:t> </a:t>
            </a:r>
            <a:r>
              <a:rPr lang="en-US" b="1" dirty="0" err="1"/>
              <a:t>giảm</a:t>
            </a:r>
            <a:r>
              <a:rPr lang="en-US" dirty="0"/>
              <a:t>, do </a:t>
            </a:r>
            <a:r>
              <a:rPr lang="en-US" dirty="0" err="1"/>
              <a:t>đó</a:t>
            </a:r>
            <a:r>
              <a:rPr lang="en-US" dirty="0"/>
              <a:t> V</a:t>
            </a:r>
            <a:r>
              <a:rPr lang="en-US" baseline="-25000" dirty="0"/>
              <a:t>CE2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saturation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off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, 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b="1" dirty="0"/>
              <a:t>sat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b="1" dirty="0"/>
              <a:t>sat</a:t>
            </a:r>
            <a:r>
              <a:rPr lang="en-US" dirty="0"/>
              <a:t>, 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ta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Input 1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Input 2</a:t>
            </a:r>
          </a:p>
        </p:txBody>
      </p:sp>
      <p:grpSp>
        <p:nvGrpSpPr>
          <p:cNvPr id="9" name="Groupe 8"/>
          <p:cNvGrpSpPr/>
          <p:nvPr/>
        </p:nvGrpSpPr>
        <p:grpSpPr>
          <a:xfrm>
            <a:off x="5853100" y="1988840"/>
            <a:ext cx="4095455" cy="2779839"/>
            <a:chOff x="5622854" y="2079780"/>
            <a:chExt cx="4325701" cy="2779839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22854" y="2079780"/>
              <a:ext cx="4325701" cy="2779839"/>
            </a:xfrm>
            <a:prstGeom prst="rect">
              <a:avLst/>
            </a:prstGeom>
          </p:spPr>
        </p:pic>
        <p:sp>
          <p:nvSpPr>
            <p:cNvPr id="6" name="ZoneTexte 5"/>
            <p:cNvSpPr txBox="1"/>
            <p:nvPr/>
          </p:nvSpPr>
          <p:spPr>
            <a:xfrm>
              <a:off x="6775544" y="2388077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1</a:t>
              </a:r>
            </a:p>
          </p:txBody>
        </p:sp>
        <p:cxnSp>
          <p:nvCxnSpPr>
            <p:cNvPr id="8" name="Connecteur droit avec flèche 7"/>
            <p:cNvCxnSpPr/>
            <p:nvPr/>
          </p:nvCxnSpPr>
          <p:spPr>
            <a:xfrm>
              <a:off x="7165394" y="2388077"/>
              <a:ext cx="0" cy="6808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ZoneTexte 11"/>
            <p:cNvSpPr txBox="1"/>
            <p:nvPr/>
          </p:nvSpPr>
          <p:spPr>
            <a:xfrm>
              <a:off x="8318084" y="2388077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2</a:t>
              </a:r>
            </a:p>
          </p:txBody>
        </p:sp>
        <p:cxnSp>
          <p:nvCxnSpPr>
            <p:cNvPr id="13" name="Connecteur droit avec flèche 12"/>
            <p:cNvCxnSpPr/>
            <p:nvPr/>
          </p:nvCxnSpPr>
          <p:spPr>
            <a:xfrm>
              <a:off x="8283370" y="2388077"/>
              <a:ext cx="0" cy="6808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ZoneTexte 13"/>
          <p:cNvSpPr txBox="1"/>
          <p:nvPr/>
        </p:nvSpPr>
        <p:spPr>
          <a:xfrm>
            <a:off x="7442229" y="2573905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B2</a:t>
            </a:r>
          </a:p>
        </p:txBody>
      </p:sp>
      <p:cxnSp>
        <p:nvCxnSpPr>
          <p:cNvPr id="15" name="Connecteur droit avec flèche 14"/>
          <p:cNvCxnSpPr/>
          <p:nvPr/>
        </p:nvCxnSpPr>
        <p:spPr>
          <a:xfrm>
            <a:off x="7442229" y="3068960"/>
            <a:ext cx="5261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 flipH="1">
            <a:off x="7380012" y="3338990"/>
            <a:ext cx="6641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7456368" y="3238866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B1</a:t>
            </a:r>
          </a:p>
        </p:txBody>
      </p:sp>
      <p:sp>
        <p:nvSpPr>
          <p:cNvPr id="22" name="Content Placeholder 11"/>
          <p:cNvSpPr txBox="1">
            <a:spLocks/>
          </p:cNvSpPr>
          <p:nvPr/>
        </p:nvSpPr>
        <p:spPr>
          <a:xfrm>
            <a:off x="5763090" y="4950557"/>
            <a:ext cx="4052900" cy="135876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khóa</a:t>
            </a:r>
            <a:r>
              <a:rPr lang="en-US" b="1" dirty="0"/>
              <a:t> </a:t>
            </a:r>
            <a:r>
              <a:rPr lang="en-US" dirty="0"/>
              <a:t>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b="1" dirty="0" err="1"/>
              <a:t>ngược</a:t>
            </a:r>
            <a:r>
              <a:rPr lang="en-US" b="1" dirty="0"/>
              <a:t> </a:t>
            </a:r>
            <a:r>
              <a:rPr lang="en-US" b="1" dirty="0" err="1"/>
              <a:t>lại</a:t>
            </a:r>
            <a:r>
              <a:rPr lang="en-US" dirty="0"/>
              <a:t>,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thay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dirty="0" err="1"/>
              <a:t>nếu</a:t>
            </a:r>
            <a:r>
              <a:rPr lang="en-US" dirty="0"/>
              <a:t> ta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kích</a:t>
            </a:r>
            <a:r>
              <a:rPr lang="en-US" b="1" dirty="0"/>
              <a:t> </a:t>
            </a:r>
            <a:r>
              <a:rPr lang="en-US" b="1" dirty="0" err="1"/>
              <a:t>thích</a:t>
            </a:r>
            <a:r>
              <a:rPr lang="en-US" b="1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b="1" dirty="0" err="1"/>
              <a:t>thay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b="1" dirty="0"/>
              <a:t>Input 1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b="1" dirty="0"/>
              <a:t>Input 2</a:t>
            </a:r>
          </a:p>
        </p:txBody>
      </p:sp>
    </p:spTree>
    <p:extLst>
      <p:ext uri="{BB962C8B-B14F-4D97-AF65-F5344CB8AC3E}">
        <p14:creationId xmlns:p14="http://schemas.microsoft.com/office/powerpoint/2010/main" val="3057785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688759" cy="456176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bền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transistor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Q1 </a:t>
            </a:r>
            <a:r>
              <a:rPr lang="en-US" b="1" dirty="0"/>
              <a:t>off</a:t>
            </a:r>
            <a:r>
              <a:rPr lang="en-US" dirty="0"/>
              <a:t>, Q2 </a:t>
            </a:r>
            <a:r>
              <a:rPr lang="en-US" b="1" dirty="0"/>
              <a:t>Sat</a:t>
            </a:r>
            <a:r>
              <a:rPr lang="en-US" dirty="0"/>
              <a:t> sang Q1 </a:t>
            </a:r>
            <a:r>
              <a:rPr lang="en-US" b="1" dirty="0"/>
              <a:t>Sat</a:t>
            </a:r>
            <a:r>
              <a:rPr lang="en-US" dirty="0"/>
              <a:t>, Q2 </a:t>
            </a:r>
            <a:r>
              <a:rPr lang="en-US" b="1" dirty="0"/>
              <a:t>off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,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Q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b="1" dirty="0"/>
              <a:t> </a:t>
            </a:r>
            <a:r>
              <a:rPr lang="en-US" dirty="0"/>
              <a:t>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Sat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b="1" dirty="0" smtClean="0"/>
              <a:t>Q</a:t>
            </a:r>
            <a:r>
              <a:rPr lang="en-US" b="1" baseline="-25000" dirty="0" smtClean="0"/>
              <a:t>1</a:t>
            </a:r>
            <a:r>
              <a:rPr lang="en-US" b="1" dirty="0" smtClean="0"/>
              <a:t> off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đoạn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1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b="1" dirty="0" smtClean="0"/>
              <a:t>0V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b="1" dirty="0" err="1" smtClean="0"/>
              <a:t>ngắt</a:t>
            </a:r>
            <a:r>
              <a:rPr lang="en-US" dirty="0" smtClean="0"/>
              <a:t>.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nút</a:t>
            </a:r>
            <a:r>
              <a:rPr lang="en-US" dirty="0" smtClean="0"/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1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b="1" dirty="0" err="1" smtClean="0"/>
              <a:t>nối</a:t>
            </a:r>
            <a:r>
              <a:rPr lang="en-US" b="1" dirty="0" smtClean="0"/>
              <a:t> </a:t>
            </a:r>
            <a:r>
              <a:rPr lang="en-US" b="1" dirty="0" err="1" smtClean="0"/>
              <a:t>trực</a:t>
            </a:r>
            <a:r>
              <a:rPr lang="en-US" b="1" dirty="0" smtClean="0"/>
              <a:t> </a:t>
            </a:r>
            <a:r>
              <a:rPr lang="en-US" b="1" dirty="0" err="1" smtClean="0"/>
              <a:t>tiếp</a:t>
            </a:r>
            <a:r>
              <a:rPr lang="en-US" b="1" dirty="0" smtClean="0"/>
              <a:t> </a:t>
            </a:r>
            <a:r>
              <a:rPr lang="en-US" b="1" dirty="0" err="1" smtClean="0"/>
              <a:t>lên</a:t>
            </a:r>
            <a:r>
              <a:rPr lang="en-US" b="1" dirty="0" smtClean="0"/>
              <a:t> </a:t>
            </a:r>
            <a:r>
              <a:rPr lang="en-US" b="1" dirty="0" err="1" smtClean="0"/>
              <a:t>nguồn</a:t>
            </a:r>
            <a:r>
              <a:rPr lang="en-US" b="1" dirty="0" smtClean="0"/>
              <a:t> </a:t>
            </a:r>
            <a:r>
              <a:rPr lang="en-US" dirty="0" err="1" smtClean="0"/>
              <a:t>và</a:t>
            </a:r>
            <a:r>
              <a:rPr lang="en-US" b="1" dirty="0" smtClean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b="1" dirty="0" smtClean="0"/>
              <a:t>6V</a:t>
            </a:r>
            <a:r>
              <a:rPr lang="en-US" dirty="0" smtClean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b="1" dirty="0" smtClean="0"/>
              <a:t>Q</a:t>
            </a:r>
            <a:r>
              <a:rPr lang="en-US" b="1" baseline="-25000" dirty="0" smtClean="0"/>
              <a:t>2</a:t>
            </a:r>
            <a:r>
              <a:rPr lang="en-US" b="1" dirty="0" smtClean="0"/>
              <a:t> sat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b="1" dirty="0" smtClean="0"/>
              <a:t>B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b="1" dirty="0" smtClean="0"/>
              <a:t>Q</a:t>
            </a:r>
            <a:r>
              <a:rPr lang="en-US" b="1" baseline="-25000" dirty="0" smtClean="0"/>
              <a:t>2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b="1" dirty="0" err="1" smtClean="0"/>
              <a:t>lớn</a:t>
            </a:r>
            <a:r>
              <a:rPr lang="en-US" b="1" dirty="0" smtClean="0"/>
              <a:t> </a:t>
            </a:r>
            <a:r>
              <a:rPr lang="en-US" b="1" dirty="0" err="1" smtClean="0"/>
              <a:t>hơn</a:t>
            </a:r>
            <a:r>
              <a:rPr lang="en-US" b="1" dirty="0" smtClean="0"/>
              <a:t> 0.7V</a:t>
            </a:r>
            <a:r>
              <a:rPr lang="en-US" dirty="0" smtClean="0"/>
              <a:t>. Do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b="1" dirty="0" smtClean="0"/>
              <a:t>B1</a:t>
            </a:r>
            <a:r>
              <a:rPr lang="en-US" dirty="0" smtClean="0"/>
              <a:t>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b="1" dirty="0" err="1" smtClean="0"/>
              <a:t>lớn</a:t>
            </a:r>
            <a:r>
              <a:rPr lang="en-US" b="1" dirty="0" smtClean="0"/>
              <a:t> </a:t>
            </a:r>
            <a:r>
              <a:rPr lang="en-US" b="1" dirty="0" err="1" smtClean="0"/>
              <a:t>hơn</a:t>
            </a:r>
            <a:r>
              <a:rPr lang="en-US" b="1" dirty="0" smtClean="0"/>
              <a:t> 0.7V</a:t>
            </a:r>
            <a:r>
              <a:rPr lang="en-US" dirty="0" smtClean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Lúc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, </a:t>
            </a:r>
            <a:r>
              <a:rPr lang="en-US" dirty="0" err="1" smtClean="0"/>
              <a:t>tụ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b="1" dirty="0" smtClean="0"/>
              <a:t>C1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b="1" dirty="0" err="1" smtClean="0"/>
              <a:t>sạc</a:t>
            </a:r>
            <a:r>
              <a:rPr lang="en-US" dirty="0" smtClean="0"/>
              <a:t>.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b="1" dirty="0" err="1" smtClean="0"/>
              <a:t>hai</a:t>
            </a:r>
            <a:r>
              <a:rPr lang="en-US" b="1" dirty="0" smtClean="0"/>
              <a:t> </a:t>
            </a:r>
            <a:r>
              <a:rPr lang="en-US" b="1" dirty="0" err="1" smtClean="0"/>
              <a:t>đầu</a:t>
            </a:r>
            <a:r>
              <a:rPr lang="en-US" b="1" dirty="0" smtClean="0"/>
              <a:t> A</a:t>
            </a:r>
            <a:r>
              <a:rPr lang="en-US" b="1" baseline="-25000" dirty="0" smtClean="0"/>
              <a:t>1</a:t>
            </a:r>
            <a:r>
              <a:rPr lang="en-US" b="1" dirty="0" smtClean="0"/>
              <a:t>B</a:t>
            </a:r>
            <a:r>
              <a:rPr lang="en-US" b="1" baseline="-25000" dirty="0" smtClean="0"/>
              <a:t>1</a:t>
            </a:r>
            <a:r>
              <a:rPr lang="en-US" dirty="0" smtClean="0"/>
              <a:t>, </a:t>
            </a:r>
            <a:r>
              <a:rPr lang="en-US" b="1" dirty="0" smtClean="0"/>
              <a:t>U</a:t>
            </a:r>
            <a:r>
              <a:rPr lang="en-US" b="1" baseline="-25000" dirty="0" smtClean="0"/>
              <a:t>A1B1</a:t>
            </a:r>
            <a:r>
              <a:rPr lang="en-US" dirty="0" smtClean="0"/>
              <a:t> </a:t>
            </a:r>
            <a:r>
              <a:rPr lang="en-US" b="1" dirty="0" smtClean="0"/>
              <a:t>#</a:t>
            </a:r>
            <a:r>
              <a:rPr lang="en-US" dirty="0" smtClean="0"/>
              <a:t> </a:t>
            </a:r>
            <a:r>
              <a:rPr lang="en-US" b="1" dirty="0" smtClean="0"/>
              <a:t>6V-0.7V=5.3V</a:t>
            </a:r>
            <a:endParaRPr lang="en-US" b="1" dirty="0"/>
          </a:p>
        </p:txBody>
      </p:sp>
      <p:pic>
        <p:nvPicPr>
          <p:cNvPr id="1026" name="Picture 2" descr="Image result for multivibrator bjt ast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804" y="2168860"/>
            <a:ext cx="3493706" cy="282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207111" y="4104075"/>
            <a:ext cx="538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off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340590" y="4104075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2047" y="340722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6V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9241" y="3019265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&gt;</a:t>
            </a:r>
            <a:r>
              <a:rPr lang="en-US" sz="1800" dirty="0" smtClean="0"/>
              <a:t>0.7V</a:t>
            </a:r>
            <a:endParaRPr lang="en-US" sz="1800" dirty="0"/>
          </a:p>
        </p:txBody>
      </p:sp>
      <p:sp>
        <p:nvSpPr>
          <p:cNvPr id="18" name="TextBox 17"/>
          <p:cNvSpPr txBox="1"/>
          <p:nvPr/>
        </p:nvSpPr>
        <p:spPr>
          <a:xfrm>
            <a:off x="5898105" y="2135322"/>
            <a:ext cx="46679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6V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8073" y="3413885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0.6V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7659241" y="3293985"/>
            <a:ext cx="219084" cy="288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68783" y="3253438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0.7V</a:t>
            </a:r>
            <a:r>
              <a:rPr lang="en-US" sz="1800" dirty="0"/>
              <a:t>&gt;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8257173" y="3575396"/>
            <a:ext cx="161105" cy="87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28175" y="3609020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  <a:r>
              <a:rPr lang="en-US" sz="1600" baseline="-25000" dirty="0"/>
              <a:t>1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7488474" y="3641486"/>
            <a:ext cx="3898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  <a:r>
              <a:rPr lang="en-US" sz="1600" baseline="-25000" dirty="0"/>
              <a:t>1</a:t>
            </a:r>
            <a:endParaRPr lang="en-US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9206252" y="3609020"/>
            <a:ext cx="401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  <a:r>
              <a:rPr lang="en-US" sz="1600" baseline="-25000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4078" y="368083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  <a:r>
              <a:rPr lang="en-US" sz="1600" baseline="-25000" dirty="0"/>
              <a:t>2</a:t>
            </a:r>
          </a:p>
        </p:txBody>
      </p:sp>
      <p:cxnSp>
        <p:nvCxnSpPr>
          <p:cNvPr id="7" name="Connecteur droit avec flèche 6"/>
          <p:cNvCxnSpPr/>
          <p:nvPr/>
        </p:nvCxnSpPr>
        <p:spPr>
          <a:xfrm flipH="1">
            <a:off x="6888215" y="4019393"/>
            <a:ext cx="7432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11"/>
          <p:cNvSpPr txBox="1"/>
          <p:nvPr/>
        </p:nvSpPr>
        <p:spPr>
          <a:xfrm>
            <a:off x="7148396" y="4013578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FF0000"/>
                </a:solidFill>
              </a:rPr>
              <a:t>5.3V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04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6" grpId="0"/>
      <p:bldP spid="19" grpId="0"/>
      <p:bldP spid="24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7"/>
            <a:ext cx="4688759" cy="456176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Q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 err="1"/>
              <a:t>đang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off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b="1" dirty="0"/>
              <a:t> </a:t>
            </a:r>
            <a:r>
              <a:rPr lang="en-US" dirty="0"/>
              <a:t>Q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b="1" dirty="0"/>
              <a:t>Sat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b="1" dirty="0" smtClean="0"/>
              <a:t>Q</a:t>
            </a:r>
            <a:r>
              <a:rPr lang="en-US" b="1" baseline="-25000" dirty="0" smtClean="0"/>
              <a:t>2</a:t>
            </a:r>
            <a:r>
              <a:rPr lang="en-US" b="1" dirty="0" smtClean="0"/>
              <a:t> sat</a:t>
            </a:r>
            <a:r>
              <a:rPr lang="en-US" dirty="0" smtClean="0"/>
              <a:t>,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b="1" dirty="0" smtClean="0"/>
              <a:t>A2 </a:t>
            </a:r>
            <a:r>
              <a:rPr lang="en-US" b="1" dirty="0" err="1" smtClean="0"/>
              <a:t>sẽ</a:t>
            </a:r>
            <a:r>
              <a:rPr lang="en-US" b="1" dirty="0" smtClean="0"/>
              <a:t> </a:t>
            </a:r>
            <a:r>
              <a:rPr lang="en-US" b="1" dirty="0" err="1" smtClean="0"/>
              <a:t>nối</a:t>
            </a:r>
            <a:r>
              <a:rPr lang="en-US" b="1" dirty="0" smtClean="0"/>
              <a:t> </a:t>
            </a:r>
            <a:r>
              <a:rPr lang="en-US" b="1" dirty="0" err="1" smtClean="0"/>
              <a:t>đất</a:t>
            </a:r>
            <a:r>
              <a:rPr lang="en-US" b="1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b="1" dirty="0" smtClean="0"/>
              <a:t>0V</a:t>
            </a:r>
            <a:r>
              <a:rPr lang="en-US" dirty="0" smtClean="0"/>
              <a:t>. </a:t>
            </a:r>
            <a:r>
              <a:rPr lang="en-US" dirty="0" err="1" smtClean="0"/>
              <a:t>Lúc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tụ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b="1" dirty="0" smtClean="0"/>
              <a:t>C2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b="1" dirty="0" err="1" smtClean="0"/>
              <a:t>sạc</a:t>
            </a:r>
            <a:r>
              <a:rPr lang="en-US" dirty="0" smtClean="0"/>
              <a:t> </a:t>
            </a:r>
            <a:r>
              <a:rPr lang="en-US" b="1" dirty="0" err="1" smtClean="0"/>
              <a:t>thông</a:t>
            </a:r>
            <a:r>
              <a:rPr lang="en-US" b="1" dirty="0" smtClean="0"/>
              <a:t> qua </a:t>
            </a:r>
            <a:r>
              <a:rPr lang="en-US" b="1" dirty="0" err="1" smtClean="0"/>
              <a:t>điện</a:t>
            </a:r>
            <a:r>
              <a:rPr lang="en-US" b="1" dirty="0" smtClean="0"/>
              <a:t> </a:t>
            </a:r>
            <a:r>
              <a:rPr lang="en-US" b="1" dirty="0" err="1" smtClean="0"/>
              <a:t>trở</a:t>
            </a:r>
            <a:r>
              <a:rPr lang="en-US" b="1" dirty="0" smtClean="0"/>
              <a:t> R3</a:t>
            </a:r>
            <a:r>
              <a:rPr lang="en-US" dirty="0" smtClean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Ngay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tụ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b="1" dirty="0" smtClean="0"/>
              <a:t>C2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b="1" dirty="0" err="1" smtClean="0"/>
              <a:t>sạc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b="1" dirty="0" smtClean="0"/>
              <a:t>0.7V</a:t>
            </a:r>
            <a:r>
              <a:rPr lang="en-US" dirty="0" smtClean="0"/>
              <a:t>, </a:t>
            </a:r>
            <a:r>
              <a:rPr lang="en-US" dirty="0" err="1" smtClean="0"/>
              <a:t>lúc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b="1" dirty="0" smtClean="0"/>
              <a:t>B2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b="1" dirty="0" smtClean="0"/>
              <a:t>0.7V</a:t>
            </a:r>
            <a:r>
              <a:rPr lang="en-US" dirty="0" smtClean="0"/>
              <a:t>, </a:t>
            </a:r>
            <a:r>
              <a:rPr lang="en-US" b="1" dirty="0" smtClean="0"/>
              <a:t>Q</a:t>
            </a:r>
            <a:r>
              <a:rPr lang="en-US" b="1" baseline="-25000" dirty="0" smtClean="0"/>
              <a:t>1</a:t>
            </a:r>
            <a:r>
              <a:rPr lang="en-US" dirty="0" smtClean="0"/>
              <a:t> </a:t>
            </a:r>
            <a:r>
              <a:rPr lang="en-US" dirty="0" err="1" smtClean="0"/>
              <a:t>đang</a:t>
            </a:r>
            <a:r>
              <a:rPr lang="en-US" dirty="0" smtClean="0"/>
              <a:t> ở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 </a:t>
            </a:r>
            <a:r>
              <a:rPr lang="en-US" b="1" dirty="0" smtClean="0"/>
              <a:t>off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b="1" dirty="0" err="1" smtClean="0"/>
              <a:t>được</a:t>
            </a:r>
            <a:r>
              <a:rPr lang="en-US" b="1" dirty="0" smtClean="0"/>
              <a:t> </a:t>
            </a:r>
            <a:r>
              <a:rPr lang="en-US" b="1" dirty="0" err="1" smtClean="0"/>
              <a:t>phân</a:t>
            </a:r>
            <a:r>
              <a:rPr lang="en-US" b="1" dirty="0" smtClean="0"/>
              <a:t> </a:t>
            </a:r>
            <a:r>
              <a:rPr lang="en-US" b="1" dirty="0" err="1" smtClean="0"/>
              <a:t>cực</a:t>
            </a:r>
            <a:r>
              <a:rPr lang="en-US" b="1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b="1" dirty="0" smtClean="0"/>
              <a:t>sat</a:t>
            </a:r>
            <a:r>
              <a:rPr lang="en-US" dirty="0" smtClean="0"/>
              <a:t>. </a:t>
            </a:r>
            <a:r>
              <a:rPr lang="en-US" dirty="0" err="1"/>
              <a:t>N</a:t>
            </a:r>
            <a:r>
              <a:rPr lang="en-US" dirty="0" err="1" smtClean="0"/>
              <a:t>gay</a:t>
            </a:r>
            <a:r>
              <a:rPr lang="en-US" dirty="0" smtClean="0"/>
              <a:t> </a:t>
            </a:r>
            <a:r>
              <a:rPr lang="en-US" dirty="0" err="1" smtClean="0"/>
              <a:t>lúc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,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b="1" dirty="0" smtClean="0"/>
              <a:t>A1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b="1" dirty="0" err="1" smtClean="0"/>
              <a:t>nối</a:t>
            </a:r>
            <a:r>
              <a:rPr lang="en-US" b="1" dirty="0" smtClean="0"/>
              <a:t> </a:t>
            </a:r>
            <a:r>
              <a:rPr lang="en-US" b="1" dirty="0" err="1" smtClean="0"/>
              <a:t>đất</a:t>
            </a:r>
            <a:r>
              <a:rPr lang="en-US" dirty="0"/>
              <a:t>,</a:t>
            </a:r>
            <a:r>
              <a:rPr lang="en-US" dirty="0" smtClean="0"/>
              <a:t> </a:t>
            </a:r>
            <a:r>
              <a:rPr lang="en-US" b="1" dirty="0" smtClean="0"/>
              <a:t>V</a:t>
            </a:r>
            <a:r>
              <a:rPr lang="en-US" b="1" baseline="-25000" dirty="0" smtClean="0"/>
              <a:t>A1</a:t>
            </a:r>
            <a:r>
              <a:rPr lang="en-US" b="1" dirty="0" smtClean="0"/>
              <a:t>=0V</a:t>
            </a:r>
            <a:r>
              <a:rPr lang="en-US" dirty="0" smtClean="0"/>
              <a:t>.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b="1" dirty="0" smtClean="0"/>
              <a:t>U</a:t>
            </a:r>
            <a:r>
              <a:rPr lang="en-US" b="1" baseline="-25000" dirty="0" smtClean="0"/>
              <a:t>A1B1</a:t>
            </a:r>
            <a:r>
              <a:rPr lang="en-US" dirty="0" smtClean="0"/>
              <a:t> </a:t>
            </a:r>
            <a:r>
              <a:rPr lang="en-US" dirty="0" err="1" smtClean="0"/>
              <a:t>luôn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giữ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b="1" dirty="0" smtClean="0"/>
              <a:t>5.3V</a:t>
            </a:r>
            <a:r>
              <a:rPr lang="en-US" dirty="0" smtClean="0"/>
              <a:t>, do </a:t>
            </a:r>
            <a:r>
              <a:rPr lang="en-US" dirty="0" err="1" smtClean="0"/>
              <a:t>vậy</a:t>
            </a:r>
            <a:r>
              <a:rPr lang="en-US" dirty="0" smtClean="0"/>
              <a:t>, </a:t>
            </a:r>
            <a:r>
              <a:rPr lang="en-US" b="1" dirty="0" smtClean="0"/>
              <a:t>V</a:t>
            </a:r>
            <a:r>
              <a:rPr lang="en-US" b="1" baseline="-25000" dirty="0" smtClean="0"/>
              <a:t>B1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-</a:t>
            </a:r>
            <a:r>
              <a:rPr lang="en-US" b="1" dirty="0" smtClean="0"/>
              <a:t>5.3V</a:t>
            </a:r>
            <a:r>
              <a:rPr lang="en-US" dirty="0" smtClean="0"/>
              <a:t>. </a:t>
            </a:r>
            <a:r>
              <a:rPr lang="en-US" dirty="0" err="1" smtClean="0"/>
              <a:t>Lúc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b="1" dirty="0" err="1" smtClean="0"/>
              <a:t>cực</a:t>
            </a:r>
            <a:r>
              <a:rPr lang="en-US" b="1" dirty="0" smtClean="0"/>
              <a:t> B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b="1" dirty="0" smtClean="0"/>
              <a:t>Q</a:t>
            </a:r>
            <a:r>
              <a:rPr lang="en-US" b="1" baseline="-25000" dirty="0" smtClean="0"/>
              <a:t>2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-</a:t>
            </a:r>
            <a:r>
              <a:rPr lang="en-US" b="1" dirty="0" smtClean="0"/>
              <a:t>5.3V</a:t>
            </a:r>
            <a:r>
              <a:rPr lang="en-US" dirty="0" smtClean="0"/>
              <a:t>, </a:t>
            </a:r>
            <a:r>
              <a:rPr lang="en-US" b="1" dirty="0" smtClean="0"/>
              <a:t>Q</a:t>
            </a:r>
            <a:r>
              <a:rPr lang="en-US" b="1" baseline="-25000" dirty="0" smtClean="0"/>
              <a:t>2</a:t>
            </a:r>
            <a:r>
              <a:rPr lang="en-US" dirty="0" smtClean="0"/>
              <a:t> </a:t>
            </a:r>
            <a:r>
              <a:rPr lang="en-US" dirty="0" err="1" smtClean="0"/>
              <a:t>đang</a:t>
            </a:r>
            <a:r>
              <a:rPr lang="en-US" dirty="0" smtClean="0"/>
              <a:t> ở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 </a:t>
            </a:r>
            <a:r>
              <a:rPr lang="en-US" b="1" dirty="0" smtClean="0"/>
              <a:t>sat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 </a:t>
            </a:r>
            <a:r>
              <a:rPr lang="en-US" b="1" dirty="0" smtClean="0"/>
              <a:t>off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026" name="Picture 2" descr="Image result for multivibrator bjt ast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804" y="2168860"/>
            <a:ext cx="3493706" cy="282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207111" y="4104075"/>
            <a:ext cx="538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0590" y="4104075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2047" y="340722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6V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9241" y="3019265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&gt;</a:t>
            </a:r>
            <a:r>
              <a:rPr lang="en-US" sz="1800" dirty="0" smtClean="0"/>
              <a:t>0.7V</a:t>
            </a:r>
            <a:endParaRPr lang="en-US" sz="1800" dirty="0"/>
          </a:p>
        </p:txBody>
      </p:sp>
      <p:sp>
        <p:nvSpPr>
          <p:cNvPr id="18" name="TextBox 17"/>
          <p:cNvSpPr txBox="1"/>
          <p:nvPr/>
        </p:nvSpPr>
        <p:spPr>
          <a:xfrm>
            <a:off x="5898105" y="2135322"/>
            <a:ext cx="46679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6V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4635" y="341388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0V</a:t>
            </a:r>
            <a:endParaRPr lang="en-US" sz="1800" dirty="0"/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7659241" y="3293985"/>
            <a:ext cx="219084" cy="288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68783" y="3253438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0.7V</a:t>
            </a:r>
            <a:r>
              <a:rPr lang="en-US" sz="1800" dirty="0"/>
              <a:t>&gt;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8257173" y="3575396"/>
            <a:ext cx="161105" cy="87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28175" y="3609020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  <a:r>
              <a:rPr lang="en-US" sz="1600" baseline="-25000" dirty="0"/>
              <a:t>1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7488474" y="3641486"/>
            <a:ext cx="3898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  <a:r>
              <a:rPr lang="en-US" sz="1600" baseline="-25000" dirty="0"/>
              <a:t>1</a:t>
            </a:r>
            <a:endParaRPr lang="en-US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9206252" y="3609020"/>
            <a:ext cx="4010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  <a:r>
              <a:rPr lang="en-US" sz="1600" baseline="-25000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4078" y="3680839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  <a:r>
              <a:rPr lang="en-US" sz="1600" baseline="-25000" dirty="0"/>
              <a:t>2</a:t>
            </a:r>
          </a:p>
        </p:txBody>
      </p:sp>
      <p:cxnSp>
        <p:nvCxnSpPr>
          <p:cNvPr id="7" name="Connecteur droit avec flèche 6"/>
          <p:cNvCxnSpPr/>
          <p:nvPr/>
        </p:nvCxnSpPr>
        <p:spPr>
          <a:xfrm flipH="1" flipV="1">
            <a:off x="6207111" y="3980040"/>
            <a:ext cx="157789" cy="214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5"/>
          <p:cNvSpPr txBox="1"/>
          <p:nvPr/>
        </p:nvSpPr>
        <p:spPr>
          <a:xfrm>
            <a:off x="5784265" y="3533459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Sat</a:t>
            </a:r>
            <a:endParaRPr lang="en-US" dirty="0"/>
          </a:p>
        </p:txBody>
      </p:sp>
      <p:cxnSp>
        <p:nvCxnSpPr>
          <p:cNvPr id="9" name="Connecteur droit avec flèche 8"/>
          <p:cNvCxnSpPr/>
          <p:nvPr/>
        </p:nvCxnSpPr>
        <p:spPr>
          <a:xfrm flipH="1">
            <a:off x="9490000" y="4471067"/>
            <a:ext cx="98515" cy="398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5"/>
          <p:cNvSpPr txBox="1"/>
          <p:nvPr/>
        </p:nvSpPr>
        <p:spPr>
          <a:xfrm>
            <a:off x="9219103" y="4797409"/>
            <a:ext cx="538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1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6" grpId="0"/>
      <p:bldP spid="19" grpId="0"/>
      <p:bldP spid="24" grpId="0"/>
      <p:bldP spid="22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7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Picture 2" descr="Image result for multivibrator bjt 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770" y="2197208"/>
            <a:ext cx="3829050" cy="378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53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(Oscillator)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chu</a:t>
            </a:r>
            <a:r>
              <a:rPr lang="en-US" dirty="0" smtClean="0"/>
              <a:t> </a:t>
            </a:r>
            <a:r>
              <a:rPr lang="en-US" dirty="0" err="1" smtClean="0"/>
              <a:t>kỳ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cổng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.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,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cung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.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smtClean="0"/>
              <a:t>2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Feedback oscillator (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)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Relaxation oscillator (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thoát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7896" y="4368943"/>
            <a:ext cx="5519737" cy="1670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24688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(Oscillator)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tắc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dương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trở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Op-Amp</a:t>
            </a:r>
            <a:endParaRPr lang="en-US" dirty="0"/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65418" y="3416542"/>
            <a:ext cx="2757760" cy="2822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5614" y="3415028"/>
            <a:ext cx="2827336" cy="26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7497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(Oscillator)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feedback Oscillator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 err="1" smtClean="0"/>
              <a:t>Tín</a:t>
            </a:r>
            <a:r>
              <a:rPr lang="en-US" b="1" dirty="0" smtClean="0"/>
              <a:t> </a:t>
            </a:r>
            <a:r>
              <a:rPr lang="en-US" b="1" dirty="0" err="1" smtClean="0"/>
              <a:t>hiệu</a:t>
            </a:r>
            <a:r>
              <a:rPr lang="en-US" b="1" dirty="0" smtClean="0"/>
              <a:t> </a:t>
            </a:r>
            <a:r>
              <a:rPr lang="en-US" b="1" dirty="0" err="1" smtClean="0"/>
              <a:t>hồi</a:t>
            </a:r>
            <a:r>
              <a:rPr lang="en-US" b="1" dirty="0" smtClean="0"/>
              <a:t> </a:t>
            </a:r>
            <a:r>
              <a:rPr lang="en-US" b="1" dirty="0" err="1" smtClean="0"/>
              <a:t>tiếp</a:t>
            </a:r>
            <a:r>
              <a:rPr lang="en-US" b="1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qua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b="1" dirty="0" err="1" smtClean="0"/>
              <a:t>phải</a:t>
            </a:r>
            <a:r>
              <a:rPr lang="en-US" b="1" dirty="0" smtClean="0"/>
              <a:t> </a:t>
            </a:r>
            <a:r>
              <a:rPr lang="en-US" b="1" dirty="0" err="1" smtClean="0"/>
              <a:t>giữ</a:t>
            </a:r>
            <a:r>
              <a:rPr lang="en-US" b="1" dirty="0" smtClean="0"/>
              <a:t> </a:t>
            </a:r>
            <a:r>
              <a:rPr lang="en-US" b="1" dirty="0" err="1" smtClean="0"/>
              <a:t>nguyên</a:t>
            </a:r>
            <a:r>
              <a:rPr lang="en-US" b="1" dirty="0" smtClean="0"/>
              <a:t> </a:t>
            </a:r>
            <a:r>
              <a:rPr lang="en-US" b="1" dirty="0" err="1" smtClean="0"/>
              <a:t>pha</a:t>
            </a:r>
            <a:endParaRPr lang="en-US" b="1" dirty="0" smtClean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 err="1" smtClean="0"/>
              <a:t>Hệ</a:t>
            </a:r>
            <a:r>
              <a:rPr lang="en-US" b="1" dirty="0" smtClean="0"/>
              <a:t> </a:t>
            </a:r>
            <a:r>
              <a:rPr lang="en-US" b="1" dirty="0" err="1" smtClean="0"/>
              <a:t>số</a:t>
            </a:r>
            <a:r>
              <a:rPr lang="en-US" b="1" dirty="0" smtClean="0"/>
              <a:t> </a:t>
            </a:r>
            <a:r>
              <a:rPr lang="en-US" b="1" dirty="0" err="1" smtClean="0"/>
              <a:t>khuếch</a:t>
            </a:r>
            <a:r>
              <a:rPr lang="en-US" b="1" dirty="0" smtClean="0"/>
              <a:t> </a:t>
            </a:r>
            <a:r>
              <a:rPr lang="en-US" b="1" dirty="0" err="1" smtClean="0"/>
              <a:t>đại</a:t>
            </a:r>
            <a:r>
              <a:rPr lang="en-US" b="1" dirty="0" smtClean="0"/>
              <a:t> </a:t>
            </a:r>
            <a:r>
              <a:rPr lang="en-US" b="1" dirty="0" err="1" smtClean="0"/>
              <a:t>vòng</a:t>
            </a:r>
            <a:r>
              <a:rPr lang="en-US" b="1" dirty="0" smtClean="0"/>
              <a:t> </a:t>
            </a:r>
            <a:r>
              <a:rPr lang="en-US" b="1" dirty="0" err="1" smtClean="0"/>
              <a:t>kín</a:t>
            </a:r>
            <a:r>
              <a:rPr lang="en-US" b="1" dirty="0" smtClean="0"/>
              <a:t> </a:t>
            </a:r>
            <a:r>
              <a:rPr lang="en-US" dirty="0" err="1" smtClean="0"/>
              <a:t>bắt</a:t>
            </a:r>
            <a:r>
              <a:rPr lang="en-US" dirty="0" smtClean="0"/>
              <a:t> </a:t>
            </a:r>
            <a:r>
              <a:rPr lang="en-US" dirty="0" err="1" smtClean="0"/>
              <a:t>buộc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b="1" dirty="0" err="1" smtClean="0"/>
              <a:t>bằng</a:t>
            </a:r>
            <a:r>
              <a:rPr lang="en-US" b="1" dirty="0" smtClean="0"/>
              <a:t> 1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ổn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65418" y="3416542"/>
            <a:ext cx="2757760" cy="2822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5614" y="3415028"/>
            <a:ext cx="2827336" cy="26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054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(Oscillator)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298" y="2573905"/>
            <a:ext cx="4682727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1589" y="2573905"/>
            <a:ext cx="4658297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8323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(Oscillator)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53825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vi-VN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800" dirty="0">
                <a:latin typeface="Calibri (Corps)"/>
                <a:cs typeface="Calibri" panose="020F0502020204030204" pitchFamily="34" charset="0"/>
              </a:rPr>
              <a:t>Điều kiện khởi động mạch dao động hồi tiếp: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vi-VN" dirty="0">
                <a:latin typeface="Calibri (Corps)"/>
                <a:cs typeface="Calibri" panose="020F0502020204030204" pitchFamily="34" charset="0"/>
              </a:rPr>
              <a:t> Mạch dao động hồi tiếp cần một tín hiệu nhỏ để khởi động (thông thường là tín hiệu nhiễu sinh ra bởi nhiệt độ khi khởi động mạch)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vi-VN" dirty="0">
                <a:latin typeface="Calibri (Corps)"/>
                <a:cs typeface="Calibri" panose="020F0502020204030204" pitchFamily="34" charset="0"/>
              </a:rPr>
              <a:t> Điện thế tạo ra bởi nhiễu sẽ khởi động tiến trình hoạt động của mạch dao động hồi tiếp</a:t>
            </a:r>
            <a:r>
              <a:rPr lang="en-US" dirty="0">
                <a:latin typeface="Calibri (Corps)"/>
                <a:cs typeface="Calibri" panose="020F0502020204030204" pitchFamily="34" charset="0"/>
              </a:rPr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khoảng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,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mong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r>
              <a:rPr lang="en-US" dirty="0" smtClean="0"/>
              <a:t>,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kín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tinh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1.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đạt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mong</a:t>
            </a:r>
            <a:r>
              <a:rPr lang="en-US" dirty="0" smtClean="0"/>
              <a:t> </a:t>
            </a:r>
            <a:r>
              <a:rPr lang="en-US" dirty="0" err="1" smtClean="0"/>
              <a:t>muôn</a:t>
            </a:r>
            <a:r>
              <a:rPr lang="en-US" dirty="0" smtClean="0"/>
              <a:t>,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kín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1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ổn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.</a:t>
            </a:r>
            <a:endParaRPr lang="vi-VN" dirty="0" smtClean="0"/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vi-VN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37765" y="3293985"/>
            <a:ext cx="5062537" cy="187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043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Wien </a:t>
            </a:r>
            <a:br>
              <a:rPr lang="en-US" dirty="0" smtClean="0"/>
            </a:br>
            <a:r>
              <a:rPr lang="en-US" dirty="0" smtClean="0"/>
              <a:t>(Wien-Bridge Oscillator)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Wien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.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trở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tụ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Wien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phát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sin ở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thấp</a:t>
            </a:r>
            <a:r>
              <a:rPr lang="en-US" dirty="0" smtClean="0"/>
              <a:t> (</a:t>
            </a:r>
            <a:r>
              <a:rPr lang="en-US" dirty="0" err="1" smtClean="0"/>
              <a:t>dưới</a:t>
            </a:r>
            <a:r>
              <a:rPr lang="en-US" dirty="0" smtClean="0"/>
              <a:t> 1MHz).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RC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Lead-Lag.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suy</a:t>
            </a:r>
            <a:r>
              <a:rPr lang="en-US" dirty="0" smtClean="0"/>
              <a:t> </a:t>
            </a:r>
            <a:r>
              <a:rPr lang="en-US" dirty="0" err="1" smtClean="0"/>
              <a:t>hao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1/3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lệch</a:t>
            </a:r>
            <a:r>
              <a:rPr lang="en-US" dirty="0" smtClean="0"/>
              <a:t> </a:t>
            </a:r>
            <a:r>
              <a:rPr lang="en-US" dirty="0" err="1" smtClean="0"/>
              <a:t>pha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0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cộng</a:t>
            </a:r>
            <a:r>
              <a:rPr lang="en-US" dirty="0" smtClean="0"/>
              <a:t> </a:t>
            </a:r>
            <a:r>
              <a:rPr lang="en-US" dirty="0" err="1" smtClean="0"/>
              <a:t>hưởng</a:t>
            </a:r>
            <a:r>
              <a:rPr lang="en-US" dirty="0" smtClean="0"/>
              <a:t> </a:t>
            </a:r>
            <a:r>
              <a:rPr lang="en-US" dirty="0" err="1" smtClean="0"/>
              <a:t>f</a:t>
            </a:r>
            <a:r>
              <a:rPr lang="en-US" baseline="-25000" dirty="0" err="1" smtClean="0"/>
              <a:t>r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.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4766" y="4233784"/>
            <a:ext cx="3678953" cy="196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78026" y="4255249"/>
            <a:ext cx="3645412" cy="2054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4101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Wien </a:t>
            </a:r>
            <a:br>
              <a:rPr lang="en-US" dirty="0" smtClean="0"/>
            </a:br>
            <a:r>
              <a:rPr lang="en-US" dirty="0" smtClean="0"/>
              <a:t>(Wien-Bridge Oscillator)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Wien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lead-lag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lựa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.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tần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ra.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Wien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áp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Op-Amp.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3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đảm</a:t>
            </a:r>
            <a:r>
              <a:rPr lang="en-US" dirty="0" smtClean="0"/>
              <a:t>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kín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1.</a:t>
            </a:r>
          </a:p>
        </p:txBody>
      </p:sp>
      <p:grpSp>
        <p:nvGrpSpPr>
          <p:cNvPr id="6" name="Groupe 5"/>
          <p:cNvGrpSpPr/>
          <p:nvPr/>
        </p:nvGrpSpPr>
        <p:grpSpPr>
          <a:xfrm>
            <a:off x="5154292" y="3605807"/>
            <a:ext cx="4569238" cy="2703513"/>
            <a:chOff x="4007895" y="3605807"/>
            <a:chExt cx="4569238" cy="2703513"/>
          </a:xfrm>
        </p:grpSpPr>
        <p:graphicFrame>
          <p:nvGraphicFramePr>
            <p:cNvPr id="8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4081079"/>
                </p:ext>
              </p:extLst>
            </p:nvPr>
          </p:nvGraphicFramePr>
          <p:xfrm>
            <a:off x="5082510" y="3605807"/>
            <a:ext cx="2895600" cy="2703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5" name="CorelDRAW" r:id="rId3" imgW="2223720" imgH="2076480" progId="">
                    <p:embed/>
                  </p:oleObj>
                </mc:Choice>
                <mc:Fallback>
                  <p:oleObj name="CorelDRAW" r:id="rId3" imgW="2223720" imgH="207648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2510" y="3605807"/>
                          <a:ext cx="2895600" cy="2703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13"/>
            <p:cNvSpPr txBox="1">
              <a:spLocks noChangeArrowheads="1"/>
            </p:cNvSpPr>
            <p:nvPr/>
          </p:nvSpPr>
          <p:spPr bwMode="auto">
            <a:xfrm>
              <a:off x="7281733" y="5560417"/>
              <a:ext cx="1295400" cy="58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>
                  <a:solidFill>
                    <a:srgbClr val="FF0000"/>
                  </a:solidFill>
                </a:rPr>
                <a:t>Lead-lag network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4007895" y="4149080"/>
              <a:ext cx="1295400" cy="58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>
                  <a:solidFill>
                    <a:srgbClr val="FF0000"/>
                  </a:solidFill>
                </a:rPr>
                <a:t>Voltage-divider</a:t>
              </a:r>
            </a:p>
          </p:txBody>
        </p:sp>
      </p:grpSp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909" y="4100313"/>
            <a:ext cx="4076700" cy="85725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1284" y="5499230"/>
            <a:ext cx="1524000" cy="752475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7855" y="5565658"/>
            <a:ext cx="128587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2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Wien </a:t>
            </a:r>
            <a:br>
              <a:rPr lang="en-US" dirty="0" smtClean="0"/>
            </a:br>
            <a:r>
              <a:rPr lang="en-US" dirty="0" smtClean="0"/>
              <a:t>(Wien-Bridge Oscillator)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Wien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ổn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: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6906" y="2348880"/>
            <a:ext cx="6534768" cy="3900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3967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Wien </a:t>
            </a:r>
            <a:br>
              <a:rPr lang="en-US" dirty="0" smtClean="0"/>
            </a:br>
            <a:r>
              <a:rPr lang="en-US" dirty="0" smtClean="0"/>
              <a:t>(Wien-Bridge Oscillator)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Wien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:</a:t>
            </a: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96" y="2453462"/>
            <a:ext cx="8087737" cy="340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Wien </a:t>
            </a:r>
            <a:br>
              <a:rPr lang="en-US" dirty="0" smtClean="0"/>
            </a:br>
            <a:r>
              <a:rPr lang="en-US" dirty="0" smtClean="0"/>
              <a:t>(Wien-Bridge Oscillator)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Wien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khởi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nhờ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diode </a:t>
            </a:r>
            <a:r>
              <a:rPr lang="en-US" dirty="0" err="1" smtClean="0"/>
              <a:t>Zener</a:t>
            </a:r>
            <a:r>
              <a:rPr lang="en-US" dirty="0" smtClean="0"/>
              <a:t>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40" y="2393885"/>
            <a:ext cx="4114800" cy="3914775"/>
          </a:xfrm>
          <a:prstGeom prst="rect">
            <a:avLst/>
          </a:prstGeom>
        </p:spPr>
      </p:pic>
      <p:sp>
        <p:nvSpPr>
          <p:cNvPr id="8" name="Content Placeholder 11"/>
          <p:cNvSpPr txBox="1">
            <a:spLocks/>
          </p:cNvSpPr>
          <p:nvPr/>
        </p:nvSpPr>
        <p:spPr>
          <a:xfrm>
            <a:off x="4910481" y="2422320"/>
            <a:ext cx="4543019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bé</a:t>
            </a:r>
            <a:r>
              <a:rPr lang="en-US" dirty="0" smtClean="0"/>
              <a:t>,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khuếch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vòng</a:t>
            </a:r>
            <a:r>
              <a:rPr lang="en-US" dirty="0" smtClean="0"/>
              <a:t> </a:t>
            </a:r>
            <a:r>
              <a:rPr lang="en-US" dirty="0" err="1" smtClean="0"/>
              <a:t>hở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: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tín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Vzener</a:t>
            </a:r>
            <a:r>
              <a:rPr lang="en-US" dirty="0" smtClean="0"/>
              <a:t>, </a:t>
            </a:r>
            <a:r>
              <a:rPr lang="en-US" dirty="0" err="1" smtClean="0"/>
              <a:t>lúc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diode </a:t>
            </a:r>
            <a:r>
              <a:rPr lang="en-US" dirty="0" err="1" smtClean="0"/>
              <a:t>Zener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tắt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trở</a:t>
            </a:r>
            <a:r>
              <a:rPr lang="en-US" dirty="0" smtClean="0"/>
              <a:t> R</a:t>
            </a:r>
            <a:r>
              <a:rPr lang="en-US" baseline="-25000" dirty="0" smtClean="0"/>
              <a:t>3</a:t>
            </a:r>
            <a:r>
              <a:rPr lang="en-US" dirty="0" smtClean="0"/>
              <a:t>. Do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cl</a:t>
            </a:r>
            <a:r>
              <a:rPr lang="en-US" baseline="-25000" dirty="0" smtClean="0"/>
              <a:t> </a:t>
            </a:r>
            <a:r>
              <a:rPr lang="en-US" dirty="0" smtClean="0"/>
              <a:t>= 3</a:t>
            </a:r>
            <a:endParaRPr lang="en-US" baseline="-250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560" y="2843935"/>
            <a:ext cx="1104900" cy="31432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481" y="3154969"/>
            <a:ext cx="497205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0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thoát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(Relaxation Oscillator)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xung</a:t>
            </a:r>
            <a:r>
              <a:rPr lang="en-US" dirty="0" smtClean="0"/>
              <a:t> tam </a:t>
            </a:r>
            <a:r>
              <a:rPr lang="en-US" dirty="0" err="1" smtClean="0"/>
              <a:t>giác</a:t>
            </a:r>
            <a:r>
              <a:rPr lang="en-US" dirty="0" smtClean="0"/>
              <a:t>: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60" y="2272998"/>
            <a:ext cx="4433920" cy="245735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100" y="3988798"/>
            <a:ext cx="702945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84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thoát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(Relaxation Oscillator)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dao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xung</a:t>
            </a:r>
            <a:r>
              <a:rPr lang="en-US" dirty="0" smtClean="0"/>
              <a:t> tam </a:t>
            </a:r>
            <a:r>
              <a:rPr lang="en-US" dirty="0" err="1" smtClean="0"/>
              <a:t>giác</a:t>
            </a:r>
            <a:r>
              <a:rPr lang="en-US" dirty="0" smtClean="0"/>
              <a:t>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37" y="2522652"/>
            <a:ext cx="5385673" cy="2301503"/>
          </a:xfrm>
          <a:prstGeom prst="rect">
            <a:avLst/>
          </a:prstGeom>
        </p:spPr>
      </p:pic>
      <p:grpSp>
        <p:nvGrpSpPr>
          <p:cNvPr id="23" name="Groupe 22"/>
          <p:cNvGrpSpPr/>
          <p:nvPr/>
        </p:nvGrpSpPr>
        <p:grpSpPr>
          <a:xfrm>
            <a:off x="497505" y="2528900"/>
            <a:ext cx="2925325" cy="2603901"/>
            <a:chOff x="1982670" y="2528900"/>
            <a:chExt cx="2925325" cy="2603901"/>
          </a:xfrm>
        </p:grpSpPr>
        <p:cxnSp>
          <p:nvCxnSpPr>
            <p:cNvPr id="8" name="Connecteur droit 7"/>
            <p:cNvCxnSpPr/>
            <p:nvPr/>
          </p:nvCxnSpPr>
          <p:spPr>
            <a:xfrm>
              <a:off x="1982670" y="2528900"/>
              <a:ext cx="238526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onnecteur droit 11"/>
            <p:cNvCxnSpPr/>
            <p:nvPr/>
          </p:nvCxnSpPr>
          <p:spPr>
            <a:xfrm>
              <a:off x="4367935" y="2528900"/>
              <a:ext cx="0" cy="153017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>
              <a:off x="1982670" y="2528900"/>
              <a:ext cx="0" cy="26039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 flipV="1">
              <a:off x="1982670" y="5132800"/>
              <a:ext cx="2925325" cy="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eur droit 19"/>
            <p:cNvCxnSpPr/>
            <p:nvPr/>
          </p:nvCxnSpPr>
          <p:spPr>
            <a:xfrm flipV="1">
              <a:off x="4907995" y="4059070"/>
              <a:ext cx="0" cy="107373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21"/>
            <p:cNvCxnSpPr/>
            <p:nvPr/>
          </p:nvCxnSpPr>
          <p:spPr>
            <a:xfrm>
              <a:off x="4367935" y="4059070"/>
              <a:ext cx="54006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4" name="Imag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75" y="2522652"/>
            <a:ext cx="4039440" cy="2186251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519" y="4708903"/>
            <a:ext cx="2333625" cy="1571625"/>
          </a:xfrm>
          <a:prstGeom prst="rect">
            <a:avLst/>
          </a:prstGeom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924" y="5062500"/>
            <a:ext cx="20955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5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20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2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21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7" name="Picture 2" descr="Image result for multivibrator bjt ast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026" y="1457367"/>
            <a:ext cx="3493706" cy="282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2760409" y="413665"/>
            <a:ext cx="39629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 smtClean="0"/>
              <a:t>Kiểm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tra</a:t>
            </a:r>
            <a:r>
              <a:rPr lang="en-US" sz="4000" b="1" dirty="0" smtClean="0"/>
              <a:t> 15 </a:t>
            </a:r>
            <a:r>
              <a:rPr lang="en-US" sz="4000" b="1" dirty="0" err="1" smtClean="0"/>
              <a:t>phút</a:t>
            </a:r>
            <a:endParaRPr lang="en-US" sz="40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1940060" y="4815590"/>
            <a:ext cx="56036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mạch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Giả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R</a:t>
            </a:r>
            <a:r>
              <a:rPr lang="en-US" baseline="-25000" dirty="0" smtClean="0"/>
              <a:t>2</a:t>
            </a:r>
            <a:r>
              <a:rPr lang="en-US" dirty="0" smtClean="0"/>
              <a:t> = 2R</a:t>
            </a:r>
            <a:r>
              <a:rPr lang="en-US" baseline="-25000" dirty="0" smtClean="0"/>
              <a:t>3</a:t>
            </a:r>
            <a:r>
              <a:rPr lang="en-US" dirty="0" smtClean="0"/>
              <a:t>, C</a:t>
            </a:r>
            <a:r>
              <a:rPr lang="en-US" baseline="-25000" dirty="0" smtClean="0"/>
              <a:t>1</a:t>
            </a:r>
            <a:r>
              <a:rPr lang="en-US" dirty="0" smtClean="0"/>
              <a:t> = </a:t>
            </a:r>
            <a:r>
              <a:rPr lang="en-US" smtClean="0"/>
              <a:t>2C</a:t>
            </a:r>
            <a:r>
              <a:rPr lang="en-US" baseline="-25000" smtClean="0"/>
              <a:t>2 </a:t>
            </a:r>
            <a:r>
              <a:rPr lang="en-US" smtClean="0"/>
              <a:t>,</a:t>
            </a:r>
            <a:r>
              <a:rPr lang="en-US" smtClean="0"/>
              <a:t>Vẽ</a:t>
            </a:r>
            <a:r>
              <a:rPr lang="en-US" dirty="0" smtClean="0"/>
              <a:t> </a:t>
            </a:r>
            <a:r>
              <a:rPr lang="en-US" dirty="0" err="1"/>
              <a:t>lại</a:t>
            </a:r>
            <a:r>
              <a:rPr lang="en-US" dirty="0"/>
              <a:t> V</a:t>
            </a:r>
            <a:r>
              <a:rPr lang="en-US" baseline="-25000" dirty="0"/>
              <a:t>out1</a:t>
            </a:r>
            <a:r>
              <a:rPr lang="en-US" dirty="0"/>
              <a:t>, V</a:t>
            </a:r>
            <a:r>
              <a:rPr lang="en-US" baseline="-25000" dirty="0"/>
              <a:t>out2</a:t>
            </a:r>
          </a:p>
          <a:p>
            <a:endParaRPr lang="en-US" baseline="-25000" dirty="0"/>
          </a:p>
        </p:txBody>
      </p:sp>
      <p:sp>
        <p:nvSpPr>
          <p:cNvPr id="9" name="ZoneTexte 8"/>
          <p:cNvSpPr txBox="1"/>
          <p:nvPr/>
        </p:nvSpPr>
        <p:spPr>
          <a:xfrm>
            <a:off x="2924880" y="2643828"/>
            <a:ext cx="733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</a:t>
            </a:r>
            <a:r>
              <a:rPr lang="en-US" baseline="-25000" dirty="0" smtClean="0"/>
              <a:t>out1</a:t>
            </a:r>
            <a:endParaRPr lang="en-US" baseline="-25000" dirty="0"/>
          </a:p>
        </p:txBody>
      </p:sp>
      <p:sp>
        <p:nvSpPr>
          <p:cNvPr id="10" name="ZoneTexte 9"/>
          <p:cNvSpPr txBox="1"/>
          <p:nvPr/>
        </p:nvSpPr>
        <p:spPr>
          <a:xfrm>
            <a:off x="6197726" y="2639898"/>
            <a:ext cx="733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</a:t>
            </a:r>
            <a:r>
              <a:rPr lang="en-US" baseline="-25000" dirty="0" smtClean="0"/>
              <a:t>out2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66921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62531</TotalTime>
  <Words>1463</Words>
  <Application>Microsoft Office PowerPoint</Application>
  <PresentationFormat>Format A4 (210 x 297 mm)</PresentationFormat>
  <Paragraphs>166</Paragraphs>
  <Slides>21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(Corps)</vt:lpstr>
      <vt:lpstr>Calibri Light</vt:lpstr>
      <vt:lpstr>Times</vt:lpstr>
      <vt:lpstr>Times New Roman</vt:lpstr>
      <vt:lpstr>Wingdings</vt:lpstr>
      <vt:lpstr>Retrospect</vt:lpstr>
      <vt:lpstr>CorelDRAW</vt:lpstr>
      <vt:lpstr>Chương 9</vt:lpstr>
      <vt:lpstr>Mục tiêu</vt:lpstr>
      <vt:lpstr>Mạch đa hài</vt:lpstr>
      <vt:lpstr>Mạch đa hài ổn định</vt:lpstr>
      <vt:lpstr>Mạch đa hài không ổn định</vt:lpstr>
      <vt:lpstr>Mạch đa hài không ổn định</vt:lpstr>
      <vt:lpstr>Mạch đa hài không ổn định</vt:lpstr>
      <vt:lpstr>Mạch dao động (Oscillator)</vt:lpstr>
      <vt:lpstr>Mạch dao động (Oscillator)</vt:lpstr>
      <vt:lpstr>Mạch dao động (Oscillator)</vt:lpstr>
      <vt:lpstr>Mạch dao động (Oscillator)</vt:lpstr>
      <vt:lpstr>Mạch dao động (Oscillator)</vt:lpstr>
      <vt:lpstr>Mạch dao động cầu Wien  (Wien-Bridge Oscillator)</vt:lpstr>
      <vt:lpstr>Mạch dao động cầu Wien  (Wien-Bridge Oscillator)</vt:lpstr>
      <vt:lpstr>Mạch dao động cầu Wien  (Wien-Bridge Oscillator)</vt:lpstr>
      <vt:lpstr>Mạch dao động cầu Wien  (Wien-Bridge Oscillator)</vt:lpstr>
      <vt:lpstr>Mạch dao động cầu Wien  (Wien-Bridge Oscillator)</vt:lpstr>
      <vt:lpstr>Mạch dao động tích thoát (Relaxation Oscillator)</vt:lpstr>
      <vt:lpstr>Mạch dao động tích thoát (Relaxation Oscillator)</vt:lpstr>
      <vt:lpstr>Thank you!</vt:lpstr>
      <vt:lpstr>Présentation PowerPoint</vt:lpstr>
    </vt:vector>
  </TitlesOfParts>
  <Company>Mid Sweden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Le Huy Trinh</cp:lastModifiedBy>
  <cp:revision>1068</cp:revision>
  <cp:lastPrinted>2004-10-20T11:26:57Z</cp:lastPrinted>
  <dcterms:created xsi:type="dcterms:W3CDTF">2005-06-07T08:25:50Z</dcterms:created>
  <dcterms:modified xsi:type="dcterms:W3CDTF">2017-12-21T00:47:59Z</dcterms:modified>
</cp:coreProperties>
</file>