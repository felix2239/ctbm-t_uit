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5"/>
  </p:notesMasterIdLst>
  <p:handoutMasterIdLst>
    <p:handoutMasterId r:id="rId26"/>
  </p:handoutMasterIdLst>
  <p:sldIdLst>
    <p:sldId id="345" r:id="rId2"/>
    <p:sldId id="376" r:id="rId3"/>
    <p:sldId id="435" r:id="rId4"/>
    <p:sldId id="441" r:id="rId5"/>
    <p:sldId id="442" r:id="rId6"/>
    <p:sldId id="443" r:id="rId7"/>
    <p:sldId id="444" r:id="rId8"/>
    <p:sldId id="437" r:id="rId9"/>
    <p:sldId id="438" r:id="rId10"/>
    <p:sldId id="439" r:id="rId11"/>
    <p:sldId id="445" r:id="rId12"/>
    <p:sldId id="440" r:id="rId13"/>
    <p:sldId id="446" r:id="rId14"/>
    <p:sldId id="447" r:id="rId15"/>
    <p:sldId id="449" r:id="rId16"/>
    <p:sldId id="450" r:id="rId17"/>
    <p:sldId id="451" r:id="rId18"/>
    <p:sldId id="452" r:id="rId19"/>
    <p:sldId id="453" r:id="rId20"/>
    <p:sldId id="454" r:id="rId21"/>
    <p:sldId id="455" r:id="rId22"/>
    <p:sldId id="456" r:id="rId23"/>
    <p:sldId id="419" r:id="rId24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74" d="100"/>
          <a:sy n="74" d="100"/>
        </p:scale>
        <p:origin x="11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961345" cy="3379124"/>
          </a:xfrm>
        </p:spPr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niệm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thấp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dải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triệt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Op-Amp)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thụ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thụ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bé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56931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3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phổ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Butterworth: </a:t>
            </a:r>
            <a:r>
              <a:rPr lang="en-US" dirty="0" err="1" smtClean="0"/>
              <a:t>trong</a:t>
            </a:r>
            <a:r>
              <a:rPr lang="en-US" dirty="0"/>
              <a:t> </a:t>
            </a:r>
            <a:r>
              <a:rPr lang="en-US" dirty="0" err="1" smtClean="0"/>
              <a:t>băng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,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Chebyshev</a:t>
            </a:r>
            <a:r>
              <a:rPr lang="en-US" dirty="0" smtClean="0"/>
              <a:t>: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roll-off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, 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. </a:t>
            </a:r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,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băng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Bessel: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đôc</a:t>
            </a:r>
            <a:r>
              <a:rPr lang="en-US" dirty="0" smtClean="0"/>
              <a:t> roll-off </a:t>
            </a:r>
            <a:r>
              <a:rPr lang="en-US" dirty="0" err="1" smtClean="0"/>
              <a:t>bé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854" y="2033845"/>
            <a:ext cx="4442169" cy="349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82654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hãm</a:t>
            </a:r>
            <a:r>
              <a:rPr lang="en-US" b="1" dirty="0" smtClean="0"/>
              <a:t> Damping Factor</a:t>
            </a:r>
            <a:r>
              <a:rPr lang="en-US" dirty="0" smtClean="0"/>
              <a:t>: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.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R1 </a:t>
            </a:r>
            <a:r>
              <a:rPr lang="en-US" dirty="0" err="1" smtClean="0"/>
              <a:t>và</a:t>
            </a:r>
            <a:r>
              <a:rPr lang="en-US" dirty="0" smtClean="0"/>
              <a:t> R2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âm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(Butterworth, Bessel, </a:t>
            </a:r>
            <a:r>
              <a:rPr lang="en-US" dirty="0" err="1" smtClean="0"/>
              <a:t>Chebyshev</a:t>
            </a:r>
            <a:r>
              <a:rPr lang="en-US" dirty="0" smtClean="0"/>
              <a:t>)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DF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DF </a:t>
            </a:r>
            <a:r>
              <a:rPr lang="en-US" dirty="0" err="1" smtClean="0"/>
              <a:t>này</a:t>
            </a:r>
            <a:r>
              <a:rPr lang="en-US" dirty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R1, R2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,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642" y="2010215"/>
            <a:ext cx="3893898" cy="303896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60" y="3244754"/>
            <a:ext cx="18573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roll-off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4828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fc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Av(dB)= -3dB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Av(dB) </a:t>
            </a:r>
            <a:r>
              <a:rPr lang="en-US" dirty="0" err="1" smtClean="0"/>
              <a:t>ngay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. </a:t>
            </a:r>
          </a:p>
          <a:p>
            <a:pPr marL="0" indent="0" algn="just" fontAlgn="auto">
              <a:buNone/>
            </a:pP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-20dB/</a:t>
            </a:r>
            <a:r>
              <a:rPr lang="en-US" dirty="0" err="1" smtClean="0"/>
              <a:t>dec</a:t>
            </a:r>
            <a:r>
              <a:rPr lang="en-US" dirty="0" smtClean="0"/>
              <a:t> </a:t>
            </a:r>
            <a:r>
              <a:rPr lang="en-US" dirty="0" err="1" smtClean="0"/>
              <a:t>tức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, Av(dB)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20dB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10 </a:t>
            </a:r>
            <a:r>
              <a:rPr lang="en-US" dirty="0" err="1" smtClean="0"/>
              <a:t>lần</a:t>
            </a:r>
            <a:r>
              <a:rPr lang="en-US" dirty="0" smtClean="0"/>
              <a:t>.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,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mắc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60" y="3749000"/>
            <a:ext cx="4258492" cy="2560320"/>
          </a:xfrm>
          <a:prstGeom prst="rect">
            <a:avLst/>
          </a:prstGeom>
        </p:spPr>
      </p:pic>
      <p:cxnSp>
        <p:nvCxnSpPr>
          <p:cNvPr id="9" name="Connecteur droit 8"/>
          <p:cNvCxnSpPr/>
          <p:nvPr/>
        </p:nvCxnSpPr>
        <p:spPr>
          <a:xfrm>
            <a:off x="5268035" y="4604880"/>
            <a:ext cx="0" cy="1389405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3422830" y="5364215"/>
            <a:ext cx="2160240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3377825" y="4734145"/>
            <a:ext cx="2160240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1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roll-off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4828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Butterworth</a:t>
            </a: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060" y="1837342"/>
            <a:ext cx="6351003" cy="201344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70" y="3911459"/>
            <a:ext cx="8616542" cy="237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6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22" y="1808820"/>
            <a:ext cx="4444833" cy="270241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35" y="4235515"/>
            <a:ext cx="1209675" cy="2286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71" y="3825431"/>
            <a:ext cx="3681574" cy="2481806"/>
          </a:xfrm>
          <a:prstGeom prst="rect">
            <a:avLst/>
          </a:prstGeo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b="1" dirty="0" err="1" smtClean="0"/>
              <a:t>một</a:t>
            </a:r>
            <a:r>
              <a:rPr lang="en-US" b="1" dirty="0" smtClean="0"/>
              <a:t> </a:t>
            </a:r>
            <a:r>
              <a:rPr lang="en-US" b="1" dirty="0" err="1" smtClean="0"/>
              <a:t>mạch</a:t>
            </a:r>
            <a:r>
              <a:rPr lang="en-US" b="1" dirty="0" smtClean="0"/>
              <a:t> </a:t>
            </a:r>
            <a:r>
              <a:rPr lang="en-US" b="1" dirty="0" err="1" smtClean="0"/>
              <a:t>khuếch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</a:t>
            </a:r>
            <a:r>
              <a:rPr lang="en-US" b="1" dirty="0" err="1" smtClean="0"/>
              <a:t>hồi</a:t>
            </a:r>
            <a:r>
              <a:rPr lang="en-US" b="1" dirty="0" smtClean="0"/>
              <a:t> </a:t>
            </a:r>
            <a:r>
              <a:rPr lang="en-US" b="1" dirty="0" err="1" smtClean="0"/>
              <a:t>tiếp</a:t>
            </a:r>
            <a:r>
              <a:rPr lang="en-US" b="1" dirty="0" smtClean="0"/>
              <a:t> </a:t>
            </a:r>
            <a:r>
              <a:rPr lang="en-US" b="1" dirty="0" err="1" smtClean="0"/>
              <a:t>âm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đảo</a:t>
            </a:r>
            <a:r>
              <a:rPr lang="en-US" b="1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b="1" dirty="0" err="1" smtClean="0"/>
              <a:t>một</a:t>
            </a:r>
            <a:r>
              <a:rPr lang="en-US" b="1" dirty="0" smtClean="0"/>
              <a:t> </a:t>
            </a:r>
            <a:r>
              <a:rPr lang="en-US" b="1" dirty="0" err="1" smtClean="0"/>
              <a:t>bộ</a:t>
            </a:r>
            <a:r>
              <a:rPr lang="en-US" b="1" dirty="0" smtClean="0"/>
              <a:t> </a:t>
            </a:r>
            <a:r>
              <a:rPr lang="en-US" b="1" dirty="0" err="1" smtClean="0"/>
              <a:t>lọc</a:t>
            </a:r>
            <a:r>
              <a:rPr lang="en-US" b="1" dirty="0" smtClean="0"/>
              <a:t> </a:t>
            </a:r>
            <a:r>
              <a:rPr lang="en-US" b="1" dirty="0" err="1" smtClean="0"/>
              <a:t>thông</a:t>
            </a:r>
            <a:r>
              <a:rPr lang="en-US" b="1" dirty="0" smtClean="0"/>
              <a:t> </a:t>
            </a:r>
            <a:r>
              <a:rPr lang="en-US" b="1" dirty="0" err="1" smtClean="0"/>
              <a:t>thấp</a:t>
            </a:r>
            <a:r>
              <a:rPr lang="en-US" b="1" dirty="0" smtClean="0"/>
              <a:t> RC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</a:t>
            </a:r>
            <a:r>
              <a:rPr lang="en-US" b="1" dirty="0" err="1" smtClean="0"/>
              <a:t>bậc</a:t>
            </a:r>
            <a:r>
              <a:rPr lang="en-US" b="1" dirty="0" smtClean="0"/>
              <a:t> </a:t>
            </a:r>
            <a:r>
              <a:rPr lang="en-US" b="1" dirty="0" err="1" smtClean="0"/>
              <a:t>nhất</a:t>
            </a:r>
            <a:r>
              <a:rPr lang="en-US" dirty="0" smtClean="0"/>
              <a:t>”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duy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b="1" dirty="0" smtClean="0"/>
              <a:t>1 </a:t>
            </a:r>
            <a:r>
              <a:rPr lang="en-US" b="1" dirty="0" err="1" smtClean="0"/>
              <a:t>tổ</a:t>
            </a:r>
            <a:r>
              <a:rPr lang="en-US" b="1" dirty="0" smtClean="0"/>
              <a:t> </a:t>
            </a:r>
            <a:r>
              <a:rPr lang="en-US" b="1" dirty="0" err="1" smtClean="0"/>
              <a:t>hợp</a:t>
            </a:r>
            <a:r>
              <a:rPr lang="en-US" b="1" dirty="0" smtClean="0"/>
              <a:t> RC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dốc</a:t>
            </a:r>
            <a:r>
              <a:rPr lang="en-US" b="1" dirty="0" smtClean="0"/>
              <a:t> </a:t>
            </a:r>
            <a:r>
              <a:rPr lang="en-US" dirty="0" smtClean="0"/>
              <a:t>(roll-off) </a:t>
            </a:r>
            <a:r>
              <a:rPr lang="en-US" dirty="0" err="1" smtClean="0"/>
              <a:t>là</a:t>
            </a:r>
            <a:r>
              <a:rPr lang="en-US" dirty="0" smtClean="0"/>
              <a:t> -20dB/</a:t>
            </a:r>
            <a:r>
              <a:rPr lang="en-US" dirty="0" err="1" smtClean="0"/>
              <a:t>dec.</a:t>
            </a: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tần</a:t>
            </a:r>
            <a:r>
              <a:rPr lang="en-US" b="1" dirty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cắt</a:t>
            </a:r>
            <a:r>
              <a:rPr lang="en-US" b="1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khuếch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băng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tần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hoạt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674" y="5066334"/>
            <a:ext cx="2162175" cy="781050"/>
          </a:xfrm>
          <a:prstGeom prst="rect">
            <a:avLst/>
          </a:prstGeom>
        </p:spPr>
      </p:pic>
      <p:grpSp>
        <p:nvGrpSpPr>
          <p:cNvPr id="36" name="Groupe 35"/>
          <p:cNvGrpSpPr/>
          <p:nvPr/>
        </p:nvGrpSpPr>
        <p:grpSpPr>
          <a:xfrm>
            <a:off x="5824204" y="4511084"/>
            <a:ext cx="1178556" cy="1430767"/>
            <a:chOff x="5824204" y="4511084"/>
            <a:chExt cx="1178556" cy="1430767"/>
          </a:xfrm>
        </p:grpSpPr>
        <p:cxnSp>
          <p:nvCxnSpPr>
            <p:cNvPr id="12" name="Connecteur droit 11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4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đích</a:t>
            </a:r>
            <a:r>
              <a:rPr lang="en-US" dirty="0" smtClean="0"/>
              <a:t>: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-20dB/</a:t>
            </a:r>
            <a:r>
              <a:rPr lang="en-US" dirty="0" err="1" smtClean="0"/>
              <a:t>dec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-40dB/</a:t>
            </a:r>
            <a:r>
              <a:rPr lang="en-US" dirty="0" err="1" smtClean="0"/>
              <a:t>dec.</a:t>
            </a:r>
            <a:r>
              <a:rPr lang="en-US" dirty="0"/>
              <a:t> </a:t>
            </a:r>
            <a:r>
              <a:rPr lang="en-US" dirty="0" err="1" smtClean="0"/>
              <a:t>Nhờ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–fc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.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(selective)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hay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Sallen</a:t>
            </a:r>
            <a:r>
              <a:rPr lang="en-US" dirty="0" smtClean="0"/>
              <a:t>-Key.</a:t>
            </a:r>
          </a:p>
        </p:txBody>
      </p:sp>
      <p:grpSp>
        <p:nvGrpSpPr>
          <p:cNvPr id="47" name="Groupe 46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2" name="Groupe 31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20" name="Image 1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21" name="Groupe 20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22" name="Connecteur droit 21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22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 droit 23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necteur droit 24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necteur droit 25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Connecteur droit 10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e 36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34" name="Connecteur droit 33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ZoneTexte 39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-40</a:t>
              </a:r>
              <a:endParaRPr lang="en-US" sz="1200" dirty="0"/>
            </a:p>
          </p:txBody>
        </p:sp>
        <p:cxnSp>
          <p:nvCxnSpPr>
            <p:cNvPr id="44" name="Connecteur droit avec flèche 43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303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Sallen</a:t>
            </a:r>
            <a:r>
              <a:rPr lang="en-US" dirty="0" smtClean="0"/>
              <a:t>-Key:</a:t>
            </a:r>
          </a:p>
        </p:txBody>
      </p:sp>
      <p:grpSp>
        <p:nvGrpSpPr>
          <p:cNvPr id="30" name="Groupe 29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3" name="Groupe 32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48" name="Imag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49" name="Groupe 48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50" name="Connecteur droit 49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eur droit 50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cteur droit 51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cteur droit 52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cteur droit 53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54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55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56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5" name="Connecteur droit 34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e 38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45" name="Connecteur droit 44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eur droit 46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ZoneTexte 40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-40</a:t>
              </a:r>
              <a:endParaRPr lang="en-US" sz="1200" dirty="0"/>
            </a:p>
          </p:txBody>
        </p:sp>
        <p:cxnSp>
          <p:nvCxnSpPr>
            <p:cNvPr id="42" name="Connecteur droit avec flèche 41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8" y="2618910"/>
            <a:ext cx="5058106" cy="315544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585" y="4992735"/>
            <a:ext cx="26955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65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.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R1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Butterworth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675" y="2465285"/>
            <a:ext cx="4333875" cy="26289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06" y="3047234"/>
            <a:ext cx="4676775" cy="1371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7575" y="4149080"/>
            <a:ext cx="4318873" cy="22474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7420" y="5728706"/>
            <a:ext cx="3491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ĐS: </a:t>
            </a:r>
            <a:r>
              <a:rPr lang="en-US" dirty="0"/>
              <a:t>7.23KHz, </a:t>
            </a:r>
            <a:r>
              <a:rPr lang="en-US" dirty="0" smtClean="0"/>
              <a:t>586Ohm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3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/>
              <a:t>:</a:t>
            </a:r>
            <a:endParaRPr lang="en-US" dirty="0" smtClean="0"/>
          </a:p>
        </p:txBody>
      </p:sp>
      <p:grpSp>
        <p:nvGrpSpPr>
          <p:cNvPr id="30" name="Groupe 29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3" name="Groupe 32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48" name="Imag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49" name="Groupe 48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50" name="Connecteur droit 49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eur droit 50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cteur droit 51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cteur droit 52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cteur droit 53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54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55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56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5" name="Connecteur droit 34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e 38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45" name="Connecteur droit 44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eur droit 46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ZoneTexte 40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-40</a:t>
              </a:r>
              <a:endParaRPr lang="en-US" sz="1200" dirty="0"/>
            </a:p>
          </p:txBody>
        </p:sp>
        <p:cxnSp>
          <p:nvCxnSpPr>
            <p:cNvPr id="42" name="Connecteur droit avec flèche 41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33" y="2330910"/>
            <a:ext cx="4389120" cy="1939517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9" name="Connecteur droit 28"/>
          <p:cNvCxnSpPr/>
          <p:nvPr/>
        </p:nvCxnSpPr>
        <p:spPr>
          <a:xfrm>
            <a:off x="7623994" y="2984821"/>
            <a:ext cx="827962" cy="273943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7923330" y="3968654"/>
            <a:ext cx="0" cy="36044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82" y="4411027"/>
            <a:ext cx="4389120" cy="1808990"/>
          </a:xfrm>
          <a:prstGeom prst="rect">
            <a:avLst/>
          </a:prstGeom>
          <a:ln>
            <a:solidFill>
              <a:srgbClr val="00B050"/>
            </a:solidFill>
          </a:ln>
        </p:spPr>
      </p:pic>
      <p:cxnSp>
        <p:nvCxnSpPr>
          <p:cNvPr id="36" name="Connecteur droit 35"/>
          <p:cNvCxnSpPr/>
          <p:nvPr/>
        </p:nvCxnSpPr>
        <p:spPr>
          <a:xfrm>
            <a:off x="7611178" y="2928296"/>
            <a:ext cx="611337" cy="27959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7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Cho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2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, </a:t>
            </a:r>
            <a:r>
              <a:rPr lang="en-US" dirty="0" err="1" smtClean="0"/>
              <a:t>biết</a:t>
            </a:r>
            <a:r>
              <a:rPr lang="en-US" dirty="0" smtClean="0"/>
              <a:t> R</a:t>
            </a:r>
            <a:r>
              <a:rPr lang="en-US" baseline="-25000" dirty="0" smtClean="0"/>
              <a:t>A1</a:t>
            </a:r>
            <a:r>
              <a:rPr lang="en-US" dirty="0" smtClean="0"/>
              <a:t>=R</a:t>
            </a:r>
            <a:r>
              <a:rPr lang="en-US" baseline="-25000" dirty="0" smtClean="0"/>
              <a:t>A2</a:t>
            </a:r>
            <a:r>
              <a:rPr lang="en-US" dirty="0" smtClean="0"/>
              <a:t>=R</a:t>
            </a:r>
            <a:r>
              <a:rPr lang="en-US" baseline="-25000" dirty="0" smtClean="0"/>
              <a:t>B1</a:t>
            </a:r>
            <a:r>
              <a:rPr lang="en-US" dirty="0" smtClean="0"/>
              <a:t>=R</a:t>
            </a:r>
            <a:r>
              <a:rPr lang="en-US" baseline="-25000" dirty="0" smtClean="0"/>
              <a:t>B2</a:t>
            </a:r>
            <a:r>
              <a:rPr lang="en-US" dirty="0" smtClean="0"/>
              <a:t>= R</a:t>
            </a:r>
            <a:r>
              <a:rPr lang="en-US" baseline="-25000" dirty="0" smtClean="0"/>
              <a:t>2</a:t>
            </a:r>
            <a:r>
              <a:rPr lang="en-US" dirty="0" smtClean="0"/>
              <a:t>=R</a:t>
            </a:r>
            <a:r>
              <a:rPr lang="en-US" baseline="-25000" dirty="0" smtClean="0"/>
              <a:t>4</a:t>
            </a:r>
            <a:r>
              <a:rPr lang="en-US" dirty="0" smtClean="0"/>
              <a:t>=1.8K</a:t>
            </a:r>
            <a:r>
              <a:rPr lang="en-US" dirty="0" smtClean="0">
                <a:sym typeface="Symbol" panose="05050102010706020507" pitchFamily="18" charset="2"/>
              </a:rPr>
              <a:t>, </a:t>
            </a:r>
            <a:r>
              <a:rPr lang="en-US" dirty="0" err="1" smtClean="0">
                <a:sym typeface="Symbol" panose="05050102010706020507" pitchFamily="18" charset="2"/>
              </a:rPr>
              <a:t>các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giá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trị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của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tụ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điện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bằng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nhau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và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bằng</a:t>
            </a:r>
            <a:r>
              <a:rPr lang="en-US" dirty="0" smtClean="0">
                <a:sym typeface="Symbol" panose="05050102010706020507" pitchFamily="18" charset="2"/>
              </a:rPr>
              <a:t> C. </a:t>
            </a:r>
            <a:r>
              <a:rPr lang="en-US" dirty="0" err="1" smtClean="0">
                <a:sym typeface="Symbol" panose="05050102010706020507" pitchFamily="18" charset="2"/>
              </a:rPr>
              <a:t>Tính</a:t>
            </a:r>
            <a:r>
              <a:rPr lang="en-US" dirty="0" smtClean="0">
                <a:sym typeface="Symbol" panose="05050102010706020507" pitchFamily="18" charset="2"/>
              </a:rPr>
              <a:t> C </a:t>
            </a:r>
            <a:r>
              <a:rPr lang="en-US" dirty="0" err="1" smtClean="0">
                <a:sym typeface="Symbol" panose="05050102010706020507" pitchFamily="18" charset="2"/>
              </a:rPr>
              <a:t>để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tần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cắt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là</a:t>
            </a:r>
            <a:r>
              <a:rPr lang="en-US" dirty="0" smtClean="0">
                <a:sym typeface="Symbol" panose="05050102010706020507" pitchFamily="18" charset="2"/>
              </a:rPr>
              <a:t> 2.68kHz. </a:t>
            </a:r>
            <a:r>
              <a:rPr lang="en-US" dirty="0" err="1" smtClean="0">
                <a:sym typeface="Symbol" panose="05050102010706020507" pitchFamily="18" charset="2"/>
              </a:rPr>
              <a:t>Tính</a:t>
            </a:r>
            <a:r>
              <a:rPr lang="en-US" dirty="0" smtClean="0">
                <a:sym typeface="Symbol" panose="05050102010706020507" pitchFamily="18" charset="2"/>
              </a:rPr>
              <a:t> R</a:t>
            </a:r>
            <a:r>
              <a:rPr lang="en-US" baseline="-25000" dirty="0" smtClean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, </a:t>
            </a:r>
            <a:r>
              <a:rPr lang="en-US" dirty="0" smtClean="0">
                <a:sym typeface="Symbol" panose="05050102010706020507" pitchFamily="18" charset="2"/>
              </a:rPr>
              <a:t>R</a:t>
            </a:r>
            <a:r>
              <a:rPr lang="en-US" baseline="-25000" dirty="0">
                <a:sym typeface="Symbol" panose="05050102010706020507" pitchFamily="18" charset="2"/>
              </a:rPr>
              <a:t>3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để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mạch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có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đáp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ứng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tần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số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err="1" smtClean="0">
                <a:sym typeface="Symbol" panose="05050102010706020507" pitchFamily="18" charset="2"/>
              </a:rPr>
              <a:t>theo</a:t>
            </a:r>
            <a:r>
              <a:rPr lang="en-US" dirty="0" smtClean="0">
                <a:sym typeface="Symbol" panose="05050102010706020507" pitchFamily="18" charset="2"/>
              </a:rPr>
              <a:t> Butterworth.</a:t>
            </a:r>
            <a:endParaRPr lang="en-US" dirty="0" smtClean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65" y="3068960"/>
            <a:ext cx="7886885" cy="325060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137465" y="5741213"/>
            <a:ext cx="4364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ĐS: </a:t>
            </a:r>
            <a:r>
              <a:rPr lang="en-US" dirty="0" smtClean="0"/>
              <a:t>33nF</a:t>
            </a:r>
            <a:r>
              <a:rPr lang="en-US" dirty="0" smtClean="0"/>
              <a:t>, 274Ohm, 2.22kOhm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 smtClean="0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35" y="4055495"/>
            <a:ext cx="1209675" cy="228600"/>
          </a:xfrm>
          <a:prstGeom prst="rect">
            <a:avLst/>
          </a:prstGeo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b="1" dirty="0" err="1" smtClean="0"/>
              <a:t>một</a:t>
            </a:r>
            <a:r>
              <a:rPr lang="en-US" b="1" dirty="0" smtClean="0"/>
              <a:t> </a:t>
            </a:r>
            <a:r>
              <a:rPr lang="en-US" b="1" dirty="0" err="1" smtClean="0"/>
              <a:t>mạch</a:t>
            </a:r>
            <a:r>
              <a:rPr lang="en-US" b="1" dirty="0" smtClean="0"/>
              <a:t> </a:t>
            </a:r>
            <a:r>
              <a:rPr lang="en-US" b="1" dirty="0" err="1" smtClean="0"/>
              <a:t>khuếch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</a:t>
            </a:r>
            <a:r>
              <a:rPr lang="en-US" b="1" dirty="0" err="1" smtClean="0"/>
              <a:t>hồi</a:t>
            </a:r>
            <a:r>
              <a:rPr lang="en-US" b="1" dirty="0" smtClean="0"/>
              <a:t> </a:t>
            </a:r>
            <a:r>
              <a:rPr lang="en-US" b="1" dirty="0" err="1" smtClean="0"/>
              <a:t>tiếp</a:t>
            </a:r>
            <a:r>
              <a:rPr lang="en-US" b="1" dirty="0" smtClean="0"/>
              <a:t> </a:t>
            </a:r>
            <a:r>
              <a:rPr lang="en-US" b="1" dirty="0" err="1" smtClean="0"/>
              <a:t>âm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đảo</a:t>
            </a:r>
            <a:r>
              <a:rPr lang="en-US" b="1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b="1" dirty="0" err="1" smtClean="0"/>
              <a:t>một</a:t>
            </a:r>
            <a:r>
              <a:rPr lang="en-US" b="1" dirty="0" smtClean="0"/>
              <a:t> </a:t>
            </a:r>
            <a:r>
              <a:rPr lang="en-US" b="1" dirty="0" err="1" smtClean="0"/>
              <a:t>bộ</a:t>
            </a:r>
            <a:r>
              <a:rPr lang="en-US" b="1" dirty="0" smtClean="0"/>
              <a:t> </a:t>
            </a:r>
            <a:r>
              <a:rPr lang="en-US" b="1" dirty="0" err="1" smtClean="0"/>
              <a:t>lọc</a:t>
            </a:r>
            <a:r>
              <a:rPr lang="en-US" b="1" dirty="0" smtClean="0"/>
              <a:t> </a:t>
            </a:r>
            <a:r>
              <a:rPr lang="en-US" b="1" dirty="0" err="1" smtClean="0"/>
              <a:t>thông</a:t>
            </a:r>
            <a:r>
              <a:rPr lang="en-US" b="1" dirty="0" smtClean="0"/>
              <a:t> </a:t>
            </a:r>
            <a:r>
              <a:rPr lang="en-US" b="1" dirty="0" err="1" smtClean="0"/>
              <a:t>cao</a:t>
            </a:r>
            <a:r>
              <a:rPr lang="en-US" b="1" dirty="0" smtClean="0"/>
              <a:t> RC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</a:t>
            </a:r>
            <a:r>
              <a:rPr lang="en-US" b="1" dirty="0" err="1" smtClean="0"/>
              <a:t>bậc</a:t>
            </a:r>
            <a:r>
              <a:rPr lang="en-US" b="1" dirty="0" smtClean="0"/>
              <a:t> </a:t>
            </a:r>
            <a:r>
              <a:rPr lang="en-US" b="1" dirty="0" err="1" smtClean="0"/>
              <a:t>nhất</a:t>
            </a:r>
            <a:r>
              <a:rPr lang="en-US" dirty="0" smtClean="0"/>
              <a:t>”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duy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b="1" dirty="0" smtClean="0"/>
              <a:t>1 </a:t>
            </a:r>
            <a:r>
              <a:rPr lang="en-US" b="1" dirty="0" err="1" smtClean="0"/>
              <a:t>tổ</a:t>
            </a:r>
            <a:r>
              <a:rPr lang="en-US" b="1" dirty="0" smtClean="0"/>
              <a:t> </a:t>
            </a:r>
            <a:r>
              <a:rPr lang="en-US" b="1" dirty="0" err="1" smtClean="0"/>
              <a:t>hợp</a:t>
            </a:r>
            <a:r>
              <a:rPr lang="en-US" b="1" dirty="0" smtClean="0"/>
              <a:t> RC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dốc</a:t>
            </a:r>
            <a:r>
              <a:rPr lang="en-US" b="1" dirty="0" smtClean="0"/>
              <a:t> </a:t>
            </a:r>
            <a:r>
              <a:rPr lang="en-US" dirty="0" smtClean="0"/>
              <a:t>(roll-off) </a:t>
            </a:r>
            <a:r>
              <a:rPr lang="en-US" dirty="0" err="1" smtClean="0"/>
              <a:t>là</a:t>
            </a:r>
            <a:r>
              <a:rPr lang="en-US" dirty="0" smtClean="0"/>
              <a:t> -20dB/</a:t>
            </a:r>
            <a:r>
              <a:rPr lang="en-US" dirty="0" err="1" smtClean="0"/>
              <a:t>dec.</a:t>
            </a: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tần</a:t>
            </a:r>
            <a:r>
              <a:rPr lang="en-US" b="1" dirty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cắt</a:t>
            </a:r>
            <a:r>
              <a:rPr lang="en-US" b="1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khuếch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băng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tần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hoạt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74" y="5066334"/>
            <a:ext cx="2162175" cy="7810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070" y="3578149"/>
            <a:ext cx="3331368" cy="2705651"/>
          </a:xfrm>
          <a:prstGeom prst="rect">
            <a:avLst/>
          </a:prstGeom>
        </p:spPr>
      </p:pic>
      <p:grpSp>
        <p:nvGrpSpPr>
          <p:cNvPr id="21" name="Groupe 20"/>
          <p:cNvGrpSpPr/>
          <p:nvPr/>
        </p:nvGrpSpPr>
        <p:grpSpPr>
          <a:xfrm>
            <a:off x="7419849" y="4419110"/>
            <a:ext cx="1358576" cy="1645288"/>
            <a:chOff x="5824204" y="4511084"/>
            <a:chExt cx="1178556" cy="1430767"/>
          </a:xfrm>
        </p:grpSpPr>
        <p:cxnSp>
          <p:nvCxnSpPr>
            <p:cNvPr id="22" name="Connecteur droit 21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Imag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344" y="1790044"/>
            <a:ext cx="3579576" cy="233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 smtClean="0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Sallen</a:t>
            </a:r>
            <a:r>
              <a:rPr lang="en-US" dirty="0" smtClean="0"/>
              <a:t>-Key: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04" y="2703688"/>
            <a:ext cx="4240432" cy="3109649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85" y="4992735"/>
            <a:ext cx="2695575" cy="866775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86" y="2528900"/>
            <a:ext cx="3331368" cy="2705651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>
            <a:off x="7708065" y="3369861"/>
            <a:ext cx="1358576" cy="1645288"/>
            <a:chOff x="5824204" y="4511084"/>
            <a:chExt cx="1178556" cy="1430767"/>
          </a:xfrm>
        </p:grpSpPr>
        <p:cxnSp>
          <p:nvCxnSpPr>
            <p:cNvPr id="34" name="Connecteur droit 33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eur droit 9"/>
          <p:cNvCxnSpPr/>
          <p:nvPr/>
        </p:nvCxnSpPr>
        <p:spPr>
          <a:xfrm flipH="1">
            <a:off x="6888215" y="3499741"/>
            <a:ext cx="794512" cy="15494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3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 smtClean="0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20kHz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Butterworth.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 smtClean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06" y="3182525"/>
            <a:ext cx="4676775" cy="1371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7575" y="4284371"/>
            <a:ext cx="4318873" cy="22474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416" y="2595459"/>
            <a:ext cx="4104935" cy="29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6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 smtClean="0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Butterworth,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dốc</a:t>
            </a:r>
            <a:r>
              <a:rPr lang="en-US" dirty="0" smtClean="0"/>
              <a:t> roll-off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nhiêu</a:t>
            </a:r>
            <a:r>
              <a:rPr lang="en-US" dirty="0"/>
              <a:t>?</a:t>
            </a:r>
            <a:endParaRPr lang="en-US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32" y="3082965"/>
            <a:ext cx="82867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5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fc1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fc2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endParaRPr lang="en-US" dirty="0" smtClean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" y="3814871"/>
            <a:ext cx="5657494" cy="23144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57" y="3713990"/>
            <a:ext cx="4355793" cy="25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" y="3814871"/>
            <a:ext cx="5657494" cy="23144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57" y="3713990"/>
            <a:ext cx="4355793" cy="25503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00" y="1838243"/>
            <a:ext cx="2057400" cy="5334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533" y="1808820"/>
            <a:ext cx="2549099" cy="74399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99" y="2780590"/>
            <a:ext cx="1348571" cy="40000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4968088" y="2875993"/>
            <a:ext cx="1383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BW=fc2-fc1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7014451" y="2791450"/>
                <a:ext cx="800667" cy="538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Q=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𝐵𝑊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451" y="2791450"/>
                <a:ext cx="800667" cy="538417"/>
              </a:xfrm>
              <a:prstGeom prst="rect">
                <a:avLst/>
              </a:prstGeom>
              <a:blipFill rotWithShape="0">
                <a:blip r:embed="rId7"/>
                <a:stretch>
                  <a:fillRect l="-8397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54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(multiple-feedback filter)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2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,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C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R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R</a:t>
            </a:r>
            <a:r>
              <a:rPr lang="en-US" baseline="-25000" dirty="0" smtClean="0"/>
              <a:t>1</a:t>
            </a:r>
            <a:r>
              <a:rPr lang="en-US" dirty="0" smtClean="0"/>
              <a:t>C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R</a:t>
            </a:r>
            <a:r>
              <a:rPr lang="en-US" baseline="-25000" dirty="0" smtClean="0"/>
              <a:t>2</a:t>
            </a:r>
            <a:r>
              <a:rPr lang="en-US" dirty="0" smtClean="0"/>
              <a:t>C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35" y="1898018"/>
            <a:ext cx="5076825" cy="3476625"/>
          </a:xfrm>
          <a:prstGeom prst="rect">
            <a:avLst/>
          </a:prstGeom>
        </p:spPr>
      </p:pic>
      <p:grpSp>
        <p:nvGrpSpPr>
          <p:cNvPr id="27" name="Groupe 26"/>
          <p:cNvGrpSpPr/>
          <p:nvPr/>
        </p:nvGrpSpPr>
        <p:grpSpPr>
          <a:xfrm>
            <a:off x="5643302" y="1898018"/>
            <a:ext cx="3525925" cy="2070636"/>
            <a:chOff x="5538065" y="1898018"/>
            <a:chExt cx="3525925" cy="2070636"/>
          </a:xfrm>
        </p:grpSpPr>
        <p:cxnSp>
          <p:nvCxnSpPr>
            <p:cNvPr id="15" name="Connecteur droit 14"/>
            <p:cNvCxnSpPr/>
            <p:nvPr/>
          </p:nvCxnSpPr>
          <p:spPr>
            <a:xfrm flipH="1">
              <a:off x="6438166" y="2663915"/>
              <a:ext cx="26258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>
              <a:off x="6438165" y="2663915"/>
              <a:ext cx="0" cy="13047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>
              <a:off x="5538065" y="3968654"/>
              <a:ext cx="9001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flipV="1">
              <a:off x="5538065" y="1898018"/>
              <a:ext cx="0" cy="20706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5538065" y="1898018"/>
              <a:ext cx="35259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>
              <a:off x="9063990" y="1898018"/>
              <a:ext cx="0" cy="7658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e 39"/>
          <p:cNvGrpSpPr/>
          <p:nvPr/>
        </p:nvGrpSpPr>
        <p:grpSpPr>
          <a:xfrm>
            <a:off x="6633412" y="2753925"/>
            <a:ext cx="2581969" cy="1214729"/>
            <a:chOff x="6528175" y="2753925"/>
            <a:chExt cx="2581969" cy="1214729"/>
          </a:xfrm>
        </p:grpSpPr>
        <p:cxnSp>
          <p:nvCxnSpPr>
            <p:cNvPr id="29" name="Connecteur droit 28"/>
            <p:cNvCxnSpPr/>
            <p:nvPr/>
          </p:nvCxnSpPr>
          <p:spPr>
            <a:xfrm flipH="1">
              <a:off x="6528175" y="2753925"/>
              <a:ext cx="258196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6528175" y="2753925"/>
              <a:ext cx="0" cy="121472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6528175" y="3968654"/>
              <a:ext cx="63007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 flipV="1">
              <a:off x="7158245" y="3361289"/>
              <a:ext cx="0" cy="6073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7158245" y="3316284"/>
              <a:ext cx="195189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>
              <a:off x="9110144" y="2753925"/>
              <a:ext cx="0" cy="5623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Imag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67" y="4464114"/>
            <a:ext cx="2036827" cy="59407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54" y="5181505"/>
            <a:ext cx="1261955" cy="326005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67" y="5538973"/>
            <a:ext cx="1181733" cy="628128"/>
          </a:xfrm>
          <a:prstGeom prst="rect">
            <a:avLst/>
          </a:prstGeom>
        </p:spPr>
      </p:pic>
      <p:sp>
        <p:nvSpPr>
          <p:cNvPr id="46" name="ZoneTexte 45"/>
          <p:cNvSpPr txBox="1"/>
          <p:nvPr/>
        </p:nvSpPr>
        <p:spPr>
          <a:xfrm>
            <a:off x="3366717" y="4542306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/>
          </a:p>
        </p:txBody>
      </p:sp>
      <p:sp>
        <p:nvSpPr>
          <p:cNvPr id="47" name="ZoneTexte 46"/>
          <p:cNvSpPr txBox="1"/>
          <p:nvPr/>
        </p:nvSpPr>
        <p:spPr>
          <a:xfrm>
            <a:off x="2432127" y="5106880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dirty="0"/>
          </a:p>
        </p:txBody>
      </p:sp>
      <p:sp>
        <p:nvSpPr>
          <p:cNvPr id="48" name="ZoneTexte 47"/>
          <p:cNvSpPr txBox="1"/>
          <p:nvPr/>
        </p:nvSpPr>
        <p:spPr>
          <a:xfrm>
            <a:off x="2432127" y="5573085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7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dải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(multiple-feedback filter)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,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,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băng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67" y="4464114"/>
            <a:ext cx="2036827" cy="59407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54" y="5181505"/>
            <a:ext cx="1261955" cy="326005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67" y="5538973"/>
            <a:ext cx="1181733" cy="628128"/>
          </a:xfrm>
          <a:prstGeom prst="rect">
            <a:avLst/>
          </a:prstGeom>
        </p:spPr>
      </p:pic>
      <p:sp>
        <p:nvSpPr>
          <p:cNvPr id="47" name="ZoneTexte 46"/>
          <p:cNvSpPr txBox="1"/>
          <p:nvPr/>
        </p:nvSpPr>
        <p:spPr>
          <a:xfrm>
            <a:off x="2432127" y="5106880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endParaRPr lang="en-US" dirty="0"/>
          </a:p>
        </p:txBody>
      </p:sp>
      <p:sp>
        <p:nvSpPr>
          <p:cNvPr id="48" name="ZoneTexte 47"/>
          <p:cNvSpPr txBox="1"/>
          <p:nvPr/>
        </p:nvSpPr>
        <p:spPr>
          <a:xfrm>
            <a:off x="2432127" y="5573085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lợi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045" y="1763815"/>
            <a:ext cx="4318166" cy="2907710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3366717" y="4542306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6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(multiple-feedback filter)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triệt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45" y="2393884"/>
            <a:ext cx="5760640" cy="38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4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62066</TotalTime>
  <Words>1407</Words>
  <Application>Microsoft Office PowerPoint</Application>
  <PresentationFormat>Format A4 (210 x 297 mm)</PresentationFormat>
  <Paragraphs>162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Symbol</vt:lpstr>
      <vt:lpstr>Times</vt:lpstr>
      <vt:lpstr>Times New Roman</vt:lpstr>
      <vt:lpstr>Wingdings</vt:lpstr>
      <vt:lpstr>Retrospect</vt:lpstr>
      <vt:lpstr>Chương 11</vt:lpstr>
      <vt:lpstr>Mục tiêu</vt:lpstr>
      <vt:lpstr>Khái niệm mạch lọc tích cực</vt:lpstr>
      <vt:lpstr>Đáp ứng tần số của mạch lọc tích cực</vt:lpstr>
      <vt:lpstr>Đáp ứng tần số của mạch lọc tích cực</vt:lpstr>
      <vt:lpstr>Tần số cắt và độ dốc roll-off</vt:lpstr>
      <vt:lpstr>Tần số cắt và độ dốc roll-off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cao</vt:lpstr>
      <vt:lpstr>Mạch lọc tích cực thông cao</vt:lpstr>
      <vt:lpstr>Mạch lọc tích cực thông cao</vt:lpstr>
      <vt:lpstr>Mạch lọc tích cực thông cao</vt:lpstr>
      <vt:lpstr>Mạch lọc tích cực  thông dải đơn giản</vt:lpstr>
      <vt:lpstr>Mạch lọc tích cực  thông dải đơn giản</vt:lpstr>
      <vt:lpstr>Mạch lọc đa hồi tiếp thông dải (multiple-feedback filter)</vt:lpstr>
      <vt:lpstr>Mạch lọc đa hồi tiếp thông dải (multiple-feedback filter)</vt:lpstr>
      <vt:lpstr>Mạch lọc đa hồi tiếp triệt thông (multiple-feedback filter)</vt:lpstr>
      <vt:lpstr>Thank you!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1125</cp:revision>
  <cp:lastPrinted>2004-10-20T11:26:57Z</cp:lastPrinted>
  <dcterms:created xsi:type="dcterms:W3CDTF">2005-06-07T08:25:50Z</dcterms:created>
  <dcterms:modified xsi:type="dcterms:W3CDTF">2017-12-18T13:54:58Z</dcterms:modified>
</cp:coreProperties>
</file>