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906000" cy="6858000" type="A4"/>
  <p:notesSz cx="9906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306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084954" y="908380"/>
            <a:ext cx="1736090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047" y="6400799"/>
            <a:ext cx="9903460" cy="457200"/>
          </a:xfrm>
          <a:custGeom>
            <a:avLst/>
            <a:gdLst/>
            <a:ahLst/>
            <a:cxnLst/>
            <a:rect l="l" t="t" r="r" b="b"/>
            <a:pathLst>
              <a:path w="9903460" h="457200">
                <a:moveTo>
                  <a:pt x="0" y="457199"/>
                </a:moveTo>
                <a:lnTo>
                  <a:pt x="9902952" y="457199"/>
                </a:lnTo>
                <a:lnTo>
                  <a:pt x="9902952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6333744"/>
            <a:ext cx="9903460" cy="64135"/>
          </a:xfrm>
          <a:custGeom>
            <a:avLst/>
            <a:gdLst/>
            <a:ahLst/>
            <a:cxnLst/>
            <a:rect l="l" t="t" r="r" b="b"/>
            <a:pathLst>
              <a:path w="9903460" h="64135">
                <a:moveTo>
                  <a:pt x="0" y="64007"/>
                </a:moveTo>
                <a:lnTo>
                  <a:pt x="9902952" y="64007"/>
                </a:lnTo>
                <a:lnTo>
                  <a:pt x="9902952" y="0"/>
                </a:lnTo>
                <a:lnTo>
                  <a:pt x="0" y="0"/>
                </a:lnTo>
                <a:lnTo>
                  <a:pt x="0" y="64007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400799"/>
            <a:ext cx="9906000" cy="457200"/>
          </a:xfrm>
          <a:custGeom>
            <a:avLst/>
            <a:gdLst/>
            <a:ahLst/>
            <a:cxnLst/>
            <a:rect l="l" t="t" r="r" b="b"/>
            <a:pathLst>
              <a:path w="9906000" h="457200">
                <a:moveTo>
                  <a:pt x="0" y="457199"/>
                </a:moveTo>
                <a:lnTo>
                  <a:pt x="9906000" y="457199"/>
                </a:lnTo>
                <a:lnTo>
                  <a:pt x="9906000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6333744"/>
            <a:ext cx="9906000" cy="67310"/>
          </a:xfrm>
          <a:custGeom>
            <a:avLst/>
            <a:gdLst/>
            <a:ahLst/>
            <a:cxnLst/>
            <a:rect l="l" t="t" r="r" b="b"/>
            <a:pathLst>
              <a:path w="9906000" h="67310">
                <a:moveTo>
                  <a:pt x="0" y="67055"/>
                </a:moveTo>
                <a:lnTo>
                  <a:pt x="9906000" y="67055"/>
                </a:lnTo>
                <a:lnTo>
                  <a:pt x="9906000" y="0"/>
                </a:lnTo>
                <a:lnTo>
                  <a:pt x="0" y="0"/>
                </a:lnTo>
                <a:lnTo>
                  <a:pt x="0" y="67055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969263" y="1737360"/>
            <a:ext cx="8098155" cy="0"/>
          </a:xfrm>
          <a:custGeom>
            <a:avLst/>
            <a:gdLst/>
            <a:ahLst/>
            <a:cxnLst/>
            <a:rect l="l" t="t" r="r" b="b"/>
            <a:pathLst>
              <a:path w="8098155">
                <a:moveTo>
                  <a:pt x="0" y="0"/>
                </a:moveTo>
                <a:lnTo>
                  <a:pt x="8098155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13230" y="286892"/>
            <a:ext cx="7479538" cy="1379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8839" y="1884426"/>
            <a:ext cx="8202295" cy="2718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45329" y="6570624"/>
            <a:ext cx="818514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59773" y="6561198"/>
            <a:ext cx="185420" cy="173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jp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jp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g"/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09.jp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291840" cy="6858000"/>
          </a:xfrm>
          <a:custGeom>
            <a:avLst/>
            <a:gdLst/>
            <a:ahLst/>
            <a:cxnLst/>
            <a:rect l="l" t="t" r="r" b="b"/>
            <a:pathLst>
              <a:path w="3291840" h="6858000">
                <a:moveTo>
                  <a:pt x="0" y="6858000"/>
                </a:moveTo>
                <a:lnTo>
                  <a:pt x="3291840" y="6858000"/>
                </a:lnTo>
                <a:lnTo>
                  <a:pt x="329184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30860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51815">
            <a:solidFill>
              <a:srgbClr val="99CA3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9831" y="2141220"/>
            <a:ext cx="1978914" cy="10066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55064" y="2141220"/>
            <a:ext cx="819150" cy="10066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703320" y="510540"/>
            <a:ext cx="6171437" cy="13388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63923" y="1168908"/>
            <a:ext cx="5438394" cy="13388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067936" y="670001"/>
            <a:ext cx="5256530" cy="141605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273050" marR="5080" indent="-260985">
              <a:lnSpc>
                <a:spcPts val="5190"/>
              </a:lnSpc>
              <a:spcBef>
                <a:spcPts val="750"/>
              </a:spcBef>
            </a:pPr>
            <a:r>
              <a:rPr b="1" spc="-5" dirty="0">
                <a:latin typeface="Times New Roman"/>
                <a:cs typeface="Times New Roman"/>
              </a:rPr>
              <a:t>CÁC </a:t>
            </a:r>
            <a:r>
              <a:rPr b="1" dirty="0">
                <a:latin typeface="Times New Roman"/>
                <a:cs typeface="Times New Roman"/>
              </a:rPr>
              <a:t>THIẾT BỊ</a:t>
            </a:r>
            <a:r>
              <a:rPr b="1" spc="-114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VÀ  </a:t>
            </a:r>
            <a:r>
              <a:rPr b="1" dirty="0">
                <a:latin typeface="Times New Roman"/>
                <a:cs typeface="Times New Roman"/>
              </a:rPr>
              <a:t>MẠCH </a:t>
            </a:r>
            <a:r>
              <a:rPr b="1" spc="-5" dirty="0">
                <a:latin typeface="Times New Roman"/>
                <a:cs typeface="Times New Roman"/>
              </a:rPr>
              <a:t>ĐIỆN</a:t>
            </a:r>
            <a:r>
              <a:rPr b="1" spc="-7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TỬ</a:t>
            </a:r>
          </a:p>
        </p:txBody>
      </p:sp>
      <p:sp>
        <p:nvSpPr>
          <p:cNvPr id="9" name="object 9"/>
          <p:cNvSpPr/>
          <p:nvPr/>
        </p:nvSpPr>
        <p:spPr>
          <a:xfrm>
            <a:off x="320040" y="2842272"/>
            <a:ext cx="2312670" cy="5112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27148" y="2842272"/>
            <a:ext cx="432054" cy="511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2043" y="3278136"/>
            <a:ext cx="407682" cy="3969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9412" y="3258324"/>
            <a:ext cx="1713738" cy="42899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2043" y="3639324"/>
            <a:ext cx="407682" cy="3969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9412" y="3619512"/>
            <a:ext cx="1524762" cy="42899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97379" y="3619512"/>
            <a:ext cx="320814" cy="42899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61388" y="3619512"/>
            <a:ext cx="393966" cy="42899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52043" y="3997464"/>
            <a:ext cx="407682" cy="39698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29412" y="3977652"/>
            <a:ext cx="956310" cy="42899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370075" y="3977652"/>
            <a:ext cx="585977" cy="42899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51076" y="3977652"/>
            <a:ext cx="785622" cy="42899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2043" y="4360176"/>
            <a:ext cx="407682" cy="3969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29412" y="4340364"/>
            <a:ext cx="2135886" cy="42899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52043" y="4718316"/>
            <a:ext cx="407682" cy="39698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29412" y="4698504"/>
            <a:ext cx="1059941" cy="42899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432560" y="4706124"/>
            <a:ext cx="377190" cy="42899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52955" y="4698504"/>
            <a:ext cx="648462" cy="42899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52043" y="5079504"/>
            <a:ext cx="407682" cy="39698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29412" y="5067312"/>
            <a:ext cx="525005" cy="42899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41832" y="5067312"/>
            <a:ext cx="610362" cy="42899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345691" y="5067312"/>
            <a:ext cx="377190" cy="42899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466088" y="5059692"/>
            <a:ext cx="648462" cy="42899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52043" y="5442203"/>
            <a:ext cx="407682" cy="3969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29412" y="5422391"/>
            <a:ext cx="1163574" cy="428993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52043" y="5803391"/>
            <a:ext cx="407682" cy="3969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29412" y="5783579"/>
            <a:ext cx="892302" cy="428993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50291" y="2036064"/>
            <a:ext cx="2191385" cy="4050029"/>
          </a:xfrm>
          <a:prstGeom prst="rect">
            <a:avLst/>
          </a:prstGeom>
        </p:spPr>
        <p:txBody>
          <a:bodyPr vert="horz" wrap="square" lIns="0" tIns="222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0"/>
              </a:spcBef>
            </a:pPr>
            <a:r>
              <a:rPr sz="3600" spc="-405" dirty="0">
                <a:solidFill>
                  <a:srgbClr val="FFFFFF"/>
                </a:solidFill>
                <a:latin typeface="Arial"/>
                <a:cs typeface="Arial"/>
              </a:rPr>
              <a:t>Chương</a:t>
            </a:r>
            <a:r>
              <a:rPr sz="3600" spc="-3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18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Linh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kiện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bán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dẫn</a:t>
            </a:r>
            <a:r>
              <a:rPr sz="18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040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sz="1500" b="1" spc="-5" dirty="0">
                <a:solidFill>
                  <a:srgbClr val="FFFFFF"/>
                </a:solidFill>
                <a:latin typeface="Arial"/>
                <a:cs typeface="Arial"/>
              </a:rPr>
              <a:t>Vật 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liệu </a:t>
            </a:r>
            <a:r>
              <a:rPr sz="1500" b="1" spc="-5" dirty="0">
                <a:solidFill>
                  <a:srgbClr val="FFFFFF"/>
                </a:solidFill>
                <a:latin typeface="Arial"/>
                <a:cs typeface="Arial"/>
              </a:rPr>
              <a:t>bán</a:t>
            </a:r>
            <a:r>
              <a:rPr sz="15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5" dirty="0">
                <a:solidFill>
                  <a:srgbClr val="FFFFFF"/>
                </a:solidFill>
                <a:latin typeface="Arial"/>
                <a:cs typeface="Arial"/>
              </a:rPr>
              <a:t>dẫn</a:t>
            </a:r>
            <a:endParaRPr sz="15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045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sz="1500" b="1" spc="-15" dirty="0">
                <a:solidFill>
                  <a:srgbClr val="FFFFFF"/>
                </a:solidFill>
                <a:latin typeface="Arial"/>
                <a:cs typeface="Arial"/>
              </a:rPr>
              <a:t>Chuyển 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tiếp</a:t>
            </a:r>
            <a:r>
              <a:rPr sz="15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P-N</a:t>
            </a:r>
            <a:endParaRPr sz="15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019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sz="1500" b="1" spc="-5" dirty="0">
                <a:solidFill>
                  <a:srgbClr val="FFFFFF"/>
                </a:solidFill>
                <a:latin typeface="Arial"/>
                <a:cs typeface="Arial"/>
              </a:rPr>
              <a:t>Cấu 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tạo </a:t>
            </a:r>
            <a:r>
              <a:rPr sz="1500" b="1" spc="-5" dirty="0">
                <a:solidFill>
                  <a:srgbClr val="FFFFFF"/>
                </a:solidFill>
                <a:latin typeface="Arial"/>
                <a:cs typeface="Arial"/>
              </a:rPr>
              <a:t>của</a:t>
            </a:r>
            <a:r>
              <a:rPr sz="1500"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5" dirty="0">
                <a:solidFill>
                  <a:srgbClr val="FFFFFF"/>
                </a:solidFill>
                <a:latin typeface="Arial"/>
                <a:cs typeface="Arial"/>
              </a:rPr>
              <a:t>Diode</a:t>
            </a:r>
            <a:endParaRPr sz="15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060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sz="1500" b="1" spc="-15" dirty="0">
                <a:solidFill>
                  <a:srgbClr val="FFFFFF"/>
                </a:solidFill>
                <a:latin typeface="Arial"/>
                <a:cs typeface="Arial"/>
              </a:rPr>
              <a:t>Nguyên 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lý </a:t>
            </a:r>
            <a:r>
              <a:rPr sz="1500" b="1" spc="-5" dirty="0">
                <a:solidFill>
                  <a:srgbClr val="FFFFFF"/>
                </a:solidFill>
                <a:latin typeface="Arial"/>
                <a:cs typeface="Arial"/>
              </a:rPr>
              <a:t>hoạt</a:t>
            </a:r>
            <a:r>
              <a:rPr sz="15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5" dirty="0">
                <a:solidFill>
                  <a:srgbClr val="FFFFFF"/>
                </a:solidFill>
                <a:latin typeface="Arial"/>
                <a:cs typeface="Arial"/>
              </a:rPr>
              <a:t>động</a:t>
            </a:r>
            <a:endParaRPr sz="15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019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sz="1500" b="1" spc="-5" dirty="0">
                <a:solidFill>
                  <a:srgbClr val="FFFFFF"/>
                </a:solidFill>
                <a:latin typeface="Arial"/>
                <a:cs typeface="Arial"/>
              </a:rPr>
              <a:t>Đặc 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tính</a:t>
            </a:r>
            <a:r>
              <a:rPr sz="1500" b="1" spc="-30" dirty="0">
                <a:solidFill>
                  <a:srgbClr val="FFFFFF"/>
                </a:solidFill>
                <a:latin typeface="Arial"/>
                <a:cs typeface="Arial"/>
              </a:rPr>
              <a:t> Diode</a:t>
            </a:r>
            <a:endParaRPr sz="15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045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sz="1500" b="1" spc="-30" dirty="0">
                <a:solidFill>
                  <a:srgbClr val="FFFFFF"/>
                </a:solidFill>
                <a:latin typeface="Arial"/>
                <a:cs typeface="Arial"/>
              </a:rPr>
              <a:t>Mô </a:t>
            </a:r>
            <a:r>
              <a:rPr sz="1500" b="1" spc="-100" dirty="0">
                <a:solidFill>
                  <a:srgbClr val="FFFFFF"/>
                </a:solidFill>
                <a:latin typeface="Arial"/>
                <a:cs typeface="Arial"/>
              </a:rPr>
              <a:t>hình</a:t>
            </a:r>
            <a:r>
              <a:rPr sz="15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30" dirty="0">
                <a:solidFill>
                  <a:srgbClr val="FFFFFF"/>
                </a:solidFill>
                <a:latin typeface="Arial"/>
                <a:cs typeface="Arial"/>
              </a:rPr>
              <a:t>Diode</a:t>
            </a:r>
            <a:endParaRPr sz="15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055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Ứng</a:t>
            </a:r>
            <a:r>
              <a:rPr sz="15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5" dirty="0">
                <a:solidFill>
                  <a:srgbClr val="FFFFFF"/>
                </a:solidFill>
                <a:latin typeface="Arial"/>
                <a:cs typeface="Arial"/>
              </a:rPr>
              <a:t>dụng</a:t>
            </a:r>
            <a:endParaRPr sz="15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045"/>
              </a:spcBef>
              <a:buClr>
                <a:srgbClr val="FFC000"/>
              </a:buClr>
              <a:buFont typeface="Wingdings"/>
              <a:buChar char=""/>
              <a:tabLst>
                <a:tab pos="299720" algn="l"/>
              </a:tabLst>
            </a:pPr>
            <a:r>
              <a:rPr sz="1500" b="1" spc="-5" dirty="0">
                <a:solidFill>
                  <a:srgbClr val="FFFFFF"/>
                </a:solidFill>
                <a:latin typeface="Arial"/>
                <a:cs typeface="Arial"/>
              </a:rPr>
              <a:t>Bài</a:t>
            </a:r>
            <a:r>
              <a:rPr sz="15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tập</a:t>
            </a:r>
            <a:endParaRPr sz="15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979926" y="6558178"/>
            <a:ext cx="818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455F51"/>
                </a:solidFill>
                <a:latin typeface="Times New Roman"/>
                <a:cs typeface="Times New Roman"/>
              </a:rPr>
              <a:t>TRỊNH LÊ</a:t>
            </a:r>
            <a:r>
              <a:rPr sz="900" spc="-50" dirty="0">
                <a:solidFill>
                  <a:srgbClr val="455F51"/>
                </a:solidFill>
                <a:latin typeface="Times New Roman"/>
                <a:cs typeface="Times New Roman"/>
              </a:rPr>
              <a:t> </a:t>
            </a:r>
            <a:r>
              <a:rPr sz="900" spc="-5" dirty="0">
                <a:solidFill>
                  <a:srgbClr val="455F51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939530" y="6546595"/>
            <a:ext cx="927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455F51"/>
                </a:solidFill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783835" y="3159251"/>
            <a:ext cx="1770888" cy="1427988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617069" y="3151493"/>
            <a:ext cx="1666701" cy="1334192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4650" y="908380"/>
            <a:ext cx="4180204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0" dirty="0"/>
              <a:t>Vật </a:t>
            </a:r>
            <a:r>
              <a:rPr spc="-160" dirty="0"/>
              <a:t>liệu </a:t>
            </a:r>
            <a:r>
              <a:rPr spc="-290" dirty="0"/>
              <a:t>bán</a:t>
            </a:r>
            <a:r>
              <a:rPr spc="-685" dirty="0"/>
              <a:t> </a:t>
            </a:r>
            <a:r>
              <a:rPr spc="-340" dirty="0"/>
              <a:t>dẫn?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56260"/>
            <a:ext cx="6390640" cy="130556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spc="-160" dirty="0">
                <a:solidFill>
                  <a:srgbClr val="404040"/>
                </a:solidFill>
                <a:latin typeface="Arial"/>
                <a:cs typeface="Arial"/>
              </a:rPr>
              <a:t>Về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chất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điện,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vật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làm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3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loại</a:t>
            </a:r>
            <a:r>
              <a:rPr sz="2000" spc="-3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cơ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bản:</a:t>
            </a:r>
            <a:endParaRPr sz="2000">
              <a:latin typeface="Arial"/>
              <a:cs typeface="Arial"/>
            </a:endParaRPr>
          </a:p>
          <a:p>
            <a:pPr marL="448309" lvl="1" indent="-234315">
              <a:lnSpc>
                <a:spcPct val="100000"/>
              </a:lnSpc>
              <a:spcBef>
                <a:spcPts val="20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Vật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dẫn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endParaRPr sz="1800">
              <a:latin typeface="Arial"/>
              <a:cs typeface="Arial"/>
            </a:endParaRPr>
          </a:p>
          <a:p>
            <a:pPr marL="448309" lvl="1" indent="-234315">
              <a:lnSpc>
                <a:spcPct val="100000"/>
              </a:lnSpc>
              <a:spcBef>
                <a:spcPts val="384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Vật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bán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dẫn</a:t>
            </a:r>
            <a:endParaRPr sz="1800">
              <a:latin typeface="Arial"/>
              <a:cs typeface="Arial"/>
            </a:endParaRPr>
          </a:p>
          <a:p>
            <a:pPr marL="448309" lvl="1" indent="-234315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Vật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cách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2711" y="3597874"/>
            <a:ext cx="4287305" cy="22408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96099" y="3067832"/>
            <a:ext cx="4602530" cy="28492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4650" y="908380"/>
            <a:ext cx="4180204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0" dirty="0"/>
              <a:t>Vật </a:t>
            </a:r>
            <a:r>
              <a:rPr spc="-160" dirty="0"/>
              <a:t>liệu </a:t>
            </a:r>
            <a:r>
              <a:rPr spc="-290" dirty="0"/>
              <a:t>bán</a:t>
            </a:r>
            <a:r>
              <a:rPr spc="-685" dirty="0"/>
              <a:t> </a:t>
            </a:r>
            <a:r>
              <a:rPr spc="-340" dirty="0"/>
              <a:t>dẫn?</a:t>
            </a:r>
          </a:p>
        </p:txBody>
      </p:sp>
      <p:sp>
        <p:nvSpPr>
          <p:cNvPr id="3" name="object 3"/>
          <p:cNvSpPr/>
          <p:nvPr/>
        </p:nvSpPr>
        <p:spPr>
          <a:xfrm>
            <a:off x="246418" y="2720339"/>
            <a:ext cx="6133045" cy="3328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78839" y="1856260"/>
            <a:ext cx="8893175" cy="233553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spc="-240" dirty="0">
                <a:solidFill>
                  <a:srgbClr val="404040"/>
                </a:solidFill>
                <a:latin typeface="Arial"/>
                <a:cs typeface="Arial"/>
              </a:rPr>
              <a:t>So </a:t>
            </a:r>
            <a:r>
              <a:rPr sz="2000" spc="-130" dirty="0">
                <a:solidFill>
                  <a:srgbClr val="404040"/>
                </a:solidFill>
                <a:latin typeface="Arial"/>
                <a:cs typeface="Arial"/>
              </a:rPr>
              <a:t>sánh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giữa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vật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bán dẫn </a:t>
            </a:r>
            <a:r>
              <a:rPr sz="2000" spc="-130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vật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liệu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dẫn</a:t>
            </a:r>
            <a:endParaRPr sz="2000">
              <a:latin typeface="Arial"/>
              <a:cs typeface="Arial"/>
            </a:endParaRPr>
          </a:p>
          <a:p>
            <a:pPr marL="448309" lvl="1" indent="-234315">
              <a:lnSpc>
                <a:spcPct val="100000"/>
              </a:lnSpc>
              <a:spcBef>
                <a:spcPts val="20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Silicon </a:t>
            </a:r>
            <a:r>
              <a:rPr sz="1800" spc="-145" dirty="0">
                <a:solidFill>
                  <a:srgbClr val="404040"/>
                </a:solidFill>
                <a:latin typeface="Arial"/>
                <a:cs typeface="Arial"/>
              </a:rPr>
              <a:t>vs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10" dirty="0">
                <a:solidFill>
                  <a:srgbClr val="404040"/>
                </a:solidFill>
                <a:latin typeface="Arial"/>
                <a:cs typeface="Arial"/>
              </a:rPr>
              <a:t>Đồng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99CA38"/>
              </a:buClr>
              <a:buFont typeface="Wingdings"/>
              <a:buChar char=""/>
            </a:pPr>
            <a:endParaRPr sz="2050">
              <a:latin typeface="Times New Roman"/>
              <a:cs typeface="Times New Roman"/>
            </a:endParaRPr>
          </a:p>
          <a:p>
            <a:pPr marL="6047740" lvl="2" indent="-342900">
              <a:lnSpc>
                <a:spcPct val="100000"/>
              </a:lnSpc>
              <a:buAutoNum type="arabicPeriod"/>
              <a:tabLst>
                <a:tab pos="6047740" algn="l"/>
                <a:tab pos="604837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Lực hút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của</a:t>
            </a:r>
            <a:endParaRPr sz="1800">
              <a:latin typeface="Times New Roman"/>
              <a:cs typeface="Times New Roman"/>
            </a:endParaRPr>
          </a:p>
          <a:p>
            <a:pPr marR="828040" algn="r">
              <a:lnSpc>
                <a:spcPct val="100000"/>
              </a:lnSpc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core (+4) vs core</a:t>
            </a:r>
            <a:r>
              <a:rPr sz="1800" spc="-1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(+1)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Times New Roman"/>
              <a:cs typeface="Times New Roman"/>
            </a:endParaRPr>
          </a:p>
          <a:p>
            <a:pPr marL="6047740" lvl="2" indent="-342900">
              <a:lnSpc>
                <a:spcPct val="100000"/>
              </a:lnSpc>
              <a:buAutoNum type="arabicPeriod" startAt="2"/>
              <a:tabLst>
                <a:tab pos="6047740" algn="l"/>
                <a:tab pos="6048375" algn="l"/>
              </a:tabLst>
            </a:pP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Năng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lượng của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sz="1800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-</a:t>
            </a:r>
            <a:endParaRPr sz="1800" baseline="25462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tại lớp vỏ thứ 3 vs lớp vỏ thứ</a:t>
            </a:r>
            <a:r>
              <a:rPr sz="1800" spc="-1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4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87640" y="4599432"/>
            <a:ext cx="256540" cy="539750"/>
          </a:xfrm>
          <a:custGeom>
            <a:avLst/>
            <a:gdLst/>
            <a:ahLst/>
            <a:cxnLst/>
            <a:rect l="l" t="t" r="r" b="b"/>
            <a:pathLst>
              <a:path w="256540" h="539750">
                <a:moveTo>
                  <a:pt x="256031" y="411480"/>
                </a:moveTo>
                <a:lnTo>
                  <a:pt x="0" y="411480"/>
                </a:lnTo>
                <a:lnTo>
                  <a:pt x="128015" y="539496"/>
                </a:lnTo>
                <a:lnTo>
                  <a:pt x="256031" y="411480"/>
                </a:lnTo>
                <a:close/>
              </a:path>
              <a:path w="256540" h="539750">
                <a:moveTo>
                  <a:pt x="192024" y="0"/>
                </a:moveTo>
                <a:lnTo>
                  <a:pt x="64007" y="0"/>
                </a:lnTo>
                <a:lnTo>
                  <a:pt x="64007" y="411480"/>
                </a:lnTo>
                <a:lnTo>
                  <a:pt x="192024" y="411480"/>
                </a:lnTo>
                <a:lnTo>
                  <a:pt x="192024" y="0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87640" y="4599432"/>
            <a:ext cx="256540" cy="539750"/>
          </a:xfrm>
          <a:custGeom>
            <a:avLst/>
            <a:gdLst/>
            <a:ahLst/>
            <a:cxnLst/>
            <a:rect l="l" t="t" r="r" b="b"/>
            <a:pathLst>
              <a:path w="256540" h="539750">
                <a:moveTo>
                  <a:pt x="0" y="411480"/>
                </a:moveTo>
                <a:lnTo>
                  <a:pt x="64007" y="411480"/>
                </a:lnTo>
                <a:lnTo>
                  <a:pt x="64007" y="0"/>
                </a:lnTo>
                <a:lnTo>
                  <a:pt x="192024" y="0"/>
                </a:lnTo>
                <a:lnTo>
                  <a:pt x="192024" y="411480"/>
                </a:lnTo>
                <a:lnTo>
                  <a:pt x="256031" y="411480"/>
                </a:lnTo>
                <a:lnTo>
                  <a:pt x="128015" y="539496"/>
                </a:lnTo>
                <a:lnTo>
                  <a:pt x="0" y="411480"/>
                </a:lnTo>
                <a:close/>
              </a:path>
            </a:pathLst>
          </a:custGeom>
          <a:ln w="15240">
            <a:solidFill>
              <a:srgbClr val="6E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064122" y="5535879"/>
            <a:ext cx="37014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Đồng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dẫn điện tốt hơn</a:t>
            </a:r>
            <a:r>
              <a:rPr sz="2400" spc="-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Silicon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4650" y="908380"/>
            <a:ext cx="4180204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0" dirty="0"/>
              <a:t>Vật </a:t>
            </a:r>
            <a:r>
              <a:rPr spc="-160" dirty="0"/>
              <a:t>liệu </a:t>
            </a:r>
            <a:r>
              <a:rPr spc="-290" dirty="0"/>
              <a:t>bán</a:t>
            </a:r>
            <a:r>
              <a:rPr spc="-685" dirty="0"/>
              <a:t> </a:t>
            </a:r>
            <a:r>
              <a:rPr spc="-340" dirty="0"/>
              <a:t>dẫn?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56260"/>
            <a:ext cx="8893175" cy="233553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spc="-240" dirty="0">
                <a:solidFill>
                  <a:srgbClr val="404040"/>
                </a:solidFill>
                <a:latin typeface="Arial"/>
                <a:cs typeface="Arial"/>
              </a:rPr>
              <a:t>So </a:t>
            </a:r>
            <a:r>
              <a:rPr sz="2000" spc="-130" dirty="0">
                <a:solidFill>
                  <a:srgbClr val="404040"/>
                </a:solidFill>
                <a:latin typeface="Arial"/>
                <a:cs typeface="Arial"/>
              </a:rPr>
              <a:t>sánh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giữa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vật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bán dẫn </a:t>
            </a:r>
            <a:r>
              <a:rPr sz="2000" spc="-130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vật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bán dẫn</a:t>
            </a:r>
            <a:r>
              <a:rPr sz="2000" spc="-2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dẫn</a:t>
            </a:r>
            <a:endParaRPr sz="2000">
              <a:latin typeface="Arial"/>
              <a:cs typeface="Arial"/>
            </a:endParaRPr>
          </a:p>
          <a:p>
            <a:pPr marL="448309" lvl="1" indent="-234315">
              <a:lnSpc>
                <a:spcPct val="100000"/>
              </a:lnSpc>
              <a:spcBef>
                <a:spcPts val="20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Silicon </a:t>
            </a:r>
            <a:r>
              <a:rPr sz="1800" spc="-145" dirty="0">
                <a:solidFill>
                  <a:srgbClr val="404040"/>
                </a:solidFill>
                <a:latin typeface="Arial"/>
                <a:cs typeface="Arial"/>
              </a:rPr>
              <a:t>vs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Germanium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99CA38"/>
              </a:buClr>
              <a:buFont typeface="Wingdings"/>
              <a:buChar char=""/>
            </a:pPr>
            <a:endParaRPr sz="2050">
              <a:latin typeface="Times New Roman"/>
              <a:cs typeface="Times New Roman"/>
            </a:endParaRPr>
          </a:p>
          <a:p>
            <a:pPr marL="6047740" lvl="2" indent="-342900">
              <a:lnSpc>
                <a:spcPct val="100000"/>
              </a:lnSpc>
              <a:buAutoNum type="arabicPeriod"/>
              <a:tabLst>
                <a:tab pos="6047740" algn="l"/>
                <a:tab pos="6048375" algn="l"/>
              </a:tabLst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Lực hút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của</a:t>
            </a:r>
            <a:endParaRPr sz="1800">
              <a:latin typeface="Times New Roman"/>
              <a:cs typeface="Times New Roman"/>
            </a:endParaRPr>
          </a:p>
          <a:p>
            <a:pPr marR="826135" algn="r">
              <a:lnSpc>
                <a:spcPct val="100000"/>
              </a:lnSpc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core (+4) vs core</a:t>
            </a:r>
            <a:r>
              <a:rPr sz="1800" spc="-1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(+4)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Times New Roman"/>
              <a:cs typeface="Times New Roman"/>
            </a:endParaRPr>
          </a:p>
          <a:p>
            <a:pPr marL="6047740" lvl="2" indent="-342900">
              <a:lnSpc>
                <a:spcPct val="100000"/>
              </a:lnSpc>
              <a:buAutoNum type="arabicPeriod" startAt="2"/>
              <a:tabLst>
                <a:tab pos="6047740" algn="l"/>
                <a:tab pos="6048375" algn="l"/>
              </a:tabLst>
            </a:pP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Năng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lượng của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sz="1800" baseline="25462" dirty="0">
                <a:solidFill>
                  <a:srgbClr val="404040"/>
                </a:solidFill>
                <a:latin typeface="Times New Roman"/>
                <a:cs typeface="Times New Roman"/>
              </a:rPr>
              <a:t>-</a:t>
            </a:r>
            <a:endParaRPr sz="1800" baseline="25462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tại lớp vỏ thứ 3 vs lớp vỏ thứ</a:t>
            </a:r>
            <a:r>
              <a:rPr sz="1800" spc="-1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4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6379" y="2799090"/>
            <a:ext cx="6064361" cy="32613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41060" y="5864758"/>
            <a:ext cx="43757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Silicon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hoạt 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đông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ổn đinh hơn</a:t>
            </a:r>
            <a:r>
              <a:rPr sz="2000" spc="-11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Germanium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93025" y="4522978"/>
            <a:ext cx="538480" cy="1301750"/>
          </a:xfrm>
          <a:custGeom>
            <a:avLst/>
            <a:gdLst/>
            <a:ahLst/>
            <a:cxnLst/>
            <a:rect l="l" t="t" r="r" b="b"/>
            <a:pathLst>
              <a:path w="538479" h="1301750">
                <a:moveTo>
                  <a:pt x="0" y="1133589"/>
                </a:moveTo>
                <a:lnTo>
                  <a:pt x="90677" y="1301572"/>
                </a:lnTo>
                <a:lnTo>
                  <a:pt x="258699" y="1210805"/>
                </a:lnTo>
                <a:lnTo>
                  <a:pt x="194055" y="1191501"/>
                </a:lnTo>
                <a:lnTo>
                  <a:pt x="205577" y="1152893"/>
                </a:lnTo>
                <a:lnTo>
                  <a:pt x="64643" y="1152893"/>
                </a:lnTo>
                <a:lnTo>
                  <a:pt x="0" y="1133589"/>
                </a:lnTo>
                <a:close/>
              </a:path>
              <a:path w="538479" h="1301750">
                <a:moveTo>
                  <a:pt x="408685" y="0"/>
                </a:moveTo>
                <a:lnTo>
                  <a:pt x="64643" y="1152893"/>
                </a:lnTo>
                <a:lnTo>
                  <a:pt x="205577" y="1152893"/>
                </a:lnTo>
                <a:lnTo>
                  <a:pt x="538099" y="38608"/>
                </a:lnTo>
                <a:lnTo>
                  <a:pt x="408685" y="0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93025" y="4522978"/>
            <a:ext cx="538480" cy="1301750"/>
          </a:xfrm>
          <a:custGeom>
            <a:avLst/>
            <a:gdLst/>
            <a:ahLst/>
            <a:cxnLst/>
            <a:rect l="l" t="t" r="r" b="b"/>
            <a:pathLst>
              <a:path w="538479" h="1301750">
                <a:moveTo>
                  <a:pt x="0" y="1133589"/>
                </a:moveTo>
                <a:lnTo>
                  <a:pt x="64643" y="1152893"/>
                </a:lnTo>
                <a:lnTo>
                  <a:pt x="408685" y="0"/>
                </a:lnTo>
                <a:lnTo>
                  <a:pt x="538099" y="38608"/>
                </a:lnTo>
                <a:lnTo>
                  <a:pt x="194055" y="1191501"/>
                </a:lnTo>
                <a:lnTo>
                  <a:pt x="258699" y="1210805"/>
                </a:lnTo>
                <a:lnTo>
                  <a:pt x="90677" y="1301572"/>
                </a:lnTo>
                <a:lnTo>
                  <a:pt x="0" y="1133589"/>
                </a:lnTo>
                <a:close/>
              </a:path>
            </a:pathLst>
          </a:custGeom>
          <a:ln w="15874">
            <a:solidFill>
              <a:srgbClr val="6E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4650" y="908380"/>
            <a:ext cx="4180204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0" dirty="0"/>
              <a:t>Vật </a:t>
            </a:r>
            <a:r>
              <a:rPr spc="-160" dirty="0"/>
              <a:t>liệu </a:t>
            </a:r>
            <a:r>
              <a:rPr spc="-290" dirty="0"/>
              <a:t>bán</a:t>
            </a:r>
            <a:r>
              <a:rPr spc="-685" dirty="0"/>
              <a:t> </a:t>
            </a:r>
            <a:r>
              <a:rPr spc="-340" dirty="0"/>
              <a:t>dẫn?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46558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Vật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bán dẫn </a:t>
            </a:r>
            <a:r>
              <a:rPr sz="2000" spc="-170" dirty="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dẫn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như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thế</a:t>
            </a:r>
            <a:r>
              <a:rPr sz="2000" spc="-2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nào?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667" y="2407345"/>
            <a:ext cx="3423872" cy="38767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27447" y="2537460"/>
            <a:ext cx="4103818" cy="18799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798821" y="4667757"/>
            <a:ext cx="4799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Khi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ta cung cấp năng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lượng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(nhiệt</a:t>
            </a:r>
            <a:r>
              <a:rPr sz="2400" spc="2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độ),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4798821" y="4942078"/>
            <a:ext cx="228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aseline="-16203" dirty="0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sz="1600" spc="-5" dirty="0">
                <a:solidFill>
                  <a:srgbClr val="404040"/>
                </a:solidFill>
                <a:latin typeface="Times New Roman"/>
                <a:cs typeface="Times New Roman"/>
              </a:rPr>
              <a:t>-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37150" y="5033517"/>
            <a:ext cx="4459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2755" algn="l"/>
                <a:tab pos="893444" algn="l"/>
                <a:tab pos="1468120" algn="l"/>
                <a:tab pos="1875155" algn="l"/>
                <a:tab pos="2263775" algn="l"/>
                <a:tab pos="3261995" algn="l"/>
                <a:tab pos="3837940" algn="l"/>
              </a:tabLst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tại	vỏ	h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ó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	trị	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s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ẽ	“n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h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ảy”	vào	v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ù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98821" y="5399328"/>
            <a:ext cx="47974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673735" algn="l"/>
                <a:tab pos="1209040" algn="l"/>
                <a:tab pos="1657350" algn="l"/>
                <a:tab pos="2175510" algn="l"/>
                <a:tab pos="2775585" algn="l"/>
                <a:tab pos="3359785" algn="l"/>
                <a:tab pos="3944620" algn="l"/>
                <a:tab pos="4344035" algn="l"/>
              </a:tabLst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dẫn,	khi	đó	vật	l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ệu	b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á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n	dẫn	sẽ	dẫn  điện.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4650" y="908380"/>
            <a:ext cx="4180204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0" dirty="0"/>
              <a:t>Vật </a:t>
            </a:r>
            <a:r>
              <a:rPr spc="-160" dirty="0"/>
              <a:t>liệu </a:t>
            </a:r>
            <a:r>
              <a:rPr spc="-290" dirty="0"/>
              <a:t>bán</a:t>
            </a:r>
            <a:r>
              <a:rPr spc="-685" dirty="0"/>
              <a:t> </a:t>
            </a:r>
            <a:r>
              <a:rPr spc="-340" dirty="0"/>
              <a:t>dẫn?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82092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spc="-130" dirty="0">
                <a:solidFill>
                  <a:srgbClr val="404040"/>
                </a:solidFill>
                <a:latin typeface="Arial"/>
                <a:cs typeface="Arial"/>
              </a:rPr>
              <a:t>Dòng</a:t>
            </a:r>
            <a:r>
              <a:rPr sz="2000" spc="-1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electron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30" dirty="0">
                <a:solidFill>
                  <a:srgbClr val="404040"/>
                </a:solidFill>
                <a:latin typeface="Arial"/>
                <a:cs typeface="Arial"/>
              </a:rPr>
              <a:t>và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dòng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lỗ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trống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(Electron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current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and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Hole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current)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0569" y="4425308"/>
            <a:ext cx="5200157" cy="18718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6636" y="2368295"/>
            <a:ext cx="4875276" cy="20954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37759" y="4675759"/>
            <a:ext cx="4338320" cy="1550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Dòng electron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: Sau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khi kích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thích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vật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liệu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bằng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nhiệt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độ,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ta cung cấp nguồn điện tại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2 đầu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của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vật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liệu bán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dẫn.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Nguồn điện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này sẽ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tạo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ra </a:t>
            </a:r>
            <a:r>
              <a:rPr sz="20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điện trường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khiến cho các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sz="1950" baseline="25641" dirty="0">
                <a:solidFill>
                  <a:srgbClr val="404040"/>
                </a:solidFill>
                <a:latin typeface="Times New Roman"/>
                <a:cs typeface="Times New Roman"/>
              </a:rPr>
              <a:t>-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sẽ dịch chuyển –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sang</a:t>
            </a:r>
            <a:r>
              <a:rPr sz="2000" spc="-2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+.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5492241" y="2315082"/>
            <a:ext cx="4283710" cy="216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Dòng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lỗ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trống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: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Sau </a:t>
            </a:r>
            <a:r>
              <a:rPr sz="2000" spc="5" dirty="0">
                <a:solidFill>
                  <a:srgbClr val="404040"/>
                </a:solidFill>
                <a:latin typeface="Times New Roman"/>
                <a:cs typeface="Times New Roman"/>
              </a:rPr>
              <a:t>khi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kích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thích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vật 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liệu bằng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nhiệt độ, e</a:t>
            </a:r>
            <a:r>
              <a:rPr sz="1950" baseline="25641" dirty="0">
                <a:solidFill>
                  <a:srgbClr val="404040"/>
                </a:solidFill>
                <a:latin typeface="Times New Roman"/>
                <a:cs typeface="Times New Roman"/>
              </a:rPr>
              <a:t>-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sẽ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“nhảy” lên vùng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dẫn, khi đó,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tại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vị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trí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sz="1950" baseline="25641" dirty="0">
                <a:solidFill>
                  <a:srgbClr val="404040"/>
                </a:solidFill>
                <a:latin typeface="Times New Roman"/>
                <a:cs typeface="Times New Roman"/>
              </a:rPr>
              <a:t>-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lúc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trước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sẽ xuất 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hiện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lỗ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trống. Việc </a:t>
            </a:r>
            <a:r>
              <a:rPr sz="20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kết hợp lại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của các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sz="1950" baseline="25641" dirty="0">
                <a:solidFill>
                  <a:srgbClr val="404040"/>
                </a:solidFill>
                <a:latin typeface="Times New Roman"/>
                <a:cs typeface="Times New Roman"/>
              </a:rPr>
              <a:t>- 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lân cận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với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lỗ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trống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này sẽ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tạo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ra dòng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lỗ  trống. Chú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ý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hiện tượng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này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chỉ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xuất </a:t>
            </a:r>
            <a:r>
              <a:rPr sz="2000" spc="-5" dirty="0">
                <a:solidFill>
                  <a:srgbClr val="404040"/>
                </a:solidFill>
                <a:latin typeface="Times New Roman"/>
                <a:cs typeface="Times New Roman"/>
              </a:rPr>
              <a:t>hiện  tại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vùng vỏ hóa trị (valence</a:t>
            </a:r>
            <a:r>
              <a:rPr sz="2000" b="1" spc="-1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shell).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3474" y="2364485"/>
            <a:ext cx="4875530" cy="382905"/>
          </a:xfrm>
          <a:prstGeom prst="rect">
            <a:avLst/>
          </a:prstGeom>
          <a:ln w="38100">
            <a:solidFill>
              <a:srgbClr val="FFC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1390650">
              <a:lnSpc>
                <a:spcPct val="100000"/>
              </a:lnSpc>
              <a:spcBef>
                <a:spcPts val="65"/>
              </a:spcBef>
            </a:pPr>
            <a:r>
              <a:rPr sz="2400" dirty="0">
                <a:solidFill>
                  <a:srgbClr val="FFC000"/>
                </a:solidFill>
                <a:latin typeface="Times New Roman"/>
                <a:cs typeface="Times New Roman"/>
              </a:rPr>
              <a:t>Conduction</a:t>
            </a:r>
            <a:r>
              <a:rPr sz="2400" spc="-3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C000"/>
                </a:solidFill>
                <a:latin typeface="Times New Roman"/>
                <a:cs typeface="Times New Roman"/>
              </a:rPr>
              <a:t>band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400799"/>
            <a:ext cx="9906000" cy="457200"/>
          </a:xfrm>
          <a:custGeom>
            <a:avLst/>
            <a:gdLst/>
            <a:ahLst/>
            <a:cxnLst/>
            <a:rect l="l" t="t" r="r" b="b"/>
            <a:pathLst>
              <a:path w="9906000" h="457200">
                <a:moveTo>
                  <a:pt x="0" y="457199"/>
                </a:moveTo>
                <a:lnTo>
                  <a:pt x="9906000" y="457199"/>
                </a:lnTo>
                <a:lnTo>
                  <a:pt x="9906000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62A4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333744"/>
            <a:ext cx="9906000" cy="67310"/>
          </a:xfrm>
          <a:custGeom>
            <a:avLst/>
            <a:gdLst/>
            <a:ahLst/>
            <a:cxnLst/>
            <a:rect l="l" t="t" r="r" b="b"/>
            <a:pathLst>
              <a:path w="9906000" h="67310">
                <a:moveTo>
                  <a:pt x="0" y="67055"/>
                </a:moveTo>
                <a:lnTo>
                  <a:pt x="9906000" y="67055"/>
                </a:lnTo>
                <a:lnTo>
                  <a:pt x="9906000" y="0"/>
                </a:lnTo>
                <a:lnTo>
                  <a:pt x="0" y="0"/>
                </a:lnTo>
                <a:lnTo>
                  <a:pt x="0" y="67055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69263" y="1737360"/>
            <a:ext cx="8098155" cy="0"/>
          </a:xfrm>
          <a:custGeom>
            <a:avLst/>
            <a:gdLst/>
            <a:ahLst/>
            <a:cxnLst/>
            <a:rect l="l" t="t" r="r" b="b"/>
            <a:pathLst>
              <a:path w="8098155">
                <a:moveTo>
                  <a:pt x="0" y="0"/>
                </a:moveTo>
                <a:lnTo>
                  <a:pt x="8098155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53333" y="908380"/>
            <a:ext cx="39020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75" dirty="0"/>
              <a:t>Chuyển </a:t>
            </a:r>
            <a:r>
              <a:rPr spc="-100" dirty="0"/>
              <a:t>tiếp</a:t>
            </a:r>
            <a:r>
              <a:rPr spc="-385" dirty="0"/>
              <a:t> </a:t>
            </a:r>
            <a:r>
              <a:rPr spc="-470" dirty="0"/>
              <a:t>P-N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1539" y="1922850"/>
            <a:ext cx="8220075" cy="84137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91440" indent="-92075" algn="just">
              <a:lnSpc>
                <a:spcPts val="2160"/>
              </a:lnSpc>
              <a:spcBef>
                <a:spcPts val="70"/>
              </a:spcBef>
            </a:pPr>
            <a:r>
              <a:rPr sz="2000" dirty="0">
                <a:solidFill>
                  <a:srgbClr val="99CA38"/>
                </a:solidFill>
                <a:latin typeface="Wingdings"/>
                <a:cs typeface="Wingdings"/>
              </a:rPr>
              <a:t>➢</a:t>
            </a:r>
            <a:r>
              <a:rPr sz="2000" dirty="0">
                <a:solidFill>
                  <a:srgbClr val="99CA38"/>
                </a:solidFill>
                <a:latin typeface="Times New Roman"/>
                <a:cs typeface="Times New Roman"/>
              </a:rPr>
              <a:t> </a:t>
            </a:r>
            <a:r>
              <a:rPr sz="2000" spc="-160" dirty="0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tăng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khả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năng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dẫn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13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vật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bán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dẫn,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người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ta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thường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pha </a:t>
            </a:r>
            <a:r>
              <a:rPr sz="2000" spc="-380" dirty="0">
                <a:solidFill>
                  <a:srgbClr val="404040"/>
                </a:solidFill>
                <a:latin typeface="Arial"/>
                <a:cs typeface="Arial"/>
              </a:rPr>
              <a:t>tạp </a:t>
            </a:r>
            <a:r>
              <a:rPr sz="2000" spc="-20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thêm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loại vật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khác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vật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bán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dẫn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tăng 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lượng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e</a:t>
            </a:r>
            <a:r>
              <a:rPr sz="1950" spc="-112" baseline="25641" dirty="0">
                <a:solidFill>
                  <a:srgbClr val="404040"/>
                </a:solidFill>
                <a:latin typeface="Arial"/>
                <a:cs typeface="Arial"/>
              </a:rPr>
              <a:t>- </a:t>
            </a:r>
            <a:r>
              <a:rPr sz="2000" spc="-130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2000" spc="-145" dirty="0">
                <a:solidFill>
                  <a:srgbClr val="404040"/>
                </a:solidFill>
                <a:latin typeface="Arial"/>
                <a:cs typeface="Arial"/>
              </a:rPr>
              <a:t>số 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lượng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lỗ</a:t>
            </a:r>
            <a:r>
              <a:rPr sz="2000" spc="-1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trống.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91539" y="1737360"/>
            <a:ext cx="8218932" cy="46222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69480" y="906780"/>
            <a:ext cx="2615565" cy="830580"/>
          </a:xfrm>
          <a:custGeom>
            <a:avLst/>
            <a:gdLst/>
            <a:ahLst/>
            <a:cxnLst/>
            <a:rect l="l" t="t" r="r" b="b"/>
            <a:pathLst>
              <a:path w="2615565" h="830580">
                <a:moveTo>
                  <a:pt x="0" y="830580"/>
                </a:moveTo>
                <a:lnTo>
                  <a:pt x="2615183" y="830580"/>
                </a:lnTo>
                <a:lnTo>
                  <a:pt x="2615183" y="0"/>
                </a:lnTo>
                <a:lnTo>
                  <a:pt x="0" y="0"/>
                </a:lnTo>
                <a:lnTo>
                  <a:pt x="0" y="83058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82483" y="853439"/>
            <a:ext cx="1811274" cy="6774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70419" y="1219200"/>
            <a:ext cx="1232153" cy="67741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77200" y="1219200"/>
            <a:ext cx="877061" cy="67741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627364" y="1219200"/>
            <a:ext cx="691133" cy="67741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991600" y="1219200"/>
            <a:ext cx="914399" cy="67741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269480" y="929132"/>
            <a:ext cx="26155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Neutral!!!!</a:t>
            </a:r>
            <a:endParaRPr sz="24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Trung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hòa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về</a:t>
            </a:r>
            <a:r>
              <a:rPr sz="24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Điện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3333" y="908380"/>
            <a:ext cx="39020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75" dirty="0"/>
              <a:t>Chuyển </a:t>
            </a:r>
            <a:r>
              <a:rPr spc="-100" dirty="0"/>
              <a:t>tiếp</a:t>
            </a:r>
            <a:r>
              <a:rPr spc="-385" dirty="0"/>
              <a:t> </a:t>
            </a:r>
            <a:r>
              <a:rPr spc="-470" dirty="0"/>
              <a:t>P-N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56260"/>
            <a:ext cx="5931535" cy="139954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15265" indent="-202565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b="1" spc="-165" dirty="0">
                <a:solidFill>
                  <a:srgbClr val="404040"/>
                </a:solidFill>
                <a:latin typeface="Arial"/>
                <a:cs typeface="Arial"/>
              </a:rPr>
              <a:t>Chất </a:t>
            </a:r>
            <a:r>
              <a:rPr sz="2000" b="1" spc="-140" dirty="0">
                <a:solidFill>
                  <a:srgbClr val="404040"/>
                </a:solidFill>
                <a:latin typeface="Arial"/>
                <a:cs typeface="Arial"/>
              </a:rPr>
              <a:t>bán dẫn </a:t>
            </a:r>
            <a:r>
              <a:rPr sz="2000" b="1" spc="-100" dirty="0">
                <a:solidFill>
                  <a:srgbClr val="404040"/>
                </a:solidFill>
                <a:latin typeface="Arial"/>
                <a:cs typeface="Arial"/>
              </a:rPr>
              <a:t>loại </a:t>
            </a:r>
            <a:r>
              <a:rPr sz="2000" b="1" spc="-125" dirty="0">
                <a:solidFill>
                  <a:srgbClr val="404040"/>
                </a:solidFill>
                <a:latin typeface="Arial"/>
                <a:cs typeface="Arial"/>
              </a:rPr>
              <a:t>N </a:t>
            </a:r>
            <a:r>
              <a:rPr sz="2000" b="1" spc="-90" dirty="0">
                <a:solidFill>
                  <a:srgbClr val="404040"/>
                </a:solidFill>
                <a:latin typeface="Arial"/>
                <a:cs typeface="Arial"/>
              </a:rPr>
              <a:t>(N-type</a:t>
            </a:r>
            <a:r>
              <a:rPr sz="2000" b="1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45" dirty="0">
                <a:solidFill>
                  <a:srgbClr val="404040"/>
                </a:solidFill>
                <a:latin typeface="Arial"/>
                <a:cs typeface="Arial"/>
              </a:rPr>
              <a:t>semiconductor)</a:t>
            </a:r>
            <a:endParaRPr sz="2000">
              <a:latin typeface="Arial"/>
              <a:cs typeface="Arial"/>
            </a:endParaRPr>
          </a:p>
          <a:p>
            <a:pPr marL="396875" marR="5080" lvl="1" indent="-182880" algn="just">
              <a:lnSpc>
                <a:spcPct val="90000"/>
              </a:lnSpc>
              <a:spcBef>
                <a:spcPts val="41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195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chất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tạp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chất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nguyên </a:t>
            </a:r>
            <a:r>
              <a:rPr sz="1800" spc="20" dirty="0">
                <a:solidFill>
                  <a:srgbClr val="404040"/>
                </a:solidFill>
                <a:latin typeface="Arial"/>
                <a:cs typeface="Arial"/>
              </a:rPr>
              <a:t>tố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thuộc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nhóm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V, </a:t>
            </a: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các 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nguyên </a:t>
            </a:r>
            <a:r>
              <a:rPr sz="1800" spc="-15" dirty="0">
                <a:solidFill>
                  <a:srgbClr val="404040"/>
                </a:solidFill>
                <a:latin typeface="Arial"/>
                <a:cs typeface="Arial"/>
              </a:rPr>
              <a:t>tử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dùng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4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electron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tạo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liên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kết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electron 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lớp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ngoài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liên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kết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lỏng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lẻo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nhân.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Vật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dẫn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chủ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yếu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bằng </a:t>
            </a:r>
            <a:r>
              <a:rPr sz="1800" spc="-145" dirty="0">
                <a:solidFill>
                  <a:srgbClr val="404040"/>
                </a:solidFill>
                <a:latin typeface="Arial"/>
                <a:cs typeface="Arial"/>
              </a:rPr>
              <a:t>các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electron.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4021021"/>
            <a:ext cx="5932805" cy="139636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31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b="1" spc="-85" dirty="0">
                <a:solidFill>
                  <a:srgbClr val="404040"/>
                </a:solidFill>
                <a:latin typeface="Arial"/>
                <a:cs typeface="Arial"/>
              </a:rPr>
              <a:t>Vật </a:t>
            </a:r>
            <a:r>
              <a:rPr sz="2000" b="1" spc="-100" dirty="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sz="2000" b="1" spc="-140" dirty="0">
                <a:solidFill>
                  <a:srgbClr val="404040"/>
                </a:solidFill>
                <a:latin typeface="Arial"/>
                <a:cs typeface="Arial"/>
              </a:rPr>
              <a:t>bán dẫn </a:t>
            </a:r>
            <a:r>
              <a:rPr sz="2000" b="1" spc="-100" dirty="0">
                <a:solidFill>
                  <a:srgbClr val="404040"/>
                </a:solidFill>
                <a:latin typeface="Arial"/>
                <a:cs typeface="Arial"/>
              </a:rPr>
              <a:t>loại </a:t>
            </a:r>
            <a:r>
              <a:rPr sz="2000" b="1" spc="-270" dirty="0">
                <a:solidFill>
                  <a:srgbClr val="404040"/>
                </a:solidFill>
                <a:latin typeface="Arial"/>
                <a:cs typeface="Arial"/>
              </a:rPr>
              <a:t>P </a:t>
            </a:r>
            <a:r>
              <a:rPr sz="2000" b="1" spc="-110" dirty="0">
                <a:solidFill>
                  <a:srgbClr val="404040"/>
                </a:solidFill>
                <a:latin typeface="Arial"/>
                <a:cs typeface="Arial"/>
              </a:rPr>
              <a:t>(P-type</a:t>
            </a:r>
            <a:r>
              <a:rPr sz="2000" b="1" spc="-2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45" dirty="0">
                <a:solidFill>
                  <a:srgbClr val="404040"/>
                </a:solidFill>
                <a:latin typeface="Arial"/>
                <a:cs typeface="Arial"/>
              </a:rPr>
              <a:t>semiconductor)</a:t>
            </a:r>
            <a:endParaRPr sz="2000">
              <a:latin typeface="Arial"/>
              <a:cs typeface="Arial"/>
            </a:endParaRPr>
          </a:p>
          <a:p>
            <a:pPr marL="396875" marR="5080" lvl="1" indent="-182880" algn="just">
              <a:lnSpc>
                <a:spcPts val="1939"/>
              </a:lnSpc>
              <a:spcBef>
                <a:spcPts val="434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195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chất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tạp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chất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800" spc="-145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nguyên </a:t>
            </a:r>
            <a:r>
              <a:rPr sz="1800" spc="20" dirty="0">
                <a:solidFill>
                  <a:srgbClr val="404040"/>
                </a:solidFill>
                <a:latin typeface="Arial"/>
                <a:cs typeface="Arial"/>
              </a:rPr>
              <a:t>tố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thuộc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nhóm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III, </a:t>
            </a:r>
            <a:r>
              <a:rPr sz="1800" spc="-145" dirty="0">
                <a:solidFill>
                  <a:srgbClr val="404040"/>
                </a:solidFill>
                <a:latin typeface="Arial"/>
                <a:cs typeface="Arial"/>
              </a:rPr>
              <a:t>các 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nguyên </a:t>
            </a:r>
            <a:r>
              <a:rPr sz="1800" spc="-15" dirty="0">
                <a:solidFill>
                  <a:srgbClr val="404040"/>
                </a:solidFill>
                <a:latin typeface="Arial"/>
                <a:cs typeface="Arial"/>
              </a:rPr>
              <a:t>tử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dùng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3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electron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tạo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liên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kết.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Liên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kết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còn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lại 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nguyên 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tử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Silicon </a:t>
            </a: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sz="1800" spc="-25" dirty="0">
                <a:solidFill>
                  <a:srgbClr val="404040"/>
                </a:solidFill>
                <a:latin typeface="Arial"/>
                <a:cs typeface="Arial"/>
              </a:rPr>
              <a:t>bị thiếu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1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electron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hình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thành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1  </a:t>
            </a:r>
            <a:r>
              <a:rPr sz="1800" spc="-25" dirty="0">
                <a:solidFill>
                  <a:srgbClr val="404040"/>
                </a:solidFill>
                <a:latin typeface="Arial"/>
                <a:cs typeface="Arial"/>
              </a:rPr>
              <a:t>lỗ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trống.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Vật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dẫn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chủ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yếu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bằng </a:t>
            </a:r>
            <a:r>
              <a:rPr sz="1800" spc="-145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1800" spc="-25" dirty="0">
                <a:solidFill>
                  <a:srgbClr val="404040"/>
                </a:solidFill>
                <a:latin typeface="Arial"/>
                <a:cs typeface="Arial"/>
              </a:rPr>
              <a:t>lỗ</a:t>
            </a:r>
            <a:r>
              <a:rPr sz="1800" spc="-1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trống.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60107" y="1752600"/>
            <a:ext cx="2857434" cy="22677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960107" y="4040123"/>
            <a:ext cx="2348414" cy="22692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3333" y="908380"/>
            <a:ext cx="39020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75" dirty="0"/>
              <a:t>Chuyển </a:t>
            </a:r>
            <a:r>
              <a:rPr spc="-100" dirty="0"/>
              <a:t>tiếp</a:t>
            </a:r>
            <a:r>
              <a:rPr spc="-385" dirty="0"/>
              <a:t> </a:t>
            </a:r>
            <a:r>
              <a:rPr spc="-470" dirty="0"/>
              <a:t>P-N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56260"/>
            <a:ext cx="3943985" cy="65913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b="1" spc="-190" dirty="0">
                <a:solidFill>
                  <a:srgbClr val="404040"/>
                </a:solidFill>
                <a:latin typeface="Arial"/>
                <a:cs typeface="Arial"/>
              </a:rPr>
              <a:t>Chuyển </a:t>
            </a:r>
            <a:r>
              <a:rPr sz="2000" b="1" spc="-75" dirty="0">
                <a:solidFill>
                  <a:srgbClr val="404040"/>
                </a:solidFill>
                <a:latin typeface="Arial"/>
                <a:cs typeface="Arial"/>
              </a:rPr>
              <a:t>tiếp</a:t>
            </a:r>
            <a:r>
              <a:rPr sz="20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50" dirty="0">
                <a:solidFill>
                  <a:srgbClr val="404040"/>
                </a:solidFill>
                <a:latin typeface="Arial"/>
                <a:cs typeface="Arial"/>
              </a:rPr>
              <a:t>P-N</a:t>
            </a:r>
            <a:endParaRPr sz="2000">
              <a:latin typeface="Arial"/>
              <a:cs typeface="Arial"/>
            </a:endParaRPr>
          </a:p>
          <a:p>
            <a:pPr marL="448309" lvl="1" indent="-234315">
              <a:lnSpc>
                <a:spcPct val="100000"/>
              </a:lnSpc>
              <a:spcBef>
                <a:spcPts val="20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130" dirty="0">
                <a:solidFill>
                  <a:srgbClr val="404040"/>
                </a:solidFill>
                <a:latin typeface="Arial"/>
                <a:cs typeface="Arial"/>
              </a:rPr>
              <a:t>Quá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trình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hình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thành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chuyển </a:t>
            </a:r>
            <a:r>
              <a:rPr sz="1800" spc="-15" dirty="0">
                <a:solidFill>
                  <a:srgbClr val="404040"/>
                </a:solidFill>
                <a:latin typeface="Arial"/>
                <a:cs typeface="Arial"/>
              </a:rPr>
              <a:t>tiếp</a:t>
            </a:r>
            <a:r>
              <a:rPr sz="1800" spc="-1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60" dirty="0">
                <a:solidFill>
                  <a:srgbClr val="404040"/>
                </a:solidFill>
                <a:latin typeface="Arial"/>
                <a:cs typeface="Arial"/>
              </a:rPr>
              <a:t>P-N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1135" y="2865231"/>
            <a:ext cx="9039007" cy="32794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1205" y="908380"/>
            <a:ext cx="43808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30" dirty="0"/>
              <a:t>Cấu </a:t>
            </a:r>
            <a:r>
              <a:rPr spc="-150" dirty="0"/>
              <a:t>tạo </a:t>
            </a:r>
            <a:r>
              <a:rPr spc="-355" dirty="0"/>
              <a:t>của</a:t>
            </a:r>
            <a:r>
              <a:rPr spc="-425" dirty="0"/>
              <a:t> </a:t>
            </a:r>
            <a:r>
              <a:rPr spc="-280" dirty="0"/>
              <a:t>Diode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69657" y="5932119"/>
            <a:ext cx="13677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Times New Roman"/>
                <a:cs typeface="Times New Roman"/>
              </a:rPr>
              <a:t>Ký </a:t>
            </a:r>
            <a:r>
              <a:rPr sz="1400" dirty="0">
                <a:latin typeface="Times New Roman"/>
                <a:cs typeface="Times New Roman"/>
              </a:rPr>
              <a:t>hiệu của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Diode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55079" y="4480559"/>
            <a:ext cx="2996183" cy="1423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402645" y="2897438"/>
            <a:ext cx="494030" cy="647700"/>
          </a:xfrm>
          <a:custGeom>
            <a:avLst/>
            <a:gdLst/>
            <a:ahLst/>
            <a:cxnLst/>
            <a:rect l="l" t="t" r="r" b="b"/>
            <a:pathLst>
              <a:path w="494029" h="647700">
                <a:moveTo>
                  <a:pt x="0" y="647493"/>
                </a:moveTo>
                <a:lnTo>
                  <a:pt x="493892" y="647493"/>
                </a:lnTo>
                <a:lnTo>
                  <a:pt x="493892" y="0"/>
                </a:lnTo>
                <a:lnTo>
                  <a:pt x="0" y="0"/>
                </a:lnTo>
                <a:lnTo>
                  <a:pt x="0" y="647493"/>
                </a:lnTo>
                <a:close/>
              </a:path>
            </a:pathLst>
          </a:custGeom>
          <a:solidFill>
            <a:srgbClr val="4E4A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61564" y="2897438"/>
            <a:ext cx="494030" cy="647700"/>
          </a:xfrm>
          <a:custGeom>
            <a:avLst/>
            <a:gdLst/>
            <a:ahLst/>
            <a:cxnLst/>
            <a:rect l="l" t="t" r="r" b="b"/>
            <a:pathLst>
              <a:path w="494029" h="647700">
                <a:moveTo>
                  <a:pt x="0" y="647493"/>
                </a:moveTo>
                <a:lnTo>
                  <a:pt x="493892" y="647493"/>
                </a:lnTo>
                <a:lnTo>
                  <a:pt x="493892" y="0"/>
                </a:lnTo>
                <a:lnTo>
                  <a:pt x="0" y="0"/>
                </a:lnTo>
                <a:lnTo>
                  <a:pt x="0" y="647493"/>
                </a:lnTo>
                <a:close/>
              </a:path>
            </a:pathLst>
          </a:custGeom>
          <a:solidFill>
            <a:srgbClr val="4E4A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155457" y="2897438"/>
            <a:ext cx="247650" cy="647700"/>
          </a:xfrm>
          <a:custGeom>
            <a:avLst/>
            <a:gdLst/>
            <a:ahLst/>
            <a:cxnLst/>
            <a:rect l="l" t="t" r="r" b="b"/>
            <a:pathLst>
              <a:path w="247650" h="647700">
                <a:moveTo>
                  <a:pt x="0" y="647493"/>
                </a:moveTo>
                <a:lnTo>
                  <a:pt x="247188" y="647493"/>
                </a:lnTo>
                <a:lnTo>
                  <a:pt x="247188" y="0"/>
                </a:lnTo>
                <a:lnTo>
                  <a:pt x="0" y="0"/>
                </a:lnTo>
                <a:lnTo>
                  <a:pt x="0" y="647493"/>
                </a:lnTo>
                <a:close/>
              </a:path>
            </a:pathLst>
          </a:custGeom>
          <a:solidFill>
            <a:srgbClr val="C1C0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267170" y="2897438"/>
            <a:ext cx="15875" cy="647700"/>
          </a:xfrm>
          <a:custGeom>
            <a:avLst/>
            <a:gdLst/>
            <a:ahLst/>
            <a:cxnLst/>
            <a:rect l="l" t="t" r="r" b="b"/>
            <a:pathLst>
              <a:path w="15875" h="647700">
                <a:moveTo>
                  <a:pt x="0" y="647493"/>
                </a:moveTo>
                <a:lnTo>
                  <a:pt x="15854" y="647493"/>
                </a:lnTo>
                <a:lnTo>
                  <a:pt x="15854" y="0"/>
                </a:lnTo>
                <a:lnTo>
                  <a:pt x="0" y="0"/>
                </a:lnTo>
                <a:lnTo>
                  <a:pt x="0" y="6474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07303" y="3173315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>
                <a:moveTo>
                  <a:pt x="0" y="0"/>
                </a:moveTo>
                <a:lnTo>
                  <a:pt x="334627" y="0"/>
                </a:lnTo>
              </a:path>
            </a:pathLst>
          </a:custGeom>
          <a:ln w="7899">
            <a:solidFill>
              <a:srgbClr val="9392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207303" y="3181210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>
                <a:moveTo>
                  <a:pt x="0" y="0"/>
                </a:moveTo>
                <a:lnTo>
                  <a:pt x="334627" y="0"/>
                </a:lnTo>
              </a:path>
            </a:pathLst>
          </a:custGeom>
          <a:ln w="7899">
            <a:solidFill>
              <a:srgbClr val="C1C0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07303" y="3189232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>
                <a:moveTo>
                  <a:pt x="0" y="0"/>
                </a:moveTo>
                <a:lnTo>
                  <a:pt x="334627" y="0"/>
                </a:lnTo>
              </a:path>
            </a:pathLst>
          </a:custGeom>
          <a:ln w="8138">
            <a:solidFill>
              <a:srgbClr val="DDDDD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07303" y="3205151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>
                <a:moveTo>
                  <a:pt x="0" y="0"/>
                </a:moveTo>
                <a:lnTo>
                  <a:pt x="334627" y="0"/>
                </a:lnTo>
              </a:path>
            </a:pathLst>
          </a:custGeom>
          <a:ln w="7899">
            <a:solidFill>
              <a:srgbClr val="EBEB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207303" y="3213163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>
                <a:moveTo>
                  <a:pt x="0" y="0"/>
                </a:moveTo>
                <a:lnTo>
                  <a:pt x="334627" y="0"/>
                </a:lnTo>
              </a:path>
            </a:pathLst>
          </a:custGeom>
          <a:ln w="8138">
            <a:solidFill>
              <a:srgbClr val="C5C5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07303" y="3221188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>
                <a:moveTo>
                  <a:pt x="0" y="0"/>
                </a:moveTo>
                <a:lnTo>
                  <a:pt x="334627" y="0"/>
                </a:lnTo>
              </a:path>
            </a:pathLst>
          </a:custGeom>
          <a:ln w="7899">
            <a:solidFill>
              <a:srgbClr val="A9A8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07303" y="3229200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>
                <a:moveTo>
                  <a:pt x="0" y="0"/>
                </a:moveTo>
                <a:lnTo>
                  <a:pt x="334627" y="0"/>
                </a:lnTo>
              </a:path>
            </a:pathLst>
          </a:custGeom>
          <a:ln w="8138">
            <a:solidFill>
              <a:srgbClr val="9C9B9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207303" y="3237224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>
                <a:moveTo>
                  <a:pt x="0" y="0"/>
                </a:moveTo>
                <a:lnTo>
                  <a:pt x="334627" y="0"/>
                </a:lnTo>
              </a:path>
            </a:pathLst>
          </a:custGeom>
          <a:ln w="7899">
            <a:solidFill>
              <a:srgbClr val="85858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207303" y="3245119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>
                <a:moveTo>
                  <a:pt x="0" y="0"/>
                </a:moveTo>
                <a:lnTo>
                  <a:pt x="334627" y="0"/>
                </a:lnTo>
              </a:path>
            </a:pathLst>
          </a:custGeom>
          <a:ln w="7899">
            <a:solidFill>
              <a:srgbClr val="706E6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207303" y="3253141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>
                <a:moveTo>
                  <a:pt x="0" y="0"/>
                </a:moveTo>
                <a:lnTo>
                  <a:pt x="334627" y="0"/>
                </a:lnTo>
              </a:path>
            </a:pathLst>
          </a:custGeom>
          <a:ln w="8138">
            <a:solidFill>
              <a:srgbClr val="706E6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207303" y="3261156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>
                <a:moveTo>
                  <a:pt x="0" y="0"/>
                </a:moveTo>
                <a:lnTo>
                  <a:pt x="334627" y="0"/>
                </a:lnTo>
              </a:path>
            </a:pathLst>
          </a:custGeom>
          <a:ln w="7899">
            <a:solidFill>
              <a:srgbClr val="8D8B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207303" y="3269178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>
                <a:moveTo>
                  <a:pt x="0" y="0"/>
                </a:moveTo>
                <a:lnTo>
                  <a:pt x="334627" y="0"/>
                </a:lnTo>
              </a:path>
            </a:pathLst>
          </a:custGeom>
          <a:ln w="8138">
            <a:solidFill>
              <a:srgbClr val="ADAC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016185" y="3173315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>
                <a:moveTo>
                  <a:pt x="0" y="0"/>
                </a:moveTo>
                <a:lnTo>
                  <a:pt x="334627" y="0"/>
                </a:lnTo>
              </a:path>
            </a:pathLst>
          </a:custGeom>
          <a:ln w="7899">
            <a:solidFill>
              <a:srgbClr val="9392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016185" y="3181210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>
                <a:moveTo>
                  <a:pt x="0" y="0"/>
                </a:moveTo>
                <a:lnTo>
                  <a:pt x="334627" y="0"/>
                </a:lnTo>
              </a:path>
            </a:pathLst>
          </a:custGeom>
          <a:ln w="7899">
            <a:solidFill>
              <a:srgbClr val="C1C0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016185" y="3189232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>
                <a:moveTo>
                  <a:pt x="0" y="0"/>
                </a:moveTo>
                <a:lnTo>
                  <a:pt x="334627" y="0"/>
                </a:lnTo>
              </a:path>
            </a:pathLst>
          </a:custGeom>
          <a:ln w="8138">
            <a:solidFill>
              <a:srgbClr val="DDDDD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016185" y="3205151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>
                <a:moveTo>
                  <a:pt x="0" y="0"/>
                </a:moveTo>
                <a:lnTo>
                  <a:pt x="334627" y="0"/>
                </a:lnTo>
              </a:path>
            </a:pathLst>
          </a:custGeom>
          <a:ln w="7899">
            <a:solidFill>
              <a:srgbClr val="EBEB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016185" y="3213163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>
                <a:moveTo>
                  <a:pt x="0" y="0"/>
                </a:moveTo>
                <a:lnTo>
                  <a:pt x="334627" y="0"/>
                </a:lnTo>
              </a:path>
            </a:pathLst>
          </a:custGeom>
          <a:ln w="8138">
            <a:solidFill>
              <a:srgbClr val="C5C5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016185" y="3221188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>
                <a:moveTo>
                  <a:pt x="0" y="0"/>
                </a:moveTo>
                <a:lnTo>
                  <a:pt x="334627" y="0"/>
                </a:lnTo>
              </a:path>
            </a:pathLst>
          </a:custGeom>
          <a:ln w="7899">
            <a:solidFill>
              <a:srgbClr val="A9A8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016185" y="3229200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>
                <a:moveTo>
                  <a:pt x="0" y="0"/>
                </a:moveTo>
                <a:lnTo>
                  <a:pt x="334627" y="0"/>
                </a:lnTo>
              </a:path>
            </a:pathLst>
          </a:custGeom>
          <a:ln w="8138">
            <a:solidFill>
              <a:srgbClr val="9C9B9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016185" y="3237224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>
                <a:moveTo>
                  <a:pt x="0" y="0"/>
                </a:moveTo>
                <a:lnTo>
                  <a:pt x="334627" y="0"/>
                </a:lnTo>
              </a:path>
            </a:pathLst>
          </a:custGeom>
          <a:ln w="7899">
            <a:solidFill>
              <a:srgbClr val="85858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016185" y="3245119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>
                <a:moveTo>
                  <a:pt x="0" y="0"/>
                </a:moveTo>
                <a:lnTo>
                  <a:pt x="334627" y="0"/>
                </a:lnTo>
              </a:path>
            </a:pathLst>
          </a:custGeom>
          <a:ln w="7899">
            <a:solidFill>
              <a:srgbClr val="706E6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016185" y="3253141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>
                <a:moveTo>
                  <a:pt x="0" y="0"/>
                </a:moveTo>
                <a:lnTo>
                  <a:pt x="334627" y="0"/>
                </a:lnTo>
              </a:path>
            </a:pathLst>
          </a:custGeom>
          <a:ln w="8138">
            <a:solidFill>
              <a:srgbClr val="706E6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016185" y="3261156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>
                <a:moveTo>
                  <a:pt x="0" y="0"/>
                </a:moveTo>
                <a:lnTo>
                  <a:pt x="334627" y="0"/>
                </a:lnTo>
              </a:path>
            </a:pathLst>
          </a:custGeom>
          <a:ln w="7899">
            <a:solidFill>
              <a:srgbClr val="8D8B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016185" y="3269178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>
                <a:moveTo>
                  <a:pt x="0" y="0"/>
                </a:moveTo>
                <a:lnTo>
                  <a:pt x="334627" y="0"/>
                </a:lnTo>
              </a:path>
            </a:pathLst>
          </a:custGeom>
          <a:ln w="8138">
            <a:solidFill>
              <a:srgbClr val="ADAC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896508" y="2901511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9392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896508" y="2909526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9695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896508" y="2917548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9C9B9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896508" y="2925562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A1A1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896508" y="2933467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A3A2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896508" y="2941479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AB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896508" y="2949503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AEAD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896508" y="2957398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B4B3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896508" y="2965421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B8B8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896508" y="2973435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C1C0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896508" y="2981457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C4C3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896508" y="2989472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CACAC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896508" y="2997376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D3D2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896508" y="3005398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D5D5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896508" y="3013413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E0E0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896508" y="3021435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E7E7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896508" y="3029450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EDED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896508" y="3037354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F5F5F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896508" y="3061286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896508" y="3069308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896508" y="3077322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896508" y="3085345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EBEB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896508" y="3093359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E7E7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896508" y="3101263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E4E3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896508" y="3109276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DDDDD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896508" y="3117300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DADA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896508" y="3125313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D5D5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896508" y="3133337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D0D0C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896508" y="3141232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CACAC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896508" y="3149254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CACAC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896508" y="3157269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C5C5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896508" y="3165291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C1C0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896508" y="3173315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C1C0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896508" y="3181210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BBB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896508" y="3189232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B7B6B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896508" y="3197246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B4B3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8896508" y="3205151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B1B0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8896508" y="3213163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ADAC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8896508" y="3221188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AB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8896508" y="3229200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A7A6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8896508" y="3237224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A3A2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8896508" y="3245119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A1A1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8896508" y="3253141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9F9E9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8896508" y="3261156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9C9B9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8896508" y="3269178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9B9A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8896508" y="3277192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9695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8896508" y="3285097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9392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8896508" y="3293119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9291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8896508" y="3301134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8F8E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8896508" y="3309029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8D8B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8896508" y="3317051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8A898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8896508" y="3325075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86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8896508" y="3333088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8483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8896508" y="3341111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8483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8896508" y="3349006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81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8896508" y="3357029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7C7B7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8896508" y="3365043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7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8896508" y="3373065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7978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8896508" y="3381080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7775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8896508" y="3388984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75737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8896508" y="3396997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73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8896508" y="3405021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706E6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8896508" y="3412916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75737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8896508" y="3420938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78767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8896508" y="3428953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7C7B7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8896508" y="3436975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7E7C7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8896508" y="3444989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8483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8896508" y="3452894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89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8896508" y="3460916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8A898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8896508" y="3468930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919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8896508" y="3476953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9695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8896508" y="3484967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9796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8896508" y="3492872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9F9E9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8896508" y="3500884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A1A1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8896508" y="3508908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A7A6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8896508" y="3516803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ADAC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8896508" y="3524825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B4B3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8896508" y="3532840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B7B6B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8896508" y="3540862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BBB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7541937" y="2901511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9392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7541937" y="2909526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9695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7541937" y="2917548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9C9B9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7541937" y="2925562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A1A1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7541937" y="2933467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A3A2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7541937" y="2941479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AB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7541937" y="2949503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AEAD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7541937" y="2957398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B4B3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7541937" y="2965421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B8B8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7541937" y="2973435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C1C0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7541937" y="2981457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C4C3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7541937" y="2989472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CACAC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7541937" y="2997376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D3D2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7541937" y="3005398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D5D5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7541937" y="3013413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E0E0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7541937" y="3021435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E7E7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7541937" y="3029450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EDED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7541937" y="3037354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F5F5F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7541937" y="3061286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7541937" y="3069308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7541937" y="3077322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7541937" y="3085345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EBEB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7541937" y="3093359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E7E7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7541937" y="3101263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E4E3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7541937" y="3109276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DDDDD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7541937" y="3117300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DADA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7541937" y="3125313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D5D5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7541937" y="3133337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D0D0C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7541937" y="3141232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CACAC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7541937" y="3149254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CACAC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7541937" y="3157269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C5C5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7541937" y="3165291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C1C0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7541937" y="3173315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C1C0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7541937" y="3181210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BBB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7541937" y="3189232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B7B6B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7541937" y="3197246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B4B3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7541937" y="3205151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B1B0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7541937" y="3213163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ADAC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7541937" y="3221188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AB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7541937" y="3229200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A7A6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7541937" y="3237224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A3A2A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7541937" y="3245119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A1A1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7541937" y="3253141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9F9E9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7541937" y="3261156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9C9B9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7541937" y="3269178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9B9A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7541937" y="3277192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9695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7541937" y="3285097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9392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7541937" y="3293119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9291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7541937" y="3301134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8F8E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7541937" y="3309029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8D8B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7541937" y="3317051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8A898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7541937" y="3325075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8685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7541937" y="3333088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8483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7541937" y="3341111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8483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7541937" y="3349006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81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7541937" y="3357029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7C7B7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7541937" y="3365043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7A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7541937" y="3373065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7978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7541937" y="3381080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7775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7541937" y="3388984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75737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7541937" y="3396997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73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7541937" y="3405021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706E6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7541937" y="3412916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75737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7541937" y="3420938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78767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7541937" y="3428953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7C7B7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7541937" y="3436975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7E7C7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7541937" y="3444989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8483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7541937" y="3452894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89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7541937" y="3460916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8A898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7541937" y="3468930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919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7541937" y="3476953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9695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7541937" y="3484967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9796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7541937" y="3492872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9F9E9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7541937" y="3500884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A1A1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7541937" y="3508908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A7A6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7541937" y="3516803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ADAC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7541937" y="3524825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B4B3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7541937" y="3532840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7899">
            <a:solidFill>
              <a:srgbClr val="B7B6B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7541937" y="3540862"/>
            <a:ext cx="120014" cy="0"/>
          </a:xfrm>
          <a:custGeom>
            <a:avLst/>
            <a:gdLst/>
            <a:ahLst/>
            <a:cxnLst/>
            <a:rect l="l" t="t" r="r" b="b"/>
            <a:pathLst>
              <a:path w="120015">
                <a:moveTo>
                  <a:pt x="0" y="0"/>
                </a:moveTo>
                <a:lnTo>
                  <a:pt x="119627" y="0"/>
                </a:lnTo>
              </a:path>
            </a:pathLst>
          </a:custGeom>
          <a:ln w="8138">
            <a:solidFill>
              <a:srgbClr val="BBB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 txBox="1"/>
          <p:nvPr/>
        </p:nvSpPr>
        <p:spPr>
          <a:xfrm>
            <a:off x="7869599" y="3111708"/>
            <a:ext cx="75565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850" i="1" spc="1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endParaRPr sz="850">
              <a:latin typeface="Arial"/>
              <a:cs typeface="Arial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8611396" y="3108597"/>
            <a:ext cx="75565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850" i="1" spc="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850">
              <a:latin typeface="Arial"/>
              <a:cs typeface="Arial"/>
            </a:endParaRPr>
          </a:p>
        </p:txBody>
      </p:sp>
      <p:sp>
        <p:nvSpPr>
          <p:cNvPr id="193" name="object 193"/>
          <p:cNvSpPr txBox="1"/>
          <p:nvPr/>
        </p:nvSpPr>
        <p:spPr>
          <a:xfrm>
            <a:off x="8071174" y="3589285"/>
            <a:ext cx="445770" cy="23558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760"/>
              </a:lnSpc>
              <a:spcBef>
                <a:spcPts val="235"/>
              </a:spcBef>
            </a:pPr>
            <a:r>
              <a:rPr sz="750" spc="20" dirty="0">
                <a:solidFill>
                  <a:srgbClr val="0088E0"/>
                </a:solidFill>
                <a:latin typeface="Arial"/>
                <a:cs typeface="Arial"/>
              </a:rPr>
              <a:t>Dep</a:t>
            </a:r>
            <a:r>
              <a:rPr sz="750" spc="15" dirty="0">
                <a:solidFill>
                  <a:srgbClr val="0088E0"/>
                </a:solidFill>
                <a:latin typeface="Arial"/>
                <a:cs typeface="Arial"/>
              </a:rPr>
              <a:t>le</a:t>
            </a:r>
            <a:r>
              <a:rPr sz="750" spc="-25" dirty="0">
                <a:solidFill>
                  <a:srgbClr val="0088E0"/>
                </a:solidFill>
                <a:latin typeface="Arial"/>
                <a:cs typeface="Arial"/>
              </a:rPr>
              <a:t>t</a:t>
            </a:r>
            <a:r>
              <a:rPr sz="750" spc="15" dirty="0">
                <a:solidFill>
                  <a:srgbClr val="0088E0"/>
                </a:solidFill>
                <a:latin typeface="Arial"/>
                <a:cs typeface="Arial"/>
              </a:rPr>
              <a:t>io</a:t>
            </a:r>
            <a:r>
              <a:rPr sz="750" dirty="0">
                <a:solidFill>
                  <a:srgbClr val="0088E0"/>
                </a:solidFill>
                <a:latin typeface="Arial"/>
                <a:cs typeface="Arial"/>
              </a:rPr>
              <a:t>n  </a:t>
            </a:r>
            <a:r>
              <a:rPr sz="750" spc="10" dirty="0">
                <a:solidFill>
                  <a:srgbClr val="0088E0"/>
                </a:solidFill>
                <a:latin typeface="Arial"/>
                <a:cs typeface="Arial"/>
              </a:rPr>
              <a:t>region</a:t>
            </a:r>
            <a:endParaRPr sz="750">
              <a:latin typeface="Arial"/>
              <a:cs typeface="Arial"/>
            </a:endParaRPr>
          </a:p>
        </p:txBody>
      </p:sp>
      <p:sp>
        <p:nvSpPr>
          <p:cNvPr id="194" name="object 194"/>
          <p:cNvSpPr/>
          <p:nvPr/>
        </p:nvSpPr>
        <p:spPr>
          <a:xfrm>
            <a:off x="8155457" y="3560731"/>
            <a:ext cx="247650" cy="32384"/>
          </a:xfrm>
          <a:custGeom>
            <a:avLst/>
            <a:gdLst/>
            <a:ahLst/>
            <a:cxnLst/>
            <a:rect l="l" t="t" r="r" b="b"/>
            <a:pathLst>
              <a:path w="247650" h="32385">
                <a:moveTo>
                  <a:pt x="247159" y="0"/>
                </a:moveTo>
                <a:lnTo>
                  <a:pt x="247159" y="8132"/>
                </a:lnTo>
                <a:lnTo>
                  <a:pt x="239032" y="16036"/>
                </a:lnTo>
                <a:lnTo>
                  <a:pt x="231099" y="16036"/>
                </a:lnTo>
                <a:lnTo>
                  <a:pt x="135513" y="16036"/>
                </a:lnTo>
                <a:lnTo>
                  <a:pt x="127580" y="16036"/>
                </a:lnTo>
                <a:lnTo>
                  <a:pt x="119646" y="24169"/>
                </a:lnTo>
                <a:lnTo>
                  <a:pt x="119646" y="32073"/>
                </a:lnTo>
                <a:lnTo>
                  <a:pt x="119646" y="24169"/>
                </a:lnTo>
                <a:lnTo>
                  <a:pt x="111713" y="16036"/>
                </a:lnTo>
                <a:lnTo>
                  <a:pt x="103780" y="16036"/>
                </a:lnTo>
                <a:lnTo>
                  <a:pt x="16127" y="16036"/>
                </a:lnTo>
                <a:lnTo>
                  <a:pt x="8175" y="16036"/>
                </a:lnTo>
                <a:lnTo>
                  <a:pt x="0" y="8132"/>
                </a:lnTo>
                <a:lnTo>
                  <a:pt x="0" y="0"/>
                </a:lnTo>
              </a:path>
            </a:pathLst>
          </a:custGeom>
          <a:ln w="7796">
            <a:solidFill>
              <a:srgbClr val="0088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8267170" y="2897438"/>
            <a:ext cx="15875" cy="647700"/>
          </a:xfrm>
          <a:custGeom>
            <a:avLst/>
            <a:gdLst/>
            <a:ahLst/>
            <a:cxnLst/>
            <a:rect l="l" t="t" r="r" b="b"/>
            <a:pathLst>
              <a:path w="15875" h="647700">
                <a:moveTo>
                  <a:pt x="0" y="647493"/>
                </a:moveTo>
                <a:lnTo>
                  <a:pt x="15854" y="647493"/>
                </a:lnTo>
                <a:lnTo>
                  <a:pt x="15854" y="0"/>
                </a:lnTo>
                <a:lnTo>
                  <a:pt x="0" y="0"/>
                </a:lnTo>
                <a:lnTo>
                  <a:pt x="0" y="647493"/>
                </a:lnTo>
                <a:close/>
              </a:path>
            </a:pathLst>
          </a:custGeom>
          <a:solidFill>
            <a:srgbClr val="FCC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 txBox="1"/>
          <p:nvPr/>
        </p:nvSpPr>
        <p:spPr>
          <a:xfrm>
            <a:off x="6840728" y="2996565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+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7" name="object 197"/>
          <p:cNvSpPr txBox="1"/>
          <p:nvPr/>
        </p:nvSpPr>
        <p:spPr>
          <a:xfrm>
            <a:off x="9496425" y="286524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_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8" name="object 198"/>
          <p:cNvSpPr txBox="1"/>
          <p:nvPr/>
        </p:nvSpPr>
        <p:spPr>
          <a:xfrm>
            <a:off x="878839" y="1856260"/>
            <a:ext cx="5842000" cy="236918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b="1" spc="-130" dirty="0">
                <a:solidFill>
                  <a:srgbClr val="404040"/>
                </a:solidFill>
                <a:latin typeface="Arial"/>
                <a:cs typeface="Arial"/>
              </a:rPr>
              <a:t>Diode:</a:t>
            </a:r>
            <a:endParaRPr sz="2000">
              <a:latin typeface="Arial"/>
              <a:cs typeface="Arial"/>
            </a:endParaRPr>
          </a:p>
          <a:p>
            <a:pPr marL="396875" lvl="1" indent="-182880">
              <a:lnSpc>
                <a:spcPct val="100000"/>
              </a:lnSpc>
              <a:spcBef>
                <a:spcPts val="20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195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800" spc="5" dirty="0">
                <a:solidFill>
                  <a:srgbClr val="404040"/>
                </a:solidFill>
                <a:latin typeface="Arial"/>
                <a:cs typeface="Arial"/>
              </a:rPr>
              <a:t>thiết </a:t>
            </a:r>
            <a:r>
              <a:rPr sz="1800" spc="-25" dirty="0">
                <a:solidFill>
                  <a:srgbClr val="404040"/>
                </a:solidFill>
                <a:latin typeface="Arial"/>
                <a:cs typeface="Arial"/>
              </a:rPr>
              <a:t>bị </a:t>
            </a:r>
            <a:r>
              <a:rPr sz="1800" spc="-160" dirty="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vật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bán</a:t>
            </a:r>
            <a:r>
              <a:rPr sz="1800" spc="-1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dẫn.</a:t>
            </a:r>
            <a:endParaRPr sz="1800">
              <a:latin typeface="Arial"/>
              <a:cs typeface="Arial"/>
            </a:endParaRPr>
          </a:p>
          <a:p>
            <a:pPr marL="396875" marR="5080" lvl="1" indent="-182880">
              <a:lnSpc>
                <a:spcPts val="1950"/>
              </a:lnSpc>
              <a:spcBef>
                <a:spcPts val="62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bao 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gồm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phần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chính, </a:t>
            </a:r>
            <a:r>
              <a:rPr sz="1800" spc="-295" dirty="0">
                <a:solidFill>
                  <a:srgbClr val="404040"/>
                </a:solidFill>
                <a:latin typeface="Arial"/>
                <a:cs typeface="Arial"/>
              </a:rPr>
              <a:t>½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vật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bán dẫn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loại </a:t>
            </a: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N  </a:t>
            </a:r>
            <a:r>
              <a:rPr sz="1800" spc="-130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spc="-295" dirty="0">
                <a:solidFill>
                  <a:srgbClr val="404040"/>
                </a:solidFill>
                <a:latin typeface="Arial"/>
                <a:cs typeface="Arial"/>
              </a:rPr>
              <a:t>½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vật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bán dẫn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loại</a:t>
            </a:r>
            <a:r>
              <a:rPr sz="1800" spc="-1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280" dirty="0">
                <a:solidFill>
                  <a:srgbClr val="404040"/>
                </a:solidFill>
                <a:latin typeface="Arial"/>
                <a:cs typeface="Arial"/>
              </a:rPr>
              <a:t>P.</a:t>
            </a:r>
            <a:endParaRPr sz="1800">
              <a:latin typeface="Arial"/>
              <a:cs typeface="Arial"/>
            </a:endParaRPr>
          </a:p>
          <a:p>
            <a:pPr marL="396875" lvl="1" indent="-182880">
              <a:lnSpc>
                <a:spcPts val="2050"/>
              </a:lnSpc>
              <a:spcBef>
                <a:spcPts val="35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Phần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bán dẫn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loại </a:t>
            </a:r>
            <a:r>
              <a:rPr sz="1800" spc="-275" dirty="0">
                <a:solidFill>
                  <a:srgbClr val="404040"/>
                </a:solidFill>
                <a:latin typeface="Arial"/>
                <a:cs typeface="Arial"/>
              </a:rPr>
              <a:t>P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gọi là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Anode, phần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bán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dẫn</a:t>
            </a:r>
            <a:r>
              <a:rPr sz="1800" spc="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loại</a:t>
            </a:r>
            <a:endParaRPr sz="1800">
              <a:latin typeface="Arial"/>
              <a:cs typeface="Arial"/>
            </a:endParaRPr>
          </a:p>
          <a:p>
            <a:pPr marL="396875">
              <a:lnSpc>
                <a:spcPts val="2050"/>
              </a:lnSpc>
            </a:pP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N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gọi là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Cathode.</a:t>
            </a:r>
            <a:endParaRPr sz="1800">
              <a:latin typeface="Arial"/>
              <a:cs typeface="Arial"/>
            </a:endParaRPr>
          </a:p>
          <a:p>
            <a:pPr marL="396875" lvl="1" indent="-182880">
              <a:lnSpc>
                <a:spcPts val="2050"/>
              </a:lnSpc>
              <a:spcBef>
                <a:spcPts val="38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dẫn </a:t>
            </a:r>
            <a:r>
              <a:rPr sz="1800" spc="-25" dirty="0">
                <a:solidFill>
                  <a:srgbClr val="404040"/>
                </a:solidFill>
                <a:latin typeface="Arial"/>
                <a:cs typeface="Arial"/>
              </a:rPr>
              <a:t>theo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chiều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thuận </a:t>
            </a:r>
            <a:r>
              <a:rPr sz="1800" spc="-130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khóa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(điện 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vô</a:t>
            </a:r>
            <a:r>
              <a:rPr sz="1800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cùng</a:t>
            </a:r>
            <a:endParaRPr sz="1800">
              <a:latin typeface="Arial"/>
              <a:cs typeface="Arial"/>
            </a:endParaRPr>
          </a:p>
          <a:p>
            <a:pPr marL="396875">
              <a:lnSpc>
                <a:spcPts val="2050"/>
              </a:lnSpc>
            </a:pP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lớn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–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lý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tưởng)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theo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chiều </a:t>
            </a: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ngược</a:t>
            </a:r>
            <a:r>
              <a:rPr sz="1800" spc="-2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lại.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9" name="object 199"/>
          <p:cNvSpPr/>
          <p:nvPr/>
        </p:nvSpPr>
        <p:spPr>
          <a:xfrm>
            <a:off x="1317704" y="4471422"/>
            <a:ext cx="4316155" cy="17868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201" name="object 20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9908" y="908380"/>
            <a:ext cx="53213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35" dirty="0"/>
              <a:t>Nguyên </a:t>
            </a:r>
            <a:r>
              <a:rPr spc="-215" dirty="0"/>
              <a:t>tắc </a:t>
            </a:r>
            <a:r>
              <a:rPr spc="-165" dirty="0"/>
              <a:t>hoạt</a:t>
            </a:r>
            <a:r>
              <a:rPr spc="-570" dirty="0"/>
              <a:t> </a:t>
            </a:r>
            <a:r>
              <a:rPr spc="-245" dirty="0"/>
              <a:t>động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56260"/>
            <a:ext cx="8204200" cy="184150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15265" indent="-202565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b="1" spc="-175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2000" b="1" spc="-240" dirty="0">
                <a:solidFill>
                  <a:srgbClr val="404040"/>
                </a:solidFill>
                <a:latin typeface="Arial"/>
                <a:cs typeface="Arial"/>
              </a:rPr>
              <a:t>cực</a:t>
            </a:r>
            <a:r>
              <a:rPr sz="2000" b="1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404040"/>
                </a:solidFill>
                <a:latin typeface="Arial"/>
                <a:cs typeface="Arial"/>
              </a:rPr>
              <a:t>thuận:</a:t>
            </a:r>
            <a:endParaRPr sz="2000">
              <a:latin typeface="Arial"/>
              <a:cs typeface="Arial"/>
            </a:endParaRPr>
          </a:p>
          <a:p>
            <a:pPr marL="448309" lvl="1" indent="-234315">
              <a:lnSpc>
                <a:spcPct val="100000"/>
              </a:lnSpc>
              <a:spcBef>
                <a:spcPts val="20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b="1" spc="-160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800" b="1" spc="-215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1800" b="1" spc="-100" dirty="0">
                <a:solidFill>
                  <a:srgbClr val="404040"/>
                </a:solidFill>
                <a:latin typeface="Arial"/>
                <a:cs typeface="Arial"/>
              </a:rPr>
              <a:t>thuận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điều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kiện để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thể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dẫn</a:t>
            </a:r>
            <a:r>
              <a:rPr sz="1800" spc="-3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điện.</a:t>
            </a:r>
            <a:endParaRPr sz="1800">
              <a:latin typeface="Arial"/>
              <a:cs typeface="Arial"/>
            </a:endParaRPr>
          </a:p>
          <a:p>
            <a:pPr marL="448309" lvl="1" indent="-234315">
              <a:lnSpc>
                <a:spcPct val="100000"/>
              </a:lnSpc>
              <a:spcBef>
                <a:spcPts val="384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1800" b="1" spc="-130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800" b="1" spc="-215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1800" b="1" spc="-100" dirty="0">
                <a:solidFill>
                  <a:srgbClr val="404040"/>
                </a:solidFill>
                <a:latin typeface="Arial"/>
                <a:cs typeface="Arial"/>
              </a:rPr>
              <a:t>thuận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nhờ 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nguồn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chiều </a:t>
            </a:r>
            <a:r>
              <a:rPr sz="1800" spc="-15" dirty="0">
                <a:solidFill>
                  <a:srgbClr val="404040"/>
                </a:solidFill>
                <a:latin typeface="Arial"/>
                <a:cs typeface="Arial"/>
              </a:rPr>
              <a:t>đặt 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2</a:t>
            </a:r>
            <a:r>
              <a:rPr sz="1800" spc="-2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đầu.</a:t>
            </a:r>
            <a:endParaRPr sz="1800">
              <a:latin typeface="Arial"/>
              <a:cs typeface="Arial"/>
            </a:endParaRPr>
          </a:p>
          <a:p>
            <a:pPr marL="619125" lvl="2" indent="-222250">
              <a:lnSpc>
                <a:spcPct val="100000"/>
              </a:lnSpc>
              <a:spcBef>
                <a:spcPts val="459"/>
              </a:spcBef>
              <a:buClr>
                <a:srgbClr val="99CA38"/>
              </a:buClr>
              <a:buFont typeface="Wingdings"/>
              <a:buChar char=""/>
              <a:tabLst>
                <a:tab pos="619760" algn="l"/>
              </a:tabLst>
            </a:pPr>
            <a:r>
              <a:rPr sz="1400" spc="-155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1400" b="1" spc="-95" dirty="0">
                <a:solidFill>
                  <a:srgbClr val="404040"/>
                </a:solidFill>
                <a:latin typeface="Arial"/>
                <a:cs typeface="Arial"/>
              </a:rPr>
              <a:t>âm </a:t>
            </a:r>
            <a:r>
              <a:rPr sz="1400" spc="-120" dirty="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sz="1400" spc="-30" dirty="0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sz="1400" spc="-55" dirty="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sz="1400" b="1" spc="-105" dirty="0">
                <a:solidFill>
                  <a:srgbClr val="404040"/>
                </a:solidFill>
                <a:latin typeface="Arial"/>
                <a:cs typeface="Arial"/>
              </a:rPr>
              <a:t>Cathode </a:t>
            </a:r>
            <a:r>
              <a:rPr sz="1400" spc="-65" dirty="0">
                <a:solidFill>
                  <a:srgbClr val="404040"/>
                </a:solidFill>
                <a:latin typeface="Arial"/>
                <a:cs typeface="Arial"/>
              </a:rPr>
              <a:t>(bán </a:t>
            </a:r>
            <a:r>
              <a:rPr sz="1400" spc="-70" dirty="0">
                <a:solidFill>
                  <a:srgbClr val="404040"/>
                </a:solidFill>
                <a:latin typeface="Arial"/>
                <a:cs typeface="Arial"/>
              </a:rPr>
              <a:t>dẫn </a:t>
            </a:r>
            <a:r>
              <a:rPr sz="1400" spc="-35" dirty="0">
                <a:solidFill>
                  <a:srgbClr val="404040"/>
                </a:solidFill>
                <a:latin typeface="Arial"/>
                <a:cs typeface="Arial"/>
              </a:rPr>
              <a:t>loại</a:t>
            </a:r>
            <a:r>
              <a:rPr sz="1400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b="1" spc="-70" dirty="0">
                <a:solidFill>
                  <a:srgbClr val="404040"/>
                </a:solidFill>
                <a:latin typeface="Arial"/>
                <a:cs typeface="Arial"/>
              </a:rPr>
              <a:t>N</a:t>
            </a:r>
            <a:r>
              <a:rPr sz="1400" spc="-70" dirty="0">
                <a:solidFill>
                  <a:srgbClr val="404040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619125" lvl="2" indent="-222250">
              <a:lnSpc>
                <a:spcPct val="100000"/>
              </a:lnSpc>
              <a:spcBef>
                <a:spcPts val="430"/>
              </a:spcBef>
              <a:buClr>
                <a:srgbClr val="99CA38"/>
              </a:buClr>
              <a:buFont typeface="Wingdings"/>
              <a:buChar char=""/>
              <a:tabLst>
                <a:tab pos="619760" algn="l"/>
              </a:tabLst>
            </a:pPr>
            <a:r>
              <a:rPr sz="1400" spc="-155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1400" b="1" spc="-125" dirty="0">
                <a:solidFill>
                  <a:srgbClr val="404040"/>
                </a:solidFill>
                <a:latin typeface="Arial"/>
                <a:cs typeface="Arial"/>
              </a:rPr>
              <a:t>dương </a:t>
            </a:r>
            <a:r>
              <a:rPr sz="1400" spc="-120" dirty="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sz="1400" spc="-30" dirty="0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sz="1400" spc="-55" dirty="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sz="1400" b="1" spc="-110" dirty="0">
                <a:solidFill>
                  <a:srgbClr val="404040"/>
                </a:solidFill>
                <a:latin typeface="Arial"/>
                <a:cs typeface="Arial"/>
              </a:rPr>
              <a:t>Anode </a:t>
            </a:r>
            <a:r>
              <a:rPr sz="1400" spc="-65" dirty="0">
                <a:solidFill>
                  <a:srgbClr val="404040"/>
                </a:solidFill>
                <a:latin typeface="Arial"/>
                <a:cs typeface="Arial"/>
              </a:rPr>
              <a:t>(bán </a:t>
            </a:r>
            <a:r>
              <a:rPr sz="1400" spc="-70" dirty="0">
                <a:solidFill>
                  <a:srgbClr val="404040"/>
                </a:solidFill>
                <a:latin typeface="Arial"/>
                <a:cs typeface="Arial"/>
              </a:rPr>
              <a:t>dẫn </a:t>
            </a:r>
            <a:r>
              <a:rPr sz="1400" spc="-35" dirty="0">
                <a:solidFill>
                  <a:srgbClr val="404040"/>
                </a:solidFill>
                <a:latin typeface="Arial"/>
                <a:cs typeface="Arial"/>
              </a:rPr>
              <a:t>loại</a:t>
            </a:r>
            <a:r>
              <a:rPr sz="1400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b="1" spc="-120" dirty="0">
                <a:solidFill>
                  <a:srgbClr val="404040"/>
                </a:solidFill>
                <a:latin typeface="Arial"/>
                <a:cs typeface="Arial"/>
              </a:rPr>
              <a:t>P</a:t>
            </a:r>
            <a:r>
              <a:rPr sz="1400" spc="-120" dirty="0">
                <a:solidFill>
                  <a:srgbClr val="404040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448309" lvl="1" indent="-234315">
              <a:lnSpc>
                <a:spcPct val="100000"/>
              </a:lnSpc>
              <a:spcBef>
                <a:spcPts val="359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135" dirty="0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sz="1800" spc="40" dirty="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nguồn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chiều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phải lớn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hơn </a:t>
            </a:r>
            <a:r>
              <a:rPr sz="1800" b="1" spc="-10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800" b="1" spc="-9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b="1" spc="-7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800" b="1" spc="-180" dirty="0">
                <a:solidFill>
                  <a:srgbClr val="404040"/>
                </a:solidFill>
                <a:latin typeface="Arial"/>
                <a:cs typeface="Arial"/>
              </a:rPr>
              <a:t>ngưỡng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sz="1800" spc="-1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diode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82248" y="3873651"/>
            <a:ext cx="4219848" cy="2235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94867" y="3950208"/>
            <a:ext cx="1972017" cy="22219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01390" y="4690109"/>
            <a:ext cx="1036319" cy="1170940"/>
          </a:xfrm>
          <a:custGeom>
            <a:avLst/>
            <a:gdLst/>
            <a:ahLst/>
            <a:cxnLst/>
            <a:rect l="l" t="t" r="r" b="b"/>
            <a:pathLst>
              <a:path w="1036320" h="1170939">
                <a:moveTo>
                  <a:pt x="0" y="585215"/>
                </a:moveTo>
                <a:lnTo>
                  <a:pt x="1902" y="534720"/>
                </a:lnTo>
                <a:lnTo>
                  <a:pt x="7505" y="485417"/>
                </a:lnTo>
                <a:lnTo>
                  <a:pt x="16653" y="437482"/>
                </a:lnTo>
                <a:lnTo>
                  <a:pt x="29191" y="391092"/>
                </a:lnTo>
                <a:lnTo>
                  <a:pt x="44962" y="346423"/>
                </a:lnTo>
                <a:lnTo>
                  <a:pt x="63812" y="303648"/>
                </a:lnTo>
                <a:lnTo>
                  <a:pt x="85585" y="262945"/>
                </a:lnTo>
                <a:lnTo>
                  <a:pt x="110124" y="224489"/>
                </a:lnTo>
                <a:lnTo>
                  <a:pt x="137274" y="188455"/>
                </a:lnTo>
                <a:lnTo>
                  <a:pt x="166881" y="155020"/>
                </a:lnTo>
                <a:lnTo>
                  <a:pt x="198787" y="124358"/>
                </a:lnTo>
                <a:lnTo>
                  <a:pt x="232838" y="96646"/>
                </a:lnTo>
                <a:lnTo>
                  <a:pt x="268877" y="72059"/>
                </a:lnTo>
                <a:lnTo>
                  <a:pt x="306749" y="50773"/>
                </a:lnTo>
                <a:lnTo>
                  <a:pt x="346299" y="32963"/>
                </a:lnTo>
                <a:lnTo>
                  <a:pt x="387371" y="18805"/>
                </a:lnTo>
                <a:lnTo>
                  <a:pt x="429808" y="8474"/>
                </a:lnTo>
                <a:lnTo>
                  <a:pt x="473456" y="2148"/>
                </a:lnTo>
                <a:lnTo>
                  <a:pt x="518160" y="0"/>
                </a:lnTo>
                <a:lnTo>
                  <a:pt x="562863" y="2148"/>
                </a:lnTo>
                <a:lnTo>
                  <a:pt x="606511" y="8474"/>
                </a:lnTo>
                <a:lnTo>
                  <a:pt x="648948" y="18805"/>
                </a:lnTo>
                <a:lnTo>
                  <a:pt x="690020" y="32963"/>
                </a:lnTo>
                <a:lnTo>
                  <a:pt x="729570" y="50773"/>
                </a:lnTo>
                <a:lnTo>
                  <a:pt x="767442" y="72059"/>
                </a:lnTo>
                <a:lnTo>
                  <a:pt x="803481" y="96646"/>
                </a:lnTo>
                <a:lnTo>
                  <a:pt x="837532" y="124358"/>
                </a:lnTo>
                <a:lnTo>
                  <a:pt x="869438" y="155020"/>
                </a:lnTo>
                <a:lnTo>
                  <a:pt x="899045" y="188455"/>
                </a:lnTo>
                <a:lnTo>
                  <a:pt x="926195" y="224489"/>
                </a:lnTo>
                <a:lnTo>
                  <a:pt x="950734" y="262945"/>
                </a:lnTo>
                <a:lnTo>
                  <a:pt x="972507" y="303648"/>
                </a:lnTo>
                <a:lnTo>
                  <a:pt x="991357" y="346423"/>
                </a:lnTo>
                <a:lnTo>
                  <a:pt x="1007128" y="391092"/>
                </a:lnTo>
                <a:lnTo>
                  <a:pt x="1019666" y="437482"/>
                </a:lnTo>
                <a:lnTo>
                  <a:pt x="1028814" y="485417"/>
                </a:lnTo>
                <a:lnTo>
                  <a:pt x="1034417" y="534720"/>
                </a:lnTo>
                <a:lnTo>
                  <a:pt x="1036320" y="585215"/>
                </a:lnTo>
                <a:lnTo>
                  <a:pt x="1034417" y="635710"/>
                </a:lnTo>
                <a:lnTo>
                  <a:pt x="1028814" y="685011"/>
                </a:lnTo>
                <a:lnTo>
                  <a:pt x="1019666" y="732944"/>
                </a:lnTo>
                <a:lnTo>
                  <a:pt x="1007128" y="779334"/>
                </a:lnTo>
                <a:lnTo>
                  <a:pt x="991357" y="824003"/>
                </a:lnTo>
                <a:lnTo>
                  <a:pt x="972507" y="866777"/>
                </a:lnTo>
                <a:lnTo>
                  <a:pt x="950734" y="907480"/>
                </a:lnTo>
                <a:lnTo>
                  <a:pt x="926195" y="945937"/>
                </a:lnTo>
                <a:lnTo>
                  <a:pt x="899045" y="981971"/>
                </a:lnTo>
                <a:lnTo>
                  <a:pt x="869438" y="1015407"/>
                </a:lnTo>
                <a:lnTo>
                  <a:pt x="837532" y="1046069"/>
                </a:lnTo>
                <a:lnTo>
                  <a:pt x="803481" y="1073782"/>
                </a:lnTo>
                <a:lnTo>
                  <a:pt x="767442" y="1098369"/>
                </a:lnTo>
                <a:lnTo>
                  <a:pt x="729570" y="1119656"/>
                </a:lnTo>
                <a:lnTo>
                  <a:pt x="690020" y="1137467"/>
                </a:lnTo>
                <a:lnTo>
                  <a:pt x="648948" y="1151625"/>
                </a:lnTo>
                <a:lnTo>
                  <a:pt x="606511" y="1161956"/>
                </a:lnTo>
                <a:lnTo>
                  <a:pt x="562863" y="1168283"/>
                </a:lnTo>
                <a:lnTo>
                  <a:pt x="518160" y="1170431"/>
                </a:lnTo>
                <a:lnTo>
                  <a:pt x="473456" y="1168283"/>
                </a:lnTo>
                <a:lnTo>
                  <a:pt x="429808" y="1161956"/>
                </a:lnTo>
                <a:lnTo>
                  <a:pt x="387371" y="1151625"/>
                </a:lnTo>
                <a:lnTo>
                  <a:pt x="346299" y="1137467"/>
                </a:lnTo>
                <a:lnTo>
                  <a:pt x="306749" y="1119656"/>
                </a:lnTo>
                <a:lnTo>
                  <a:pt x="268877" y="1098369"/>
                </a:lnTo>
                <a:lnTo>
                  <a:pt x="232838" y="1073782"/>
                </a:lnTo>
                <a:lnTo>
                  <a:pt x="198787" y="1046069"/>
                </a:lnTo>
                <a:lnTo>
                  <a:pt x="166881" y="1015407"/>
                </a:lnTo>
                <a:lnTo>
                  <a:pt x="137274" y="981971"/>
                </a:lnTo>
                <a:lnTo>
                  <a:pt x="110124" y="945937"/>
                </a:lnTo>
                <a:lnTo>
                  <a:pt x="85585" y="907480"/>
                </a:lnTo>
                <a:lnTo>
                  <a:pt x="63812" y="866777"/>
                </a:lnTo>
                <a:lnTo>
                  <a:pt x="44962" y="824003"/>
                </a:lnTo>
                <a:lnTo>
                  <a:pt x="29191" y="779334"/>
                </a:lnTo>
                <a:lnTo>
                  <a:pt x="16653" y="732944"/>
                </a:lnTo>
                <a:lnTo>
                  <a:pt x="7505" y="685011"/>
                </a:lnTo>
                <a:lnTo>
                  <a:pt x="1902" y="635710"/>
                </a:lnTo>
                <a:lnTo>
                  <a:pt x="0" y="585215"/>
                </a:lnTo>
                <a:close/>
              </a:path>
            </a:pathLst>
          </a:custGeom>
          <a:ln w="2286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83407" y="4831079"/>
            <a:ext cx="618490" cy="76200"/>
          </a:xfrm>
          <a:custGeom>
            <a:avLst/>
            <a:gdLst/>
            <a:ahLst/>
            <a:cxnLst/>
            <a:rect l="l" t="t" r="r" b="b"/>
            <a:pathLst>
              <a:path w="618489" h="76200">
                <a:moveTo>
                  <a:pt x="542163" y="0"/>
                </a:moveTo>
                <a:lnTo>
                  <a:pt x="542163" y="76200"/>
                </a:lnTo>
                <a:lnTo>
                  <a:pt x="605663" y="44450"/>
                </a:lnTo>
                <a:lnTo>
                  <a:pt x="554863" y="44450"/>
                </a:lnTo>
                <a:lnTo>
                  <a:pt x="554863" y="31750"/>
                </a:lnTo>
                <a:lnTo>
                  <a:pt x="605663" y="31750"/>
                </a:lnTo>
                <a:lnTo>
                  <a:pt x="542163" y="0"/>
                </a:lnTo>
                <a:close/>
              </a:path>
              <a:path w="618489" h="76200">
                <a:moveTo>
                  <a:pt x="542163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542163" y="44450"/>
                </a:lnTo>
                <a:lnTo>
                  <a:pt x="542163" y="31750"/>
                </a:lnTo>
                <a:close/>
              </a:path>
              <a:path w="618489" h="76200">
                <a:moveTo>
                  <a:pt x="605663" y="31750"/>
                </a:moveTo>
                <a:lnTo>
                  <a:pt x="554863" y="31750"/>
                </a:lnTo>
                <a:lnTo>
                  <a:pt x="554863" y="44450"/>
                </a:lnTo>
                <a:lnTo>
                  <a:pt x="605663" y="44450"/>
                </a:lnTo>
                <a:lnTo>
                  <a:pt x="618363" y="38100"/>
                </a:lnTo>
                <a:lnTo>
                  <a:pt x="605663" y="3175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772155" y="5023103"/>
            <a:ext cx="618490" cy="76200"/>
          </a:xfrm>
          <a:custGeom>
            <a:avLst/>
            <a:gdLst/>
            <a:ahLst/>
            <a:cxnLst/>
            <a:rect l="l" t="t" r="r" b="b"/>
            <a:pathLst>
              <a:path w="618489" h="76200">
                <a:moveTo>
                  <a:pt x="542163" y="0"/>
                </a:moveTo>
                <a:lnTo>
                  <a:pt x="542163" y="76200"/>
                </a:lnTo>
                <a:lnTo>
                  <a:pt x="605663" y="44450"/>
                </a:lnTo>
                <a:lnTo>
                  <a:pt x="554863" y="44450"/>
                </a:lnTo>
                <a:lnTo>
                  <a:pt x="554863" y="31750"/>
                </a:lnTo>
                <a:lnTo>
                  <a:pt x="605663" y="31750"/>
                </a:lnTo>
                <a:lnTo>
                  <a:pt x="542163" y="0"/>
                </a:lnTo>
                <a:close/>
              </a:path>
              <a:path w="618489" h="76200">
                <a:moveTo>
                  <a:pt x="542163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542163" y="44450"/>
                </a:lnTo>
                <a:lnTo>
                  <a:pt x="542163" y="31750"/>
                </a:lnTo>
                <a:close/>
              </a:path>
              <a:path w="618489" h="76200">
                <a:moveTo>
                  <a:pt x="605663" y="31750"/>
                </a:moveTo>
                <a:lnTo>
                  <a:pt x="554863" y="31750"/>
                </a:lnTo>
                <a:lnTo>
                  <a:pt x="554863" y="44450"/>
                </a:lnTo>
                <a:lnTo>
                  <a:pt x="605663" y="44450"/>
                </a:lnTo>
                <a:lnTo>
                  <a:pt x="618363" y="38100"/>
                </a:lnTo>
                <a:lnTo>
                  <a:pt x="605663" y="3175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72155" y="5236464"/>
            <a:ext cx="618490" cy="76200"/>
          </a:xfrm>
          <a:custGeom>
            <a:avLst/>
            <a:gdLst/>
            <a:ahLst/>
            <a:cxnLst/>
            <a:rect l="l" t="t" r="r" b="b"/>
            <a:pathLst>
              <a:path w="618489" h="76200">
                <a:moveTo>
                  <a:pt x="542163" y="0"/>
                </a:moveTo>
                <a:lnTo>
                  <a:pt x="542163" y="76200"/>
                </a:lnTo>
                <a:lnTo>
                  <a:pt x="605663" y="44450"/>
                </a:lnTo>
                <a:lnTo>
                  <a:pt x="554863" y="44450"/>
                </a:lnTo>
                <a:lnTo>
                  <a:pt x="554863" y="31750"/>
                </a:lnTo>
                <a:lnTo>
                  <a:pt x="605663" y="31750"/>
                </a:lnTo>
                <a:lnTo>
                  <a:pt x="542163" y="0"/>
                </a:lnTo>
                <a:close/>
              </a:path>
              <a:path w="618489" h="76200">
                <a:moveTo>
                  <a:pt x="542163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542163" y="44450"/>
                </a:lnTo>
                <a:lnTo>
                  <a:pt x="542163" y="31750"/>
                </a:lnTo>
                <a:close/>
              </a:path>
              <a:path w="618489" h="76200">
                <a:moveTo>
                  <a:pt x="605663" y="31750"/>
                </a:moveTo>
                <a:lnTo>
                  <a:pt x="554863" y="31750"/>
                </a:lnTo>
                <a:lnTo>
                  <a:pt x="554863" y="44450"/>
                </a:lnTo>
                <a:lnTo>
                  <a:pt x="605663" y="44450"/>
                </a:lnTo>
                <a:lnTo>
                  <a:pt x="618363" y="38100"/>
                </a:lnTo>
                <a:lnTo>
                  <a:pt x="605663" y="3175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93492" y="5416296"/>
            <a:ext cx="618490" cy="76200"/>
          </a:xfrm>
          <a:custGeom>
            <a:avLst/>
            <a:gdLst/>
            <a:ahLst/>
            <a:cxnLst/>
            <a:rect l="l" t="t" r="r" b="b"/>
            <a:pathLst>
              <a:path w="618489" h="76200">
                <a:moveTo>
                  <a:pt x="542162" y="0"/>
                </a:moveTo>
                <a:lnTo>
                  <a:pt x="542162" y="76199"/>
                </a:lnTo>
                <a:lnTo>
                  <a:pt x="605662" y="44449"/>
                </a:lnTo>
                <a:lnTo>
                  <a:pt x="554862" y="44449"/>
                </a:lnTo>
                <a:lnTo>
                  <a:pt x="554862" y="31749"/>
                </a:lnTo>
                <a:lnTo>
                  <a:pt x="605662" y="31749"/>
                </a:lnTo>
                <a:lnTo>
                  <a:pt x="542162" y="0"/>
                </a:lnTo>
                <a:close/>
              </a:path>
              <a:path w="618489" h="76200">
                <a:moveTo>
                  <a:pt x="542162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542162" y="44449"/>
                </a:lnTo>
                <a:lnTo>
                  <a:pt x="542162" y="31749"/>
                </a:lnTo>
                <a:close/>
              </a:path>
              <a:path w="618489" h="76200">
                <a:moveTo>
                  <a:pt x="605662" y="31749"/>
                </a:moveTo>
                <a:lnTo>
                  <a:pt x="554862" y="31749"/>
                </a:lnTo>
                <a:lnTo>
                  <a:pt x="554862" y="44449"/>
                </a:lnTo>
                <a:lnTo>
                  <a:pt x="605662" y="44449"/>
                </a:lnTo>
                <a:lnTo>
                  <a:pt x="618362" y="38099"/>
                </a:lnTo>
                <a:lnTo>
                  <a:pt x="605662" y="3174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849879" y="5568696"/>
            <a:ext cx="618490" cy="76200"/>
          </a:xfrm>
          <a:custGeom>
            <a:avLst/>
            <a:gdLst/>
            <a:ahLst/>
            <a:cxnLst/>
            <a:rect l="l" t="t" r="r" b="b"/>
            <a:pathLst>
              <a:path w="618489" h="76200">
                <a:moveTo>
                  <a:pt x="542162" y="0"/>
                </a:moveTo>
                <a:lnTo>
                  <a:pt x="542162" y="76199"/>
                </a:lnTo>
                <a:lnTo>
                  <a:pt x="605662" y="44449"/>
                </a:lnTo>
                <a:lnTo>
                  <a:pt x="554862" y="44449"/>
                </a:lnTo>
                <a:lnTo>
                  <a:pt x="554862" y="31749"/>
                </a:lnTo>
                <a:lnTo>
                  <a:pt x="605662" y="31749"/>
                </a:lnTo>
                <a:lnTo>
                  <a:pt x="542162" y="0"/>
                </a:lnTo>
                <a:close/>
              </a:path>
              <a:path w="618489" h="76200">
                <a:moveTo>
                  <a:pt x="542162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542162" y="44449"/>
                </a:lnTo>
                <a:lnTo>
                  <a:pt x="542162" y="31749"/>
                </a:lnTo>
                <a:close/>
              </a:path>
              <a:path w="618489" h="76200">
                <a:moveTo>
                  <a:pt x="605662" y="31749"/>
                </a:moveTo>
                <a:lnTo>
                  <a:pt x="554862" y="31749"/>
                </a:lnTo>
                <a:lnTo>
                  <a:pt x="554862" y="44449"/>
                </a:lnTo>
                <a:lnTo>
                  <a:pt x="605662" y="44449"/>
                </a:lnTo>
                <a:lnTo>
                  <a:pt x="618362" y="38099"/>
                </a:lnTo>
                <a:lnTo>
                  <a:pt x="605662" y="3174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73323" y="5721096"/>
            <a:ext cx="618490" cy="76200"/>
          </a:xfrm>
          <a:custGeom>
            <a:avLst/>
            <a:gdLst/>
            <a:ahLst/>
            <a:cxnLst/>
            <a:rect l="l" t="t" r="r" b="b"/>
            <a:pathLst>
              <a:path w="618489" h="76200">
                <a:moveTo>
                  <a:pt x="542163" y="0"/>
                </a:moveTo>
                <a:lnTo>
                  <a:pt x="542163" y="76199"/>
                </a:lnTo>
                <a:lnTo>
                  <a:pt x="605663" y="44449"/>
                </a:lnTo>
                <a:lnTo>
                  <a:pt x="554863" y="44449"/>
                </a:lnTo>
                <a:lnTo>
                  <a:pt x="554863" y="31749"/>
                </a:lnTo>
                <a:lnTo>
                  <a:pt x="605663" y="31749"/>
                </a:lnTo>
                <a:lnTo>
                  <a:pt x="542163" y="0"/>
                </a:lnTo>
                <a:close/>
              </a:path>
              <a:path w="618489" h="76200">
                <a:moveTo>
                  <a:pt x="542163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542163" y="44449"/>
                </a:lnTo>
                <a:lnTo>
                  <a:pt x="542163" y="31749"/>
                </a:lnTo>
                <a:close/>
              </a:path>
              <a:path w="618489" h="76200">
                <a:moveTo>
                  <a:pt x="605663" y="31749"/>
                </a:moveTo>
                <a:lnTo>
                  <a:pt x="554863" y="31749"/>
                </a:lnTo>
                <a:lnTo>
                  <a:pt x="554863" y="44449"/>
                </a:lnTo>
                <a:lnTo>
                  <a:pt x="605663" y="44449"/>
                </a:lnTo>
                <a:lnTo>
                  <a:pt x="618363" y="38099"/>
                </a:lnTo>
                <a:lnTo>
                  <a:pt x="605663" y="3174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9908" y="908380"/>
            <a:ext cx="53213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35" dirty="0"/>
              <a:t>Nguyên </a:t>
            </a:r>
            <a:r>
              <a:rPr spc="-215" dirty="0"/>
              <a:t>tắc </a:t>
            </a:r>
            <a:r>
              <a:rPr spc="-165" dirty="0"/>
              <a:t>hoạt</a:t>
            </a:r>
            <a:r>
              <a:rPr spc="-570" dirty="0"/>
              <a:t> </a:t>
            </a:r>
            <a:r>
              <a:rPr spc="-245" dirty="0"/>
              <a:t>động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20040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b="1" spc="-175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2000" b="1" spc="-240" dirty="0">
                <a:solidFill>
                  <a:srgbClr val="404040"/>
                </a:solidFill>
                <a:latin typeface="Arial"/>
                <a:cs typeface="Arial"/>
              </a:rPr>
              <a:t>cực</a:t>
            </a:r>
            <a:r>
              <a:rPr sz="2000" b="1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404040"/>
                </a:solidFill>
                <a:latin typeface="Arial"/>
                <a:cs typeface="Arial"/>
              </a:rPr>
              <a:t>thuận: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93875" y="2460673"/>
            <a:ext cx="3889318" cy="16664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30407" y="4682690"/>
            <a:ext cx="7930759" cy="15906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50571" y="1872278"/>
            <a:ext cx="2112626" cy="23770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51687" y="4404741"/>
            <a:ext cx="5826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9CA38"/>
              </a:buClr>
              <a:buChar char="•"/>
              <a:tabLst>
                <a:tab pos="354965" algn="l"/>
                <a:tab pos="356235" algn="l"/>
              </a:tabLst>
            </a:pP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Ảnh </a:t>
            </a:r>
            <a:r>
              <a:rPr sz="1800" spc="-110" dirty="0">
                <a:solidFill>
                  <a:srgbClr val="404040"/>
                </a:solidFill>
                <a:latin typeface="Arial"/>
                <a:cs typeface="Arial"/>
              </a:rPr>
              <a:t>hưởng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thuận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lên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rộng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vùng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hiếm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9908" y="908380"/>
            <a:ext cx="53213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35" dirty="0"/>
              <a:t>Nguyên </a:t>
            </a:r>
            <a:r>
              <a:rPr spc="-215" dirty="0"/>
              <a:t>tắc </a:t>
            </a:r>
            <a:r>
              <a:rPr spc="-165" dirty="0"/>
              <a:t>hoạt</a:t>
            </a:r>
            <a:r>
              <a:rPr spc="-570" dirty="0"/>
              <a:t> </a:t>
            </a:r>
            <a:r>
              <a:rPr spc="-245" dirty="0"/>
              <a:t>động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56260"/>
            <a:ext cx="8242934" cy="17691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b="1" spc="-175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2000" b="1" spc="-240" dirty="0">
                <a:solidFill>
                  <a:srgbClr val="404040"/>
                </a:solidFill>
                <a:latin typeface="Arial"/>
                <a:cs typeface="Arial"/>
              </a:rPr>
              <a:t>cực</a:t>
            </a:r>
            <a:r>
              <a:rPr sz="2000" b="1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70" dirty="0">
                <a:solidFill>
                  <a:srgbClr val="404040"/>
                </a:solidFill>
                <a:latin typeface="Arial"/>
                <a:cs typeface="Arial"/>
              </a:rPr>
              <a:t>nghịch:</a:t>
            </a:r>
            <a:endParaRPr sz="2000">
              <a:latin typeface="Arial"/>
              <a:cs typeface="Arial"/>
            </a:endParaRPr>
          </a:p>
          <a:p>
            <a:pPr marL="396875" lvl="1" indent="-182880">
              <a:lnSpc>
                <a:spcPct val="100000"/>
              </a:lnSpc>
              <a:spcBef>
                <a:spcPts val="20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b="1" spc="-160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800" b="1" spc="-215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1800" b="1" spc="-165" dirty="0">
                <a:solidFill>
                  <a:srgbClr val="404040"/>
                </a:solidFill>
                <a:latin typeface="Arial"/>
                <a:cs typeface="Arial"/>
              </a:rPr>
              <a:t>nghịch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điều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kiện để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không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dẫn</a:t>
            </a:r>
            <a:r>
              <a:rPr sz="1800" spc="-28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điện.</a:t>
            </a:r>
            <a:endParaRPr sz="1800">
              <a:latin typeface="Arial"/>
              <a:cs typeface="Arial"/>
            </a:endParaRPr>
          </a:p>
          <a:p>
            <a:pPr marL="396875" marR="5080" lvl="1" indent="-182880">
              <a:lnSpc>
                <a:spcPts val="1950"/>
              </a:lnSpc>
              <a:spcBef>
                <a:spcPts val="62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Ngược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lại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800" spc="-135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thuận,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chiều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nguồn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chiều </a:t>
            </a:r>
            <a:r>
              <a:rPr sz="1800" spc="-110" dirty="0">
                <a:solidFill>
                  <a:srgbClr val="404040"/>
                </a:solidFill>
                <a:latin typeface="Arial"/>
                <a:cs typeface="Arial"/>
              </a:rPr>
              <a:t>cấp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cho 2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diode  </a:t>
            </a:r>
            <a:r>
              <a:rPr sz="1800" spc="-25" dirty="0">
                <a:solidFill>
                  <a:srgbClr val="404040"/>
                </a:solidFill>
                <a:latin typeface="Arial"/>
                <a:cs typeface="Arial"/>
              </a:rPr>
              <a:t>bị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đảo</a:t>
            </a:r>
            <a:r>
              <a:rPr sz="1800" spc="-1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ngược</a:t>
            </a:r>
            <a:endParaRPr sz="1800">
              <a:latin typeface="Arial"/>
              <a:cs typeface="Arial"/>
            </a:endParaRPr>
          </a:p>
          <a:p>
            <a:pPr marL="619125" lvl="2" indent="-222250">
              <a:lnSpc>
                <a:spcPct val="100000"/>
              </a:lnSpc>
              <a:spcBef>
                <a:spcPts val="425"/>
              </a:spcBef>
              <a:buClr>
                <a:srgbClr val="99CA38"/>
              </a:buClr>
              <a:buFont typeface="Wingdings"/>
              <a:buChar char=""/>
              <a:tabLst>
                <a:tab pos="619760" algn="l"/>
              </a:tabLst>
            </a:pPr>
            <a:r>
              <a:rPr sz="1400" b="1" spc="-190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1400" b="1" spc="-95" dirty="0">
                <a:solidFill>
                  <a:srgbClr val="404040"/>
                </a:solidFill>
                <a:latin typeface="Arial"/>
                <a:cs typeface="Arial"/>
              </a:rPr>
              <a:t>âm </a:t>
            </a:r>
            <a:r>
              <a:rPr sz="1400" b="1" spc="-85" dirty="0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sz="1400" b="1" spc="-95" dirty="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sz="1400" b="1" spc="-110" dirty="0">
                <a:solidFill>
                  <a:srgbClr val="404040"/>
                </a:solidFill>
                <a:latin typeface="Arial"/>
                <a:cs typeface="Arial"/>
              </a:rPr>
              <a:t>Anode </a:t>
            </a:r>
            <a:r>
              <a:rPr sz="1400" spc="-65" dirty="0">
                <a:solidFill>
                  <a:srgbClr val="404040"/>
                </a:solidFill>
                <a:latin typeface="Arial"/>
                <a:cs typeface="Arial"/>
              </a:rPr>
              <a:t>(bán </a:t>
            </a:r>
            <a:r>
              <a:rPr sz="1400" spc="-70" dirty="0">
                <a:solidFill>
                  <a:srgbClr val="404040"/>
                </a:solidFill>
                <a:latin typeface="Arial"/>
                <a:cs typeface="Arial"/>
              </a:rPr>
              <a:t>dẫn </a:t>
            </a:r>
            <a:r>
              <a:rPr sz="1400" spc="-35" dirty="0">
                <a:solidFill>
                  <a:srgbClr val="404040"/>
                </a:solidFill>
                <a:latin typeface="Arial"/>
                <a:cs typeface="Arial"/>
              </a:rPr>
              <a:t>loại</a:t>
            </a:r>
            <a:r>
              <a:rPr sz="1400" spc="-135" dirty="0">
                <a:solidFill>
                  <a:srgbClr val="404040"/>
                </a:solidFill>
                <a:latin typeface="Arial"/>
                <a:cs typeface="Arial"/>
              </a:rPr>
              <a:t> P)</a:t>
            </a:r>
            <a:endParaRPr sz="1400">
              <a:latin typeface="Arial"/>
              <a:cs typeface="Arial"/>
            </a:endParaRPr>
          </a:p>
          <a:p>
            <a:pPr marL="619125" lvl="2" indent="-222250">
              <a:lnSpc>
                <a:spcPct val="100000"/>
              </a:lnSpc>
              <a:spcBef>
                <a:spcPts val="430"/>
              </a:spcBef>
              <a:buClr>
                <a:srgbClr val="99CA38"/>
              </a:buClr>
              <a:buFont typeface="Wingdings"/>
              <a:buChar char=""/>
              <a:tabLst>
                <a:tab pos="619760" algn="l"/>
              </a:tabLst>
            </a:pPr>
            <a:r>
              <a:rPr sz="1400" b="1" spc="-190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1400" b="1" spc="-125" dirty="0">
                <a:solidFill>
                  <a:srgbClr val="404040"/>
                </a:solidFill>
                <a:latin typeface="Arial"/>
                <a:cs typeface="Arial"/>
              </a:rPr>
              <a:t>dương </a:t>
            </a:r>
            <a:r>
              <a:rPr sz="1400" b="1" spc="-85" dirty="0">
                <a:solidFill>
                  <a:srgbClr val="404040"/>
                </a:solidFill>
                <a:latin typeface="Arial"/>
                <a:cs typeface="Arial"/>
              </a:rPr>
              <a:t>nối </a:t>
            </a:r>
            <a:r>
              <a:rPr sz="1400" b="1" spc="-95" dirty="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sz="1400" b="1" spc="-100" dirty="0">
                <a:solidFill>
                  <a:srgbClr val="404040"/>
                </a:solidFill>
                <a:latin typeface="Arial"/>
                <a:cs typeface="Arial"/>
              </a:rPr>
              <a:t>Kathode </a:t>
            </a:r>
            <a:r>
              <a:rPr sz="1400" spc="-65" dirty="0">
                <a:solidFill>
                  <a:srgbClr val="404040"/>
                </a:solidFill>
                <a:latin typeface="Arial"/>
                <a:cs typeface="Arial"/>
              </a:rPr>
              <a:t>(bán </a:t>
            </a:r>
            <a:r>
              <a:rPr sz="1400" spc="-70" dirty="0">
                <a:solidFill>
                  <a:srgbClr val="404040"/>
                </a:solidFill>
                <a:latin typeface="Arial"/>
                <a:cs typeface="Arial"/>
              </a:rPr>
              <a:t>dẫn </a:t>
            </a:r>
            <a:r>
              <a:rPr sz="1400" spc="-35" dirty="0">
                <a:solidFill>
                  <a:srgbClr val="404040"/>
                </a:solidFill>
                <a:latin typeface="Arial"/>
                <a:cs typeface="Arial"/>
              </a:rPr>
              <a:t>loại</a:t>
            </a:r>
            <a:r>
              <a:rPr sz="1400" spc="-1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spc="-70" dirty="0">
                <a:solidFill>
                  <a:srgbClr val="404040"/>
                </a:solidFill>
                <a:latin typeface="Arial"/>
                <a:cs typeface="Arial"/>
              </a:rPr>
              <a:t>N)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68951" y="3717409"/>
            <a:ext cx="4036537" cy="23864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9908" y="908380"/>
            <a:ext cx="53213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35" dirty="0"/>
              <a:t>Nguyên </a:t>
            </a:r>
            <a:r>
              <a:rPr spc="-215" dirty="0"/>
              <a:t>tắc </a:t>
            </a:r>
            <a:r>
              <a:rPr spc="-165" dirty="0"/>
              <a:t>hoạt</a:t>
            </a:r>
            <a:r>
              <a:rPr spc="-570" dirty="0"/>
              <a:t> </a:t>
            </a:r>
            <a:r>
              <a:rPr spc="-245" dirty="0"/>
              <a:t>động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20802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b="1" spc="-175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2000" b="1" spc="-240" dirty="0">
                <a:solidFill>
                  <a:srgbClr val="404040"/>
                </a:solidFill>
                <a:latin typeface="Arial"/>
                <a:cs typeface="Arial"/>
              </a:rPr>
              <a:t>cực</a:t>
            </a:r>
            <a:r>
              <a:rPr sz="2000" b="1" spc="-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70" dirty="0">
                <a:solidFill>
                  <a:srgbClr val="404040"/>
                </a:solidFill>
                <a:latin typeface="Arial"/>
                <a:cs typeface="Arial"/>
              </a:rPr>
              <a:t>nghịch: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8467" y="2484120"/>
            <a:ext cx="4721998" cy="16985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19631" y="2742142"/>
            <a:ext cx="2731902" cy="26351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73011" y="3061716"/>
            <a:ext cx="585470" cy="2077720"/>
          </a:xfrm>
          <a:custGeom>
            <a:avLst/>
            <a:gdLst/>
            <a:ahLst/>
            <a:cxnLst/>
            <a:rect l="l" t="t" r="r" b="b"/>
            <a:pathLst>
              <a:path w="585470" h="2077720">
                <a:moveTo>
                  <a:pt x="0" y="2077212"/>
                </a:moveTo>
                <a:lnTo>
                  <a:pt x="585216" y="2077212"/>
                </a:lnTo>
                <a:lnTo>
                  <a:pt x="585216" y="0"/>
                </a:lnTo>
                <a:lnTo>
                  <a:pt x="0" y="0"/>
                </a:lnTo>
                <a:lnTo>
                  <a:pt x="0" y="2077212"/>
                </a:lnTo>
                <a:close/>
              </a:path>
            </a:pathLst>
          </a:custGeom>
          <a:ln w="152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58228" y="3023616"/>
            <a:ext cx="1530350" cy="269875"/>
          </a:xfrm>
          <a:custGeom>
            <a:avLst/>
            <a:gdLst/>
            <a:ahLst/>
            <a:cxnLst/>
            <a:rect l="l" t="t" r="r" b="b"/>
            <a:pathLst>
              <a:path w="1530350" h="269875">
                <a:moveTo>
                  <a:pt x="0" y="269748"/>
                </a:moveTo>
                <a:lnTo>
                  <a:pt x="1530096" y="269748"/>
                </a:lnTo>
                <a:lnTo>
                  <a:pt x="1530096" y="0"/>
                </a:lnTo>
                <a:lnTo>
                  <a:pt x="0" y="0"/>
                </a:lnTo>
                <a:lnTo>
                  <a:pt x="0" y="269748"/>
                </a:lnTo>
                <a:close/>
              </a:path>
            </a:pathLst>
          </a:custGeom>
          <a:ln w="15240">
            <a:solidFill>
              <a:srgbClr val="6E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30758" y="2484882"/>
            <a:ext cx="4988560" cy="1755775"/>
          </a:xfrm>
          <a:custGeom>
            <a:avLst/>
            <a:gdLst/>
            <a:ahLst/>
            <a:cxnLst/>
            <a:rect l="l" t="t" r="r" b="b"/>
            <a:pathLst>
              <a:path w="4988560" h="1755775">
                <a:moveTo>
                  <a:pt x="0" y="1755648"/>
                </a:moveTo>
                <a:lnTo>
                  <a:pt x="4988052" y="1755648"/>
                </a:lnTo>
                <a:lnTo>
                  <a:pt x="4988052" y="0"/>
                </a:lnTo>
                <a:lnTo>
                  <a:pt x="0" y="0"/>
                </a:lnTo>
                <a:lnTo>
                  <a:pt x="0" y="1755648"/>
                </a:lnTo>
                <a:close/>
              </a:path>
            </a:pathLst>
          </a:custGeom>
          <a:ln w="32003">
            <a:solidFill>
              <a:srgbClr val="6E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30649" y="4597232"/>
            <a:ext cx="4705367" cy="15364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30758" y="4459985"/>
            <a:ext cx="4988560" cy="1755775"/>
          </a:xfrm>
          <a:custGeom>
            <a:avLst/>
            <a:gdLst/>
            <a:ahLst/>
            <a:cxnLst/>
            <a:rect l="l" t="t" r="r" b="b"/>
            <a:pathLst>
              <a:path w="4988560" h="1755775">
                <a:moveTo>
                  <a:pt x="0" y="1755648"/>
                </a:moveTo>
                <a:lnTo>
                  <a:pt x="4988052" y="1755648"/>
                </a:lnTo>
                <a:lnTo>
                  <a:pt x="4988052" y="0"/>
                </a:lnTo>
                <a:lnTo>
                  <a:pt x="0" y="0"/>
                </a:lnTo>
                <a:lnTo>
                  <a:pt x="0" y="1755648"/>
                </a:lnTo>
                <a:close/>
              </a:path>
            </a:pathLst>
          </a:custGeom>
          <a:ln w="3200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815965" y="5816295"/>
            <a:ext cx="2083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avalanche</a:t>
            </a:r>
            <a:r>
              <a:rPr sz="2400" b="1" i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effect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4210" y="908380"/>
            <a:ext cx="355346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65" dirty="0"/>
              <a:t>Đặc </a:t>
            </a:r>
            <a:r>
              <a:rPr spc="-140" dirty="0"/>
              <a:t>tính</a:t>
            </a:r>
            <a:r>
              <a:rPr spc="-290" dirty="0"/>
              <a:t> </a:t>
            </a:r>
            <a:r>
              <a:rPr spc="-280" dirty="0"/>
              <a:t>Diode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56260"/>
            <a:ext cx="8246745" cy="9055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b="1" spc="-195" dirty="0">
                <a:solidFill>
                  <a:srgbClr val="404040"/>
                </a:solidFill>
                <a:latin typeface="Arial"/>
                <a:cs typeface="Arial"/>
              </a:rPr>
              <a:t>Đặc </a:t>
            </a:r>
            <a:r>
              <a:rPr sz="2000" b="1" spc="-85" dirty="0">
                <a:solidFill>
                  <a:srgbClr val="404040"/>
                </a:solidFill>
                <a:latin typeface="Arial"/>
                <a:cs typeface="Arial"/>
              </a:rPr>
              <a:t>tính</a:t>
            </a:r>
            <a:r>
              <a:rPr sz="2000" b="1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65" dirty="0">
                <a:solidFill>
                  <a:srgbClr val="404040"/>
                </a:solidFill>
                <a:latin typeface="Arial"/>
                <a:cs typeface="Arial"/>
              </a:rPr>
              <a:t>V-I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396875" marR="5080" lvl="1" indent="-182880">
              <a:lnSpc>
                <a:spcPts val="1939"/>
              </a:lnSpc>
              <a:spcBef>
                <a:spcPts val="44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135" dirty="0">
                <a:solidFill>
                  <a:srgbClr val="404040"/>
                </a:solidFill>
                <a:latin typeface="Arial"/>
                <a:cs typeface="Arial"/>
              </a:rPr>
              <a:t>Thể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hiện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mối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quan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hệ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cường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110" dirty="0">
                <a:solidFill>
                  <a:srgbClr val="404040"/>
                </a:solidFill>
                <a:latin typeface="Arial"/>
                <a:cs typeface="Arial"/>
              </a:rPr>
              <a:t>chạy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quả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phụ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thuộc 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sz="1800" spc="-15" dirty="0">
                <a:solidFill>
                  <a:srgbClr val="404040"/>
                </a:solidFill>
                <a:latin typeface="Arial"/>
                <a:cs typeface="Arial"/>
              </a:rPr>
              <a:t>độ 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biến </a:t>
            </a:r>
            <a:r>
              <a:rPr sz="1800" spc="-25" dirty="0">
                <a:solidFill>
                  <a:srgbClr val="404040"/>
                </a:solidFill>
                <a:latin typeface="Arial"/>
                <a:cs typeface="Arial"/>
              </a:rPr>
              <a:t>thiên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đầu</a:t>
            </a:r>
            <a:r>
              <a:rPr sz="1800" spc="-2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diode.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94660" y="2840735"/>
            <a:ext cx="3761232" cy="34960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4210" y="908380"/>
            <a:ext cx="355346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65" dirty="0"/>
              <a:t>Đặc </a:t>
            </a:r>
            <a:r>
              <a:rPr spc="-140" dirty="0"/>
              <a:t>tính</a:t>
            </a:r>
            <a:r>
              <a:rPr spc="-290" dirty="0"/>
              <a:t> </a:t>
            </a:r>
            <a:r>
              <a:rPr spc="-280" dirty="0"/>
              <a:t>Diode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56260"/>
            <a:ext cx="6156960" cy="122936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b="1" spc="-195" dirty="0">
                <a:solidFill>
                  <a:srgbClr val="404040"/>
                </a:solidFill>
                <a:latin typeface="Arial"/>
                <a:cs typeface="Arial"/>
              </a:rPr>
              <a:t>Đặc </a:t>
            </a:r>
            <a:r>
              <a:rPr sz="2000" b="1" spc="-85" dirty="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sz="2000" b="1" spc="-65" dirty="0">
                <a:solidFill>
                  <a:srgbClr val="404040"/>
                </a:solidFill>
                <a:latin typeface="Arial"/>
                <a:cs typeface="Arial"/>
              </a:rPr>
              <a:t>V-I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sz="2000" spc="-145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2000" spc="-150" dirty="0">
                <a:solidFill>
                  <a:srgbClr val="404040"/>
                </a:solidFill>
                <a:latin typeface="Arial"/>
                <a:cs typeface="Arial"/>
              </a:rPr>
              <a:t>cực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404040"/>
                </a:solidFill>
                <a:latin typeface="Arial"/>
                <a:cs typeface="Arial"/>
              </a:rPr>
              <a:t>thuận</a:t>
            </a:r>
            <a:endParaRPr sz="2000">
              <a:latin typeface="Arial"/>
              <a:cs typeface="Arial"/>
            </a:endParaRPr>
          </a:p>
          <a:p>
            <a:pPr marL="396875" marR="5080" lvl="1" indent="-182880">
              <a:lnSpc>
                <a:spcPts val="1939"/>
              </a:lnSpc>
              <a:spcBef>
                <a:spcPts val="44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chạy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qua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800" spc="-135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thuận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được 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gọi là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thuận. </a:t>
            </a:r>
            <a:r>
              <a:rPr sz="1800" spc="-180" dirty="0">
                <a:solidFill>
                  <a:srgbClr val="404040"/>
                </a:solidFill>
                <a:latin typeface="Arial"/>
                <a:cs typeface="Arial"/>
              </a:rPr>
              <a:t>Kí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là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sz="1800" spc="-172" baseline="-20833" dirty="0">
                <a:solidFill>
                  <a:srgbClr val="404040"/>
                </a:solidFill>
                <a:latin typeface="Arial"/>
                <a:cs typeface="Arial"/>
              </a:rPr>
              <a:t>F</a:t>
            </a:r>
            <a:endParaRPr sz="1800" baseline="-20833">
              <a:latin typeface="Arial"/>
              <a:cs typeface="Arial"/>
            </a:endParaRPr>
          </a:p>
          <a:p>
            <a:pPr marL="396875" lvl="1" indent="-182880">
              <a:lnSpc>
                <a:spcPct val="100000"/>
              </a:lnSpc>
              <a:spcBef>
                <a:spcPts val="36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800" spc="-185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800" spc="-277" baseline="-20833" dirty="0">
                <a:solidFill>
                  <a:srgbClr val="404040"/>
                </a:solidFill>
                <a:latin typeface="Arial"/>
                <a:cs typeface="Arial"/>
              </a:rPr>
              <a:t>F </a:t>
            </a: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=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0 (V),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sz="1800" spc="-172" baseline="-20833" dirty="0">
                <a:solidFill>
                  <a:srgbClr val="404040"/>
                </a:solidFill>
                <a:latin typeface="Arial"/>
                <a:cs typeface="Arial"/>
              </a:rPr>
              <a:t>F </a:t>
            </a: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=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0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(A).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0312" y="3108452"/>
            <a:ext cx="5957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0504" indent="-217804">
              <a:lnSpc>
                <a:spcPct val="100000"/>
              </a:lnSpc>
              <a:spcBef>
                <a:spcPts val="100"/>
              </a:spcBef>
              <a:buClr>
                <a:srgbClr val="99CA38"/>
              </a:buClr>
              <a:buFont typeface="Wingdings"/>
              <a:buChar char=""/>
              <a:tabLst>
                <a:tab pos="231140" algn="l"/>
              </a:tabLst>
            </a:pP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800" spc="-180" dirty="0">
                <a:solidFill>
                  <a:srgbClr val="404040"/>
                </a:solidFill>
                <a:latin typeface="Arial"/>
                <a:cs typeface="Arial"/>
              </a:rPr>
              <a:t>V </a:t>
            </a:r>
            <a:r>
              <a:rPr sz="1800" b="1" spc="-125" dirty="0">
                <a:solidFill>
                  <a:srgbClr val="404040"/>
                </a:solidFill>
                <a:latin typeface="Arial"/>
                <a:cs typeface="Arial"/>
              </a:rPr>
              <a:t>tăng </a:t>
            </a:r>
            <a:r>
              <a:rPr sz="1800" b="1" spc="-130" dirty="0">
                <a:solidFill>
                  <a:srgbClr val="404040"/>
                </a:solidFill>
                <a:latin typeface="Arial"/>
                <a:cs typeface="Arial"/>
              </a:rPr>
              <a:t>dần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đến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ngưỡng</a:t>
            </a:r>
            <a:r>
              <a:rPr sz="1800" spc="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0312" y="3241040"/>
            <a:ext cx="5956935" cy="2865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777364" algn="ctr">
              <a:lnSpc>
                <a:spcPts val="1170"/>
              </a:lnSpc>
              <a:spcBef>
                <a:spcPts val="100"/>
              </a:spcBef>
            </a:pPr>
            <a:r>
              <a:rPr sz="1200" spc="-185" dirty="0">
                <a:solidFill>
                  <a:srgbClr val="404040"/>
                </a:solidFill>
                <a:latin typeface="Arial"/>
                <a:cs typeface="Arial"/>
              </a:rPr>
              <a:t>F</a:t>
            </a:r>
            <a:endParaRPr sz="1200">
              <a:latin typeface="Arial"/>
              <a:cs typeface="Arial"/>
            </a:endParaRPr>
          </a:p>
          <a:p>
            <a:pPr marL="194945">
              <a:lnSpc>
                <a:spcPts val="1889"/>
              </a:lnSpc>
            </a:pP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diode, </a:t>
            </a: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cường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sz="1800" spc="-172" baseline="-20833" dirty="0">
                <a:solidFill>
                  <a:srgbClr val="404040"/>
                </a:solidFill>
                <a:latin typeface="Arial"/>
                <a:cs typeface="Arial"/>
              </a:rPr>
              <a:t>F </a:t>
            </a:r>
            <a:r>
              <a:rPr sz="1800" b="1" spc="-125" dirty="0">
                <a:solidFill>
                  <a:srgbClr val="404040"/>
                </a:solidFill>
                <a:latin typeface="Arial"/>
                <a:cs typeface="Arial"/>
              </a:rPr>
              <a:t>tăng</a:t>
            </a:r>
            <a:r>
              <a:rPr sz="1800" b="1" spc="-2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spc="-100" dirty="0">
                <a:solidFill>
                  <a:srgbClr val="404040"/>
                </a:solidFill>
                <a:latin typeface="Arial"/>
                <a:cs typeface="Arial"/>
              </a:rPr>
              <a:t>nhẹ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194945" indent="-182245">
              <a:lnSpc>
                <a:spcPts val="2050"/>
              </a:lnSpc>
              <a:spcBef>
                <a:spcPts val="380"/>
              </a:spcBef>
              <a:buClr>
                <a:srgbClr val="99CA38"/>
              </a:buClr>
              <a:buFont typeface="Wingdings"/>
              <a:buChar char=""/>
              <a:tabLst>
                <a:tab pos="247650" algn="l"/>
              </a:tabLst>
            </a:pP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800" spc="-185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800" spc="-277" baseline="-20833" dirty="0">
                <a:solidFill>
                  <a:srgbClr val="404040"/>
                </a:solidFill>
                <a:latin typeface="Arial"/>
                <a:cs typeface="Arial"/>
              </a:rPr>
              <a:t>F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tăng </a:t>
            </a:r>
            <a:r>
              <a:rPr sz="1800" spc="-130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b="1" spc="-120" dirty="0">
                <a:solidFill>
                  <a:srgbClr val="404040"/>
                </a:solidFill>
                <a:latin typeface="Arial"/>
                <a:cs typeface="Arial"/>
              </a:rPr>
              <a:t>lớn </a:t>
            </a:r>
            <a:r>
              <a:rPr sz="1800" b="1" spc="-145" dirty="0">
                <a:solidFill>
                  <a:srgbClr val="404040"/>
                </a:solidFill>
                <a:latin typeface="Arial"/>
                <a:cs typeface="Arial"/>
              </a:rPr>
              <a:t>hơn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thế</a:t>
            </a:r>
            <a:r>
              <a:rPr sz="1800" spc="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ngưỡng</a:t>
            </a:r>
            <a:endParaRPr sz="1800">
              <a:latin typeface="Arial"/>
              <a:cs typeface="Arial"/>
            </a:endParaRPr>
          </a:p>
          <a:p>
            <a:pPr marL="194945">
              <a:lnSpc>
                <a:spcPts val="2050"/>
              </a:lnSpc>
            </a:pP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diode, </a:t>
            </a:r>
            <a:r>
              <a:rPr sz="1800" spc="-130" dirty="0">
                <a:solidFill>
                  <a:srgbClr val="404040"/>
                </a:solidFill>
                <a:latin typeface="Arial"/>
                <a:cs typeface="Arial"/>
              </a:rPr>
              <a:t>cường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sz="1800" spc="-172" baseline="-20833" dirty="0">
                <a:solidFill>
                  <a:srgbClr val="404040"/>
                </a:solidFill>
                <a:latin typeface="Arial"/>
                <a:cs typeface="Arial"/>
              </a:rPr>
              <a:t>F </a:t>
            </a:r>
            <a:r>
              <a:rPr sz="1800" b="1" spc="-120" dirty="0">
                <a:solidFill>
                  <a:srgbClr val="404040"/>
                </a:solidFill>
                <a:latin typeface="Arial"/>
                <a:cs typeface="Arial"/>
              </a:rPr>
              <a:t>tăng</a:t>
            </a:r>
            <a:r>
              <a:rPr sz="1800" b="1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spc="-114" dirty="0">
                <a:solidFill>
                  <a:srgbClr val="404040"/>
                </a:solidFill>
                <a:latin typeface="Arial"/>
                <a:cs typeface="Arial"/>
              </a:rPr>
              <a:t>nhanh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194945" marR="5080" indent="-182245" algn="just">
              <a:lnSpc>
                <a:spcPts val="1939"/>
              </a:lnSpc>
              <a:spcBef>
                <a:spcPts val="635"/>
              </a:spcBef>
              <a:buClr>
                <a:srgbClr val="99CA38"/>
              </a:buClr>
              <a:buFont typeface="Wingdings"/>
              <a:buChar char=""/>
              <a:tabLst>
                <a:tab pos="247650" algn="l"/>
              </a:tabLst>
            </a:pP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Nên </a:t>
            </a:r>
            <a:r>
              <a:rPr sz="1800" spc="-160" dirty="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15" dirty="0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sz="1800" b="1" spc="-130" dirty="0">
                <a:solidFill>
                  <a:srgbClr val="404040"/>
                </a:solidFill>
                <a:latin typeface="Arial"/>
                <a:cs typeface="Arial"/>
              </a:rPr>
              <a:t>giới </a:t>
            </a:r>
            <a:r>
              <a:rPr sz="1800" b="1" spc="-135" dirty="0">
                <a:solidFill>
                  <a:srgbClr val="404040"/>
                </a:solidFill>
                <a:latin typeface="Arial"/>
                <a:cs typeface="Arial"/>
              </a:rPr>
              <a:t>hạn </a:t>
            </a:r>
            <a:r>
              <a:rPr sz="1800" b="1" spc="-165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1800" b="1" spc="-9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tránh 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trường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hợp </a:t>
            </a: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cường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1800" b="1" spc="-125" dirty="0">
                <a:solidFill>
                  <a:srgbClr val="404040"/>
                </a:solidFill>
                <a:latin typeface="Arial"/>
                <a:cs typeface="Arial"/>
              </a:rPr>
              <a:t>tăng quá </a:t>
            </a:r>
            <a:r>
              <a:rPr sz="1800" b="1" spc="-135" dirty="0">
                <a:solidFill>
                  <a:srgbClr val="404040"/>
                </a:solidFill>
                <a:latin typeface="Arial"/>
                <a:cs typeface="Arial"/>
              </a:rPr>
              <a:t>nhanh  </a:t>
            </a:r>
            <a:r>
              <a:rPr sz="1800" spc="-110" dirty="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thể </a:t>
            </a:r>
            <a:r>
              <a:rPr sz="1800" b="1" spc="-200" dirty="0">
                <a:solidFill>
                  <a:srgbClr val="404040"/>
                </a:solidFill>
                <a:latin typeface="Arial"/>
                <a:cs typeface="Arial"/>
              </a:rPr>
              <a:t>gây </a:t>
            </a:r>
            <a:r>
              <a:rPr sz="1800" b="1" spc="-175" dirty="0">
                <a:solidFill>
                  <a:srgbClr val="404040"/>
                </a:solidFill>
                <a:latin typeface="Arial"/>
                <a:cs typeface="Arial"/>
              </a:rPr>
              <a:t>cháy </a:t>
            </a:r>
            <a:r>
              <a:rPr sz="1800" spc="-25" dirty="0">
                <a:solidFill>
                  <a:srgbClr val="404040"/>
                </a:solidFill>
                <a:latin typeface="Arial"/>
                <a:cs typeface="Arial"/>
              </a:rPr>
              <a:t>linh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kiện</a:t>
            </a:r>
            <a:r>
              <a:rPr sz="1800" spc="-2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này.</a:t>
            </a:r>
            <a:endParaRPr sz="1800">
              <a:latin typeface="Arial"/>
              <a:cs typeface="Arial"/>
            </a:endParaRPr>
          </a:p>
          <a:p>
            <a:pPr marL="194945" marR="5715" indent="-182245" algn="just">
              <a:lnSpc>
                <a:spcPct val="90000"/>
              </a:lnSpc>
              <a:spcBef>
                <a:spcPts val="580"/>
              </a:spcBef>
              <a:buClr>
                <a:srgbClr val="99CA38"/>
              </a:buClr>
              <a:buFont typeface="Wingdings"/>
              <a:buChar char=""/>
              <a:tabLst>
                <a:tab pos="247650" algn="l"/>
              </a:tabLst>
            </a:pP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Dựa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sz="1800" b="1" spc="-210" dirty="0">
                <a:solidFill>
                  <a:srgbClr val="404040"/>
                </a:solidFill>
                <a:latin typeface="Arial"/>
                <a:cs typeface="Arial"/>
              </a:rPr>
              <a:t>sự </a:t>
            </a:r>
            <a:r>
              <a:rPr sz="1800" b="1" spc="-105" dirty="0">
                <a:solidFill>
                  <a:srgbClr val="404040"/>
                </a:solidFill>
                <a:latin typeface="Arial"/>
                <a:cs typeface="Arial"/>
              </a:rPr>
              <a:t>thay </a:t>
            </a:r>
            <a:r>
              <a:rPr sz="1800" b="1" spc="-95" dirty="0">
                <a:solidFill>
                  <a:srgbClr val="404040"/>
                </a:solidFill>
                <a:latin typeface="Arial"/>
                <a:cs typeface="Arial"/>
              </a:rPr>
              <a:t>đổi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b="1" spc="-185" dirty="0">
                <a:solidFill>
                  <a:srgbClr val="404040"/>
                </a:solidFill>
                <a:latin typeface="Arial"/>
                <a:cs typeface="Arial"/>
              </a:rPr>
              <a:t>cường </a:t>
            </a:r>
            <a:r>
              <a:rPr sz="1800" b="1" spc="-110" dirty="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sz="1800" b="1" spc="-165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1800" b="1" spc="-9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1800" b="1" spc="-10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800" b="1" spc="-75" dirty="0">
                <a:solidFill>
                  <a:srgbClr val="404040"/>
                </a:solidFill>
                <a:latin typeface="Arial"/>
                <a:cs typeface="Arial"/>
              </a:rPr>
              <a:t>thế  </a:t>
            </a:r>
            <a:r>
              <a:rPr sz="1800" b="1" spc="-105" dirty="0">
                <a:solidFill>
                  <a:srgbClr val="404040"/>
                </a:solidFill>
                <a:latin typeface="Arial"/>
                <a:cs typeface="Arial"/>
              </a:rPr>
              <a:t>thay </a:t>
            </a:r>
            <a:r>
              <a:rPr sz="1800" b="1" spc="-80" dirty="0">
                <a:solidFill>
                  <a:srgbClr val="404040"/>
                </a:solidFill>
                <a:latin typeface="Arial"/>
                <a:cs typeface="Arial"/>
              </a:rPr>
              <a:t>đổi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người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ta </a:t>
            </a:r>
            <a:r>
              <a:rPr sz="1800" spc="-110" dirty="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thể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xem </a:t>
            </a:r>
            <a:r>
              <a:rPr sz="1800" b="1" spc="-114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sz="1800" b="1" spc="-105" dirty="0">
                <a:solidFill>
                  <a:srgbClr val="404040"/>
                </a:solidFill>
                <a:latin typeface="Arial"/>
                <a:cs typeface="Arial"/>
              </a:rPr>
              <a:t>biến </a:t>
            </a:r>
            <a:r>
              <a:rPr sz="1800" b="1" spc="-65" dirty="0">
                <a:solidFill>
                  <a:srgbClr val="404040"/>
                </a:solidFill>
                <a:latin typeface="Arial"/>
                <a:cs typeface="Arial"/>
              </a:rPr>
              <a:t>trở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. 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Biến </a:t>
            </a:r>
            <a:r>
              <a:rPr sz="1800" spc="-15" dirty="0">
                <a:solidFill>
                  <a:srgbClr val="404040"/>
                </a:solidFill>
                <a:latin typeface="Arial"/>
                <a:cs typeface="Arial"/>
              </a:rPr>
              <a:t>trở  </a:t>
            </a:r>
            <a:r>
              <a:rPr sz="1800" spc="-110" dirty="0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thay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đổi 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sz="1800" spc="40" dirty="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phụ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thuộc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áp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hai 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sz="18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nó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094816" y="2286949"/>
            <a:ext cx="1234440" cy="1281430"/>
          </a:xfrm>
          <a:custGeom>
            <a:avLst/>
            <a:gdLst/>
            <a:ahLst/>
            <a:cxnLst/>
            <a:rect l="l" t="t" r="r" b="b"/>
            <a:pathLst>
              <a:path w="1234440" h="1281429">
                <a:moveTo>
                  <a:pt x="0" y="1281219"/>
                </a:moveTo>
                <a:lnTo>
                  <a:pt x="1234256" y="1281219"/>
                </a:lnTo>
                <a:lnTo>
                  <a:pt x="1234256" y="0"/>
                </a:lnTo>
                <a:lnTo>
                  <a:pt x="0" y="0"/>
                </a:lnTo>
                <a:lnTo>
                  <a:pt x="0" y="1281219"/>
                </a:lnTo>
                <a:close/>
              </a:path>
            </a:pathLst>
          </a:custGeom>
          <a:ln w="16624">
            <a:solidFill>
              <a:srgbClr val="23201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98946" y="2438596"/>
            <a:ext cx="592455" cy="0"/>
          </a:xfrm>
          <a:custGeom>
            <a:avLst/>
            <a:gdLst/>
            <a:ahLst/>
            <a:cxnLst/>
            <a:rect l="l" t="t" r="r" b="b"/>
            <a:pathLst>
              <a:path w="592454">
                <a:moveTo>
                  <a:pt x="592029" y="0"/>
                </a:moveTo>
                <a:lnTo>
                  <a:pt x="0" y="0"/>
                </a:lnTo>
              </a:path>
            </a:pathLst>
          </a:custGeom>
          <a:ln w="16514">
            <a:solidFill>
              <a:srgbClr val="EE2E7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40286" y="2404614"/>
            <a:ext cx="101600" cy="67945"/>
          </a:xfrm>
          <a:custGeom>
            <a:avLst/>
            <a:gdLst/>
            <a:ahLst/>
            <a:cxnLst/>
            <a:rect l="l" t="t" r="r" b="b"/>
            <a:pathLst>
              <a:path w="101600" h="67944">
                <a:moveTo>
                  <a:pt x="0" y="0"/>
                </a:moveTo>
                <a:lnTo>
                  <a:pt x="0" y="67459"/>
                </a:lnTo>
                <a:lnTo>
                  <a:pt x="101376" y="33981"/>
                </a:lnTo>
                <a:lnTo>
                  <a:pt x="0" y="0"/>
                </a:lnTo>
                <a:close/>
              </a:path>
            </a:pathLst>
          </a:custGeom>
          <a:solidFill>
            <a:srgbClr val="EE2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103430" y="2792640"/>
            <a:ext cx="0" cy="269875"/>
          </a:xfrm>
          <a:custGeom>
            <a:avLst/>
            <a:gdLst/>
            <a:ahLst/>
            <a:cxnLst/>
            <a:rect l="l" t="t" r="r" b="b"/>
            <a:pathLst>
              <a:path h="269875">
                <a:moveTo>
                  <a:pt x="0" y="0"/>
                </a:moveTo>
                <a:lnTo>
                  <a:pt x="0" y="269836"/>
                </a:lnTo>
              </a:path>
            </a:pathLst>
          </a:custGeom>
          <a:ln w="8414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027410" y="2775891"/>
            <a:ext cx="135890" cy="303530"/>
          </a:xfrm>
          <a:custGeom>
            <a:avLst/>
            <a:gdLst/>
            <a:ahLst/>
            <a:cxnLst/>
            <a:rect l="l" t="t" r="r" b="b"/>
            <a:pathLst>
              <a:path w="135890" h="303530">
                <a:moveTo>
                  <a:pt x="67407" y="0"/>
                </a:moveTo>
                <a:lnTo>
                  <a:pt x="135325" y="33477"/>
                </a:lnTo>
                <a:lnTo>
                  <a:pt x="0" y="84208"/>
                </a:lnTo>
                <a:lnTo>
                  <a:pt x="135325" y="117685"/>
                </a:lnTo>
                <a:lnTo>
                  <a:pt x="0" y="168395"/>
                </a:lnTo>
                <a:lnTo>
                  <a:pt x="135325" y="219126"/>
                </a:lnTo>
                <a:lnTo>
                  <a:pt x="0" y="269836"/>
                </a:lnTo>
                <a:lnTo>
                  <a:pt x="67407" y="303314"/>
                </a:lnTo>
              </a:path>
            </a:pathLst>
          </a:custGeom>
          <a:ln w="16691">
            <a:solidFill>
              <a:srgbClr val="23201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610622" y="2168759"/>
            <a:ext cx="202703" cy="2191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608759" y="2411864"/>
            <a:ext cx="210820" cy="265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i="1" spc="10" dirty="0">
                <a:solidFill>
                  <a:srgbClr val="EE2E71"/>
                </a:solidFill>
                <a:latin typeface="Arial"/>
                <a:cs typeface="Arial"/>
              </a:rPr>
              <a:t>I</a:t>
            </a:r>
            <a:r>
              <a:rPr sz="1550" i="1" spc="-295" dirty="0">
                <a:solidFill>
                  <a:srgbClr val="EE2E71"/>
                </a:solidFill>
                <a:latin typeface="Arial"/>
                <a:cs typeface="Arial"/>
              </a:rPr>
              <a:t> </a:t>
            </a:r>
            <a:r>
              <a:rPr sz="1950" spc="22" baseline="-10683" dirty="0">
                <a:solidFill>
                  <a:srgbClr val="EE2E71"/>
                </a:solidFill>
                <a:latin typeface="Arial"/>
                <a:cs typeface="Arial"/>
              </a:rPr>
              <a:t>F</a:t>
            </a:r>
            <a:endParaRPr sz="1950" baseline="-10683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686356" y="3517952"/>
            <a:ext cx="67945" cy="84455"/>
          </a:xfrm>
          <a:custGeom>
            <a:avLst/>
            <a:gdLst/>
            <a:ahLst/>
            <a:cxnLst/>
            <a:rect l="l" t="t" r="r" b="b"/>
            <a:pathLst>
              <a:path w="67945" h="84454">
                <a:moveTo>
                  <a:pt x="0" y="84197"/>
                </a:moveTo>
                <a:lnTo>
                  <a:pt x="67921" y="84197"/>
                </a:lnTo>
                <a:lnTo>
                  <a:pt x="67921" y="0"/>
                </a:lnTo>
                <a:lnTo>
                  <a:pt x="0" y="0"/>
                </a:lnTo>
                <a:lnTo>
                  <a:pt x="0" y="841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754274" y="3517952"/>
            <a:ext cx="50800" cy="84455"/>
          </a:xfrm>
          <a:custGeom>
            <a:avLst/>
            <a:gdLst/>
            <a:ahLst/>
            <a:cxnLst/>
            <a:rect l="l" t="t" r="r" b="b"/>
            <a:pathLst>
              <a:path w="50800" h="84454">
                <a:moveTo>
                  <a:pt x="0" y="84197"/>
                </a:moveTo>
                <a:lnTo>
                  <a:pt x="50688" y="84197"/>
                </a:lnTo>
                <a:lnTo>
                  <a:pt x="50688" y="0"/>
                </a:lnTo>
                <a:lnTo>
                  <a:pt x="0" y="0"/>
                </a:lnTo>
                <a:lnTo>
                  <a:pt x="0" y="841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745661" y="3365781"/>
            <a:ext cx="0" cy="388620"/>
          </a:xfrm>
          <a:custGeom>
            <a:avLst/>
            <a:gdLst/>
            <a:ahLst/>
            <a:cxnLst/>
            <a:rect l="l" t="t" r="r" b="b"/>
            <a:pathLst>
              <a:path h="388620">
                <a:moveTo>
                  <a:pt x="0" y="0"/>
                </a:moveTo>
                <a:lnTo>
                  <a:pt x="0" y="388026"/>
                </a:lnTo>
              </a:path>
            </a:pathLst>
          </a:custGeom>
          <a:ln w="17233">
            <a:solidFill>
              <a:srgbClr val="23201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804712" y="3467232"/>
            <a:ext cx="0" cy="186055"/>
          </a:xfrm>
          <a:custGeom>
            <a:avLst/>
            <a:gdLst/>
            <a:ahLst/>
            <a:cxnLst/>
            <a:rect l="l" t="t" r="r" b="b"/>
            <a:pathLst>
              <a:path h="186054">
                <a:moveTo>
                  <a:pt x="0" y="0"/>
                </a:moveTo>
                <a:lnTo>
                  <a:pt x="0" y="185640"/>
                </a:lnTo>
              </a:path>
            </a:pathLst>
          </a:custGeom>
          <a:ln w="33960">
            <a:solidFill>
              <a:srgbClr val="23201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618928" y="3517952"/>
            <a:ext cx="67945" cy="84455"/>
          </a:xfrm>
          <a:custGeom>
            <a:avLst/>
            <a:gdLst/>
            <a:ahLst/>
            <a:cxnLst/>
            <a:rect l="l" t="t" r="r" b="b"/>
            <a:pathLst>
              <a:path w="67945" h="84454">
                <a:moveTo>
                  <a:pt x="0" y="84197"/>
                </a:moveTo>
                <a:lnTo>
                  <a:pt x="67415" y="84197"/>
                </a:lnTo>
                <a:lnTo>
                  <a:pt x="67415" y="0"/>
                </a:lnTo>
                <a:lnTo>
                  <a:pt x="0" y="0"/>
                </a:lnTo>
                <a:lnTo>
                  <a:pt x="0" y="841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627292" y="3365781"/>
            <a:ext cx="0" cy="388620"/>
          </a:xfrm>
          <a:custGeom>
            <a:avLst/>
            <a:gdLst/>
            <a:ahLst/>
            <a:cxnLst/>
            <a:rect l="l" t="t" r="r" b="b"/>
            <a:pathLst>
              <a:path h="388620">
                <a:moveTo>
                  <a:pt x="0" y="0"/>
                </a:moveTo>
                <a:lnTo>
                  <a:pt x="0" y="388026"/>
                </a:lnTo>
              </a:path>
            </a:pathLst>
          </a:custGeom>
          <a:ln w="16727">
            <a:solidFill>
              <a:srgbClr val="23201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686596" y="3467232"/>
            <a:ext cx="0" cy="186055"/>
          </a:xfrm>
          <a:custGeom>
            <a:avLst/>
            <a:gdLst/>
            <a:ahLst/>
            <a:cxnLst/>
            <a:rect l="l" t="t" r="r" b="b"/>
            <a:pathLst>
              <a:path h="186054">
                <a:moveTo>
                  <a:pt x="0" y="0"/>
                </a:moveTo>
                <a:lnTo>
                  <a:pt x="0" y="185640"/>
                </a:lnTo>
              </a:path>
            </a:pathLst>
          </a:custGeom>
          <a:ln w="33960">
            <a:solidFill>
              <a:srgbClr val="23201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800290" y="2546044"/>
            <a:ext cx="263525" cy="717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2240">
              <a:lnSpc>
                <a:spcPts val="1650"/>
              </a:lnSpc>
              <a:spcBef>
                <a:spcPts val="90"/>
              </a:spcBef>
            </a:pPr>
            <a:r>
              <a:rPr sz="1450" spc="5" dirty="0">
                <a:solidFill>
                  <a:srgbClr val="23201D"/>
                </a:solidFill>
                <a:latin typeface="Arial"/>
                <a:cs typeface="Arial"/>
              </a:rPr>
              <a:t>–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ts val="1770"/>
              </a:lnSpc>
            </a:pPr>
            <a:r>
              <a:rPr sz="1550" i="1" spc="30" dirty="0">
                <a:solidFill>
                  <a:srgbClr val="23201D"/>
                </a:solidFill>
                <a:latin typeface="Arial"/>
                <a:cs typeface="Arial"/>
              </a:rPr>
              <a:t>R</a:t>
            </a:r>
            <a:endParaRPr sz="1550">
              <a:latin typeface="Arial"/>
              <a:cs typeface="Arial"/>
            </a:endParaRPr>
          </a:p>
          <a:p>
            <a:pPr marL="142240">
              <a:lnSpc>
                <a:spcPct val="100000"/>
              </a:lnSpc>
              <a:spcBef>
                <a:spcPts val="300"/>
              </a:spcBef>
            </a:pPr>
            <a:r>
              <a:rPr sz="1450" spc="5" dirty="0">
                <a:solidFill>
                  <a:srgbClr val="23201D"/>
                </a:solidFill>
                <a:latin typeface="Arial"/>
                <a:cs typeface="Arial"/>
              </a:rPr>
              <a:t>+</a:t>
            </a:r>
            <a:endParaRPr sz="14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54163" y="1854938"/>
            <a:ext cx="568325" cy="3968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78740" algn="ctr">
              <a:lnSpc>
                <a:spcPts val="1510"/>
              </a:lnSpc>
              <a:spcBef>
                <a:spcPts val="120"/>
              </a:spcBef>
            </a:pPr>
            <a:r>
              <a:rPr sz="1550" spc="-105" dirty="0">
                <a:solidFill>
                  <a:srgbClr val="23201D"/>
                </a:solidFill>
                <a:latin typeface="Arial"/>
                <a:cs typeface="Arial"/>
              </a:rPr>
              <a:t>V</a:t>
            </a:r>
            <a:endParaRPr sz="1550">
              <a:latin typeface="Arial"/>
              <a:cs typeface="Arial"/>
            </a:endParaRPr>
          </a:p>
          <a:p>
            <a:pPr algn="ctr">
              <a:lnSpc>
                <a:spcPts val="1390"/>
              </a:lnSpc>
              <a:tabLst>
                <a:tab pos="287020" algn="l"/>
              </a:tabLst>
            </a:pPr>
            <a:r>
              <a:rPr sz="1450" spc="5" dirty="0">
                <a:solidFill>
                  <a:srgbClr val="23201D"/>
                </a:solidFill>
                <a:latin typeface="Arial"/>
                <a:cs typeface="Arial"/>
              </a:rPr>
              <a:t>+	</a:t>
            </a:r>
            <a:r>
              <a:rPr sz="1950" spc="22" baseline="23504" dirty="0">
                <a:solidFill>
                  <a:srgbClr val="23201D"/>
                </a:solidFill>
                <a:latin typeface="Arial"/>
                <a:cs typeface="Arial"/>
              </a:rPr>
              <a:t>F</a:t>
            </a:r>
            <a:r>
              <a:rPr sz="1950" spc="-82" baseline="23504" dirty="0">
                <a:solidFill>
                  <a:srgbClr val="23201D"/>
                </a:solidFill>
                <a:latin typeface="Arial"/>
                <a:cs typeface="Arial"/>
              </a:rPr>
              <a:t> </a:t>
            </a:r>
            <a:r>
              <a:rPr sz="1450" spc="5" dirty="0">
                <a:solidFill>
                  <a:srgbClr val="23201D"/>
                </a:solidFill>
                <a:latin typeface="Arial"/>
                <a:cs typeface="Arial"/>
              </a:rPr>
              <a:t>–</a:t>
            </a:r>
            <a:endParaRPr sz="14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36934" y="3103184"/>
            <a:ext cx="593725" cy="46418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3500">
              <a:lnSpc>
                <a:spcPts val="1775"/>
              </a:lnSpc>
              <a:spcBef>
                <a:spcPts val="120"/>
              </a:spcBef>
            </a:pPr>
            <a:r>
              <a:rPr sz="2325" spc="-165" baseline="14336" dirty="0">
                <a:solidFill>
                  <a:srgbClr val="23201D"/>
                </a:solidFill>
                <a:latin typeface="Arial"/>
                <a:cs typeface="Arial"/>
              </a:rPr>
              <a:t>V</a:t>
            </a:r>
            <a:r>
              <a:rPr sz="1300" spc="60" dirty="0">
                <a:solidFill>
                  <a:srgbClr val="23201D"/>
                </a:solidFill>
                <a:latin typeface="Arial"/>
                <a:cs typeface="Arial"/>
              </a:rPr>
              <a:t>B</a:t>
            </a:r>
            <a:r>
              <a:rPr sz="1300" spc="30" dirty="0">
                <a:solidFill>
                  <a:srgbClr val="23201D"/>
                </a:solidFill>
                <a:latin typeface="Arial"/>
                <a:cs typeface="Arial"/>
              </a:rPr>
              <a:t>I</a:t>
            </a:r>
            <a:r>
              <a:rPr sz="1300" spc="60" dirty="0">
                <a:solidFill>
                  <a:srgbClr val="23201D"/>
                </a:solidFill>
                <a:latin typeface="Arial"/>
                <a:cs typeface="Arial"/>
              </a:rPr>
              <a:t>A</a:t>
            </a:r>
            <a:r>
              <a:rPr sz="1300" spc="15" dirty="0">
                <a:solidFill>
                  <a:srgbClr val="23201D"/>
                </a:solidFill>
                <a:latin typeface="Arial"/>
                <a:cs typeface="Arial"/>
              </a:rPr>
              <a:t>S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ts val="1655"/>
              </a:lnSpc>
              <a:tabLst>
                <a:tab pos="469265" algn="l"/>
              </a:tabLst>
            </a:pPr>
            <a:r>
              <a:rPr sz="1450" spc="5" dirty="0">
                <a:solidFill>
                  <a:srgbClr val="23201D"/>
                </a:solidFill>
                <a:latin typeface="Arial"/>
                <a:cs typeface="Arial"/>
              </a:rPr>
              <a:t>+	–</a:t>
            </a:r>
            <a:endParaRPr sz="14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171943" y="3744467"/>
            <a:ext cx="2734055" cy="25085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4210" y="908380"/>
            <a:ext cx="355346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65" dirty="0"/>
              <a:t>Đặc </a:t>
            </a:r>
            <a:r>
              <a:rPr spc="-140" dirty="0"/>
              <a:t>tính</a:t>
            </a:r>
            <a:r>
              <a:rPr spc="-290" dirty="0"/>
              <a:t> </a:t>
            </a:r>
            <a:r>
              <a:rPr spc="-280" dirty="0"/>
              <a:t>Diode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56260"/>
            <a:ext cx="6158865" cy="368046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b="1" spc="-195" dirty="0">
                <a:solidFill>
                  <a:srgbClr val="404040"/>
                </a:solidFill>
                <a:latin typeface="Arial"/>
                <a:cs typeface="Arial"/>
              </a:rPr>
              <a:t>Đặc </a:t>
            </a:r>
            <a:r>
              <a:rPr sz="2000" b="1" spc="-85" dirty="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sz="2000" b="1" spc="-65" dirty="0">
                <a:solidFill>
                  <a:srgbClr val="404040"/>
                </a:solidFill>
                <a:latin typeface="Arial"/>
                <a:cs typeface="Arial"/>
              </a:rPr>
              <a:t>V-I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sz="2000" spc="-145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2000" spc="-150" dirty="0">
                <a:solidFill>
                  <a:srgbClr val="404040"/>
                </a:solidFill>
                <a:latin typeface="Arial"/>
                <a:cs typeface="Arial"/>
              </a:rPr>
              <a:t>cực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75" dirty="0">
                <a:solidFill>
                  <a:srgbClr val="404040"/>
                </a:solidFill>
                <a:latin typeface="Arial"/>
                <a:cs typeface="Arial"/>
              </a:rPr>
              <a:t>nghịch</a:t>
            </a:r>
            <a:endParaRPr sz="2000">
              <a:latin typeface="Arial"/>
              <a:cs typeface="Arial"/>
            </a:endParaRPr>
          </a:p>
          <a:p>
            <a:pPr marL="396875" lvl="1" indent="-182880">
              <a:lnSpc>
                <a:spcPct val="100000"/>
              </a:lnSpc>
              <a:spcBef>
                <a:spcPts val="20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800" spc="-172" baseline="-20833" dirty="0">
                <a:solidFill>
                  <a:srgbClr val="404040"/>
                </a:solidFill>
                <a:latin typeface="Arial"/>
                <a:cs typeface="Arial"/>
              </a:rPr>
              <a:t>Bias </a:t>
            </a: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=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0 (V),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I </a:t>
            </a: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=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0</a:t>
            </a:r>
            <a:r>
              <a:rPr sz="1800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(A).</a:t>
            </a:r>
            <a:endParaRPr sz="1800">
              <a:latin typeface="Arial"/>
              <a:cs typeface="Arial"/>
            </a:endParaRPr>
          </a:p>
          <a:p>
            <a:pPr marL="396875" marR="5080" lvl="1" indent="-182880" algn="just">
              <a:lnSpc>
                <a:spcPts val="1950"/>
              </a:lnSpc>
              <a:spcBef>
                <a:spcPts val="625"/>
              </a:spcBef>
              <a:buClr>
                <a:srgbClr val="99CA38"/>
              </a:buClr>
              <a:buFont typeface="Wingdings"/>
              <a:buChar char=""/>
              <a:tabLst>
                <a:tab pos="432434" algn="l"/>
              </a:tabLst>
            </a:pP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800" spc="-172" baseline="-20833" dirty="0">
                <a:solidFill>
                  <a:srgbClr val="404040"/>
                </a:solidFill>
                <a:latin typeface="Arial"/>
                <a:cs typeface="Arial"/>
              </a:rPr>
              <a:t>Bias </a:t>
            </a:r>
            <a:r>
              <a:rPr sz="1800" b="1" spc="-120" dirty="0">
                <a:solidFill>
                  <a:srgbClr val="404040"/>
                </a:solidFill>
                <a:latin typeface="Arial"/>
                <a:cs typeface="Arial"/>
              </a:rPr>
              <a:t>tăng </a:t>
            </a:r>
            <a:r>
              <a:rPr sz="1800" b="1" spc="-114" dirty="0">
                <a:solidFill>
                  <a:srgbClr val="404040"/>
                </a:solidFill>
                <a:latin typeface="Arial"/>
                <a:cs typeface="Arial"/>
              </a:rPr>
              <a:t>dần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cường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I </a:t>
            </a:r>
            <a:r>
              <a:rPr sz="1800" spc="-110" dirty="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sz="1800" spc="-15" dirty="0">
                <a:solidFill>
                  <a:srgbClr val="404040"/>
                </a:solidFill>
                <a:latin typeface="Arial"/>
                <a:cs typeface="Arial"/>
              </a:rPr>
              <a:t>tồn  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tại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nhưng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vô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cùng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bé 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(xem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như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I </a:t>
            </a: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=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0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A).</a:t>
            </a:r>
            <a:endParaRPr sz="1800">
              <a:latin typeface="Arial"/>
              <a:cs typeface="Arial"/>
            </a:endParaRPr>
          </a:p>
          <a:p>
            <a:pPr marL="396875" marR="7620" lvl="1" indent="-182880" algn="just">
              <a:lnSpc>
                <a:spcPts val="1939"/>
              </a:lnSpc>
              <a:spcBef>
                <a:spcPts val="59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800" spc="-110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800" spc="-165" baseline="-20833" dirty="0">
                <a:solidFill>
                  <a:srgbClr val="404040"/>
                </a:solidFill>
                <a:latin typeface="Arial"/>
                <a:cs typeface="Arial"/>
              </a:rPr>
              <a:t>Bias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tăng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b="1" spc="-120" dirty="0">
                <a:solidFill>
                  <a:srgbClr val="404040"/>
                </a:solidFill>
                <a:latin typeface="Arial"/>
                <a:cs typeface="Arial"/>
              </a:rPr>
              <a:t>lớn </a:t>
            </a:r>
            <a:r>
              <a:rPr sz="1800" b="1" spc="-145" dirty="0">
                <a:solidFill>
                  <a:srgbClr val="404040"/>
                </a:solidFill>
                <a:latin typeface="Arial"/>
                <a:cs typeface="Arial"/>
              </a:rPr>
              <a:t>hơn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đánh 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thủng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diode, </a:t>
            </a: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cường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I </a:t>
            </a:r>
            <a:r>
              <a:rPr sz="1800" b="1" spc="-120" dirty="0">
                <a:solidFill>
                  <a:srgbClr val="404040"/>
                </a:solidFill>
                <a:latin typeface="Arial"/>
                <a:cs typeface="Arial"/>
              </a:rPr>
              <a:t>tăng </a:t>
            </a:r>
            <a:r>
              <a:rPr sz="1800" b="1" spc="-55" dirty="0">
                <a:solidFill>
                  <a:srgbClr val="404040"/>
                </a:solidFill>
                <a:latin typeface="Arial"/>
                <a:cs typeface="Arial"/>
              </a:rPr>
              <a:t>rất</a:t>
            </a:r>
            <a:r>
              <a:rPr sz="1800" b="1" spc="-3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spc="-120" dirty="0">
                <a:solidFill>
                  <a:srgbClr val="404040"/>
                </a:solidFill>
                <a:latin typeface="Arial"/>
                <a:cs typeface="Arial"/>
              </a:rPr>
              <a:t>nhanh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396875" marR="5080" lvl="1" indent="-182880" algn="just">
              <a:lnSpc>
                <a:spcPct val="90000"/>
              </a:lnSpc>
              <a:spcBef>
                <a:spcPts val="57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thường,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trường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hợp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sz="1800" b="1" spc="-160" dirty="0">
                <a:solidFill>
                  <a:srgbClr val="404040"/>
                </a:solidFill>
                <a:latin typeface="Arial"/>
                <a:cs typeface="Arial"/>
              </a:rPr>
              <a:t>không </a:t>
            </a:r>
            <a:r>
              <a:rPr sz="1800" b="1" spc="-114" dirty="0">
                <a:solidFill>
                  <a:srgbClr val="404040"/>
                </a:solidFill>
                <a:latin typeface="Arial"/>
                <a:cs typeface="Arial"/>
              </a:rPr>
              <a:t>phải </a:t>
            </a:r>
            <a:r>
              <a:rPr sz="1800" b="1" spc="-90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800" b="1" spc="-165" dirty="0">
                <a:solidFill>
                  <a:srgbClr val="404040"/>
                </a:solidFill>
                <a:latin typeface="Arial"/>
                <a:cs typeface="Arial"/>
              </a:rPr>
              <a:t>chế </a:t>
            </a:r>
            <a:r>
              <a:rPr sz="1800" b="1" spc="-110" dirty="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sz="1800" b="1" spc="-90" dirty="0">
                <a:solidFill>
                  <a:srgbClr val="404040"/>
                </a:solidFill>
                <a:latin typeface="Arial"/>
                <a:cs typeface="Arial"/>
              </a:rPr>
              <a:t>hoạt  </a:t>
            </a:r>
            <a:r>
              <a:rPr sz="1800" b="1" spc="-150" dirty="0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sz="1800" b="1" spc="-120" dirty="0">
                <a:solidFill>
                  <a:srgbClr val="404040"/>
                </a:solidFill>
                <a:latin typeface="Arial"/>
                <a:cs typeface="Arial"/>
              </a:rPr>
              <a:t>bình </a:t>
            </a:r>
            <a:r>
              <a:rPr sz="1800" b="1" spc="-135" dirty="0">
                <a:solidFill>
                  <a:srgbClr val="404040"/>
                </a:solidFill>
                <a:latin typeface="Arial"/>
                <a:cs typeface="Arial"/>
              </a:rPr>
              <a:t>thường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diode. </a:t>
            </a:r>
            <a:r>
              <a:rPr sz="1800" spc="-165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nguy </a:t>
            </a:r>
            <a:r>
              <a:rPr sz="1800" spc="-145" dirty="0">
                <a:solidFill>
                  <a:srgbClr val="404040"/>
                </a:solidFill>
                <a:latin typeface="Arial"/>
                <a:cs typeface="Arial"/>
              </a:rPr>
              <a:t>cơ </a:t>
            </a:r>
            <a:r>
              <a:rPr sz="1800" spc="-25" dirty="0">
                <a:solidFill>
                  <a:srgbClr val="404040"/>
                </a:solidFill>
                <a:latin typeface="Arial"/>
                <a:cs typeface="Arial"/>
              </a:rPr>
              <a:t>bị </a:t>
            </a:r>
            <a:r>
              <a:rPr sz="1800" b="1" spc="-165" dirty="0">
                <a:solidFill>
                  <a:srgbClr val="404040"/>
                </a:solidFill>
                <a:latin typeface="Arial"/>
                <a:cs typeface="Arial"/>
              </a:rPr>
              <a:t>cháy 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nếu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không </a:t>
            </a:r>
            <a:r>
              <a:rPr sz="1800" spc="-160" dirty="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sz="1800" b="1" spc="-9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b="1" spc="-60" dirty="0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sz="1800" b="1" spc="-130" dirty="0">
                <a:solidFill>
                  <a:srgbClr val="404040"/>
                </a:solidFill>
                <a:latin typeface="Arial"/>
                <a:cs typeface="Arial"/>
              </a:rPr>
              <a:t>giới </a:t>
            </a:r>
            <a:r>
              <a:rPr sz="1800" b="1" spc="-135" dirty="0">
                <a:solidFill>
                  <a:srgbClr val="404040"/>
                </a:solidFill>
                <a:latin typeface="Arial"/>
                <a:cs typeface="Arial"/>
              </a:rPr>
              <a:t>hạn </a:t>
            </a:r>
            <a:r>
              <a:rPr sz="1800" b="1" spc="-170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1800" b="1" spc="-10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sz="1800" spc="45" dirty="0">
                <a:solidFill>
                  <a:srgbClr val="404040"/>
                </a:solidFill>
                <a:latin typeface="Arial"/>
                <a:cs typeface="Arial"/>
              </a:rPr>
              <a:t>trị  </a:t>
            </a:r>
            <a:r>
              <a:rPr sz="1800" b="1" spc="-135" dirty="0">
                <a:solidFill>
                  <a:srgbClr val="404040"/>
                </a:solidFill>
                <a:latin typeface="Arial"/>
                <a:cs typeface="Arial"/>
              </a:rPr>
              <a:t>phù</a:t>
            </a:r>
            <a:r>
              <a:rPr sz="1800" b="1" spc="-114" dirty="0">
                <a:solidFill>
                  <a:srgbClr val="404040"/>
                </a:solidFill>
                <a:latin typeface="Arial"/>
                <a:cs typeface="Arial"/>
              </a:rPr>
              <a:t> hợp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396875" marR="6350" lvl="1" indent="-182880" algn="just">
              <a:lnSpc>
                <a:spcPct val="90100"/>
              </a:lnSpc>
              <a:spcBef>
                <a:spcPts val="60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135" dirty="0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sz="1800" spc="40" dirty="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b="1" spc="-110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800" b="1" spc="-9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b="1" spc="-75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800" b="1" spc="-120" dirty="0">
                <a:solidFill>
                  <a:srgbClr val="404040"/>
                </a:solidFill>
                <a:latin typeface="Arial"/>
                <a:cs typeface="Arial"/>
              </a:rPr>
              <a:t>đánh </a:t>
            </a:r>
            <a:r>
              <a:rPr sz="1800" b="1" spc="-130" dirty="0">
                <a:solidFill>
                  <a:srgbClr val="404040"/>
                </a:solidFill>
                <a:latin typeface="Arial"/>
                <a:cs typeface="Arial"/>
              </a:rPr>
              <a:t>thủng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phụ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thuộc 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sz="1800" b="1" spc="-180" dirty="0">
                <a:solidFill>
                  <a:srgbClr val="404040"/>
                </a:solidFill>
                <a:latin typeface="Arial"/>
                <a:cs typeface="Arial"/>
              </a:rPr>
              <a:t>mức  </a:t>
            </a:r>
            <a:r>
              <a:rPr sz="1800" b="1" spc="-110" dirty="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sz="1800" b="1" spc="-130" dirty="0">
                <a:solidFill>
                  <a:srgbClr val="404040"/>
                </a:solidFill>
                <a:latin typeface="Arial"/>
                <a:cs typeface="Arial"/>
              </a:rPr>
              <a:t>pha </a:t>
            </a:r>
            <a:r>
              <a:rPr sz="1800" b="1" spc="-75" dirty="0">
                <a:solidFill>
                  <a:srgbClr val="404040"/>
                </a:solidFill>
                <a:latin typeface="Arial"/>
                <a:cs typeface="Arial"/>
              </a:rPr>
              <a:t>tạp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spc="-145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vật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liệu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bán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dẫn. 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Nó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sz="1800" spc="5" dirty="0">
                <a:solidFill>
                  <a:srgbClr val="404040"/>
                </a:solidFill>
                <a:latin typeface="Arial"/>
                <a:cs typeface="Arial"/>
              </a:rPr>
              <a:t>thiết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lập bởi  </a:t>
            </a:r>
            <a:r>
              <a:rPr sz="1800" b="1" spc="-125" dirty="0">
                <a:solidFill>
                  <a:srgbClr val="404040"/>
                </a:solidFill>
                <a:latin typeface="Arial"/>
                <a:cs typeface="Arial"/>
              </a:rPr>
              <a:t>nhà </a:t>
            </a:r>
            <a:r>
              <a:rPr sz="1800" b="1" spc="-180" dirty="0">
                <a:solidFill>
                  <a:srgbClr val="404040"/>
                </a:solidFill>
                <a:latin typeface="Arial"/>
                <a:cs typeface="Arial"/>
              </a:rPr>
              <a:t>sản</a:t>
            </a:r>
            <a:r>
              <a:rPr sz="1800" b="1" spc="-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spc="-90" dirty="0">
                <a:solidFill>
                  <a:srgbClr val="404040"/>
                </a:solidFill>
                <a:latin typeface="Arial"/>
                <a:cs typeface="Arial"/>
              </a:rPr>
              <a:t>xuất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98804" y="2757485"/>
            <a:ext cx="185420" cy="2876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i="1" spc="25" dirty="0">
                <a:solidFill>
                  <a:srgbClr val="23201D"/>
                </a:solidFill>
                <a:latin typeface="Arial"/>
                <a:cs typeface="Arial"/>
              </a:rPr>
              <a:t>R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02659" y="2236182"/>
            <a:ext cx="1336040" cy="1384935"/>
          </a:xfrm>
          <a:custGeom>
            <a:avLst/>
            <a:gdLst/>
            <a:ahLst/>
            <a:cxnLst/>
            <a:rect l="l" t="t" r="r" b="b"/>
            <a:pathLst>
              <a:path w="1336040" h="1384935">
                <a:moveTo>
                  <a:pt x="0" y="1384621"/>
                </a:moveTo>
                <a:lnTo>
                  <a:pt x="1335794" y="1384621"/>
                </a:lnTo>
                <a:lnTo>
                  <a:pt x="1335794" y="0"/>
                </a:lnTo>
                <a:lnTo>
                  <a:pt x="0" y="0"/>
                </a:lnTo>
                <a:lnTo>
                  <a:pt x="0" y="1384621"/>
                </a:lnTo>
                <a:close/>
              </a:path>
            </a:pathLst>
          </a:custGeom>
          <a:ln w="18225">
            <a:solidFill>
              <a:srgbClr val="23201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02396" y="2771694"/>
            <a:ext cx="0" cy="313690"/>
          </a:xfrm>
          <a:custGeom>
            <a:avLst/>
            <a:gdLst/>
            <a:ahLst/>
            <a:cxnLst/>
            <a:rect l="l" t="t" r="r" b="b"/>
            <a:pathLst>
              <a:path h="313689">
                <a:moveTo>
                  <a:pt x="0" y="0"/>
                </a:moveTo>
                <a:lnTo>
                  <a:pt x="0" y="313617"/>
                </a:lnTo>
              </a:path>
            </a:pathLst>
          </a:custGeom>
          <a:ln w="7390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928206" y="2771672"/>
            <a:ext cx="148590" cy="313690"/>
          </a:xfrm>
          <a:custGeom>
            <a:avLst/>
            <a:gdLst/>
            <a:ahLst/>
            <a:cxnLst/>
            <a:rect l="l" t="t" r="r" b="b"/>
            <a:pathLst>
              <a:path w="148590" h="313689">
                <a:moveTo>
                  <a:pt x="74453" y="0"/>
                </a:moveTo>
                <a:lnTo>
                  <a:pt x="148369" y="18362"/>
                </a:lnTo>
                <a:lnTo>
                  <a:pt x="0" y="73957"/>
                </a:lnTo>
                <a:lnTo>
                  <a:pt x="148369" y="129022"/>
                </a:lnTo>
                <a:lnTo>
                  <a:pt x="0" y="184617"/>
                </a:lnTo>
                <a:lnTo>
                  <a:pt x="148369" y="239682"/>
                </a:lnTo>
                <a:lnTo>
                  <a:pt x="0" y="295277"/>
                </a:lnTo>
                <a:lnTo>
                  <a:pt x="74453" y="313640"/>
                </a:lnTo>
              </a:path>
            </a:pathLst>
          </a:custGeom>
          <a:ln w="18294">
            <a:solidFill>
              <a:srgbClr val="23201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68647" y="2106607"/>
            <a:ext cx="203892" cy="2402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393936" y="2355439"/>
            <a:ext cx="65976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i="1" spc="10" dirty="0">
                <a:solidFill>
                  <a:srgbClr val="EE2E71"/>
                </a:solidFill>
                <a:latin typeface="Arial"/>
                <a:cs typeface="Arial"/>
              </a:rPr>
              <a:t>I </a:t>
            </a:r>
            <a:r>
              <a:rPr sz="1700" spc="25" dirty="0">
                <a:solidFill>
                  <a:srgbClr val="EE2E71"/>
                </a:solidFill>
                <a:latin typeface="Arial"/>
                <a:cs typeface="Arial"/>
              </a:rPr>
              <a:t>= 0</a:t>
            </a:r>
            <a:r>
              <a:rPr sz="1700" spc="-200" dirty="0">
                <a:solidFill>
                  <a:srgbClr val="EE2E71"/>
                </a:solidFill>
                <a:latin typeface="Arial"/>
                <a:cs typeface="Arial"/>
              </a:rPr>
              <a:t> </a:t>
            </a:r>
            <a:r>
              <a:rPr sz="1700" spc="30" dirty="0">
                <a:solidFill>
                  <a:srgbClr val="EE2E71"/>
                </a:solidFill>
                <a:latin typeface="Arial"/>
                <a:cs typeface="Arial"/>
              </a:rPr>
              <a:t>A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97830" y="1912010"/>
            <a:ext cx="13843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25" dirty="0">
                <a:solidFill>
                  <a:srgbClr val="23201D"/>
                </a:solidFill>
                <a:latin typeface="Arial"/>
                <a:cs typeface="Arial"/>
              </a:rPr>
              <a:t>–</a:t>
            </a:r>
            <a:endParaRPr sz="15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42893" y="1930924"/>
            <a:ext cx="1441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25" dirty="0">
                <a:solidFill>
                  <a:srgbClr val="23201D"/>
                </a:solidFill>
                <a:latin typeface="Arial"/>
                <a:cs typeface="Arial"/>
              </a:rPr>
              <a:t>+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97830" y="3352800"/>
            <a:ext cx="13843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25" dirty="0">
                <a:solidFill>
                  <a:srgbClr val="23201D"/>
                </a:solidFill>
                <a:latin typeface="Arial"/>
                <a:cs typeface="Arial"/>
              </a:rPr>
              <a:t>–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42893" y="3371141"/>
            <a:ext cx="1441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25" dirty="0">
                <a:solidFill>
                  <a:srgbClr val="23201D"/>
                </a:solidFill>
                <a:latin typeface="Arial"/>
                <a:cs typeface="Arial"/>
              </a:rPr>
              <a:t>+</a:t>
            </a:r>
            <a:endParaRPr sz="15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651680" y="3584107"/>
            <a:ext cx="74930" cy="92710"/>
          </a:xfrm>
          <a:custGeom>
            <a:avLst/>
            <a:gdLst/>
            <a:ahLst/>
            <a:cxnLst/>
            <a:rect l="l" t="t" r="r" b="b"/>
            <a:pathLst>
              <a:path w="74929" h="92710">
                <a:moveTo>
                  <a:pt x="0" y="92308"/>
                </a:moveTo>
                <a:lnTo>
                  <a:pt x="74457" y="92308"/>
                </a:lnTo>
                <a:lnTo>
                  <a:pt x="74457" y="0"/>
                </a:lnTo>
                <a:lnTo>
                  <a:pt x="0" y="0"/>
                </a:lnTo>
                <a:lnTo>
                  <a:pt x="0" y="923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596114" y="3584107"/>
            <a:ext cx="55880" cy="92710"/>
          </a:xfrm>
          <a:custGeom>
            <a:avLst/>
            <a:gdLst/>
            <a:ahLst/>
            <a:cxnLst/>
            <a:rect l="l" t="t" r="r" b="b"/>
            <a:pathLst>
              <a:path w="55879" h="92710">
                <a:moveTo>
                  <a:pt x="0" y="92308"/>
                </a:moveTo>
                <a:lnTo>
                  <a:pt x="55565" y="92308"/>
                </a:lnTo>
                <a:lnTo>
                  <a:pt x="55565" y="0"/>
                </a:lnTo>
                <a:lnTo>
                  <a:pt x="0" y="0"/>
                </a:lnTo>
                <a:lnTo>
                  <a:pt x="0" y="923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651944" y="3417852"/>
            <a:ext cx="0" cy="425450"/>
          </a:xfrm>
          <a:custGeom>
            <a:avLst/>
            <a:gdLst/>
            <a:ahLst/>
            <a:cxnLst/>
            <a:rect l="l" t="t" r="r" b="b"/>
            <a:pathLst>
              <a:path h="425450">
                <a:moveTo>
                  <a:pt x="0" y="0"/>
                </a:moveTo>
                <a:lnTo>
                  <a:pt x="0" y="424830"/>
                </a:lnTo>
              </a:path>
            </a:pathLst>
          </a:custGeom>
          <a:ln w="37228">
            <a:solidFill>
              <a:srgbClr val="23201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586933" y="3528499"/>
            <a:ext cx="0" cy="203835"/>
          </a:xfrm>
          <a:custGeom>
            <a:avLst/>
            <a:gdLst/>
            <a:ahLst/>
            <a:cxnLst/>
            <a:rect l="l" t="t" r="r" b="b"/>
            <a:pathLst>
              <a:path h="203835">
                <a:moveTo>
                  <a:pt x="0" y="0"/>
                </a:moveTo>
                <a:lnTo>
                  <a:pt x="0" y="203523"/>
                </a:lnTo>
              </a:path>
            </a:pathLst>
          </a:custGeom>
          <a:ln w="18336">
            <a:solidFill>
              <a:srgbClr val="23201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726134" y="3584107"/>
            <a:ext cx="55880" cy="92710"/>
          </a:xfrm>
          <a:custGeom>
            <a:avLst/>
            <a:gdLst/>
            <a:ahLst/>
            <a:cxnLst/>
            <a:rect l="l" t="t" r="r" b="b"/>
            <a:pathLst>
              <a:path w="55879" h="92710">
                <a:moveTo>
                  <a:pt x="0" y="92308"/>
                </a:moveTo>
                <a:lnTo>
                  <a:pt x="55565" y="92308"/>
                </a:lnTo>
                <a:lnTo>
                  <a:pt x="55565" y="0"/>
                </a:lnTo>
                <a:lnTo>
                  <a:pt x="0" y="0"/>
                </a:lnTo>
                <a:lnTo>
                  <a:pt x="0" y="923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781708" y="3417852"/>
            <a:ext cx="0" cy="425450"/>
          </a:xfrm>
          <a:custGeom>
            <a:avLst/>
            <a:gdLst/>
            <a:ahLst/>
            <a:cxnLst/>
            <a:rect l="l" t="t" r="r" b="b"/>
            <a:pathLst>
              <a:path h="425450">
                <a:moveTo>
                  <a:pt x="0" y="0"/>
                </a:moveTo>
                <a:lnTo>
                  <a:pt x="0" y="424830"/>
                </a:lnTo>
              </a:path>
            </a:pathLst>
          </a:custGeom>
          <a:ln w="36673">
            <a:solidFill>
              <a:srgbClr val="23201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716692" y="3528499"/>
            <a:ext cx="0" cy="203835"/>
          </a:xfrm>
          <a:custGeom>
            <a:avLst/>
            <a:gdLst/>
            <a:ahLst/>
            <a:cxnLst/>
            <a:rect l="l" t="t" r="r" b="b"/>
            <a:pathLst>
              <a:path h="203835">
                <a:moveTo>
                  <a:pt x="0" y="0"/>
                </a:moveTo>
                <a:lnTo>
                  <a:pt x="0" y="203523"/>
                </a:lnTo>
              </a:path>
            </a:pathLst>
          </a:custGeom>
          <a:ln w="18892">
            <a:solidFill>
              <a:srgbClr val="23201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323913" y="1745991"/>
            <a:ext cx="53721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390" baseline="14705" dirty="0">
                <a:solidFill>
                  <a:srgbClr val="23201D"/>
                </a:solidFill>
                <a:latin typeface="Arial"/>
                <a:cs typeface="Arial"/>
              </a:rPr>
              <a:t>V</a:t>
            </a:r>
            <a:r>
              <a:rPr sz="1400" spc="-60" dirty="0">
                <a:solidFill>
                  <a:srgbClr val="23201D"/>
                </a:solidFill>
                <a:latin typeface="Arial"/>
                <a:cs typeface="Arial"/>
              </a:rPr>
              <a:t>B</a:t>
            </a:r>
            <a:r>
              <a:rPr sz="1400" spc="40" dirty="0">
                <a:solidFill>
                  <a:srgbClr val="23201D"/>
                </a:solidFill>
                <a:latin typeface="Arial"/>
                <a:cs typeface="Arial"/>
              </a:rPr>
              <a:t>I</a:t>
            </a:r>
            <a:r>
              <a:rPr sz="1400" spc="-60" dirty="0">
                <a:solidFill>
                  <a:srgbClr val="23201D"/>
                </a:solidFill>
                <a:latin typeface="Arial"/>
                <a:cs typeface="Arial"/>
              </a:rPr>
              <a:t>A</a:t>
            </a:r>
            <a:r>
              <a:rPr sz="1400" spc="35" dirty="0">
                <a:solidFill>
                  <a:srgbClr val="23201D"/>
                </a:solidFill>
                <a:latin typeface="Arial"/>
                <a:cs typeface="Arial"/>
              </a:rPr>
              <a:t>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342264" y="3130612"/>
            <a:ext cx="55626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172" baseline="14705" dirty="0">
                <a:solidFill>
                  <a:srgbClr val="23201D"/>
                </a:solidFill>
                <a:latin typeface="Arial"/>
                <a:cs typeface="Arial"/>
              </a:rPr>
              <a:t>V</a:t>
            </a:r>
            <a:r>
              <a:rPr sz="1400" spc="-60" dirty="0">
                <a:solidFill>
                  <a:srgbClr val="23201D"/>
                </a:solidFill>
                <a:latin typeface="Arial"/>
                <a:cs typeface="Arial"/>
              </a:rPr>
              <a:t>B</a:t>
            </a:r>
            <a:r>
              <a:rPr sz="1400" spc="40" dirty="0">
                <a:solidFill>
                  <a:srgbClr val="23201D"/>
                </a:solidFill>
                <a:latin typeface="Arial"/>
                <a:cs typeface="Arial"/>
              </a:rPr>
              <a:t>I</a:t>
            </a:r>
            <a:r>
              <a:rPr sz="1400" spc="-60" dirty="0">
                <a:solidFill>
                  <a:srgbClr val="23201D"/>
                </a:solidFill>
                <a:latin typeface="Arial"/>
                <a:cs typeface="Arial"/>
              </a:rPr>
              <a:t>A</a:t>
            </a:r>
            <a:r>
              <a:rPr sz="1400" spc="35" dirty="0">
                <a:solidFill>
                  <a:srgbClr val="23201D"/>
                </a:solidFill>
                <a:latin typeface="Arial"/>
                <a:cs typeface="Arial"/>
              </a:rPr>
              <a:t>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481979" y="3963111"/>
            <a:ext cx="2374621" cy="22898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4210" y="908380"/>
            <a:ext cx="355346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65" dirty="0"/>
              <a:t>Đặc </a:t>
            </a:r>
            <a:r>
              <a:rPr spc="-140" dirty="0"/>
              <a:t>tính</a:t>
            </a:r>
            <a:r>
              <a:rPr spc="-290" dirty="0"/>
              <a:t> </a:t>
            </a:r>
            <a:r>
              <a:rPr spc="-280" dirty="0"/>
              <a:t>Diode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58693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b="1" spc="-175" dirty="0">
                <a:solidFill>
                  <a:srgbClr val="404040"/>
                </a:solidFill>
                <a:latin typeface="Arial"/>
                <a:cs typeface="Arial"/>
              </a:rPr>
              <a:t>Ảnh hưởng </a:t>
            </a:r>
            <a:r>
              <a:rPr sz="2000" b="1" spc="-185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2000" b="1" spc="-90" dirty="0">
                <a:solidFill>
                  <a:srgbClr val="404040"/>
                </a:solidFill>
                <a:latin typeface="Arial"/>
                <a:cs typeface="Arial"/>
              </a:rPr>
              <a:t>nhiệt </a:t>
            </a:r>
            <a:r>
              <a:rPr sz="2000" b="1" spc="-114" dirty="0">
                <a:solidFill>
                  <a:srgbClr val="404040"/>
                </a:solidFill>
                <a:latin typeface="Arial"/>
                <a:cs typeface="Arial"/>
              </a:rPr>
              <a:t>độ đến </a:t>
            </a:r>
            <a:r>
              <a:rPr sz="2000" b="1" spc="-235" dirty="0">
                <a:solidFill>
                  <a:srgbClr val="404040"/>
                </a:solidFill>
                <a:latin typeface="Arial"/>
                <a:cs typeface="Arial"/>
              </a:rPr>
              <a:t>sự </a:t>
            </a:r>
            <a:r>
              <a:rPr sz="2000" b="1" spc="-105" dirty="0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sz="2000" b="1" spc="-165" dirty="0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sz="2000" b="1" spc="-185" dirty="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sz="2000" b="1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404040"/>
                </a:solidFill>
                <a:latin typeface="Arial"/>
                <a:cs typeface="Arial"/>
              </a:rPr>
              <a:t>diode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14711" y="2345579"/>
            <a:ext cx="4111422" cy="38293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373" y="908380"/>
            <a:ext cx="55194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90" dirty="0"/>
              <a:t>Các </a:t>
            </a:r>
            <a:r>
              <a:rPr spc="-210" dirty="0"/>
              <a:t>mô </a:t>
            </a:r>
            <a:r>
              <a:rPr spc="-240" dirty="0"/>
              <a:t>hình </a:t>
            </a:r>
            <a:r>
              <a:rPr spc="-355" dirty="0"/>
              <a:t>của</a:t>
            </a:r>
            <a:r>
              <a:rPr spc="-395" dirty="0"/>
              <a:t> </a:t>
            </a:r>
            <a:r>
              <a:rPr spc="-280" dirty="0"/>
              <a:t>Diode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78839" y="1856260"/>
            <a:ext cx="8199755" cy="377507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thường,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sz="2000" b="1" spc="-100" dirty="0">
                <a:solidFill>
                  <a:srgbClr val="404040"/>
                </a:solidFill>
                <a:latin typeface="Arial"/>
                <a:cs typeface="Arial"/>
              </a:rPr>
              <a:t>3 loại </a:t>
            </a:r>
            <a:r>
              <a:rPr sz="2000" b="1" spc="-150" dirty="0">
                <a:solidFill>
                  <a:srgbClr val="404040"/>
                </a:solidFill>
                <a:latin typeface="Arial"/>
                <a:cs typeface="Arial"/>
              </a:rPr>
              <a:t>mô </a:t>
            </a:r>
            <a:r>
              <a:rPr sz="2000" b="1" spc="-130" dirty="0">
                <a:solidFill>
                  <a:srgbClr val="404040"/>
                </a:solidFill>
                <a:latin typeface="Arial"/>
                <a:cs typeface="Arial"/>
              </a:rPr>
              <a:t>hình </a:t>
            </a:r>
            <a:r>
              <a:rPr sz="2000" b="1" spc="-215" dirty="0">
                <a:solidFill>
                  <a:srgbClr val="404040"/>
                </a:solidFill>
                <a:latin typeface="Arial"/>
                <a:cs typeface="Arial"/>
              </a:rPr>
              <a:t>cơ</a:t>
            </a:r>
            <a:r>
              <a:rPr sz="2000" b="1" spc="-2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10" dirty="0">
                <a:solidFill>
                  <a:srgbClr val="404040"/>
                </a:solidFill>
                <a:latin typeface="Arial"/>
                <a:cs typeface="Arial"/>
              </a:rPr>
              <a:t>bản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396875" marR="5080" lvl="1" indent="-182880" algn="just">
              <a:lnSpc>
                <a:spcPct val="90000"/>
              </a:lnSpc>
              <a:spcBef>
                <a:spcPts val="41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b="1" spc="-35" dirty="0">
                <a:solidFill>
                  <a:srgbClr val="404040"/>
                </a:solidFill>
                <a:latin typeface="Arial"/>
                <a:cs typeface="Arial"/>
              </a:rPr>
              <a:t>Mô </a:t>
            </a:r>
            <a:r>
              <a:rPr sz="1800" b="1" spc="-120" dirty="0">
                <a:solidFill>
                  <a:srgbClr val="404040"/>
                </a:solidFill>
                <a:latin typeface="Arial"/>
                <a:cs typeface="Arial"/>
              </a:rPr>
              <a:t>hình diode </a:t>
            </a:r>
            <a:r>
              <a:rPr sz="1800" b="1" spc="-105" dirty="0">
                <a:solidFill>
                  <a:srgbClr val="404040"/>
                </a:solidFill>
                <a:latin typeface="Arial"/>
                <a:cs typeface="Arial"/>
              </a:rPr>
              <a:t>lý </a:t>
            </a:r>
            <a:r>
              <a:rPr sz="1800" b="1" spc="-114" dirty="0">
                <a:solidFill>
                  <a:srgbClr val="404040"/>
                </a:solidFill>
                <a:latin typeface="Arial"/>
                <a:cs typeface="Arial"/>
              </a:rPr>
              <a:t>tưởng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đây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mô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hình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1800" b="1" spc="-20" dirty="0">
                <a:solidFill>
                  <a:srgbClr val="404040"/>
                </a:solidFill>
                <a:latin typeface="Arial"/>
                <a:cs typeface="Arial"/>
              </a:rPr>
              <a:t>ít </a:t>
            </a:r>
            <a:r>
              <a:rPr sz="1800" b="1" spc="-150" dirty="0">
                <a:solidFill>
                  <a:srgbClr val="404040"/>
                </a:solidFill>
                <a:latin typeface="Arial"/>
                <a:cs typeface="Arial"/>
              </a:rPr>
              <a:t>chính </a:t>
            </a:r>
            <a:r>
              <a:rPr sz="1800" b="1" spc="-185" dirty="0">
                <a:solidFill>
                  <a:srgbClr val="404040"/>
                </a:solidFill>
                <a:latin typeface="Arial"/>
                <a:cs typeface="Arial"/>
              </a:rPr>
              <a:t>xác </a:t>
            </a:r>
            <a:r>
              <a:rPr sz="1800" b="1" spc="-85" dirty="0">
                <a:solidFill>
                  <a:srgbClr val="404040"/>
                </a:solidFill>
                <a:latin typeface="Arial"/>
                <a:cs typeface="Arial"/>
              </a:rPr>
              <a:t>nhất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. </a:t>
            </a:r>
            <a:r>
              <a:rPr sz="1800" spc="-110" dirty="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mô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hình 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này,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biểu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diễn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như </a:t>
            </a: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sz="1800" b="1" spc="-195" dirty="0">
                <a:solidFill>
                  <a:srgbClr val="404040"/>
                </a:solidFill>
                <a:latin typeface="Arial"/>
                <a:cs typeface="Arial"/>
              </a:rPr>
              <a:t>công </a:t>
            </a:r>
            <a:r>
              <a:rPr sz="1800" b="1" spc="-100" dirty="0">
                <a:solidFill>
                  <a:srgbClr val="404040"/>
                </a:solidFill>
                <a:latin typeface="Arial"/>
                <a:cs typeface="Arial"/>
              </a:rPr>
              <a:t>tắc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. </a:t>
            </a: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Công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tắc </a:t>
            </a: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sz="1800" b="1" spc="-150" dirty="0">
                <a:solidFill>
                  <a:srgbClr val="404040"/>
                </a:solidFill>
                <a:latin typeface="Arial"/>
                <a:cs typeface="Arial"/>
              </a:rPr>
              <a:t>đóng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1800" b="1" spc="-135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800" b="1" spc="-220" dirty="0">
                <a:solidFill>
                  <a:srgbClr val="404040"/>
                </a:solidFill>
                <a:latin typeface="Arial"/>
                <a:cs typeface="Arial"/>
              </a:rPr>
              <a:t>cực  </a:t>
            </a:r>
            <a:r>
              <a:rPr sz="1800" b="1" spc="-100" dirty="0">
                <a:solidFill>
                  <a:srgbClr val="404040"/>
                </a:solidFill>
                <a:latin typeface="Arial"/>
                <a:cs typeface="Arial"/>
              </a:rPr>
              <a:t>thuận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800" b="1" spc="-114" dirty="0">
                <a:solidFill>
                  <a:srgbClr val="404040"/>
                </a:solidFill>
                <a:latin typeface="Arial"/>
                <a:cs typeface="Arial"/>
              </a:rPr>
              <a:t>lớn </a:t>
            </a:r>
            <a:r>
              <a:rPr sz="1800" b="1" spc="-145" dirty="0">
                <a:solidFill>
                  <a:srgbClr val="404040"/>
                </a:solidFill>
                <a:latin typeface="Arial"/>
                <a:cs typeface="Arial"/>
              </a:rPr>
              <a:t>hơn </a:t>
            </a:r>
            <a:r>
              <a:rPr sz="1800" b="1" spc="-90" dirty="0">
                <a:solidFill>
                  <a:srgbClr val="404040"/>
                </a:solidFill>
                <a:latin typeface="Arial"/>
                <a:cs typeface="Arial"/>
              </a:rPr>
              <a:t>0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công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tắc </a:t>
            </a:r>
            <a:r>
              <a:rPr sz="1800" b="1" spc="-145" dirty="0">
                <a:solidFill>
                  <a:srgbClr val="404040"/>
                </a:solidFill>
                <a:latin typeface="Arial"/>
                <a:cs typeface="Arial"/>
              </a:rPr>
              <a:t>mở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1800" b="1" spc="-135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800" b="1" spc="-215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1800" b="1" spc="-170" dirty="0">
                <a:solidFill>
                  <a:srgbClr val="404040"/>
                </a:solidFill>
                <a:latin typeface="Arial"/>
                <a:cs typeface="Arial"/>
              </a:rPr>
              <a:t>nghịch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với 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800" b="1" spc="-114" dirty="0">
                <a:solidFill>
                  <a:srgbClr val="404040"/>
                </a:solidFill>
                <a:latin typeface="Arial"/>
                <a:cs typeface="Arial"/>
              </a:rPr>
              <a:t>bé </a:t>
            </a:r>
            <a:r>
              <a:rPr sz="1800" b="1" spc="-140" dirty="0">
                <a:solidFill>
                  <a:srgbClr val="404040"/>
                </a:solidFill>
                <a:latin typeface="Arial"/>
                <a:cs typeface="Arial"/>
              </a:rPr>
              <a:t>hơn</a:t>
            </a:r>
            <a:r>
              <a:rPr sz="1800" b="1" spc="-229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spc="-70" dirty="0">
                <a:solidFill>
                  <a:srgbClr val="404040"/>
                </a:solidFill>
                <a:latin typeface="Arial"/>
                <a:cs typeface="Arial"/>
              </a:rPr>
              <a:t>0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396875" marR="5715" lvl="1" indent="-182880" algn="just">
              <a:lnSpc>
                <a:spcPct val="90000"/>
              </a:lnSpc>
              <a:spcBef>
                <a:spcPts val="60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b="1" spc="-35" dirty="0">
                <a:solidFill>
                  <a:srgbClr val="404040"/>
                </a:solidFill>
                <a:latin typeface="Arial"/>
                <a:cs typeface="Arial"/>
              </a:rPr>
              <a:t>Mô </a:t>
            </a:r>
            <a:r>
              <a:rPr sz="1800" b="1" spc="-125" dirty="0">
                <a:solidFill>
                  <a:srgbClr val="404040"/>
                </a:solidFill>
                <a:latin typeface="Arial"/>
                <a:cs typeface="Arial"/>
              </a:rPr>
              <a:t>hình </a:t>
            </a:r>
            <a:r>
              <a:rPr sz="1800" b="1" spc="-120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1800" b="1" spc="-105" dirty="0">
                <a:solidFill>
                  <a:srgbClr val="404040"/>
                </a:solidFill>
                <a:latin typeface="Arial"/>
                <a:cs typeface="Arial"/>
              </a:rPr>
              <a:t>thực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mô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hình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quan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tâm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đến </a:t>
            </a:r>
            <a:r>
              <a:rPr sz="1800" b="1" spc="-9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b="1" spc="-75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800" b="1" spc="-180" dirty="0">
                <a:solidFill>
                  <a:srgbClr val="404040"/>
                </a:solidFill>
                <a:latin typeface="Arial"/>
                <a:cs typeface="Arial"/>
              </a:rPr>
              <a:t>ngưỡng </a:t>
            </a:r>
            <a:r>
              <a:rPr sz="1800" b="1" spc="-17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b="1" spc="-110" dirty="0">
                <a:solidFill>
                  <a:srgbClr val="404040"/>
                </a:solidFill>
                <a:latin typeface="Arial"/>
                <a:cs typeface="Arial"/>
              </a:rPr>
              <a:t>diode</a:t>
            </a:r>
            <a:r>
              <a:rPr sz="1800" spc="-110" dirty="0">
                <a:solidFill>
                  <a:srgbClr val="404040"/>
                </a:solidFill>
                <a:latin typeface="Arial"/>
                <a:cs typeface="Arial"/>
              </a:rPr>
              <a:t>. 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cũng được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biểu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diễn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như </a:t>
            </a: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sz="1800" b="1" spc="-195" dirty="0">
                <a:solidFill>
                  <a:srgbClr val="404040"/>
                </a:solidFill>
                <a:latin typeface="Arial"/>
                <a:cs typeface="Arial"/>
              </a:rPr>
              <a:t>công </a:t>
            </a:r>
            <a:r>
              <a:rPr sz="1800" b="1" spc="-100" dirty="0">
                <a:solidFill>
                  <a:srgbClr val="404040"/>
                </a:solidFill>
                <a:latin typeface="Arial"/>
                <a:cs typeface="Arial"/>
              </a:rPr>
              <a:t>tắc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sz="1800" spc="-15" dirty="0">
                <a:solidFill>
                  <a:srgbClr val="404040"/>
                </a:solidFill>
                <a:latin typeface="Arial"/>
                <a:cs typeface="Arial"/>
              </a:rPr>
              <a:t>tuy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nhiên,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công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tắc </a:t>
            </a: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sz="1800" b="1" spc="-150" dirty="0">
                <a:solidFill>
                  <a:srgbClr val="404040"/>
                </a:solidFill>
                <a:latin typeface="Arial"/>
                <a:cs typeface="Arial"/>
              </a:rPr>
              <a:t>đóng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khi 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1800" b="1" spc="-130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800" b="1" spc="-215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1800" b="1" spc="-100" dirty="0">
                <a:solidFill>
                  <a:srgbClr val="404040"/>
                </a:solidFill>
                <a:latin typeface="Arial"/>
                <a:cs typeface="Arial"/>
              </a:rPr>
              <a:t>thuận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800" b="1" spc="-114" dirty="0">
                <a:solidFill>
                  <a:srgbClr val="404040"/>
                </a:solidFill>
                <a:latin typeface="Arial"/>
                <a:cs typeface="Arial"/>
              </a:rPr>
              <a:t>lớn </a:t>
            </a:r>
            <a:r>
              <a:rPr sz="1800" b="1" spc="-140" dirty="0">
                <a:solidFill>
                  <a:srgbClr val="404040"/>
                </a:solidFill>
                <a:latin typeface="Arial"/>
                <a:cs typeface="Arial"/>
              </a:rPr>
              <a:t>hơn </a:t>
            </a:r>
            <a:r>
              <a:rPr sz="1800" b="1" spc="-114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800" b="1" spc="-10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b="1" spc="-75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800" b="1" spc="-180" dirty="0">
                <a:solidFill>
                  <a:srgbClr val="404040"/>
                </a:solidFill>
                <a:latin typeface="Arial"/>
                <a:cs typeface="Arial"/>
              </a:rPr>
              <a:t>ngưỡng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(thông 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thường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800" b="1" spc="-85" dirty="0">
                <a:solidFill>
                  <a:srgbClr val="404040"/>
                </a:solidFill>
                <a:latin typeface="Arial"/>
                <a:cs typeface="Arial"/>
              </a:rPr>
              <a:t>0.7V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)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công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tắc </a:t>
            </a: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sz="1800" b="1" spc="-145" dirty="0">
                <a:solidFill>
                  <a:srgbClr val="404040"/>
                </a:solidFill>
                <a:latin typeface="Arial"/>
                <a:cs typeface="Arial"/>
              </a:rPr>
              <a:t>mở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1800" b="1" spc="-135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800" b="1" spc="-215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1800" b="1" spc="-165" dirty="0">
                <a:solidFill>
                  <a:srgbClr val="404040"/>
                </a:solidFill>
                <a:latin typeface="Arial"/>
                <a:cs typeface="Arial"/>
              </a:rPr>
              <a:t>nghịch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800" b="1" spc="-125" dirty="0">
                <a:solidFill>
                  <a:srgbClr val="404040"/>
                </a:solidFill>
                <a:latin typeface="Arial"/>
                <a:cs typeface="Arial"/>
              </a:rPr>
              <a:t>bé  </a:t>
            </a:r>
            <a:r>
              <a:rPr sz="1800" b="1" spc="-140" dirty="0">
                <a:solidFill>
                  <a:srgbClr val="404040"/>
                </a:solidFill>
                <a:latin typeface="Arial"/>
                <a:cs typeface="Arial"/>
              </a:rPr>
              <a:t>hơn </a:t>
            </a:r>
            <a:r>
              <a:rPr sz="1800" b="1" spc="-10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800" b="1" spc="-9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b="1" spc="-70" dirty="0">
                <a:solidFill>
                  <a:srgbClr val="404040"/>
                </a:solidFill>
                <a:latin typeface="Arial"/>
                <a:cs typeface="Arial"/>
              </a:rPr>
              <a:t>thế</a:t>
            </a:r>
            <a:r>
              <a:rPr sz="1800" b="1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spc="-160" dirty="0">
                <a:solidFill>
                  <a:srgbClr val="404040"/>
                </a:solidFill>
                <a:latin typeface="Arial"/>
                <a:cs typeface="Arial"/>
              </a:rPr>
              <a:t>ngưỡng</a:t>
            </a:r>
            <a:r>
              <a:rPr sz="1800" spc="-160" dirty="0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396875" marR="5715" lvl="1" indent="-182880" algn="just">
              <a:lnSpc>
                <a:spcPct val="90000"/>
              </a:lnSpc>
              <a:spcBef>
                <a:spcPts val="60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b="1" spc="-35" dirty="0">
                <a:solidFill>
                  <a:srgbClr val="404040"/>
                </a:solidFill>
                <a:latin typeface="Arial"/>
                <a:cs typeface="Arial"/>
              </a:rPr>
              <a:t>Mô </a:t>
            </a:r>
            <a:r>
              <a:rPr sz="1800" b="1" spc="-114" dirty="0">
                <a:solidFill>
                  <a:srgbClr val="404040"/>
                </a:solidFill>
                <a:latin typeface="Arial"/>
                <a:cs typeface="Arial"/>
              </a:rPr>
              <a:t>hình </a:t>
            </a:r>
            <a:r>
              <a:rPr sz="1800" b="1" spc="-120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1800" b="1" spc="-135" dirty="0">
                <a:solidFill>
                  <a:srgbClr val="404040"/>
                </a:solidFill>
                <a:latin typeface="Arial"/>
                <a:cs typeface="Arial"/>
              </a:rPr>
              <a:t>hoàn </a:t>
            </a:r>
            <a:r>
              <a:rPr sz="1800" b="1" spc="-130" dirty="0">
                <a:solidFill>
                  <a:srgbClr val="404040"/>
                </a:solidFill>
                <a:latin typeface="Arial"/>
                <a:cs typeface="Arial"/>
              </a:rPr>
              <a:t>chỉnh</a:t>
            </a:r>
            <a:r>
              <a:rPr sz="1800" spc="-130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mô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hình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sz="1800" b="1" spc="-130" dirty="0">
                <a:solidFill>
                  <a:srgbClr val="404040"/>
                </a:solidFill>
                <a:latin typeface="Arial"/>
                <a:cs typeface="Arial"/>
              </a:rPr>
              <a:t>tương </a:t>
            </a:r>
            <a:r>
              <a:rPr sz="1800" b="1" spc="-90" dirty="0">
                <a:solidFill>
                  <a:srgbClr val="404040"/>
                </a:solidFill>
                <a:latin typeface="Arial"/>
                <a:cs typeface="Arial"/>
              </a:rPr>
              <a:t>đối </a:t>
            </a:r>
            <a:r>
              <a:rPr sz="1800" b="1" spc="-150" dirty="0">
                <a:solidFill>
                  <a:srgbClr val="404040"/>
                </a:solidFill>
                <a:latin typeface="Arial"/>
                <a:cs typeface="Arial"/>
              </a:rPr>
              <a:t>chính </a:t>
            </a:r>
            <a:r>
              <a:rPr sz="1800" b="1" spc="-185" dirty="0">
                <a:solidFill>
                  <a:srgbClr val="404040"/>
                </a:solidFill>
                <a:latin typeface="Arial"/>
                <a:cs typeface="Arial"/>
              </a:rPr>
              <a:t>xác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b="1" spc="-130" dirty="0">
                <a:solidFill>
                  <a:srgbClr val="404040"/>
                </a:solidFill>
                <a:latin typeface="Arial"/>
                <a:cs typeface="Arial"/>
              </a:rPr>
              <a:t>thường </a:t>
            </a:r>
            <a:r>
              <a:rPr sz="1800" b="1" spc="-155" dirty="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sz="1800" b="1" spc="-215" dirty="0">
                <a:solidFill>
                  <a:srgbClr val="404040"/>
                </a:solidFill>
                <a:latin typeface="Arial"/>
                <a:cs typeface="Arial"/>
              </a:rPr>
              <a:t>sử  </a:t>
            </a:r>
            <a:r>
              <a:rPr sz="1800" b="1" spc="-145" dirty="0">
                <a:solidFill>
                  <a:srgbClr val="404040"/>
                </a:solidFill>
                <a:latin typeface="Arial"/>
                <a:cs typeface="Arial"/>
              </a:rPr>
              <a:t>dụng</a:t>
            </a:r>
            <a:r>
              <a:rPr sz="1800" spc="-145" dirty="0">
                <a:solidFill>
                  <a:srgbClr val="404040"/>
                </a:solidFill>
                <a:latin typeface="Arial"/>
                <a:cs typeface="Arial"/>
              </a:rPr>
              <a:t>. 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Mô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hình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biểu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diễn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dưới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dạng </a:t>
            </a: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sz="1800" b="1" spc="-190" dirty="0">
                <a:solidFill>
                  <a:srgbClr val="404040"/>
                </a:solidFill>
                <a:latin typeface="Arial"/>
                <a:cs typeface="Arial"/>
              </a:rPr>
              <a:t>công </a:t>
            </a:r>
            <a:r>
              <a:rPr sz="1800" b="1" spc="-114" dirty="0">
                <a:solidFill>
                  <a:srgbClr val="404040"/>
                </a:solidFill>
                <a:latin typeface="Arial"/>
                <a:cs typeface="Arial"/>
              </a:rPr>
              <a:t>tắc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quan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tâm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đến </a:t>
            </a:r>
            <a:r>
              <a:rPr sz="1800" b="1" spc="-114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800" b="1" spc="-100" dirty="0">
                <a:solidFill>
                  <a:srgbClr val="404040"/>
                </a:solidFill>
                <a:latin typeface="Arial"/>
                <a:cs typeface="Arial"/>
              </a:rPr>
              <a:t>điện  </a:t>
            </a:r>
            <a:r>
              <a:rPr sz="1800" b="1" spc="-75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800" b="1" spc="-180" dirty="0">
                <a:solidFill>
                  <a:srgbClr val="404040"/>
                </a:solidFill>
                <a:latin typeface="Arial"/>
                <a:cs typeface="Arial"/>
              </a:rPr>
              <a:t>ngưỡng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cũng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như </a:t>
            </a:r>
            <a:r>
              <a:rPr sz="1800" b="1" spc="-9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b="1" spc="-60" dirty="0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1800" b="1" spc="-130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800" b="1" spc="-215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1800" b="1" spc="-105" dirty="0">
                <a:solidFill>
                  <a:srgbClr val="404040"/>
                </a:solidFill>
                <a:latin typeface="Arial"/>
                <a:cs typeface="Arial"/>
              </a:rPr>
              <a:t>thuận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(điện 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trở 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bé)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b="1" spc="-130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800" b="1" spc="-215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1800" b="1" spc="-165" dirty="0">
                <a:solidFill>
                  <a:srgbClr val="404040"/>
                </a:solidFill>
                <a:latin typeface="Arial"/>
                <a:cs typeface="Arial"/>
              </a:rPr>
              <a:t>nghịch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(điện 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trở</a:t>
            </a:r>
            <a:r>
              <a:rPr sz="1800" spc="-229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lớn).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373" y="908380"/>
            <a:ext cx="55194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90" dirty="0"/>
              <a:t>Các </a:t>
            </a:r>
            <a:r>
              <a:rPr spc="-210" dirty="0"/>
              <a:t>mô </a:t>
            </a:r>
            <a:r>
              <a:rPr spc="-240" dirty="0"/>
              <a:t>hình </a:t>
            </a:r>
            <a:r>
              <a:rPr spc="-355" dirty="0"/>
              <a:t>của</a:t>
            </a:r>
            <a:r>
              <a:rPr spc="-395" dirty="0"/>
              <a:t> </a:t>
            </a:r>
            <a:r>
              <a:rPr spc="-280" dirty="0"/>
              <a:t>Diode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1451" y="1884426"/>
            <a:ext cx="3620770" cy="1106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0739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708025" algn="l"/>
              </a:tabLst>
            </a:pPr>
            <a:r>
              <a:rPr sz="2000" b="1" spc="-30" dirty="0">
                <a:solidFill>
                  <a:srgbClr val="404040"/>
                </a:solidFill>
                <a:latin typeface="Arial"/>
                <a:cs typeface="Arial"/>
              </a:rPr>
              <a:t>Mô </a:t>
            </a:r>
            <a:r>
              <a:rPr sz="2000" b="1" spc="-130" dirty="0">
                <a:solidFill>
                  <a:srgbClr val="404040"/>
                </a:solidFill>
                <a:latin typeface="Arial"/>
                <a:cs typeface="Arial"/>
              </a:rPr>
              <a:t>hình </a:t>
            </a:r>
            <a:r>
              <a:rPr sz="2000" b="1" spc="-120" dirty="0">
                <a:solidFill>
                  <a:srgbClr val="404040"/>
                </a:solidFill>
                <a:latin typeface="Arial"/>
                <a:cs typeface="Arial"/>
              </a:rPr>
              <a:t>diode lý</a:t>
            </a:r>
            <a:r>
              <a:rPr sz="2000" b="1" spc="-2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404040"/>
                </a:solidFill>
                <a:latin typeface="Arial"/>
                <a:cs typeface="Arial"/>
              </a:rPr>
              <a:t>tưởng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3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535"/>
              </a:spcBef>
              <a:buClr>
                <a:srgbClr val="99CA38"/>
              </a:buClr>
              <a:buFont typeface="Wingdings"/>
              <a:buChar char=""/>
              <a:tabLst>
                <a:tab pos="299085" algn="l"/>
                <a:tab pos="299720" algn="l"/>
              </a:tabLst>
            </a:pPr>
            <a:r>
              <a:rPr sz="1600" spc="-130" dirty="0">
                <a:solidFill>
                  <a:srgbClr val="404040"/>
                </a:solidFill>
                <a:latin typeface="Arial"/>
                <a:cs typeface="Arial"/>
              </a:rPr>
              <a:t>Bỏ </a:t>
            </a:r>
            <a:r>
              <a:rPr sz="1600" spc="-80" dirty="0">
                <a:solidFill>
                  <a:srgbClr val="404040"/>
                </a:solidFill>
                <a:latin typeface="Arial"/>
                <a:cs typeface="Arial"/>
              </a:rPr>
              <a:t>qua </a:t>
            </a:r>
            <a:r>
              <a:rPr sz="1600" b="1" spc="-100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600" b="1" spc="-8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600" b="1" spc="-7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600" b="1" spc="-165" dirty="0">
                <a:solidFill>
                  <a:srgbClr val="404040"/>
                </a:solidFill>
                <a:latin typeface="Arial"/>
                <a:cs typeface="Arial"/>
              </a:rPr>
              <a:t>ngưỡng </a:t>
            </a:r>
            <a:r>
              <a:rPr sz="1600" spc="-105" dirty="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sz="1600" spc="-1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spc="-55" dirty="0">
                <a:solidFill>
                  <a:srgbClr val="404040"/>
                </a:solidFill>
                <a:latin typeface="Arial"/>
                <a:cs typeface="Arial"/>
              </a:rPr>
              <a:t>diode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1451" y="4916170"/>
            <a:ext cx="46589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6385">
              <a:lnSpc>
                <a:spcPct val="100000"/>
              </a:lnSpc>
              <a:spcBef>
                <a:spcPts val="95"/>
              </a:spcBef>
              <a:buClr>
                <a:srgbClr val="99CA38"/>
              </a:buClr>
              <a:buFont typeface="Wingdings"/>
              <a:buChar char=""/>
              <a:tabLst>
                <a:tab pos="299085" algn="l"/>
                <a:tab pos="299720" algn="l"/>
              </a:tabLst>
            </a:pPr>
            <a:r>
              <a:rPr sz="1600" spc="-125" dirty="0">
                <a:solidFill>
                  <a:srgbClr val="404040"/>
                </a:solidFill>
                <a:latin typeface="Arial"/>
                <a:cs typeface="Arial"/>
              </a:rPr>
              <a:t>Bỏ </a:t>
            </a:r>
            <a:r>
              <a:rPr sz="1600" spc="-80" dirty="0">
                <a:solidFill>
                  <a:srgbClr val="404040"/>
                </a:solidFill>
                <a:latin typeface="Arial"/>
                <a:cs typeface="Arial"/>
              </a:rPr>
              <a:t>qua </a:t>
            </a:r>
            <a:r>
              <a:rPr sz="1600" b="1" spc="-8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600" b="1" spc="-55" dirty="0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sz="1600" spc="-105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600" spc="-55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1600" spc="-45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1600" spc="-75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600" spc="-125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1600" spc="-40" dirty="0">
                <a:solidFill>
                  <a:srgbClr val="404040"/>
                </a:solidFill>
                <a:latin typeface="Arial"/>
                <a:cs typeface="Arial"/>
              </a:rPr>
              <a:t>thuận </a:t>
            </a:r>
            <a:r>
              <a:rPr sz="1600" spc="-110" dirty="0">
                <a:solidFill>
                  <a:srgbClr val="404040"/>
                </a:solidFill>
                <a:latin typeface="Arial"/>
                <a:cs typeface="Arial"/>
              </a:rPr>
              <a:t>và  </a:t>
            </a:r>
            <a:r>
              <a:rPr sz="1600" spc="-75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600" spc="-125" dirty="0">
                <a:solidFill>
                  <a:srgbClr val="404040"/>
                </a:solidFill>
                <a:latin typeface="Arial"/>
                <a:cs typeface="Arial"/>
              </a:rPr>
              <a:t>cực</a:t>
            </a:r>
            <a:r>
              <a:rPr sz="16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spc="-70" dirty="0">
                <a:solidFill>
                  <a:srgbClr val="404040"/>
                </a:solidFill>
                <a:latin typeface="Arial"/>
                <a:cs typeface="Arial"/>
              </a:rPr>
              <a:t>nghịch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94635" y="1897982"/>
            <a:ext cx="4199208" cy="42925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20256" y="3247644"/>
            <a:ext cx="87375" cy="76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003792" y="324764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DF13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747764" y="3332226"/>
            <a:ext cx="2095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V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9068816" y="3368802"/>
            <a:ext cx="2095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V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53276" y="5714796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V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25306" y="5689803"/>
            <a:ext cx="209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V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373" y="908380"/>
            <a:ext cx="55194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90" dirty="0"/>
              <a:t>Các </a:t>
            </a:r>
            <a:r>
              <a:rPr spc="-210" dirty="0"/>
              <a:t>mô </a:t>
            </a:r>
            <a:r>
              <a:rPr spc="-240" dirty="0"/>
              <a:t>hình </a:t>
            </a:r>
            <a:r>
              <a:rPr spc="-355" dirty="0"/>
              <a:t>của</a:t>
            </a:r>
            <a:r>
              <a:rPr spc="-395" dirty="0"/>
              <a:t> </a:t>
            </a:r>
            <a:r>
              <a:rPr spc="-280" dirty="0"/>
              <a:t>Diode</a:t>
            </a:r>
          </a:p>
        </p:txBody>
      </p:sp>
      <p:sp>
        <p:nvSpPr>
          <p:cNvPr id="3" name="object 3"/>
          <p:cNvSpPr/>
          <p:nvPr/>
        </p:nvSpPr>
        <p:spPr>
          <a:xfrm>
            <a:off x="1130113" y="3030196"/>
            <a:ext cx="2959802" cy="32137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78839" y="1856260"/>
            <a:ext cx="6720205" cy="9817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b="1" spc="-30" dirty="0">
                <a:solidFill>
                  <a:srgbClr val="404040"/>
                </a:solidFill>
                <a:latin typeface="Arial"/>
                <a:cs typeface="Arial"/>
              </a:rPr>
              <a:t>Mô </a:t>
            </a:r>
            <a:r>
              <a:rPr sz="2000" b="1" spc="-130" dirty="0">
                <a:solidFill>
                  <a:srgbClr val="404040"/>
                </a:solidFill>
                <a:latin typeface="Arial"/>
                <a:cs typeface="Arial"/>
              </a:rPr>
              <a:t>hình </a:t>
            </a:r>
            <a:r>
              <a:rPr sz="2000" b="1" spc="-120" dirty="0">
                <a:solidFill>
                  <a:srgbClr val="404040"/>
                </a:solidFill>
                <a:latin typeface="Arial"/>
                <a:cs typeface="Arial"/>
              </a:rPr>
              <a:t>diode lý</a:t>
            </a:r>
            <a:r>
              <a:rPr sz="2000" b="1" spc="-1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404040"/>
                </a:solidFill>
                <a:latin typeface="Arial"/>
                <a:cs typeface="Arial"/>
              </a:rPr>
              <a:t>tưởng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448309" lvl="1" indent="-234315">
              <a:lnSpc>
                <a:spcPct val="100000"/>
              </a:lnSpc>
              <a:spcBef>
                <a:spcPts val="20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a. </a:t>
            </a: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vẽ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đồ </a:t>
            </a:r>
            <a:r>
              <a:rPr sz="1800" spc="20" dirty="0">
                <a:solidFill>
                  <a:srgbClr val="404040"/>
                </a:solidFill>
                <a:latin typeface="Arial"/>
                <a:cs typeface="Arial"/>
              </a:rPr>
              <a:t>thị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sz="1800" spc="-172" baseline="-20833" dirty="0">
                <a:solidFill>
                  <a:srgbClr val="404040"/>
                </a:solidFill>
                <a:latin typeface="Arial"/>
                <a:cs typeface="Arial"/>
              </a:rPr>
              <a:t>F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phụ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thuộc 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sz="1800" spc="-160" dirty="0">
                <a:solidFill>
                  <a:srgbClr val="404040"/>
                </a:solidFill>
                <a:latin typeface="Arial"/>
                <a:cs typeface="Arial"/>
              </a:rPr>
              <a:t>sự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biến </a:t>
            </a:r>
            <a:r>
              <a:rPr sz="1800" spc="-25" dirty="0">
                <a:solidFill>
                  <a:srgbClr val="404040"/>
                </a:solidFill>
                <a:latin typeface="Arial"/>
                <a:cs typeface="Arial"/>
              </a:rPr>
              <a:t>thiên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sz="1800" spc="-2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85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800" spc="-277" baseline="-20833" dirty="0">
                <a:solidFill>
                  <a:srgbClr val="404040"/>
                </a:solidFill>
                <a:latin typeface="Arial"/>
                <a:cs typeface="Arial"/>
              </a:rPr>
              <a:t>F</a:t>
            </a:r>
            <a:endParaRPr sz="1800" baseline="-20833">
              <a:latin typeface="Arial"/>
              <a:cs typeface="Arial"/>
            </a:endParaRPr>
          </a:p>
          <a:p>
            <a:pPr marL="431800" lvl="1" indent="-217804">
              <a:lnSpc>
                <a:spcPct val="100000"/>
              </a:lnSpc>
              <a:spcBef>
                <a:spcPts val="384"/>
              </a:spcBef>
              <a:buClr>
                <a:srgbClr val="99CA38"/>
              </a:buClr>
              <a:buFont typeface="Wingdings"/>
              <a:buChar char=""/>
              <a:tabLst>
                <a:tab pos="432434" algn="l"/>
              </a:tabLst>
            </a:pP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b. </a:t>
            </a: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vẽ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đồ </a:t>
            </a:r>
            <a:r>
              <a:rPr sz="1800" spc="20" dirty="0">
                <a:solidFill>
                  <a:srgbClr val="404040"/>
                </a:solidFill>
                <a:latin typeface="Arial"/>
                <a:cs typeface="Arial"/>
              </a:rPr>
              <a:t>thị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sz="1800" spc="-172" baseline="-20833" dirty="0">
                <a:solidFill>
                  <a:srgbClr val="404040"/>
                </a:solidFill>
                <a:latin typeface="Arial"/>
                <a:cs typeface="Arial"/>
              </a:rPr>
              <a:t>F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phụ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thuộc 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sz="1800" spc="-160" dirty="0">
                <a:solidFill>
                  <a:srgbClr val="404040"/>
                </a:solidFill>
                <a:latin typeface="Arial"/>
                <a:cs typeface="Arial"/>
              </a:rPr>
              <a:t>sự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biến </a:t>
            </a:r>
            <a:r>
              <a:rPr sz="1800" spc="-25" dirty="0">
                <a:solidFill>
                  <a:srgbClr val="404040"/>
                </a:solidFill>
                <a:latin typeface="Arial"/>
                <a:cs typeface="Arial"/>
              </a:rPr>
              <a:t>thiên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sz="1800" spc="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80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9050" y="5510885"/>
            <a:ext cx="273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(a)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56884" y="5510885"/>
            <a:ext cx="284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(b)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96523" y="2965704"/>
            <a:ext cx="2828213" cy="32861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367778" y="3384041"/>
            <a:ext cx="466090" cy="1105535"/>
          </a:xfrm>
          <a:custGeom>
            <a:avLst/>
            <a:gdLst/>
            <a:ahLst/>
            <a:cxnLst/>
            <a:rect l="l" t="t" r="r" b="b"/>
            <a:pathLst>
              <a:path w="466090" h="1105535">
                <a:moveTo>
                  <a:pt x="0" y="1105154"/>
                </a:moveTo>
                <a:lnTo>
                  <a:pt x="465708" y="0"/>
                </a:lnTo>
              </a:path>
            </a:pathLst>
          </a:custGeom>
          <a:ln w="28956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373" y="908380"/>
            <a:ext cx="55194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90" dirty="0"/>
              <a:t>Các </a:t>
            </a:r>
            <a:r>
              <a:rPr spc="-210" dirty="0"/>
              <a:t>mô </a:t>
            </a:r>
            <a:r>
              <a:rPr spc="-240" dirty="0"/>
              <a:t>hình </a:t>
            </a:r>
            <a:r>
              <a:rPr spc="-355" dirty="0"/>
              <a:t>của</a:t>
            </a:r>
            <a:r>
              <a:rPr spc="-395" dirty="0"/>
              <a:t> </a:t>
            </a:r>
            <a:r>
              <a:rPr spc="-280" dirty="0"/>
              <a:t>Diode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56260"/>
            <a:ext cx="6537325" cy="9817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b="1" spc="-30" dirty="0">
                <a:solidFill>
                  <a:srgbClr val="404040"/>
                </a:solidFill>
                <a:latin typeface="Arial"/>
                <a:cs typeface="Arial"/>
              </a:rPr>
              <a:t>Mô </a:t>
            </a:r>
            <a:r>
              <a:rPr sz="2000" b="1" spc="-130" dirty="0">
                <a:solidFill>
                  <a:srgbClr val="404040"/>
                </a:solidFill>
                <a:latin typeface="Arial"/>
                <a:cs typeface="Arial"/>
              </a:rPr>
              <a:t>hình </a:t>
            </a:r>
            <a:r>
              <a:rPr sz="2000" b="1" spc="-120" dirty="0">
                <a:solidFill>
                  <a:srgbClr val="404040"/>
                </a:solidFill>
                <a:latin typeface="Arial"/>
                <a:cs typeface="Arial"/>
              </a:rPr>
              <a:t>diode</a:t>
            </a:r>
            <a:r>
              <a:rPr sz="2000" b="1" spc="-1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14" dirty="0">
                <a:solidFill>
                  <a:srgbClr val="404040"/>
                </a:solidFill>
                <a:latin typeface="Arial"/>
                <a:cs typeface="Arial"/>
              </a:rPr>
              <a:t>thực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448309" lvl="1" indent="-234315">
              <a:lnSpc>
                <a:spcPct val="100000"/>
              </a:lnSpc>
              <a:spcBef>
                <a:spcPts val="20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110" dirty="0">
                <a:solidFill>
                  <a:srgbClr val="404040"/>
                </a:solidFill>
                <a:latin typeface="Arial"/>
                <a:cs typeface="Arial"/>
              </a:rPr>
              <a:t>Quan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tâm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đến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ngưỡng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sz="1800" spc="-2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diode</a:t>
            </a:r>
            <a:endParaRPr sz="1800">
              <a:latin typeface="Arial"/>
              <a:cs typeface="Arial"/>
            </a:endParaRPr>
          </a:p>
          <a:p>
            <a:pPr marL="431800" lvl="1" indent="-217804">
              <a:lnSpc>
                <a:spcPct val="100000"/>
              </a:lnSpc>
              <a:spcBef>
                <a:spcPts val="384"/>
              </a:spcBef>
              <a:buClr>
                <a:srgbClr val="99CA38"/>
              </a:buClr>
              <a:buFont typeface="Wingdings"/>
              <a:buChar char=""/>
              <a:tabLst>
                <a:tab pos="432434" algn="l"/>
              </a:tabLst>
            </a:pP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Bỏ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qua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thuận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cực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nghịch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32945" y="3737152"/>
            <a:ext cx="7121190" cy="24835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97048" y="3943350"/>
            <a:ext cx="562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= 0.7</a:t>
            </a:r>
            <a:r>
              <a:rPr sz="1400" spc="-11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V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6416" y="2862453"/>
            <a:ext cx="9601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Điều</a:t>
            </a:r>
            <a:r>
              <a:rPr sz="1800" spc="-1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kiện: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25470" y="2862453"/>
            <a:ext cx="2436495" cy="5772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800" spc="-179" baseline="-20833" dirty="0">
                <a:solidFill>
                  <a:srgbClr val="404040"/>
                </a:solidFill>
                <a:latin typeface="Arial"/>
                <a:cs typeface="Arial"/>
              </a:rPr>
              <a:t>Bias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&lt;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0.7(V) </a:t>
            </a:r>
            <a:r>
              <a:rPr sz="1800" spc="-160" dirty="0">
                <a:solidFill>
                  <a:srgbClr val="404040"/>
                </a:solidFill>
                <a:latin typeface="Arial"/>
                <a:cs typeface="Arial"/>
              </a:rPr>
              <a:t>=&gt; </a:t>
            </a:r>
            <a:r>
              <a:rPr sz="1800" spc="-185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800" spc="-277" baseline="-20833" dirty="0">
                <a:solidFill>
                  <a:srgbClr val="404040"/>
                </a:solidFill>
                <a:latin typeface="Arial"/>
                <a:cs typeface="Arial"/>
              </a:rPr>
              <a:t>F </a:t>
            </a: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=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800" spc="-172" baseline="-20833" dirty="0">
                <a:solidFill>
                  <a:srgbClr val="404040"/>
                </a:solidFill>
                <a:latin typeface="Arial"/>
                <a:cs typeface="Arial"/>
              </a:rPr>
              <a:t>Bias  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800" spc="-142" baseline="-20833" dirty="0">
                <a:solidFill>
                  <a:srgbClr val="404040"/>
                </a:solidFill>
                <a:latin typeface="Arial"/>
                <a:cs typeface="Arial"/>
              </a:rPr>
              <a:t>Bias</a:t>
            </a:r>
            <a:r>
              <a:rPr sz="1800" spc="-95" dirty="0">
                <a:solidFill>
                  <a:srgbClr val="404040"/>
                </a:solidFill>
                <a:latin typeface="Symbol"/>
                <a:cs typeface="Symbol"/>
              </a:rPr>
              <a:t></a:t>
            </a:r>
            <a:r>
              <a:rPr sz="1800" spc="-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0.7(V) </a:t>
            </a:r>
            <a:r>
              <a:rPr sz="1800" spc="-160" dirty="0">
                <a:solidFill>
                  <a:srgbClr val="404040"/>
                </a:solidFill>
                <a:latin typeface="Arial"/>
                <a:cs typeface="Arial"/>
              </a:rPr>
              <a:t>=&gt; </a:t>
            </a:r>
            <a:r>
              <a:rPr sz="1800" spc="-185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800" spc="-277" baseline="-20833" dirty="0">
                <a:solidFill>
                  <a:srgbClr val="404040"/>
                </a:solidFill>
                <a:latin typeface="Arial"/>
                <a:cs typeface="Arial"/>
              </a:rPr>
              <a:t>F </a:t>
            </a: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=</a:t>
            </a:r>
            <a:r>
              <a:rPr sz="1800" spc="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0.7(V)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32988" y="541629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38099"/>
                </a:lnTo>
                <a:lnTo>
                  <a:pt x="76200" y="76199"/>
                </a:lnTo>
                <a:lnTo>
                  <a:pt x="76200" y="0"/>
                </a:lnTo>
                <a:close/>
              </a:path>
            </a:pathLst>
          </a:custGeom>
          <a:solidFill>
            <a:srgbClr val="DF13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373" y="908380"/>
            <a:ext cx="55194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90" dirty="0"/>
              <a:t>Các </a:t>
            </a:r>
            <a:r>
              <a:rPr spc="-210" dirty="0"/>
              <a:t>mô </a:t>
            </a:r>
            <a:r>
              <a:rPr spc="-240" dirty="0"/>
              <a:t>hình </a:t>
            </a:r>
            <a:r>
              <a:rPr spc="-355" dirty="0"/>
              <a:t>của</a:t>
            </a:r>
            <a:r>
              <a:rPr spc="-395" dirty="0"/>
              <a:t> </a:t>
            </a:r>
            <a:r>
              <a:rPr spc="-280" dirty="0"/>
              <a:t>Diode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56260"/>
            <a:ext cx="6720205" cy="9817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b="1" spc="-30" dirty="0">
                <a:solidFill>
                  <a:srgbClr val="404040"/>
                </a:solidFill>
                <a:latin typeface="Arial"/>
                <a:cs typeface="Arial"/>
              </a:rPr>
              <a:t>Mô </a:t>
            </a:r>
            <a:r>
              <a:rPr sz="2000" b="1" spc="-130" dirty="0">
                <a:solidFill>
                  <a:srgbClr val="404040"/>
                </a:solidFill>
                <a:latin typeface="Arial"/>
                <a:cs typeface="Arial"/>
              </a:rPr>
              <a:t>hình </a:t>
            </a:r>
            <a:r>
              <a:rPr sz="2000" b="1" spc="-120" dirty="0">
                <a:solidFill>
                  <a:srgbClr val="404040"/>
                </a:solidFill>
                <a:latin typeface="Arial"/>
                <a:cs typeface="Arial"/>
              </a:rPr>
              <a:t>diode</a:t>
            </a:r>
            <a:r>
              <a:rPr sz="2000" b="1" spc="-1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14" dirty="0">
                <a:solidFill>
                  <a:srgbClr val="404040"/>
                </a:solidFill>
                <a:latin typeface="Arial"/>
                <a:cs typeface="Arial"/>
              </a:rPr>
              <a:t>thực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448309" lvl="1" indent="-234315">
              <a:lnSpc>
                <a:spcPct val="100000"/>
              </a:lnSpc>
              <a:spcBef>
                <a:spcPts val="20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a. </a:t>
            </a: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vẽ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đồ </a:t>
            </a:r>
            <a:r>
              <a:rPr sz="1800" spc="20" dirty="0">
                <a:solidFill>
                  <a:srgbClr val="404040"/>
                </a:solidFill>
                <a:latin typeface="Arial"/>
                <a:cs typeface="Arial"/>
              </a:rPr>
              <a:t>thị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sz="1800" spc="-172" baseline="-20833" dirty="0">
                <a:solidFill>
                  <a:srgbClr val="404040"/>
                </a:solidFill>
                <a:latin typeface="Arial"/>
                <a:cs typeface="Arial"/>
              </a:rPr>
              <a:t>F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phụ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thuộc 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sz="1800" spc="-160" dirty="0">
                <a:solidFill>
                  <a:srgbClr val="404040"/>
                </a:solidFill>
                <a:latin typeface="Arial"/>
                <a:cs typeface="Arial"/>
              </a:rPr>
              <a:t>sự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biến </a:t>
            </a:r>
            <a:r>
              <a:rPr sz="1800" spc="-25" dirty="0">
                <a:solidFill>
                  <a:srgbClr val="404040"/>
                </a:solidFill>
                <a:latin typeface="Arial"/>
                <a:cs typeface="Arial"/>
              </a:rPr>
              <a:t>thiên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sz="1800" spc="-2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85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800" spc="-277" baseline="-20833" dirty="0">
                <a:solidFill>
                  <a:srgbClr val="404040"/>
                </a:solidFill>
                <a:latin typeface="Arial"/>
                <a:cs typeface="Arial"/>
              </a:rPr>
              <a:t>F</a:t>
            </a:r>
            <a:endParaRPr sz="1800" baseline="-20833">
              <a:latin typeface="Arial"/>
              <a:cs typeface="Arial"/>
            </a:endParaRPr>
          </a:p>
          <a:p>
            <a:pPr marL="431800" lvl="1" indent="-217804">
              <a:lnSpc>
                <a:spcPct val="100000"/>
              </a:lnSpc>
              <a:spcBef>
                <a:spcPts val="384"/>
              </a:spcBef>
              <a:buClr>
                <a:srgbClr val="99CA38"/>
              </a:buClr>
              <a:buFont typeface="Wingdings"/>
              <a:buChar char=""/>
              <a:tabLst>
                <a:tab pos="432434" algn="l"/>
              </a:tabLst>
            </a:pP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b. </a:t>
            </a: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vẽ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đồ </a:t>
            </a:r>
            <a:r>
              <a:rPr sz="1800" spc="20" dirty="0">
                <a:solidFill>
                  <a:srgbClr val="404040"/>
                </a:solidFill>
                <a:latin typeface="Arial"/>
                <a:cs typeface="Arial"/>
              </a:rPr>
              <a:t>thị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sz="1800" spc="-172" baseline="-20833" dirty="0">
                <a:solidFill>
                  <a:srgbClr val="404040"/>
                </a:solidFill>
                <a:latin typeface="Arial"/>
                <a:cs typeface="Arial"/>
              </a:rPr>
              <a:t>F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phụ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thuộc 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sz="1800" spc="-160" dirty="0">
                <a:solidFill>
                  <a:srgbClr val="404040"/>
                </a:solidFill>
                <a:latin typeface="Arial"/>
                <a:cs typeface="Arial"/>
              </a:rPr>
              <a:t>sự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biến </a:t>
            </a:r>
            <a:r>
              <a:rPr sz="1800" spc="-25" dirty="0">
                <a:solidFill>
                  <a:srgbClr val="404040"/>
                </a:solidFill>
                <a:latin typeface="Arial"/>
                <a:cs typeface="Arial"/>
              </a:rPr>
              <a:t>thiên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sz="1800" spc="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80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9050" y="5510885"/>
            <a:ext cx="273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(a)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56884" y="5510885"/>
            <a:ext cx="284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(b)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04381" y="3215458"/>
            <a:ext cx="3016766" cy="29951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13825" y="3241562"/>
            <a:ext cx="2780266" cy="30014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030718" y="3789426"/>
            <a:ext cx="584835" cy="1400810"/>
          </a:xfrm>
          <a:custGeom>
            <a:avLst/>
            <a:gdLst/>
            <a:ahLst/>
            <a:cxnLst/>
            <a:rect l="l" t="t" r="r" b="b"/>
            <a:pathLst>
              <a:path w="584834" h="1400810">
                <a:moveTo>
                  <a:pt x="0" y="1400302"/>
                </a:moveTo>
                <a:lnTo>
                  <a:pt x="584580" y="0"/>
                </a:lnTo>
              </a:path>
            </a:pathLst>
          </a:custGeom>
          <a:ln w="38100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373" y="908380"/>
            <a:ext cx="55194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90" dirty="0"/>
              <a:t>Các </a:t>
            </a:r>
            <a:r>
              <a:rPr spc="-210" dirty="0"/>
              <a:t>mô </a:t>
            </a:r>
            <a:r>
              <a:rPr spc="-240" dirty="0"/>
              <a:t>hình </a:t>
            </a:r>
            <a:r>
              <a:rPr spc="-355" dirty="0"/>
              <a:t>của</a:t>
            </a:r>
            <a:r>
              <a:rPr spc="-395" dirty="0"/>
              <a:t> </a:t>
            </a:r>
            <a:r>
              <a:rPr spc="-280" dirty="0"/>
              <a:t>Diode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56260"/>
            <a:ext cx="7357745" cy="9817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b="1" spc="-30" dirty="0">
                <a:solidFill>
                  <a:srgbClr val="404040"/>
                </a:solidFill>
                <a:latin typeface="Arial"/>
                <a:cs typeface="Arial"/>
              </a:rPr>
              <a:t>Mô </a:t>
            </a:r>
            <a:r>
              <a:rPr sz="2000" b="1" spc="-130" dirty="0">
                <a:solidFill>
                  <a:srgbClr val="404040"/>
                </a:solidFill>
                <a:latin typeface="Arial"/>
                <a:cs typeface="Arial"/>
              </a:rPr>
              <a:t>hình </a:t>
            </a:r>
            <a:r>
              <a:rPr sz="2000" b="1" spc="-120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2000" b="1" spc="-140" dirty="0">
                <a:solidFill>
                  <a:srgbClr val="404040"/>
                </a:solidFill>
                <a:latin typeface="Arial"/>
                <a:cs typeface="Arial"/>
              </a:rPr>
              <a:t>hoàn</a:t>
            </a:r>
            <a:r>
              <a:rPr sz="2000" b="1" spc="-1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35" dirty="0">
                <a:solidFill>
                  <a:srgbClr val="404040"/>
                </a:solidFill>
                <a:latin typeface="Arial"/>
                <a:cs typeface="Arial"/>
              </a:rPr>
              <a:t>chỉnh</a:t>
            </a:r>
            <a:r>
              <a:rPr sz="2000" spc="-135" dirty="0">
                <a:solidFill>
                  <a:srgbClr val="404040"/>
                </a:solidFill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448309" lvl="1" indent="-234315">
              <a:lnSpc>
                <a:spcPct val="100000"/>
              </a:lnSpc>
              <a:spcBef>
                <a:spcPts val="20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110" dirty="0">
                <a:solidFill>
                  <a:srgbClr val="404040"/>
                </a:solidFill>
                <a:latin typeface="Arial"/>
                <a:cs typeface="Arial"/>
              </a:rPr>
              <a:t>Quan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tâm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đến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ngưỡng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sz="1800" spc="-2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diode</a:t>
            </a:r>
            <a:endParaRPr sz="1800">
              <a:latin typeface="Arial"/>
              <a:cs typeface="Arial"/>
            </a:endParaRPr>
          </a:p>
          <a:p>
            <a:pPr marL="431800" lvl="1" indent="-217804">
              <a:lnSpc>
                <a:spcPct val="100000"/>
              </a:lnSpc>
              <a:spcBef>
                <a:spcPts val="384"/>
              </a:spcBef>
              <a:buClr>
                <a:srgbClr val="99CA38"/>
              </a:buClr>
              <a:buFont typeface="Wingdings"/>
              <a:buChar char=""/>
              <a:tabLst>
                <a:tab pos="432434" algn="l"/>
              </a:tabLst>
            </a:pPr>
            <a:r>
              <a:rPr sz="1800" spc="-110" dirty="0">
                <a:solidFill>
                  <a:srgbClr val="404040"/>
                </a:solidFill>
                <a:latin typeface="Arial"/>
                <a:cs typeface="Arial"/>
              </a:rPr>
              <a:t>Quan </a:t>
            </a:r>
            <a:r>
              <a:rPr sz="1800" spc="-35" dirty="0">
                <a:solidFill>
                  <a:srgbClr val="404040"/>
                </a:solidFill>
                <a:latin typeface="Arial"/>
                <a:cs typeface="Arial"/>
              </a:rPr>
              <a:t>tâm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trở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thuận </a:t>
            </a:r>
            <a:r>
              <a:rPr sz="1800" spc="5" dirty="0">
                <a:solidFill>
                  <a:srgbClr val="404040"/>
                </a:solidFill>
                <a:latin typeface="Arial"/>
                <a:cs typeface="Arial"/>
              </a:rPr>
              <a:t>r’</a:t>
            </a:r>
            <a:r>
              <a:rPr sz="1800" spc="7" baseline="-20833" dirty="0">
                <a:solidFill>
                  <a:srgbClr val="404040"/>
                </a:solidFill>
                <a:latin typeface="Arial"/>
                <a:cs typeface="Arial"/>
              </a:rPr>
              <a:t>d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nghịch</a:t>
            </a:r>
            <a:r>
              <a:rPr sz="1800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r’</a:t>
            </a:r>
            <a:r>
              <a:rPr sz="1800" spc="-82" baseline="-20833" dirty="0">
                <a:solidFill>
                  <a:srgbClr val="404040"/>
                </a:solidFill>
                <a:latin typeface="Arial"/>
                <a:cs typeface="Arial"/>
              </a:rPr>
              <a:t>R</a:t>
            </a:r>
            <a:endParaRPr sz="1800" baseline="-20833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8321" y="3308617"/>
            <a:ext cx="6364041" cy="28835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26614" y="4381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F13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62400" y="546049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DF13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87640" y="4381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DF13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31685" y="546049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F13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373" y="908380"/>
            <a:ext cx="55194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90" dirty="0"/>
              <a:t>Các </a:t>
            </a:r>
            <a:r>
              <a:rPr spc="-210" dirty="0"/>
              <a:t>mô </a:t>
            </a:r>
            <a:r>
              <a:rPr spc="-240" dirty="0"/>
              <a:t>hình </a:t>
            </a:r>
            <a:r>
              <a:rPr spc="-355" dirty="0"/>
              <a:t>của</a:t>
            </a:r>
            <a:r>
              <a:rPr spc="-395" dirty="0"/>
              <a:t> </a:t>
            </a:r>
            <a:r>
              <a:rPr spc="-280" dirty="0"/>
              <a:t>Diode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56260"/>
            <a:ext cx="6720205" cy="65913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b="1" spc="-30" dirty="0">
                <a:solidFill>
                  <a:srgbClr val="404040"/>
                </a:solidFill>
                <a:latin typeface="Arial"/>
                <a:cs typeface="Arial"/>
              </a:rPr>
              <a:t>Mô </a:t>
            </a:r>
            <a:r>
              <a:rPr sz="2000" b="1" spc="-130" dirty="0">
                <a:solidFill>
                  <a:srgbClr val="404040"/>
                </a:solidFill>
                <a:latin typeface="Arial"/>
                <a:cs typeface="Arial"/>
              </a:rPr>
              <a:t>hình </a:t>
            </a:r>
            <a:r>
              <a:rPr sz="2000" b="1" spc="-120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2000" b="1" spc="-140" dirty="0">
                <a:solidFill>
                  <a:srgbClr val="404040"/>
                </a:solidFill>
                <a:latin typeface="Arial"/>
                <a:cs typeface="Arial"/>
              </a:rPr>
              <a:t>hoàn</a:t>
            </a:r>
            <a:r>
              <a:rPr sz="2000" b="1" spc="-1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35" dirty="0">
                <a:solidFill>
                  <a:srgbClr val="404040"/>
                </a:solidFill>
                <a:latin typeface="Arial"/>
                <a:cs typeface="Arial"/>
              </a:rPr>
              <a:t>chỉnh</a:t>
            </a:r>
            <a:r>
              <a:rPr sz="2000" spc="-135" dirty="0">
                <a:solidFill>
                  <a:srgbClr val="404040"/>
                </a:solidFill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448309" lvl="1" indent="-234315">
              <a:lnSpc>
                <a:spcPct val="100000"/>
              </a:lnSpc>
              <a:spcBef>
                <a:spcPts val="20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a. </a:t>
            </a: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tích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vẽ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đồ </a:t>
            </a:r>
            <a:r>
              <a:rPr sz="1800" spc="20" dirty="0">
                <a:solidFill>
                  <a:srgbClr val="404040"/>
                </a:solidFill>
                <a:latin typeface="Arial"/>
                <a:cs typeface="Arial"/>
              </a:rPr>
              <a:t>thị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sz="1800" spc="-172" baseline="-20833" dirty="0">
                <a:solidFill>
                  <a:srgbClr val="404040"/>
                </a:solidFill>
                <a:latin typeface="Arial"/>
                <a:cs typeface="Arial"/>
              </a:rPr>
              <a:t>F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phụ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thuộc 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sz="1800" spc="-160" dirty="0">
                <a:solidFill>
                  <a:srgbClr val="404040"/>
                </a:solidFill>
                <a:latin typeface="Arial"/>
                <a:cs typeface="Arial"/>
              </a:rPr>
              <a:t>sự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biến </a:t>
            </a:r>
            <a:r>
              <a:rPr sz="1800" spc="-25" dirty="0">
                <a:solidFill>
                  <a:srgbClr val="404040"/>
                </a:solidFill>
                <a:latin typeface="Arial"/>
                <a:cs typeface="Arial"/>
              </a:rPr>
              <a:t>thiên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sz="1800" spc="-2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85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800" spc="-277" baseline="-20833" dirty="0">
                <a:solidFill>
                  <a:srgbClr val="404040"/>
                </a:solidFill>
                <a:latin typeface="Arial"/>
                <a:cs typeface="Arial"/>
              </a:rPr>
              <a:t>F</a:t>
            </a:r>
            <a:endParaRPr sz="1800" baseline="-20833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50466" y="5187822"/>
            <a:ext cx="273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(a)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36931" y="2675209"/>
            <a:ext cx="3950784" cy="35506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94660" y="5949696"/>
            <a:ext cx="338455" cy="320040"/>
          </a:xfrm>
          <a:custGeom>
            <a:avLst/>
            <a:gdLst/>
            <a:ahLst/>
            <a:cxnLst/>
            <a:rect l="l" t="t" r="r" b="b"/>
            <a:pathLst>
              <a:path w="338454" h="320039">
                <a:moveTo>
                  <a:pt x="0" y="320039"/>
                </a:moveTo>
                <a:lnTo>
                  <a:pt x="338327" y="320039"/>
                </a:lnTo>
                <a:lnTo>
                  <a:pt x="338327" y="0"/>
                </a:lnTo>
                <a:lnTo>
                  <a:pt x="0" y="0"/>
                </a:lnTo>
                <a:lnTo>
                  <a:pt x="0" y="320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94660" y="5949696"/>
            <a:ext cx="338455" cy="320040"/>
          </a:xfrm>
          <a:custGeom>
            <a:avLst/>
            <a:gdLst/>
            <a:ahLst/>
            <a:cxnLst/>
            <a:rect l="l" t="t" r="r" b="b"/>
            <a:pathLst>
              <a:path w="338454" h="320039">
                <a:moveTo>
                  <a:pt x="0" y="320039"/>
                </a:moveTo>
                <a:lnTo>
                  <a:pt x="338327" y="320039"/>
                </a:lnTo>
                <a:lnTo>
                  <a:pt x="338327" y="0"/>
                </a:lnTo>
                <a:lnTo>
                  <a:pt x="0" y="0"/>
                </a:lnTo>
                <a:lnTo>
                  <a:pt x="0" y="320039"/>
                </a:lnTo>
                <a:close/>
              </a:path>
            </a:pathLst>
          </a:custGeom>
          <a:ln w="1524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0584" y="926033"/>
            <a:ext cx="4072254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40" dirty="0">
                <a:solidFill>
                  <a:srgbClr val="404040"/>
                </a:solidFill>
                <a:latin typeface="Times New Roman"/>
                <a:cs typeface="Times New Roman"/>
              </a:rPr>
              <a:t>Kiểm tra </a:t>
            </a:r>
            <a:r>
              <a:rPr sz="4800" spc="-25" dirty="0">
                <a:solidFill>
                  <a:srgbClr val="404040"/>
                </a:solidFill>
                <a:latin typeface="Times New Roman"/>
                <a:cs typeface="Times New Roman"/>
              </a:rPr>
              <a:t>15</a:t>
            </a:r>
            <a:r>
              <a:rPr sz="4800" spc="-3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4800" spc="-50" dirty="0">
                <a:solidFill>
                  <a:srgbClr val="404040"/>
                </a:solidFill>
                <a:latin typeface="Times New Roman"/>
                <a:cs typeface="Times New Roman"/>
              </a:rPr>
              <a:t>phút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70584" y="2140965"/>
            <a:ext cx="83597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Vẽ </a:t>
            </a:r>
            <a:r>
              <a:rPr sz="2400" dirty="0">
                <a:latin typeface="Times New Roman"/>
                <a:cs typeface="Times New Roman"/>
              </a:rPr>
              <a:t>đường đặc tuyến của </a:t>
            </a:r>
            <a:r>
              <a:rPr sz="2400" spc="-5" dirty="0">
                <a:latin typeface="Times New Roman"/>
                <a:cs typeface="Times New Roman"/>
              </a:rPr>
              <a:t>Diode </a:t>
            </a:r>
            <a:r>
              <a:rPr sz="2400" dirty="0">
                <a:latin typeface="Times New Roman"/>
                <a:cs typeface="Times New Roman"/>
              </a:rPr>
              <a:t>và giải thích các giai đoạn hoạt</a:t>
            </a:r>
            <a:r>
              <a:rPr sz="2400" spc="-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động  của </a:t>
            </a:r>
            <a:r>
              <a:rPr sz="2400" spc="-5" dirty="0">
                <a:latin typeface="Times New Roman"/>
                <a:cs typeface="Times New Roman"/>
              </a:rPr>
              <a:t>Diode </a:t>
            </a:r>
            <a:r>
              <a:rPr sz="2400" dirty="0">
                <a:latin typeface="Times New Roman"/>
                <a:cs typeface="Times New Roman"/>
              </a:rPr>
              <a:t>khi thay đổi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Vbias.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8929" y="908380"/>
            <a:ext cx="57664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90" dirty="0"/>
              <a:t>Các </a:t>
            </a:r>
            <a:r>
              <a:rPr spc="-380" dirty="0"/>
              <a:t>ứng </a:t>
            </a:r>
            <a:r>
              <a:rPr spc="-275" dirty="0"/>
              <a:t>dụng </a:t>
            </a:r>
            <a:r>
              <a:rPr spc="-355" dirty="0"/>
              <a:t>của</a:t>
            </a:r>
            <a:r>
              <a:rPr spc="-935" dirty="0"/>
              <a:t> </a:t>
            </a:r>
            <a:r>
              <a:rPr spc="-204" dirty="0"/>
              <a:t>diode</a:t>
            </a:r>
          </a:p>
        </p:txBody>
      </p:sp>
      <p:sp>
        <p:nvSpPr>
          <p:cNvPr id="3" name="object 3"/>
          <p:cNvSpPr/>
          <p:nvPr/>
        </p:nvSpPr>
        <p:spPr>
          <a:xfrm>
            <a:off x="1763628" y="3720241"/>
            <a:ext cx="6580310" cy="24641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469900" marR="5080" indent="-457200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AutoNum type="arabicPeriod"/>
              <a:tabLst>
                <a:tab pos="469900" algn="l"/>
                <a:tab pos="470534" algn="l"/>
              </a:tabLst>
            </a:pPr>
            <a:r>
              <a:rPr b="1" spc="-235" dirty="0">
                <a:latin typeface="Arial"/>
                <a:cs typeface="Arial"/>
              </a:rPr>
              <a:t>Bộ </a:t>
            </a:r>
            <a:r>
              <a:rPr b="1" spc="-185" dirty="0">
                <a:latin typeface="Arial"/>
                <a:cs typeface="Arial"/>
              </a:rPr>
              <a:t>cấp </a:t>
            </a:r>
            <a:r>
              <a:rPr b="1" spc="-175" dirty="0">
                <a:latin typeface="Arial"/>
                <a:cs typeface="Arial"/>
              </a:rPr>
              <a:t>nguồn </a:t>
            </a:r>
            <a:r>
              <a:rPr b="1" spc="-100" dirty="0">
                <a:latin typeface="Arial"/>
                <a:cs typeface="Arial"/>
              </a:rPr>
              <a:t>một </a:t>
            </a:r>
            <a:r>
              <a:rPr b="1" spc="-150" dirty="0">
                <a:latin typeface="Arial"/>
                <a:cs typeface="Arial"/>
              </a:rPr>
              <a:t>chiều </a:t>
            </a:r>
            <a:r>
              <a:rPr b="1" spc="-225" dirty="0">
                <a:latin typeface="Arial"/>
                <a:cs typeface="Arial"/>
              </a:rPr>
              <a:t>cơ </a:t>
            </a:r>
            <a:r>
              <a:rPr b="1" spc="-114" dirty="0">
                <a:latin typeface="Arial"/>
                <a:cs typeface="Arial"/>
              </a:rPr>
              <a:t>bản</a:t>
            </a:r>
            <a:r>
              <a:rPr spc="-114" dirty="0"/>
              <a:t>: </a:t>
            </a:r>
            <a:r>
              <a:rPr spc="-105" dirty="0"/>
              <a:t>Biến </a:t>
            </a:r>
            <a:r>
              <a:rPr spc="-25" dirty="0"/>
              <a:t>đổi </a:t>
            </a:r>
            <a:r>
              <a:rPr spc="-95" dirty="0"/>
              <a:t>dòng </a:t>
            </a:r>
            <a:r>
              <a:rPr spc="-45" dirty="0"/>
              <a:t>điện </a:t>
            </a:r>
            <a:r>
              <a:rPr spc="-114" dirty="0"/>
              <a:t>xoay </a:t>
            </a:r>
            <a:r>
              <a:rPr spc="-75" dirty="0"/>
              <a:t>chiều </a:t>
            </a:r>
            <a:r>
              <a:rPr spc="-45" dirty="0"/>
              <a:t>thành  </a:t>
            </a:r>
            <a:r>
              <a:rPr spc="-90" dirty="0"/>
              <a:t>dòng </a:t>
            </a:r>
            <a:r>
              <a:rPr spc="-45" dirty="0"/>
              <a:t>điện </a:t>
            </a:r>
            <a:r>
              <a:rPr spc="-5" dirty="0"/>
              <a:t>một</a:t>
            </a:r>
            <a:r>
              <a:rPr spc="-215" dirty="0"/>
              <a:t> </a:t>
            </a:r>
            <a:r>
              <a:rPr spc="-75" dirty="0"/>
              <a:t>chiều.</a:t>
            </a:r>
          </a:p>
          <a:p>
            <a:pPr marL="762635" lvl="1" indent="-457200">
              <a:lnSpc>
                <a:spcPct val="100000"/>
              </a:lnSpc>
              <a:spcBef>
                <a:spcPts val="165"/>
              </a:spcBef>
              <a:buClr>
                <a:srgbClr val="99CA38"/>
              </a:buClr>
              <a:buAutoNum type="arabicPeriod"/>
              <a:tabLst>
                <a:tab pos="762635" algn="l"/>
                <a:tab pos="763270" algn="l"/>
              </a:tabLst>
            </a:pP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Biến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áp</a:t>
            </a:r>
            <a:endParaRPr sz="1800">
              <a:latin typeface="Arial"/>
              <a:cs typeface="Arial"/>
            </a:endParaRPr>
          </a:p>
          <a:p>
            <a:pPr marL="762635" lvl="1" indent="-457200">
              <a:lnSpc>
                <a:spcPct val="100000"/>
              </a:lnSpc>
              <a:spcBef>
                <a:spcPts val="390"/>
              </a:spcBef>
              <a:buClr>
                <a:srgbClr val="99CA38"/>
              </a:buClr>
              <a:buAutoNum type="arabicPeriod"/>
              <a:tabLst>
                <a:tab pos="762635" algn="l"/>
                <a:tab pos="763270" algn="l"/>
              </a:tabLst>
            </a:pPr>
            <a:r>
              <a:rPr sz="1800" spc="-80" dirty="0">
                <a:solidFill>
                  <a:srgbClr val="FF0000"/>
                </a:solidFill>
                <a:latin typeface="Arial"/>
                <a:cs typeface="Arial"/>
              </a:rPr>
              <a:t>Mạch </a:t>
            </a:r>
            <a:r>
              <a:rPr sz="1800" spc="-65" dirty="0">
                <a:solidFill>
                  <a:srgbClr val="FF0000"/>
                </a:solidFill>
                <a:latin typeface="Arial"/>
                <a:cs typeface="Arial"/>
              </a:rPr>
              <a:t>chỉnh lưu </a:t>
            </a:r>
            <a:r>
              <a:rPr sz="1800" spc="-90" dirty="0">
                <a:solidFill>
                  <a:srgbClr val="FF0000"/>
                </a:solidFill>
                <a:latin typeface="Arial"/>
                <a:cs typeface="Arial"/>
              </a:rPr>
              <a:t>bán chu</a:t>
            </a:r>
            <a:r>
              <a:rPr sz="18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FF0000"/>
                </a:solidFill>
                <a:latin typeface="Arial"/>
                <a:cs typeface="Arial"/>
              </a:rPr>
              <a:t>kì</a:t>
            </a:r>
            <a:endParaRPr sz="1800">
              <a:latin typeface="Arial"/>
              <a:cs typeface="Arial"/>
            </a:endParaRPr>
          </a:p>
          <a:p>
            <a:pPr marL="762635" lvl="1" indent="-457200">
              <a:lnSpc>
                <a:spcPct val="100000"/>
              </a:lnSpc>
              <a:spcBef>
                <a:spcPts val="384"/>
              </a:spcBef>
              <a:buClr>
                <a:srgbClr val="99CA38"/>
              </a:buClr>
              <a:buAutoNum type="arabicPeriod"/>
              <a:tabLst>
                <a:tab pos="762635" algn="l"/>
                <a:tab pos="763270" algn="l"/>
              </a:tabLst>
            </a:pPr>
            <a:r>
              <a:rPr sz="1800" spc="-80" dirty="0">
                <a:solidFill>
                  <a:srgbClr val="FF0000"/>
                </a:solidFill>
                <a:latin typeface="Arial"/>
                <a:cs typeface="Arial"/>
              </a:rPr>
              <a:t>Mạch </a:t>
            </a:r>
            <a:r>
              <a:rPr sz="1800" spc="-65" dirty="0">
                <a:solidFill>
                  <a:srgbClr val="FF0000"/>
                </a:solidFill>
                <a:latin typeface="Arial"/>
                <a:cs typeface="Arial"/>
              </a:rPr>
              <a:t>chỉnh lưu </a:t>
            </a:r>
            <a:r>
              <a:rPr sz="1800" spc="-40" dirty="0">
                <a:solidFill>
                  <a:srgbClr val="FF0000"/>
                </a:solidFill>
                <a:latin typeface="Arial"/>
                <a:cs typeface="Arial"/>
              </a:rPr>
              <a:t>toàn </a:t>
            </a:r>
            <a:r>
              <a:rPr sz="1800" spc="-90" dirty="0">
                <a:solidFill>
                  <a:srgbClr val="FF0000"/>
                </a:solidFill>
                <a:latin typeface="Arial"/>
                <a:cs typeface="Arial"/>
              </a:rPr>
              <a:t>chu</a:t>
            </a:r>
            <a:r>
              <a:rPr sz="1800" spc="-1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FF0000"/>
                </a:solidFill>
                <a:latin typeface="Arial"/>
                <a:cs typeface="Arial"/>
              </a:rPr>
              <a:t>kì</a:t>
            </a:r>
            <a:endParaRPr sz="1800">
              <a:latin typeface="Arial"/>
              <a:cs typeface="Arial"/>
            </a:endParaRPr>
          </a:p>
          <a:p>
            <a:pPr marL="762635" lvl="1" indent="-457200">
              <a:lnSpc>
                <a:spcPct val="100000"/>
              </a:lnSpc>
              <a:spcBef>
                <a:spcPts val="380"/>
              </a:spcBef>
              <a:buClr>
                <a:srgbClr val="99CA38"/>
              </a:buClr>
              <a:buAutoNum type="arabicPeriod"/>
              <a:tabLst>
                <a:tab pos="762635" algn="l"/>
                <a:tab pos="763270" algn="l"/>
              </a:tabLst>
            </a:pPr>
            <a:r>
              <a:rPr sz="1800" spc="-80" dirty="0">
                <a:solidFill>
                  <a:srgbClr val="FFC000"/>
                </a:solidFill>
                <a:latin typeface="Arial"/>
                <a:cs typeface="Arial"/>
              </a:rPr>
              <a:t>Mạch </a:t>
            </a:r>
            <a:r>
              <a:rPr sz="1800" spc="-65" dirty="0">
                <a:solidFill>
                  <a:srgbClr val="FFC000"/>
                </a:solidFill>
                <a:latin typeface="Arial"/>
                <a:cs typeface="Arial"/>
              </a:rPr>
              <a:t>lọc </a:t>
            </a:r>
            <a:r>
              <a:rPr sz="1800" spc="-80" dirty="0">
                <a:solidFill>
                  <a:srgbClr val="FFC000"/>
                </a:solidFill>
                <a:latin typeface="Arial"/>
                <a:cs typeface="Arial"/>
              </a:rPr>
              <a:t>nguồn </a:t>
            </a:r>
            <a:r>
              <a:rPr sz="1800" spc="-5" dirty="0">
                <a:solidFill>
                  <a:srgbClr val="FFC000"/>
                </a:solidFill>
                <a:latin typeface="Arial"/>
                <a:cs typeface="Arial"/>
              </a:rPr>
              <a:t>một</a:t>
            </a:r>
            <a:r>
              <a:rPr sz="1800" spc="-10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800" spc="-75" dirty="0">
                <a:solidFill>
                  <a:srgbClr val="FFC000"/>
                </a:solidFill>
                <a:latin typeface="Arial"/>
                <a:cs typeface="Arial"/>
              </a:rPr>
              <a:t>chiều</a:t>
            </a:r>
            <a:endParaRPr sz="18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350"/>
              </a:spcBef>
              <a:buClr>
                <a:srgbClr val="99CA38"/>
              </a:buClr>
              <a:buAutoNum type="arabicPeriod"/>
              <a:tabLst>
                <a:tab pos="469900" algn="l"/>
                <a:tab pos="470534" algn="l"/>
              </a:tabLst>
            </a:pPr>
            <a:r>
              <a:rPr spc="-90" dirty="0"/>
              <a:t>Diode</a:t>
            </a:r>
            <a:r>
              <a:rPr spc="-135" dirty="0"/>
              <a:t> </a:t>
            </a:r>
            <a:r>
              <a:rPr spc="-114" dirty="0"/>
              <a:t>Zener</a:t>
            </a:r>
          </a:p>
          <a:p>
            <a:pPr marL="762635" lvl="1" indent="-457200">
              <a:lnSpc>
                <a:spcPct val="100000"/>
              </a:lnSpc>
              <a:spcBef>
                <a:spcPts val="190"/>
              </a:spcBef>
              <a:buClr>
                <a:srgbClr val="99CA38"/>
              </a:buClr>
              <a:buAutoNum type="arabicPeriod"/>
              <a:tabLst>
                <a:tab pos="762635" algn="l"/>
                <a:tab pos="763270" algn="l"/>
              </a:tabLst>
            </a:pPr>
            <a:r>
              <a:rPr sz="1800" spc="-135" dirty="0">
                <a:solidFill>
                  <a:srgbClr val="6F2F9F"/>
                </a:solidFill>
                <a:latin typeface="Arial"/>
                <a:cs typeface="Arial"/>
              </a:rPr>
              <a:t>Ổn</a:t>
            </a:r>
            <a:r>
              <a:rPr sz="1800" spc="-9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6F2F9F"/>
                </a:solidFill>
                <a:latin typeface="Arial"/>
                <a:cs typeface="Arial"/>
              </a:rPr>
              <a:t>áp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04182" y="4869941"/>
            <a:ext cx="855344" cy="585470"/>
          </a:xfrm>
          <a:custGeom>
            <a:avLst/>
            <a:gdLst/>
            <a:ahLst/>
            <a:cxnLst/>
            <a:rect l="l" t="t" r="r" b="b"/>
            <a:pathLst>
              <a:path w="855345" h="585470">
                <a:moveTo>
                  <a:pt x="0" y="585215"/>
                </a:moveTo>
                <a:lnTo>
                  <a:pt x="854963" y="585215"/>
                </a:lnTo>
                <a:lnTo>
                  <a:pt x="854963" y="0"/>
                </a:lnTo>
                <a:lnTo>
                  <a:pt x="0" y="0"/>
                </a:lnTo>
                <a:lnTo>
                  <a:pt x="0" y="585215"/>
                </a:lnTo>
                <a:close/>
              </a:path>
            </a:pathLst>
          </a:custGeom>
          <a:ln w="3505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604509" y="4869941"/>
            <a:ext cx="855344" cy="585470"/>
          </a:xfrm>
          <a:custGeom>
            <a:avLst/>
            <a:gdLst/>
            <a:ahLst/>
            <a:cxnLst/>
            <a:rect l="l" t="t" r="r" b="b"/>
            <a:pathLst>
              <a:path w="855345" h="585470">
                <a:moveTo>
                  <a:pt x="0" y="585215"/>
                </a:moveTo>
                <a:lnTo>
                  <a:pt x="854963" y="585215"/>
                </a:lnTo>
                <a:lnTo>
                  <a:pt x="854963" y="0"/>
                </a:lnTo>
                <a:lnTo>
                  <a:pt x="0" y="0"/>
                </a:lnTo>
                <a:lnTo>
                  <a:pt x="0" y="585215"/>
                </a:lnTo>
                <a:close/>
              </a:path>
            </a:pathLst>
          </a:custGeom>
          <a:ln w="35052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04838" y="4862321"/>
            <a:ext cx="855344" cy="585470"/>
          </a:xfrm>
          <a:custGeom>
            <a:avLst/>
            <a:gdLst/>
            <a:ahLst/>
            <a:cxnLst/>
            <a:rect l="l" t="t" r="r" b="b"/>
            <a:pathLst>
              <a:path w="855345" h="585470">
                <a:moveTo>
                  <a:pt x="0" y="585215"/>
                </a:moveTo>
                <a:lnTo>
                  <a:pt x="854963" y="585215"/>
                </a:lnTo>
                <a:lnTo>
                  <a:pt x="854963" y="0"/>
                </a:lnTo>
                <a:lnTo>
                  <a:pt x="0" y="0"/>
                </a:lnTo>
                <a:lnTo>
                  <a:pt x="0" y="585215"/>
                </a:lnTo>
                <a:close/>
              </a:path>
            </a:pathLst>
          </a:custGeom>
          <a:ln w="35052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1245" y="908380"/>
            <a:ext cx="527939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15" dirty="0"/>
              <a:t>Biến </a:t>
            </a:r>
            <a:r>
              <a:rPr spc="-320" dirty="0"/>
              <a:t>áp</a:t>
            </a:r>
            <a:r>
              <a:rPr spc="-455" dirty="0"/>
              <a:t> </a:t>
            </a:r>
            <a:r>
              <a:rPr spc="-235" dirty="0"/>
              <a:t>(Transformer)</a:t>
            </a:r>
          </a:p>
        </p:txBody>
      </p:sp>
      <p:sp>
        <p:nvSpPr>
          <p:cNvPr id="3" name="object 3"/>
          <p:cNvSpPr/>
          <p:nvPr/>
        </p:nvSpPr>
        <p:spPr>
          <a:xfrm>
            <a:off x="4236803" y="3977779"/>
            <a:ext cx="5562207" cy="22106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04139" marR="5080" indent="-91440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spc="-215" dirty="0"/>
              <a:t>Là </a:t>
            </a:r>
            <a:r>
              <a:rPr spc="5" dirty="0"/>
              <a:t>thiết </a:t>
            </a:r>
            <a:r>
              <a:rPr spc="-25" dirty="0"/>
              <a:t>bị </a:t>
            </a:r>
            <a:r>
              <a:rPr spc="-35" dirty="0"/>
              <a:t>truyền </a:t>
            </a:r>
            <a:r>
              <a:rPr spc="-15" dirty="0"/>
              <a:t>tín </a:t>
            </a:r>
            <a:r>
              <a:rPr spc="-60" dirty="0"/>
              <a:t>hiệu </a:t>
            </a:r>
            <a:r>
              <a:rPr spc="-50" dirty="0"/>
              <a:t>điện </a:t>
            </a:r>
            <a:r>
              <a:rPr spc="-120" dirty="0"/>
              <a:t>xoay </a:t>
            </a:r>
            <a:r>
              <a:rPr spc="-80" dirty="0"/>
              <a:t>chiều </a:t>
            </a:r>
            <a:r>
              <a:rPr spc="-110" dirty="0"/>
              <a:t>giữa </a:t>
            </a:r>
            <a:r>
              <a:rPr spc="-155" dirty="0"/>
              <a:t>các </a:t>
            </a:r>
            <a:r>
              <a:rPr spc="-110" dirty="0"/>
              <a:t>mạch </a:t>
            </a:r>
            <a:r>
              <a:rPr spc="-45" dirty="0"/>
              <a:t>điện </a:t>
            </a:r>
            <a:r>
              <a:rPr spc="-55" dirty="0"/>
              <a:t>thông </a:t>
            </a:r>
            <a:r>
              <a:rPr spc="-95" dirty="0"/>
              <a:t>qua  </a:t>
            </a:r>
            <a:r>
              <a:rPr spc="-125" dirty="0"/>
              <a:t>cảm </a:t>
            </a:r>
            <a:r>
              <a:rPr spc="-120" dirty="0"/>
              <a:t>ứng </a:t>
            </a:r>
            <a:r>
              <a:rPr spc="-45" dirty="0"/>
              <a:t>điện</a:t>
            </a:r>
            <a:r>
              <a:rPr spc="-100" dirty="0"/>
              <a:t> </a:t>
            </a:r>
            <a:r>
              <a:rPr spc="-25" dirty="0"/>
              <a:t>từ.</a:t>
            </a:r>
          </a:p>
          <a:p>
            <a:pPr marL="104139" indent="-91440">
              <a:lnSpc>
                <a:spcPts val="2280"/>
              </a:lnSpc>
              <a:spcBef>
                <a:spcPts val="1130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spc="-110" dirty="0"/>
              <a:t>Trong mạch </a:t>
            </a:r>
            <a:r>
              <a:rPr spc="-125" dirty="0"/>
              <a:t>cấp </a:t>
            </a:r>
            <a:r>
              <a:rPr spc="-85" dirty="0"/>
              <a:t>nguồn </a:t>
            </a:r>
            <a:r>
              <a:rPr spc="-10" dirty="0"/>
              <a:t>một</a:t>
            </a:r>
            <a:r>
              <a:rPr spc="345" dirty="0"/>
              <a:t> </a:t>
            </a:r>
            <a:r>
              <a:rPr spc="-75" dirty="0"/>
              <a:t>chiều, </a:t>
            </a:r>
            <a:r>
              <a:rPr spc="-60" dirty="0"/>
              <a:t>biến </a:t>
            </a:r>
            <a:r>
              <a:rPr spc="-110" dirty="0"/>
              <a:t>áp </a:t>
            </a:r>
            <a:r>
              <a:rPr spc="-105" dirty="0"/>
              <a:t>có </a:t>
            </a:r>
            <a:r>
              <a:rPr spc="-70" dirty="0"/>
              <a:t>tác </a:t>
            </a:r>
            <a:r>
              <a:rPr spc="-95" dirty="0"/>
              <a:t>dụng </a:t>
            </a:r>
            <a:r>
              <a:rPr spc="-35" dirty="0"/>
              <a:t>truyền </a:t>
            </a:r>
            <a:r>
              <a:rPr spc="-60" dirty="0"/>
              <a:t>hiệu </a:t>
            </a:r>
            <a:r>
              <a:rPr spc="-45" dirty="0"/>
              <a:t>điện </a:t>
            </a:r>
            <a:r>
              <a:rPr spc="-20" dirty="0"/>
              <a:t>thế</a:t>
            </a:r>
          </a:p>
          <a:p>
            <a:pPr marL="104139">
              <a:lnSpc>
                <a:spcPts val="2280"/>
              </a:lnSpc>
            </a:pPr>
            <a:r>
              <a:rPr spc="-114" dirty="0"/>
              <a:t>xoay</a:t>
            </a:r>
            <a:r>
              <a:rPr spc="-125" dirty="0"/>
              <a:t> </a:t>
            </a:r>
            <a:r>
              <a:rPr spc="-75" dirty="0"/>
              <a:t>chiều</a:t>
            </a:r>
            <a:r>
              <a:rPr spc="-110" dirty="0"/>
              <a:t> </a:t>
            </a:r>
            <a:r>
              <a:rPr spc="-10" dirty="0"/>
              <a:t>từ</a:t>
            </a:r>
            <a:r>
              <a:rPr spc="-110" dirty="0"/>
              <a:t> </a:t>
            </a:r>
            <a:r>
              <a:rPr spc="-85" dirty="0"/>
              <a:t>nguồn</a:t>
            </a:r>
            <a:r>
              <a:rPr spc="-120" dirty="0"/>
              <a:t> </a:t>
            </a:r>
            <a:r>
              <a:rPr spc="-45" dirty="0"/>
              <a:t>điện</a:t>
            </a:r>
            <a:r>
              <a:rPr spc="-110" dirty="0"/>
              <a:t> </a:t>
            </a:r>
            <a:r>
              <a:rPr spc="-114" dirty="0"/>
              <a:t>xoay</a:t>
            </a:r>
            <a:r>
              <a:rPr spc="-125" dirty="0"/>
              <a:t> </a:t>
            </a:r>
            <a:r>
              <a:rPr spc="-75" dirty="0"/>
              <a:t>chiều</a:t>
            </a:r>
            <a:r>
              <a:rPr spc="-100" dirty="0"/>
              <a:t> </a:t>
            </a:r>
            <a:r>
              <a:rPr spc="-65" dirty="0"/>
              <a:t>đến</a:t>
            </a:r>
            <a:r>
              <a:rPr spc="-110" dirty="0"/>
              <a:t> </a:t>
            </a:r>
            <a:r>
              <a:rPr spc="-75" dirty="0"/>
              <a:t>đầu</a:t>
            </a:r>
            <a:r>
              <a:rPr spc="-125" dirty="0"/>
              <a:t> </a:t>
            </a:r>
            <a:r>
              <a:rPr spc="-105" dirty="0"/>
              <a:t>vào</a:t>
            </a:r>
            <a:r>
              <a:rPr spc="-110" dirty="0"/>
              <a:t> </a:t>
            </a:r>
            <a:r>
              <a:rPr spc="-125" dirty="0"/>
              <a:t>của</a:t>
            </a:r>
            <a:r>
              <a:rPr spc="-114" dirty="0"/>
              <a:t> </a:t>
            </a:r>
            <a:r>
              <a:rPr spc="-110" dirty="0"/>
              <a:t>mạch</a:t>
            </a:r>
            <a:r>
              <a:rPr spc="-105" dirty="0"/>
              <a:t> </a:t>
            </a:r>
            <a:r>
              <a:rPr spc="-65" dirty="0"/>
              <a:t>chỉnh</a:t>
            </a:r>
            <a:r>
              <a:rPr spc="-125" dirty="0"/>
              <a:t> </a:t>
            </a:r>
            <a:r>
              <a:rPr spc="-60" dirty="0"/>
              <a:t>lưu.</a:t>
            </a:r>
          </a:p>
          <a:p>
            <a:pPr marL="270510" indent="-257810">
              <a:lnSpc>
                <a:spcPct val="100000"/>
              </a:lnSpc>
              <a:spcBef>
                <a:spcPts val="115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pc="-220" dirty="0"/>
              <a:t>Có </a:t>
            </a:r>
            <a:r>
              <a:rPr spc="-100" dirty="0"/>
              <a:t>2 ưu </a:t>
            </a:r>
            <a:r>
              <a:rPr spc="-50" dirty="0"/>
              <a:t>điểm </a:t>
            </a:r>
            <a:r>
              <a:rPr spc="-45" dirty="0"/>
              <a:t>khi </a:t>
            </a:r>
            <a:r>
              <a:rPr spc="-180" dirty="0"/>
              <a:t>sử </a:t>
            </a:r>
            <a:r>
              <a:rPr spc="-90" dirty="0"/>
              <a:t>dụng </a:t>
            </a:r>
            <a:r>
              <a:rPr spc="-60" dirty="0"/>
              <a:t>biến</a:t>
            </a:r>
            <a:r>
              <a:rPr spc="-125" dirty="0"/>
              <a:t> </a:t>
            </a:r>
            <a:r>
              <a:rPr spc="-80" dirty="0"/>
              <a:t>áp:</a:t>
            </a:r>
          </a:p>
          <a:p>
            <a:pPr>
              <a:lnSpc>
                <a:spcPct val="100000"/>
              </a:lnSpc>
              <a:buClr>
                <a:srgbClr val="99CA38"/>
              </a:buClr>
              <a:buFont typeface="Wingdings"/>
              <a:buChar char=""/>
            </a:pPr>
            <a:endParaRPr sz="2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99CA38"/>
              </a:buClr>
              <a:buFont typeface="Wingdings"/>
              <a:buChar char=""/>
            </a:pPr>
            <a:endParaRPr sz="2200">
              <a:latin typeface="Times New Roman"/>
              <a:cs typeface="Times New Roman"/>
            </a:endParaRPr>
          </a:p>
          <a:p>
            <a:pPr marL="675640" lvl="1" indent="-457200">
              <a:lnSpc>
                <a:spcPct val="100000"/>
              </a:lnSpc>
              <a:buAutoNum type="arabicPeriod"/>
              <a:tabLst>
                <a:tab pos="675005" algn="l"/>
                <a:tab pos="675640" algn="l"/>
                <a:tab pos="1330325" algn="l"/>
                <a:tab pos="1766570" algn="l"/>
                <a:tab pos="2141220" algn="l"/>
                <a:tab pos="2633980" algn="l"/>
              </a:tabLst>
            </a:pPr>
            <a:r>
              <a:rPr sz="1800" spc="-114" dirty="0">
                <a:solidFill>
                  <a:srgbClr val="00AFEF"/>
                </a:solidFill>
                <a:latin typeface="Arial"/>
                <a:cs typeface="Arial"/>
              </a:rPr>
              <a:t>Giảm	</a:t>
            </a:r>
            <a:r>
              <a:rPr sz="1800" spc="-95" dirty="0">
                <a:solidFill>
                  <a:srgbClr val="00AFEF"/>
                </a:solidFill>
                <a:latin typeface="Arial"/>
                <a:cs typeface="Arial"/>
              </a:rPr>
              <a:t>giá	</a:t>
            </a:r>
            <a:r>
              <a:rPr sz="1800" spc="40" dirty="0">
                <a:solidFill>
                  <a:srgbClr val="00AFEF"/>
                </a:solidFill>
                <a:latin typeface="Arial"/>
                <a:cs typeface="Arial"/>
              </a:rPr>
              <a:t>trị	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của	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nguồn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4580" y="4577333"/>
            <a:ext cx="30333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xoay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chiều 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xuống </a:t>
            </a: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một  </a:t>
            </a:r>
            <a:r>
              <a:rPr sz="1800" spc="-95" dirty="0">
                <a:solidFill>
                  <a:srgbClr val="00AFEF"/>
                </a:solidFill>
                <a:latin typeface="Arial"/>
                <a:cs typeface="Arial"/>
              </a:rPr>
              <a:t>giá </a:t>
            </a:r>
            <a:r>
              <a:rPr sz="1800" spc="40" dirty="0">
                <a:solidFill>
                  <a:srgbClr val="00AFEF"/>
                </a:solidFill>
                <a:latin typeface="Arial"/>
                <a:cs typeface="Arial"/>
              </a:rPr>
              <a:t>trị </a:t>
            </a:r>
            <a:r>
              <a:rPr sz="1800" spc="-60" dirty="0">
                <a:solidFill>
                  <a:srgbClr val="00AFEF"/>
                </a:solidFill>
                <a:latin typeface="Arial"/>
                <a:cs typeface="Arial"/>
              </a:rPr>
              <a:t>phù</a:t>
            </a:r>
            <a:r>
              <a:rPr sz="1800" spc="-21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1800" spc="-75" dirty="0">
                <a:solidFill>
                  <a:srgbClr val="00AFEF"/>
                </a:solidFill>
                <a:latin typeface="Arial"/>
                <a:cs typeface="Arial"/>
              </a:rPr>
              <a:t>hợp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469900" marR="5080" indent="-457200">
              <a:lnSpc>
                <a:spcPct val="100000"/>
              </a:lnSpc>
              <a:tabLst>
                <a:tab pos="469265" algn="l"/>
              </a:tabLst>
            </a:pPr>
            <a:r>
              <a:rPr sz="1800" spc="-70" dirty="0">
                <a:solidFill>
                  <a:srgbClr val="00AFEF"/>
                </a:solidFill>
                <a:latin typeface="Arial"/>
                <a:cs typeface="Arial"/>
              </a:rPr>
              <a:t>2.	</a:t>
            </a:r>
            <a:r>
              <a:rPr sz="1800" spc="-175" dirty="0">
                <a:solidFill>
                  <a:srgbClr val="00AFEF"/>
                </a:solidFill>
                <a:latin typeface="Arial"/>
                <a:cs typeface="Arial"/>
              </a:rPr>
              <a:t>Cách </a:t>
            </a:r>
            <a:r>
              <a:rPr sz="1800" spc="-45" dirty="0">
                <a:solidFill>
                  <a:srgbClr val="00AFEF"/>
                </a:solidFill>
                <a:latin typeface="Arial"/>
                <a:cs typeface="Arial"/>
              </a:rPr>
              <a:t>ly </a:t>
            </a: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sz="1800" spc="-125" dirty="0">
                <a:solidFill>
                  <a:srgbClr val="404040"/>
                </a:solidFill>
                <a:latin typeface="Arial"/>
                <a:cs typeface="Arial"/>
              </a:rPr>
              <a:t>cách </a:t>
            </a:r>
            <a:r>
              <a:rPr sz="1800" spc="5" dirty="0">
                <a:solidFill>
                  <a:srgbClr val="404040"/>
                </a:solidFill>
                <a:latin typeface="Arial"/>
                <a:cs typeface="Arial"/>
              </a:rPr>
              <a:t>“vật </a:t>
            </a:r>
            <a:r>
              <a:rPr sz="1800" spc="20" dirty="0">
                <a:solidFill>
                  <a:srgbClr val="404040"/>
                </a:solidFill>
                <a:latin typeface="Arial"/>
                <a:cs typeface="Arial"/>
              </a:rPr>
              <a:t>lý” </a:t>
            </a:r>
            <a:r>
              <a:rPr sz="1800" spc="2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00AFEF"/>
                </a:solidFill>
                <a:latin typeface="Arial"/>
                <a:cs typeface="Arial"/>
              </a:rPr>
              <a:t>nguồn </a:t>
            </a:r>
            <a:r>
              <a:rPr sz="1800" spc="-40" dirty="0">
                <a:solidFill>
                  <a:srgbClr val="00AFEF"/>
                </a:solidFill>
                <a:latin typeface="Arial"/>
                <a:cs typeface="Arial"/>
              </a:rPr>
              <a:t>điện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xoay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chiều</a:t>
            </a:r>
            <a:r>
              <a:rPr sz="1800" spc="-1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với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1780" y="5674867"/>
            <a:ext cx="25755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7995" algn="l"/>
                <a:tab pos="1092835" algn="l"/>
                <a:tab pos="1461770" algn="l"/>
                <a:tab pos="1953895" algn="l"/>
                <a:tab pos="2321560" algn="l"/>
              </a:tabLst>
            </a:pPr>
            <a:r>
              <a:rPr sz="1800" spc="-150" dirty="0">
                <a:solidFill>
                  <a:srgbClr val="404040"/>
                </a:solidFill>
                <a:latin typeface="Arial"/>
                <a:cs typeface="Arial"/>
              </a:rPr>
              <a:t>c</a:t>
            </a: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ác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	</a:t>
            </a:r>
            <a:r>
              <a:rPr sz="1800" spc="-65" dirty="0">
                <a:solidFill>
                  <a:srgbClr val="00AFEF"/>
                </a:solidFill>
                <a:latin typeface="Arial"/>
                <a:cs typeface="Arial"/>
              </a:rPr>
              <a:t>p</a:t>
            </a:r>
            <a:r>
              <a:rPr sz="1800" spc="-60" dirty="0">
                <a:solidFill>
                  <a:srgbClr val="00AFEF"/>
                </a:solidFill>
                <a:latin typeface="Arial"/>
                <a:cs typeface="Arial"/>
              </a:rPr>
              <a:t>h</a:t>
            </a:r>
            <a:r>
              <a:rPr sz="1800" spc="-100" dirty="0">
                <a:solidFill>
                  <a:srgbClr val="00AFEF"/>
                </a:solidFill>
                <a:latin typeface="Arial"/>
                <a:cs typeface="Arial"/>
              </a:rPr>
              <a:t>ần</a:t>
            </a:r>
            <a:r>
              <a:rPr sz="1800" dirty="0">
                <a:solidFill>
                  <a:srgbClr val="00AFEF"/>
                </a:solidFill>
                <a:latin typeface="Arial"/>
                <a:cs typeface="Arial"/>
              </a:rPr>
              <a:t>	</a:t>
            </a:r>
            <a:r>
              <a:rPr sz="1800" spc="-5" dirty="0">
                <a:solidFill>
                  <a:srgbClr val="00AFEF"/>
                </a:solidFill>
                <a:latin typeface="Arial"/>
                <a:cs typeface="Arial"/>
              </a:rPr>
              <a:t>t</a:t>
            </a:r>
            <a:r>
              <a:rPr sz="1800" spc="-15" dirty="0">
                <a:solidFill>
                  <a:srgbClr val="00AFEF"/>
                </a:solidFill>
                <a:latin typeface="Arial"/>
                <a:cs typeface="Arial"/>
              </a:rPr>
              <a:t>ử</a:t>
            </a:r>
            <a:r>
              <a:rPr sz="1800" dirty="0">
                <a:solidFill>
                  <a:srgbClr val="00AFEF"/>
                </a:solidFill>
                <a:latin typeface="Arial"/>
                <a:cs typeface="Arial"/>
              </a:rPr>
              <a:t>	</a:t>
            </a:r>
            <a:r>
              <a:rPr sz="1800" spc="-135" dirty="0">
                <a:solidFill>
                  <a:srgbClr val="00AFEF"/>
                </a:solidFill>
                <a:latin typeface="Arial"/>
                <a:cs typeface="Arial"/>
              </a:rPr>
              <a:t>c</a:t>
            </a:r>
            <a:r>
              <a:rPr sz="1800" spc="-60" dirty="0">
                <a:solidFill>
                  <a:srgbClr val="00AFEF"/>
                </a:solidFill>
                <a:latin typeface="Arial"/>
                <a:cs typeface="Arial"/>
              </a:rPr>
              <a:t>ò</a:t>
            </a:r>
            <a:r>
              <a:rPr sz="1800" spc="-55" dirty="0">
                <a:solidFill>
                  <a:srgbClr val="00AFEF"/>
                </a:solidFill>
                <a:latin typeface="Arial"/>
                <a:cs typeface="Arial"/>
              </a:rPr>
              <a:t>n</a:t>
            </a:r>
            <a:r>
              <a:rPr sz="1800" dirty="0">
                <a:solidFill>
                  <a:srgbClr val="00AFEF"/>
                </a:solidFill>
                <a:latin typeface="Arial"/>
                <a:cs typeface="Arial"/>
              </a:rPr>
              <a:t>	</a:t>
            </a:r>
            <a:r>
              <a:rPr sz="1800" spc="5" dirty="0">
                <a:solidFill>
                  <a:srgbClr val="00AFEF"/>
                </a:solidFill>
                <a:latin typeface="Arial"/>
                <a:cs typeface="Arial"/>
              </a:rPr>
              <a:t>l</a:t>
            </a:r>
            <a:r>
              <a:rPr sz="1800" spc="-65" dirty="0">
                <a:solidFill>
                  <a:srgbClr val="00AFEF"/>
                </a:solidFill>
                <a:latin typeface="Arial"/>
                <a:cs typeface="Arial"/>
              </a:rPr>
              <a:t>ại</a:t>
            </a:r>
            <a:r>
              <a:rPr sz="1800" dirty="0">
                <a:solidFill>
                  <a:srgbClr val="00AFEF"/>
                </a:solidFill>
                <a:latin typeface="Arial"/>
                <a:cs typeface="Arial"/>
              </a:rPr>
              <a:t>	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để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404040"/>
                </a:solidFill>
                <a:latin typeface="Arial"/>
                <a:cs typeface="Arial"/>
              </a:rPr>
              <a:t>tránh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“</a:t>
            </a:r>
            <a:r>
              <a:rPr sz="1800" spc="-60" dirty="0">
                <a:solidFill>
                  <a:srgbClr val="FF0000"/>
                </a:solidFill>
                <a:latin typeface="Arial"/>
                <a:cs typeface="Arial"/>
              </a:rPr>
              <a:t>sốc</a:t>
            </a:r>
            <a:r>
              <a:rPr sz="1800" spc="-1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điện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”.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67573" y="4800091"/>
            <a:ext cx="252729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40" dirty="0">
                <a:latin typeface="Trebuchet MS"/>
                <a:cs typeface="Trebuchet MS"/>
              </a:rPr>
              <a:t>𝑠𝑒</a:t>
            </a:r>
            <a:r>
              <a:rPr sz="1150" spc="25" dirty="0">
                <a:latin typeface="Trebuchet MS"/>
                <a:cs typeface="Trebuchet MS"/>
              </a:rPr>
              <a:t>𝑐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88326" y="4704079"/>
            <a:ext cx="5537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255" algn="l"/>
              </a:tabLst>
            </a:pPr>
            <a:r>
              <a:rPr sz="1600" spc="395" dirty="0">
                <a:latin typeface="Trebuchet MS"/>
                <a:cs typeface="Trebuchet MS"/>
              </a:rPr>
              <a:t>𝑉	</a:t>
            </a:r>
            <a:r>
              <a:rPr sz="1600" spc="350" dirty="0">
                <a:latin typeface="Trebuchet MS"/>
                <a:cs typeface="Trebuchet MS"/>
              </a:rPr>
              <a:t>=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285226" y="4861178"/>
            <a:ext cx="372110" cy="0"/>
          </a:xfrm>
          <a:custGeom>
            <a:avLst/>
            <a:gdLst/>
            <a:ahLst/>
            <a:cxnLst/>
            <a:rect l="l" t="t" r="r" b="b"/>
            <a:pathLst>
              <a:path w="372109">
                <a:moveTo>
                  <a:pt x="0" y="0"/>
                </a:moveTo>
                <a:lnTo>
                  <a:pt x="371855" y="0"/>
                </a:lnTo>
              </a:path>
            </a:pathLst>
          </a:custGeom>
          <a:ln w="137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273922" y="4550155"/>
            <a:ext cx="1612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595" dirty="0">
                <a:latin typeface="Trebuchet MS"/>
                <a:cs typeface="Trebuchet MS"/>
              </a:rPr>
              <a:t>𝑁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8404986" y="4646167"/>
            <a:ext cx="252729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40" dirty="0">
                <a:latin typeface="Trebuchet MS"/>
                <a:cs typeface="Trebuchet MS"/>
              </a:rPr>
              <a:t>𝑠𝑒</a:t>
            </a:r>
            <a:r>
              <a:rPr sz="1150" spc="25" dirty="0">
                <a:latin typeface="Trebuchet MS"/>
                <a:cs typeface="Trebuchet MS"/>
              </a:rPr>
              <a:t>𝑐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75446" y="4880813"/>
            <a:ext cx="3790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900" baseline="12152" dirty="0">
                <a:latin typeface="Trebuchet MS"/>
                <a:cs typeface="Trebuchet MS"/>
              </a:rPr>
              <a:t>𝑁</a:t>
            </a:r>
            <a:r>
              <a:rPr sz="1150" spc="190" dirty="0">
                <a:latin typeface="Trebuchet MS"/>
                <a:cs typeface="Trebuchet MS"/>
              </a:rPr>
              <a:t>𝑝𝑟</a:t>
            </a:r>
            <a:r>
              <a:rPr sz="1150" spc="-335" dirty="0">
                <a:latin typeface="Trebuchet MS"/>
                <a:cs typeface="Trebuchet MS"/>
              </a:rPr>
              <a:t>𝑖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80831" y="4704079"/>
            <a:ext cx="1524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395" dirty="0">
                <a:latin typeface="Trebuchet MS"/>
                <a:cs typeface="Trebuchet MS"/>
              </a:rPr>
              <a:t>𝑉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79891" y="4800091"/>
            <a:ext cx="248285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190" dirty="0">
                <a:latin typeface="Trebuchet MS"/>
                <a:cs typeface="Trebuchet MS"/>
              </a:rPr>
              <a:t>𝑝𝑟</a:t>
            </a:r>
            <a:r>
              <a:rPr sz="1150" spc="-335" dirty="0">
                <a:latin typeface="Trebuchet MS"/>
                <a:cs typeface="Trebuchet MS"/>
              </a:rPr>
              <a:t>𝑖</a:t>
            </a:r>
            <a:endParaRPr sz="1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8198" y="908380"/>
            <a:ext cx="37471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Mạch </a:t>
            </a:r>
            <a:r>
              <a:rPr spc="-220" dirty="0"/>
              <a:t>chỉnh</a:t>
            </a:r>
            <a:r>
              <a:rPr spc="-525" dirty="0"/>
              <a:t> </a:t>
            </a:r>
            <a:r>
              <a:rPr spc="-245" dirty="0"/>
              <a:t>lưu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8202295" cy="222821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04139" marR="5080" indent="-91440" algn="just">
              <a:lnSpc>
                <a:spcPct val="90000"/>
              </a:lnSpc>
              <a:spcBef>
                <a:spcPts val="340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sz="2000" b="1" spc="-114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b="1" spc="-160" dirty="0">
                <a:solidFill>
                  <a:srgbClr val="404040"/>
                </a:solidFill>
                <a:latin typeface="Arial"/>
                <a:cs typeface="Arial"/>
              </a:rPr>
              <a:t>chỉnh </a:t>
            </a:r>
            <a:r>
              <a:rPr sz="2000" b="1" spc="-100" dirty="0">
                <a:solidFill>
                  <a:srgbClr val="404040"/>
                </a:solidFill>
                <a:latin typeface="Arial"/>
                <a:cs typeface="Arial"/>
              </a:rPr>
              <a:t>lưu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sz="2000" spc="-215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những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phần </a:t>
            </a:r>
            <a:r>
              <a:rPr sz="2000" b="1" spc="-140" dirty="0">
                <a:solidFill>
                  <a:srgbClr val="404040"/>
                </a:solidFill>
                <a:latin typeface="Arial"/>
                <a:cs typeface="Arial"/>
              </a:rPr>
              <a:t>quan </a:t>
            </a:r>
            <a:r>
              <a:rPr sz="2000" b="1" spc="-125" dirty="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bộ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cấp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nguồn 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chiều.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chỉnh lưu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tác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sz="2000" b="1" spc="-165" dirty="0">
                <a:solidFill>
                  <a:srgbClr val="404040"/>
                </a:solidFill>
                <a:latin typeface="Arial"/>
                <a:cs typeface="Arial"/>
              </a:rPr>
              <a:t>chuyển </a:t>
            </a:r>
            <a:r>
              <a:rPr sz="2000" b="1" spc="-105" dirty="0">
                <a:solidFill>
                  <a:srgbClr val="404040"/>
                </a:solidFill>
                <a:latin typeface="Arial"/>
                <a:cs typeface="Arial"/>
              </a:rPr>
              <a:t>đổi </a:t>
            </a:r>
            <a:r>
              <a:rPr sz="2000" b="1" spc="-180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2000" b="1" spc="-10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b="1" spc="-160" dirty="0">
                <a:solidFill>
                  <a:srgbClr val="404040"/>
                </a:solidFill>
                <a:latin typeface="Arial"/>
                <a:cs typeface="Arial"/>
              </a:rPr>
              <a:t>xoay </a:t>
            </a:r>
            <a:r>
              <a:rPr sz="2000" b="1" spc="-150" dirty="0">
                <a:solidFill>
                  <a:srgbClr val="404040"/>
                </a:solidFill>
                <a:latin typeface="Arial"/>
                <a:cs typeface="Arial"/>
              </a:rPr>
              <a:t>chiều 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thành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sz="2000" b="1" spc="-130" dirty="0">
                <a:solidFill>
                  <a:srgbClr val="404040"/>
                </a:solidFill>
                <a:latin typeface="Arial"/>
                <a:cs typeface="Arial"/>
              </a:rPr>
              <a:t>hình </a:t>
            </a:r>
            <a:r>
              <a:rPr sz="2000" b="1" spc="-180" dirty="0">
                <a:solidFill>
                  <a:srgbClr val="404040"/>
                </a:solidFill>
                <a:latin typeface="Arial"/>
                <a:cs typeface="Arial"/>
              </a:rPr>
              <a:t>dáng </a:t>
            </a:r>
            <a:r>
              <a:rPr sz="2000" b="1" spc="-190" dirty="0">
                <a:solidFill>
                  <a:srgbClr val="404040"/>
                </a:solidFill>
                <a:latin typeface="Arial"/>
                <a:cs typeface="Arial"/>
              </a:rPr>
              <a:t>gần </a:t>
            </a:r>
            <a:r>
              <a:rPr sz="2000" b="1" spc="-185" dirty="0">
                <a:solidFill>
                  <a:srgbClr val="404040"/>
                </a:solidFill>
                <a:latin typeface="Arial"/>
                <a:cs typeface="Arial"/>
              </a:rPr>
              <a:t>giống </a:t>
            </a:r>
            <a:r>
              <a:rPr sz="2000" b="1" spc="-135" dirty="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sz="2000" b="1" spc="-180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2000" b="1" spc="-10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b="1" spc="-95" dirty="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sz="2000" b="1" spc="-150" dirty="0">
                <a:solidFill>
                  <a:srgbClr val="404040"/>
                </a:solidFill>
                <a:latin typeface="Arial"/>
                <a:cs typeface="Arial"/>
              </a:rPr>
              <a:t>chiều </a:t>
            </a:r>
            <a:r>
              <a:rPr sz="2000" b="1" spc="-100" dirty="0">
                <a:solidFill>
                  <a:srgbClr val="404040"/>
                </a:solidFill>
                <a:latin typeface="Arial"/>
                <a:cs typeface="Arial"/>
              </a:rPr>
              <a:t>nhất </a:t>
            </a:r>
            <a:r>
              <a:rPr sz="2000" b="1" spc="-210" dirty="0">
                <a:solidFill>
                  <a:srgbClr val="404040"/>
                </a:solidFill>
                <a:latin typeface="Arial"/>
                <a:cs typeface="Arial"/>
              </a:rPr>
              <a:t>có  </a:t>
            </a:r>
            <a:r>
              <a:rPr sz="2000" b="1" spc="-70" dirty="0">
                <a:solidFill>
                  <a:srgbClr val="404040"/>
                </a:solidFill>
                <a:latin typeface="Arial"/>
                <a:cs typeface="Arial"/>
              </a:rPr>
              <a:t>thể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270510" indent="-257810">
              <a:lnSpc>
                <a:spcPct val="100000"/>
              </a:lnSpc>
              <a:spcBef>
                <a:spcPts val="116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spc="-220" dirty="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hai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loại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chỉnh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lưu:</a:t>
            </a:r>
            <a:endParaRPr sz="2000">
              <a:latin typeface="Arial"/>
              <a:cs typeface="Arial"/>
            </a:endParaRPr>
          </a:p>
          <a:p>
            <a:pPr marL="448309" lvl="1" indent="-234315">
              <a:lnSpc>
                <a:spcPct val="100000"/>
              </a:lnSpc>
              <a:spcBef>
                <a:spcPts val="19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chỉnh lưu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bán chu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kì</a:t>
            </a:r>
            <a:endParaRPr sz="1800">
              <a:latin typeface="Arial"/>
              <a:cs typeface="Arial"/>
            </a:endParaRPr>
          </a:p>
          <a:p>
            <a:pPr marL="448309" lvl="1" indent="-234315">
              <a:lnSpc>
                <a:spcPct val="100000"/>
              </a:lnSpc>
              <a:spcBef>
                <a:spcPts val="38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chỉnh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lưu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toàn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chu</a:t>
            </a:r>
            <a:r>
              <a:rPr sz="1800" spc="-1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kì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56970" y="4305358"/>
            <a:ext cx="1791970" cy="18210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69473" y="4102804"/>
            <a:ext cx="2544830" cy="9999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7652" y="5036820"/>
            <a:ext cx="2828544" cy="12359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452364" y="5961684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104132" y="4688840"/>
            <a:ext cx="1344930" cy="355600"/>
          </a:xfrm>
          <a:custGeom>
            <a:avLst/>
            <a:gdLst/>
            <a:ahLst/>
            <a:cxnLst/>
            <a:rect l="l" t="t" r="r" b="b"/>
            <a:pathLst>
              <a:path w="1344929" h="355600">
                <a:moveTo>
                  <a:pt x="1269440" y="30857"/>
                </a:moveTo>
                <a:lnTo>
                  <a:pt x="0" y="343281"/>
                </a:lnTo>
                <a:lnTo>
                  <a:pt x="3047" y="355600"/>
                </a:lnTo>
                <a:lnTo>
                  <a:pt x="1272463" y="43182"/>
                </a:lnTo>
                <a:lnTo>
                  <a:pt x="1269440" y="30857"/>
                </a:lnTo>
                <a:close/>
              </a:path>
              <a:path w="1344929" h="355600">
                <a:moveTo>
                  <a:pt x="1334337" y="27812"/>
                </a:moveTo>
                <a:lnTo>
                  <a:pt x="1281810" y="27812"/>
                </a:lnTo>
                <a:lnTo>
                  <a:pt x="1284858" y="40132"/>
                </a:lnTo>
                <a:lnTo>
                  <a:pt x="1272463" y="43182"/>
                </a:lnTo>
                <a:lnTo>
                  <a:pt x="1280032" y="74041"/>
                </a:lnTo>
                <a:lnTo>
                  <a:pt x="1334337" y="27812"/>
                </a:lnTo>
                <a:close/>
              </a:path>
              <a:path w="1344929" h="355600">
                <a:moveTo>
                  <a:pt x="1281810" y="27812"/>
                </a:moveTo>
                <a:lnTo>
                  <a:pt x="1269440" y="30857"/>
                </a:lnTo>
                <a:lnTo>
                  <a:pt x="1272463" y="43182"/>
                </a:lnTo>
                <a:lnTo>
                  <a:pt x="1284858" y="40132"/>
                </a:lnTo>
                <a:lnTo>
                  <a:pt x="1281810" y="27812"/>
                </a:lnTo>
                <a:close/>
              </a:path>
              <a:path w="1344929" h="355600">
                <a:moveTo>
                  <a:pt x="1261871" y="0"/>
                </a:moveTo>
                <a:lnTo>
                  <a:pt x="1269440" y="30857"/>
                </a:lnTo>
                <a:lnTo>
                  <a:pt x="1281810" y="27812"/>
                </a:lnTo>
                <a:lnTo>
                  <a:pt x="1334337" y="27812"/>
                </a:lnTo>
                <a:lnTo>
                  <a:pt x="1344929" y="18796"/>
                </a:lnTo>
                <a:lnTo>
                  <a:pt x="1261871" y="0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2100" y="5031485"/>
            <a:ext cx="1120775" cy="755015"/>
          </a:xfrm>
          <a:custGeom>
            <a:avLst/>
            <a:gdLst/>
            <a:ahLst/>
            <a:cxnLst/>
            <a:rect l="l" t="t" r="r" b="b"/>
            <a:pathLst>
              <a:path w="1120775" h="755014">
                <a:moveTo>
                  <a:pt x="1053604" y="717597"/>
                </a:moveTo>
                <a:lnTo>
                  <a:pt x="1035938" y="743953"/>
                </a:lnTo>
                <a:lnTo>
                  <a:pt x="1120394" y="754773"/>
                </a:lnTo>
                <a:lnTo>
                  <a:pt x="1103312" y="724661"/>
                </a:lnTo>
                <a:lnTo>
                  <a:pt x="1064133" y="724661"/>
                </a:lnTo>
                <a:lnTo>
                  <a:pt x="1053604" y="717597"/>
                </a:lnTo>
                <a:close/>
              </a:path>
              <a:path w="1120775" h="755014">
                <a:moveTo>
                  <a:pt x="1060690" y="707025"/>
                </a:moveTo>
                <a:lnTo>
                  <a:pt x="1053604" y="717597"/>
                </a:lnTo>
                <a:lnTo>
                  <a:pt x="1064133" y="724661"/>
                </a:lnTo>
                <a:lnTo>
                  <a:pt x="1071245" y="714108"/>
                </a:lnTo>
                <a:lnTo>
                  <a:pt x="1060690" y="707025"/>
                </a:lnTo>
                <a:close/>
              </a:path>
              <a:path w="1120775" h="755014">
                <a:moveTo>
                  <a:pt x="1078357" y="680669"/>
                </a:moveTo>
                <a:lnTo>
                  <a:pt x="1060690" y="707025"/>
                </a:lnTo>
                <a:lnTo>
                  <a:pt x="1071245" y="714108"/>
                </a:lnTo>
                <a:lnTo>
                  <a:pt x="1064133" y="724661"/>
                </a:lnTo>
                <a:lnTo>
                  <a:pt x="1103312" y="724661"/>
                </a:lnTo>
                <a:lnTo>
                  <a:pt x="1078357" y="680669"/>
                </a:lnTo>
                <a:close/>
              </a:path>
              <a:path w="1120775" h="755014">
                <a:moveTo>
                  <a:pt x="7112" y="0"/>
                </a:moveTo>
                <a:lnTo>
                  <a:pt x="0" y="10668"/>
                </a:lnTo>
                <a:lnTo>
                  <a:pt x="1053604" y="717597"/>
                </a:lnTo>
                <a:lnTo>
                  <a:pt x="1060690" y="707025"/>
                </a:lnTo>
                <a:lnTo>
                  <a:pt x="7112" y="0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4608" y="908380"/>
            <a:ext cx="63068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Mạch </a:t>
            </a:r>
            <a:r>
              <a:rPr spc="-220" dirty="0"/>
              <a:t>chỉnh </a:t>
            </a:r>
            <a:r>
              <a:rPr spc="-245" dirty="0"/>
              <a:t>lưu </a:t>
            </a:r>
            <a:r>
              <a:rPr spc="-290" dirty="0"/>
              <a:t>bán </a:t>
            </a:r>
            <a:r>
              <a:rPr spc="-270" dirty="0"/>
              <a:t>chu</a:t>
            </a:r>
            <a:r>
              <a:rPr spc="-765" dirty="0"/>
              <a:t> </a:t>
            </a:r>
            <a:r>
              <a:rPr spc="-335" dirty="0"/>
              <a:t>kì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19685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spc="-190" dirty="0">
                <a:solidFill>
                  <a:srgbClr val="404040"/>
                </a:solidFill>
                <a:latin typeface="Arial"/>
                <a:cs typeface="Arial"/>
              </a:rPr>
              <a:t>Cách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hoạt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động: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4897" y="2614541"/>
            <a:ext cx="4929613" cy="13303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21789" y="4146836"/>
            <a:ext cx="4955050" cy="13346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47243" y="3486715"/>
            <a:ext cx="2027950" cy="7975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8597" y="908380"/>
            <a:ext cx="65004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Mạch </a:t>
            </a:r>
            <a:r>
              <a:rPr spc="-220" dirty="0"/>
              <a:t>chỉnh </a:t>
            </a:r>
            <a:r>
              <a:rPr spc="-245" dirty="0"/>
              <a:t>lưu </a:t>
            </a:r>
            <a:r>
              <a:rPr spc="-170" dirty="0"/>
              <a:t>toàn </a:t>
            </a:r>
            <a:r>
              <a:rPr spc="-275" dirty="0"/>
              <a:t>chu</a:t>
            </a:r>
            <a:r>
              <a:rPr spc="-880" dirty="0"/>
              <a:t> </a:t>
            </a:r>
            <a:r>
              <a:rPr spc="-335" dirty="0"/>
              <a:t>kì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19653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spc="-190" dirty="0">
                <a:solidFill>
                  <a:srgbClr val="404040"/>
                </a:solidFill>
                <a:latin typeface="Arial"/>
                <a:cs typeface="Arial"/>
              </a:rPr>
              <a:t>Cách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hoạt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động: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60241" y="2586208"/>
            <a:ext cx="4487305" cy="15956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7398" y="4244313"/>
            <a:ext cx="4592066" cy="16313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29812" y="3432622"/>
            <a:ext cx="2721807" cy="8841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179058" y="4082542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1452" y="286892"/>
            <a:ext cx="5008880" cy="137922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67005" marR="5080" indent="-154305">
              <a:lnSpc>
                <a:spcPts val="4900"/>
              </a:lnSpc>
              <a:spcBef>
                <a:spcPts val="980"/>
              </a:spcBef>
            </a:pPr>
            <a:r>
              <a:rPr spc="-590" dirty="0"/>
              <a:t>Các </a:t>
            </a:r>
            <a:r>
              <a:rPr spc="-325" dirty="0"/>
              <a:t>vấn </a:t>
            </a:r>
            <a:r>
              <a:rPr spc="-210" dirty="0"/>
              <a:t>đề </a:t>
            </a:r>
            <a:r>
              <a:rPr spc="-350" dirty="0"/>
              <a:t>cần </a:t>
            </a:r>
            <a:r>
              <a:rPr spc="-270" dirty="0"/>
              <a:t>chú </a:t>
            </a:r>
            <a:r>
              <a:rPr spc="-285" dirty="0"/>
              <a:t>ý  </a:t>
            </a:r>
            <a:r>
              <a:rPr spc="-350" dirty="0"/>
              <a:t>của </a:t>
            </a:r>
            <a:r>
              <a:rPr spc="-330" dirty="0"/>
              <a:t>mạch </a:t>
            </a:r>
            <a:r>
              <a:rPr spc="-220" dirty="0"/>
              <a:t>chỉnh</a:t>
            </a:r>
            <a:r>
              <a:rPr spc="-390" dirty="0"/>
              <a:t> </a:t>
            </a:r>
            <a:r>
              <a:rPr spc="-245" dirty="0"/>
              <a:t>lưu</a:t>
            </a:r>
          </a:p>
        </p:txBody>
      </p:sp>
      <p:sp>
        <p:nvSpPr>
          <p:cNvPr id="3" name="object 3"/>
          <p:cNvSpPr/>
          <p:nvPr/>
        </p:nvSpPr>
        <p:spPr>
          <a:xfrm>
            <a:off x="5496191" y="1964633"/>
            <a:ext cx="4309438" cy="13424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04517" y="2186813"/>
            <a:ext cx="2642870" cy="0"/>
          </a:xfrm>
          <a:custGeom>
            <a:avLst/>
            <a:gdLst/>
            <a:ahLst/>
            <a:cxnLst/>
            <a:rect l="l" t="t" r="r" b="b"/>
            <a:pathLst>
              <a:path w="2642870">
                <a:moveTo>
                  <a:pt x="0" y="0"/>
                </a:moveTo>
                <a:lnTo>
                  <a:pt x="2642616" y="0"/>
                </a:lnTo>
              </a:path>
            </a:pathLst>
          </a:custGeom>
          <a:ln w="22859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90903" y="1885950"/>
            <a:ext cx="29381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Clr>
                <a:srgbClr val="99CA38"/>
              </a:buClr>
              <a:buFont typeface="Wingdings"/>
              <a:buChar char=""/>
              <a:tabLst>
                <a:tab pos="270510" algn="l"/>
              </a:tabLst>
            </a:pPr>
            <a:r>
              <a:rPr sz="2000" b="1" spc="-12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2000" b="1" spc="-10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b="1" spc="-75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2000" b="1" spc="-125" dirty="0">
                <a:solidFill>
                  <a:srgbClr val="404040"/>
                </a:solidFill>
                <a:latin typeface="Arial"/>
                <a:cs typeface="Arial"/>
              </a:rPr>
              <a:t>trung</a:t>
            </a:r>
            <a:r>
              <a:rPr sz="2000" b="1" spc="-2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05" dirty="0">
                <a:solidFill>
                  <a:srgbClr val="404040"/>
                </a:solidFill>
                <a:latin typeface="Arial"/>
                <a:cs typeface="Arial"/>
              </a:rPr>
              <a:t>bình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92882" y="2460498"/>
            <a:ext cx="391795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465" dirty="0">
                <a:solidFill>
                  <a:srgbClr val="404040"/>
                </a:solidFill>
                <a:latin typeface="Trebuchet MS"/>
                <a:cs typeface="Trebuchet MS"/>
              </a:rPr>
              <a:t>𝐴𝑉𝐺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18305" y="2534285"/>
            <a:ext cx="230504" cy="0"/>
          </a:xfrm>
          <a:custGeom>
            <a:avLst/>
            <a:gdLst/>
            <a:ahLst/>
            <a:cxnLst/>
            <a:rect l="l" t="t" r="r" b="b"/>
            <a:pathLst>
              <a:path w="230504">
                <a:moveTo>
                  <a:pt x="0" y="0"/>
                </a:moveTo>
                <a:lnTo>
                  <a:pt x="230124" y="0"/>
                </a:lnTo>
              </a:path>
            </a:pathLst>
          </a:custGeom>
          <a:ln w="16763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880105" y="2140457"/>
            <a:ext cx="1068070" cy="530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ts val="1985"/>
              </a:lnSpc>
              <a:spcBef>
                <a:spcPts val="105"/>
              </a:spcBef>
            </a:pPr>
            <a:r>
              <a:rPr sz="2000" spc="30" dirty="0">
                <a:solidFill>
                  <a:srgbClr val="404040"/>
                </a:solidFill>
                <a:latin typeface="Trebuchet MS"/>
                <a:cs typeface="Trebuchet MS"/>
              </a:rPr>
              <a:t>𝑉</a:t>
            </a:r>
            <a:r>
              <a:rPr sz="2175" spc="585" baseline="-15325" dirty="0">
                <a:solidFill>
                  <a:srgbClr val="404040"/>
                </a:solidFill>
                <a:latin typeface="Trebuchet MS"/>
                <a:cs typeface="Trebuchet MS"/>
              </a:rPr>
              <a:t>𝑝</a:t>
            </a:r>
            <a:endParaRPr sz="2175" baseline="-15325">
              <a:latin typeface="Trebuchet MS"/>
              <a:cs typeface="Trebuchet MS"/>
            </a:endParaRPr>
          </a:p>
          <a:p>
            <a:pPr marL="12700">
              <a:lnSpc>
                <a:spcPts val="1985"/>
              </a:lnSpc>
              <a:tabLst>
                <a:tab pos="577850" algn="l"/>
              </a:tabLst>
            </a:pPr>
            <a:r>
              <a:rPr sz="2000" spc="250" dirty="0">
                <a:solidFill>
                  <a:srgbClr val="404040"/>
                </a:solidFill>
                <a:latin typeface="Trebuchet MS"/>
                <a:cs typeface="Trebuchet MS"/>
              </a:rPr>
              <a:t>𝑉	</a:t>
            </a:r>
            <a:r>
              <a:rPr sz="2000" spc="445" dirty="0">
                <a:solidFill>
                  <a:srgbClr val="404040"/>
                </a:solidFill>
                <a:latin typeface="Trebuchet MS"/>
                <a:cs typeface="Trebuchet MS"/>
              </a:rPr>
              <a:t>=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42690" y="2510485"/>
            <a:ext cx="1765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375" dirty="0">
                <a:solidFill>
                  <a:srgbClr val="404040"/>
                </a:solidFill>
                <a:latin typeface="Trebuchet MS"/>
                <a:cs typeface="Trebuchet MS"/>
              </a:rPr>
              <a:t>𝜋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89024" y="2896616"/>
            <a:ext cx="26866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i="1" spc="-65" dirty="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sz="1400" i="1" spc="-85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350" i="1" spc="-127" baseline="-21604" dirty="0">
                <a:solidFill>
                  <a:srgbClr val="404040"/>
                </a:solidFill>
                <a:latin typeface="Arial"/>
                <a:cs typeface="Arial"/>
              </a:rPr>
              <a:t>p </a:t>
            </a:r>
            <a:r>
              <a:rPr sz="1400" i="1" spc="-25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400" i="1" spc="-60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400" i="1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400" i="1" spc="-35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400" i="1" spc="-100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1400" i="1" spc="-25" dirty="0">
                <a:solidFill>
                  <a:srgbClr val="404040"/>
                </a:solidFill>
                <a:latin typeface="Arial"/>
                <a:cs typeface="Arial"/>
              </a:rPr>
              <a:t>đại</a:t>
            </a:r>
            <a:r>
              <a:rPr sz="1400" i="1" spc="-2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i="1" spc="-90" dirty="0">
                <a:solidFill>
                  <a:srgbClr val="404040"/>
                </a:solidFill>
                <a:latin typeface="Arial"/>
                <a:cs typeface="Arial"/>
              </a:rPr>
              <a:t>(Peak)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84705" y="4664836"/>
            <a:ext cx="2638425" cy="0"/>
          </a:xfrm>
          <a:custGeom>
            <a:avLst/>
            <a:gdLst/>
            <a:ahLst/>
            <a:cxnLst/>
            <a:rect l="l" t="t" r="r" b="b"/>
            <a:pathLst>
              <a:path w="2638425">
                <a:moveTo>
                  <a:pt x="0" y="0"/>
                </a:moveTo>
                <a:lnTo>
                  <a:pt x="2638044" y="0"/>
                </a:lnTo>
              </a:path>
            </a:pathLst>
          </a:custGeom>
          <a:ln w="2286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390903" y="4364482"/>
            <a:ext cx="2913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745" indent="-233045">
              <a:lnSpc>
                <a:spcPct val="100000"/>
              </a:lnSpc>
              <a:spcBef>
                <a:spcPts val="100"/>
              </a:spcBef>
              <a:buClr>
                <a:srgbClr val="99CA38"/>
              </a:buClr>
              <a:buSzPct val="90000"/>
              <a:buFont typeface="Wingdings"/>
              <a:buChar char=""/>
              <a:tabLst>
                <a:tab pos="246379" algn="l"/>
              </a:tabLst>
            </a:pPr>
            <a:r>
              <a:rPr sz="2000" b="1" spc="-12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2000" b="1" spc="-10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b="1" spc="-75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2000" b="1" spc="-125" dirty="0">
                <a:solidFill>
                  <a:srgbClr val="404040"/>
                </a:solidFill>
                <a:latin typeface="Arial"/>
                <a:cs typeface="Arial"/>
              </a:rPr>
              <a:t>trung</a:t>
            </a:r>
            <a:r>
              <a:rPr sz="2000" b="1" spc="-2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05" dirty="0">
                <a:solidFill>
                  <a:srgbClr val="404040"/>
                </a:solidFill>
                <a:latin typeface="Arial"/>
                <a:cs typeface="Arial"/>
              </a:rPr>
              <a:t>bình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22777" y="4940553"/>
            <a:ext cx="391795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465" dirty="0">
                <a:solidFill>
                  <a:srgbClr val="404040"/>
                </a:solidFill>
                <a:latin typeface="Trebuchet MS"/>
                <a:cs typeface="Trebuchet MS"/>
              </a:rPr>
              <a:t>𝐴𝑉𝐺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48202" y="5013833"/>
            <a:ext cx="370840" cy="0"/>
          </a:xfrm>
          <a:custGeom>
            <a:avLst/>
            <a:gdLst/>
            <a:ahLst/>
            <a:cxnLst/>
            <a:rect l="l" t="t" r="r" b="b"/>
            <a:pathLst>
              <a:path w="370839">
                <a:moveTo>
                  <a:pt x="0" y="0"/>
                </a:moveTo>
                <a:lnTo>
                  <a:pt x="370332" y="0"/>
                </a:lnTo>
              </a:path>
            </a:pathLst>
          </a:custGeom>
          <a:ln w="16763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810001" y="4620514"/>
            <a:ext cx="1207770" cy="530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1985"/>
              </a:lnSpc>
              <a:spcBef>
                <a:spcPts val="100"/>
              </a:spcBef>
            </a:pPr>
            <a:r>
              <a:rPr sz="2000" spc="50" dirty="0">
                <a:solidFill>
                  <a:srgbClr val="404040"/>
                </a:solidFill>
                <a:latin typeface="Trebuchet MS"/>
                <a:cs typeface="Trebuchet MS"/>
              </a:rPr>
              <a:t>2</a:t>
            </a:r>
            <a:r>
              <a:rPr sz="2000" spc="30" dirty="0">
                <a:solidFill>
                  <a:srgbClr val="404040"/>
                </a:solidFill>
                <a:latin typeface="Trebuchet MS"/>
                <a:cs typeface="Trebuchet MS"/>
              </a:rPr>
              <a:t>𝑉</a:t>
            </a:r>
            <a:r>
              <a:rPr sz="2175" spc="585" baseline="-15325" dirty="0">
                <a:solidFill>
                  <a:srgbClr val="404040"/>
                </a:solidFill>
                <a:latin typeface="Trebuchet MS"/>
                <a:cs typeface="Trebuchet MS"/>
              </a:rPr>
              <a:t>𝑝</a:t>
            </a:r>
            <a:endParaRPr sz="2175" baseline="-15325">
              <a:latin typeface="Trebuchet MS"/>
              <a:cs typeface="Trebuchet MS"/>
            </a:endParaRPr>
          </a:p>
          <a:p>
            <a:pPr marL="12700">
              <a:lnSpc>
                <a:spcPts val="1985"/>
              </a:lnSpc>
              <a:tabLst>
                <a:tab pos="577850" algn="l"/>
              </a:tabLst>
            </a:pPr>
            <a:r>
              <a:rPr sz="2000" spc="250" dirty="0">
                <a:solidFill>
                  <a:srgbClr val="404040"/>
                </a:solidFill>
                <a:latin typeface="Trebuchet MS"/>
                <a:cs typeface="Trebuchet MS"/>
              </a:rPr>
              <a:t>𝑉	</a:t>
            </a:r>
            <a:r>
              <a:rPr sz="2000" spc="445" dirty="0">
                <a:solidFill>
                  <a:srgbClr val="404040"/>
                </a:solidFill>
                <a:latin typeface="Trebuchet MS"/>
                <a:cs typeface="Trebuchet MS"/>
              </a:rPr>
              <a:t>=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42690" y="4990541"/>
            <a:ext cx="1765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375" dirty="0">
                <a:solidFill>
                  <a:srgbClr val="404040"/>
                </a:solidFill>
                <a:latin typeface="Trebuchet MS"/>
                <a:cs typeface="Trebuchet MS"/>
              </a:rPr>
              <a:t>𝜋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89024" y="5376798"/>
            <a:ext cx="26866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spc="-65" dirty="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sz="1400" i="1" spc="-85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350" i="1" spc="-127" baseline="-21604" dirty="0">
                <a:solidFill>
                  <a:srgbClr val="404040"/>
                </a:solidFill>
                <a:latin typeface="Arial"/>
                <a:cs typeface="Arial"/>
              </a:rPr>
              <a:t>p </a:t>
            </a:r>
            <a:r>
              <a:rPr sz="1400" i="1" spc="-25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400" i="1" spc="-60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400" i="1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400" i="1" spc="-35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400" i="1" spc="-100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1400" i="1" spc="-25" dirty="0">
                <a:solidFill>
                  <a:srgbClr val="404040"/>
                </a:solidFill>
                <a:latin typeface="Arial"/>
                <a:cs typeface="Arial"/>
              </a:rPr>
              <a:t>đại</a:t>
            </a:r>
            <a:r>
              <a:rPr sz="1400" i="1" spc="-2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400" i="1" spc="-90" dirty="0">
                <a:solidFill>
                  <a:srgbClr val="404040"/>
                </a:solidFill>
                <a:latin typeface="Arial"/>
                <a:cs typeface="Arial"/>
              </a:rPr>
              <a:t>(Peak)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213347" y="4417356"/>
            <a:ext cx="3599688" cy="10743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763053" y="4323199"/>
            <a:ext cx="159067" cy="1828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024371" y="4419600"/>
            <a:ext cx="822960" cy="0"/>
          </a:xfrm>
          <a:custGeom>
            <a:avLst/>
            <a:gdLst/>
            <a:ahLst/>
            <a:cxnLst/>
            <a:rect l="l" t="t" r="r" b="b"/>
            <a:pathLst>
              <a:path w="822959">
                <a:moveTo>
                  <a:pt x="822959" y="0"/>
                </a:moveTo>
                <a:lnTo>
                  <a:pt x="0" y="0"/>
                </a:lnTo>
              </a:path>
            </a:pathLst>
          </a:custGeom>
          <a:ln w="15240">
            <a:solidFill>
              <a:srgbClr val="40404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642102" y="4745939"/>
            <a:ext cx="338074" cy="1534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024371" y="4823459"/>
            <a:ext cx="3435985" cy="0"/>
          </a:xfrm>
          <a:custGeom>
            <a:avLst/>
            <a:gdLst/>
            <a:ahLst/>
            <a:cxnLst/>
            <a:rect l="l" t="t" r="r" b="b"/>
            <a:pathLst>
              <a:path w="3435984">
                <a:moveTo>
                  <a:pt x="3435857" y="0"/>
                </a:moveTo>
                <a:lnTo>
                  <a:pt x="0" y="0"/>
                </a:lnTo>
              </a:path>
            </a:pathLst>
          </a:custGeom>
          <a:ln w="15240">
            <a:solidFill>
              <a:srgbClr val="40404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09676" y="1855419"/>
            <a:ext cx="5715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40" dirty="0">
                <a:solidFill>
                  <a:srgbClr val="00AF50"/>
                </a:solidFill>
                <a:latin typeface="Arial"/>
                <a:cs typeface="Arial"/>
              </a:rPr>
              <a:t>Bán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90" dirty="0">
                <a:solidFill>
                  <a:srgbClr val="00AF50"/>
                </a:solidFill>
                <a:latin typeface="Arial"/>
                <a:cs typeface="Arial"/>
              </a:rPr>
              <a:t>chu</a:t>
            </a:r>
            <a:r>
              <a:rPr sz="1800" spc="-1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00AF50"/>
                </a:solidFill>
                <a:latin typeface="Arial"/>
                <a:cs typeface="Arial"/>
              </a:rPr>
              <a:t>kì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686816" y="4286757"/>
            <a:ext cx="5715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2545">
              <a:lnSpc>
                <a:spcPct val="100000"/>
              </a:lnSpc>
              <a:spcBef>
                <a:spcPts val="100"/>
              </a:spcBef>
            </a:pPr>
            <a:r>
              <a:rPr sz="1800" spc="-125" dirty="0">
                <a:solidFill>
                  <a:srgbClr val="006FC0"/>
                </a:solidFill>
                <a:latin typeface="Arial"/>
                <a:cs typeface="Arial"/>
              </a:rPr>
              <a:t>Toàn  </a:t>
            </a:r>
            <a:r>
              <a:rPr sz="1800" spc="-90" dirty="0">
                <a:solidFill>
                  <a:srgbClr val="006FC0"/>
                </a:solidFill>
                <a:latin typeface="Arial"/>
                <a:cs typeface="Arial"/>
              </a:rPr>
              <a:t>chu</a:t>
            </a:r>
            <a:r>
              <a:rPr sz="1800" spc="-16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006FC0"/>
                </a:solidFill>
                <a:latin typeface="Arial"/>
                <a:cs typeface="Arial"/>
              </a:rPr>
              <a:t>kì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55583" y="2831072"/>
            <a:ext cx="4757936" cy="12821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55877" y="4700727"/>
            <a:ext cx="18478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09" dirty="0">
                <a:solidFill>
                  <a:srgbClr val="404040"/>
                </a:solidFill>
                <a:latin typeface="Trebuchet MS"/>
                <a:cs typeface="Trebuchet MS"/>
              </a:rPr>
              <a:t>𝑉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80871" y="4821123"/>
            <a:ext cx="615315" cy="2489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spc="420" dirty="0">
                <a:solidFill>
                  <a:srgbClr val="404040"/>
                </a:solidFill>
                <a:latin typeface="Trebuchet MS"/>
                <a:cs typeface="Trebuchet MS"/>
              </a:rPr>
              <a:t>𝑝</a:t>
            </a:r>
            <a:r>
              <a:rPr sz="1450" spc="75" dirty="0">
                <a:solidFill>
                  <a:srgbClr val="404040"/>
                </a:solidFill>
                <a:latin typeface="Trebuchet MS"/>
                <a:cs typeface="Trebuchet MS"/>
              </a:rPr>
              <a:t>(</a:t>
            </a:r>
            <a:r>
              <a:rPr sz="1450" spc="190" dirty="0">
                <a:solidFill>
                  <a:srgbClr val="404040"/>
                </a:solidFill>
                <a:latin typeface="Trebuchet MS"/>
                <a:cs typeface="Trebuchet MS"/>
              </a:rPr>
              <a:t>𝑜𝑢</a:t>
            </a:r>
            <a:r>
              <a:rPr sz="1450" spc="195" dirty="0">
                <a:solidFill>
                  <a:srgbClr val="404040"/>
                </a:solidFill>
                <a:latin typeface="Trebuchet MS"/>
                <a:cs typeface="Trebuchet MS"/>
              </a:rPr>
              <a:t>𝑡</a:t>
            </a:r>
            <a:r>
              <a:rPr sz="1450" spc="75" dirty="0">
                <a:solidFill>
                  <a:srgbClr val="404040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24480" y="4894707"/>
            <a:ext cx="698500" cy="0"/>
          </a:xfrm>
          <a:custGeom>
            <a:avLst/>
            <a:gdLst/>
            <a:ahLst/>
            <a:cxnLst/>
            <a:rect l="l" t="t" r="r" b="b"/>
            <a:pathLst>
              <a:path w="698500">
                <a:moveTo>
                  <a:pt x="0" y="0"/>
                </a:moveTo>
                <a:lnTo>
                  <a:pt x="697992" y="0"/>
                </a:lnTo>
              </a:path>
            </a:pathLst>
          </a:custGeom>
          <a:ln w="16763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89657" y="4871973"/>
            <a:ext cx="166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404040"/>
                </a:solidFill>
                <a:latin typeface="Trebuchet MS"/>
                <a:cs typeface="Trebuchet MS"/>
              </a:rPr>
              <a:t>2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51430" y="4547108"/>
            <a:ext cx="1838960" cy="485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0">
              <a:lnSpc>
                <a:spcPts val="1805"/>
              </a:lnSpc>
              <a:spcBef>
                <a:spcPts val="100"/>
              </a:spcBef>
            </a:pPr>
            <a:r>
              <a:rPr sz="3000" spc="89" baseline="11111" dirty="0">
                <a:solidFill>
                  <a:srgbClr val="404040"/>
                </a:solidFill>
                <a:latin typeface="Trebuchet MS"/>
                <a:cs typeface="Trebuchet MS"/>
              </a:rPr>
              <a:t>𝑉</a:t>
            </a:r>
            <a:r>
              <a:rPr sz="1450" spc="60" dirty="0">
                <a:solidFill>
                  <a:srgbClr val="404040"/>
                </a:solidFill>
                <a:latin typeface="Trebuchet MS"/>
                <a:cs typeface="Trebuchet MS"/>
              </a:rPr>
              <a:t>𝑝(𝑠𝑒𝑐)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805"/>
              </a:lnSpc>
              <a:tabLst>
                <a:tab pos="1027430" algn="l"/>
              </a:tabLst>
            </a:pPr>
            <a:r>
              <a:rPr sz="2000" spc="450" dirty="0">
                <a:solidFill>
                  <a:srgbClr val="404040"/>
                </a:solidFill>
                <a:latin typeface="Trebuchet MS"/>
                <a:cs typeface="Trebuchet MS"/>
              </a:rPr>
              <a:t>=	−</a:t>
            </a:r>
            <a:r>
              <a:rPr sz="2000" spc="-3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70" dirty="0">
                <a:solidFill>
                  <a:srgbClr val="404040"/>
                </a:solidFill>
                <a:latin typeface="Trebuchet MS"/>
                <a:cs typeface="Trebuchet MS"/>
              </a:rPr>
              <a:t>0.7 </a:t>
            </a:r>
            <a:r>
              <a:rPr sz="2000" spc="254" dirty="0">
                <a:solidFill>
                  <a:srgbClr val="404040"/>
                </a:solidFill>
                <a:latin typeface="Trebuchet MS"/>
                <a:cs typeface="Trebuchet MS"/>
              </a:rPr>
              <a:t>𝑉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5877" y="5479796"/>
            <a:ext cx="26339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35" baseline="11111" dirty="0">
                <a:solidFill>
                  <a:srgbClr val="404040"/>
                </a:solidFill>
                <a:latin typeface="Trebuchet MS"/>
                <a:cs typeface="Trebuchet MS"/>
              </a:rPr>
              <a:t>𝑉</a:t>
            </a:r>
            <a:r>
              <a:rPr sz="1450" spc="90" dirty="0">
                <a:solidFill>
                  <a:srgbClr val="404040"/>
                </a:solidFill>
                <a:latin typeface="Trebuchet MS"/>
                <a:cs typeface="Trebuchet MS"/>
              </a:rPr>
              <a:t>𝑝(𝑜𝑢𝑡)</a:t>
            </a:r>
            <a:r>
              <a:rPr sz="1450" spc="1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000" spc="667" baseline="11111" dirty="0">
                <a:solidFill>
                  <a:srgbClr val="404040"/>
                </a:solidFill>
                <a:latin typeface="Trebuchet MS"/>
                <a:cs typeface="Trebuchet MS"/>
              </a:rPr>
              <a:t>=</a:t>
            </a:r>
            <a:r>
              <a:rPr sz="3000" spc="-89" baseline="11111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000" spc="89" baseline="11111" dirty="0">
                <a:solidFill>
                  <a:srgbClr val="404040"/>
                </a:solidFill>
                <a:latin typeface="Trebuchet MS"/>
                <a:cs typeface="Trebuchet MS"/>
              </a:rPr>
              <a:t>𝑉</a:t>
            </a:r>
            <a:r>
              <a:rPr sz="1450" spc="60" dirty="0">
                <a:solidFill>
                  <a:srgbClr val="404040"/>
                </a:solidFill>
                <a:latin typeface="Trebuchet MS"/>
                <a:cs typeface="Trebuchet MS"/>
              </a:rPr>
              <a:t>𝑝(𝑠𝑒𝑐)</a:t>
            </a:r>
            <a:r>
              <a:rPr sz="1450" spc="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000" spc="667" baseline="11111" dirty="0">
                <a:solidFill>
                  <a:srgbClr val="404040"/>
                </a:solidFill>
                <a:latin typeface="Trebuchet MS"/>
                <a:cs typeface="Trebuchet MS"/>
              </a:rPr>
              <a:t>−</a:t>
            </a:r>
            <a:r>
              <a:rPr sz="3000" spc="-254" baseline="11111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000" spc="-104" baseline="11111" dirty="0">
                <a:solidFill>
                  <a:srgbClr val="404040"/>
                </a:solidFill>
                <a:latin typeface="Trebuchet MS"/>
                <a:cs typeface="Trebuchet MS"/>
              </a:rPr>
              <a:t>1.4</a:t>
            </a:r>
            <a:r>
              <a:rPr sz="3000" spc="-240" baseline="11111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000" spc="375" baseline="11111" dirty="0">
                <a:solidFill>
                  <a:srgbClr val="404040"/>
                </a:solidFill>
                <a:latin typeface="Trebuchet MS"/>
                <a:cs typeface="Trebuchet MS"/>
              </a:rPr>
              <a:t>𝑉</a:t>
            </a:r>
            <a:endParaRPr sz="3000" baseline="11111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8839" y="1737207"/>
            <a:ext cx="8295005" cy="273875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260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u="heavy" spc="-50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spc="-17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Ảnh hưởng </a:t>
            </a:r>
            <a:r>
              <a:rPr sz="2000" b="1" u="heavy" spc="-18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của </a:t>
            </a:r>
            <a:r>
              <a:rPr sz="2000" b="1" u="heavy" spc="-114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hiệu </a:t>
            </a:r>
            <a:r>
              <a:rPr sz="2000" b="1" u="heavy" spc="-10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điện </a:t>
            </a:r>
            <a:r>
              <a:rPr sz="2000" b="1" u="heavy" spc="-7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thế</a:t>
            </a:r>
            <a:r>
              <a:rPr sz="2000" b="1" u="heavy" spc="7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 </a:t>
            </a:r>
            <a:r>
              <a:rPr sz="2000" b="1" u="heavy" spc="-19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ngưỡng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000" b="1" spc="-12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2000" b="1" spc="-10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b="1" spc="-75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2000" b="1" spc="-125" dirty="0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sz="2000" b="1" spc="-100" dirty="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bộ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chỉnh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lưu </a:t>
            </a:r>
            <a:r>
              <a:rPr sz="2000" spc="-170" dirty="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sz="2000" b="1" spc="-150" dirty="0">
                <a:solidFill>
                  <a:srgbClr val="404040"/>
                </a:solidFill>
                <a:latin typeface="Arial"/>
                <a:cs typeface="Arial"/>
              </a:rPr>
              <a:t>nhỏ hơn 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so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sz="2000" b="1" spc="-114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2000" b="1" spc="-10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b="1" spc="-75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2000" b="1" spc="-125" dirty="0">
                <a:solidFill>
                  <a:srgbClr val="404040"/>
                </a:solidFill>
                <a:latin typeface="Arial"/>
                <a:cs typeface="Arial"/>
              </a:rPr>
              <a:t>đầu</a:t>
            </a:r>
            <a:r>
              <a:rPr sz="2000" b="1" spc="-1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25" dirty="0">
                <a:solidFill>
                  <a:srgbClr val="404040"/>
                </a:solidFill>
                <a:latin typeface="Arial"/>
                <a:cs typeface="Arial"/>
              </a:rPr>
              <a:t>vào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spcBef>
                <a:spcPts val="1155"/>
              </a:spcBef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chỉnh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lưu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bán chu</a:t>
            </a:r>
            <a:r>
              <a:rPr sz="2000" spc="-2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kì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99CA38"/>
              </a:buClr>
              <a:buFont typeface="Wingdings"/>
              <a:buChar char=""/>
            </a:pPr>
            <a:endParaRPr sz="2250">
              <a:latin typeface="Times New Roman"/>
              <a:cs typeface="Times New Roman"/>
            </a:endParaRPr>
          </a:p>
          <a:p>
            <a:pPr marL="434975">
              <a:lnSpc>
                <a:spcPct val="100000"/>
              </a:lnSpc>
              <a:spcBef>
                <a:spcPts val="5"/>
              </a:spcBef>
            </a:pPr>
            <a:r>
              <a:rPr sz="3000" spc="135" baseline="11111" dirty="0">
                <a:solidFill>
                  <a:srgbClr val="404040"/>
                </a:solidFill>
                <a:latin typeface="Trebuchet MS"/>
                <a:cs typeface="Trebuchet MS"/>
              </a:rPr>
              <a:t>𝑉</a:t>
            </a:r>
            <a:r>
              <a:rPr sz="1450" spc="90" dirty="0">
                <a:solidFill>
                  <a:srgbClr val="404040"/>
                </a:solidFill>
                <a:latin typeface="Trebuchet MS"/>
                <a:cs typeface="Trebuchet MS"/>
              </a:rPr>
              <a:t>𝑝(𝑜𝑢𝑡)</a:t>
            </a:r>
            <a:r>
              <a:rPr sz="1450" spc="1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000" spc="667" baseline="11111" dirty="0">
                <a:solidFill>
                  <a:srgbClr val="404040"/>
                </a:solidFill>
                <a:latin typeface="Trebuchet MS"/>
                <a:cs typeface="Trebuchet MS"/>
              </a:rPr>
              <a:t>=</a:t>
            </a:r>
            <a:r>
              <a:rPr sz="3000" spc="-75" baseline="11111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000" spc="89" baseline="11111" dirty="0">
                <a:solidFill>
                  <a:srgbClr val="404040"/>
                </a:solidFill>
                <a:latin typeface="Trebuchet MS"/>
                <a:cs typeface="Trebuchet MS"/>
              </a:rPr>
              <a:t>𝑉</a:t>
            </a:r>
            <a:r>
              <a:rPr sz="1450" spc="60" dirty="0">
                <a:solidFill>
                  <a:srgbClr val="404040"/>
                </a:solidFill>
                <a:latin typeface="Trebuchet MS"/>
                <a:cs typeface="Trebuchet MS"/>
              </a:rPr>
              <a:t>𝑝(𝑖𝑛)</a:t>
            </a:r>
            <a:r>
              <a:rPr sz="1450" spc="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000" spc="667" baseline="11111" dirty="0">
                <a:solidFill>
                  <a:srgbClr val="404040"/>
                </a:solidFill>
                <a:latin typeface="Trebuchet MS"/>
                <a:cs typeface="Trebuchet MS"/>
              </a:rPr>
              <a:t>−</a:t>
            </a:r>
            <a:r>
              <a:rPr sz="3000" spc="-240" baseline="11111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000" spc="-104" baseline="11111" dirty="0">
                <a:solidFill>
                  <a:srgbClr val="404040"/>
                </a:solidFill>
                <a:latin typeface="Trebuchet MS"/>
                <a:cs typeface="Trebuchet MS"/>
              </a:rPr>
              <a:t>0.7</a:t>
            </a:r>
            <a:r>
              <a:rPr sz="3000" spc="-232" baseline="11111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3000" spc="375" baseline="11111" dirty="0">
                <a:solidFill>
                  <a:srgbClr val="404040"/>
                </a:solidFill>
                <a:latin typeface="Trebuchet MS"/>
                <a:cs typeface="Trebuchet MS"/>
              </a:rPr>
              <a:t>𝑉</a:t>
            </a:r>
            <a:endParaRPr sz="3000" baseline="11111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0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buClr>
                <a:srgbClr val="99CA38"/>
              </a:buClr>
              <a:buFont typeface="Wingdings"/>
              <a:buChar char=""/>
              <a:tabLst>
                <a:tab pos="296545" algn="l"/>
              </a:tabLst>
            </a:pP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chỉnh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lưu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toàn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chu</a:t>
            </a:r>
            <a:r>
              <a:rPr sz="2000" spc="-3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kì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8839" y="5049977"/>
            <a:ext cx="5486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45" dirty="0">
                <a:solidFill>
                  <a:srgbClr val="404040"/>
                </a:solidFill>
                <a:latin typeface="Arial"/>
                <a:cs typeface="Arial"/>
              </a:rPr>
              <a:t>Hoặc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481452" y="286892"/>
            <a:ext cx="5008880" cy="137922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67005" marR="5080" indent="-154305">
              <a:lnSpc>
                <a:spcPts val="4900"/>
              </a:lnSpc>
              <a:spcBef>
                <a:spcPts val="980"/>
              </a:spcBef>
            </a:pPr>
            <a:r>
              <a:rPr spc="-590" dirty="0"/>
              <a:t>Các </a:t>
            </a:r>
            <a:r>
              <a:rPr spc="-325" dirty="0"/>
              <a:t>vấn </a:t>
            </a:r>
            <a:r>
              <a:rPr spc="-210" dirty="0"/>
              <a:t>đề </a:t>
            </a:r>
            <a:r>
              <a:rPr spc="-350" dirty="0"/>
              <a:t>cần </a:t>
            </a:r>
            <a:r>
              <a:rPr spc="-270" dirty="0"/>
              <a:t>chú </a:t>
            </a:r>
            <a:r>
              <a:rPr spc="-285" dirty="0"/>
              <a:t>ý  </a:t>
            </a:r>
            <a:r>
              <a:rPr spc="-350" dirty="0"/>
              <a:t>của </a:t>
            </a:r>
            <a:r>
              <a:rPr spc="-330" dirty="0"/>
              <a:t>mạch </a:t>
            </a:r>
            <a:r>
              <a:rPr spc="-220" dirty="0"/>
              <a:t>chỉnh</a:t>
            </a:r>
            <a:r>
              <a:rPr spc="-390" dirty="0"/>
              <a:t> </a:t>
            </a:r>
            <a:r>
              <a:rPr spc="-245" dirty="0"/>
              <a:t>lưu</a:t>
            </a:r>
          </a:p>
        </p:txBody>
      </p:sp>
      <p:sp>
        <p:nvSpPr>
          <p:cNvPr id="12" name="object 12"/>
          <p:cNvSpPr/>
          <p:nvPr/>
        </p:nvSpPr>
        <p:spPr>
          <a:xfrm>
            <a:off x="4570027" y="4594163"/>
            <a:ext cx="4662523" cy="14044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07279" y="2691383"/>
            <a:ext cx="4050791" cy="19659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2649220" marR="5080" indent="-2582545">
              <a:lnSpc>
                <a:spcPts val="4900"/>
              </a:lnSpc>
              <a:spcBef>
                <a:spcPts val="980"/>
              </a:spcBef>
            </a:pPr>
            <a:r>
              <a:rPr spc="-595" dirty="0"/>
              <a:t>Các </a:t>
            </a:r>
            <a:r>
              <a:rPr spc="-330" dirty="0"/>
              <a:t>vấn </a:t>
            </a:r>
            <a:r>
              <a:rPr spc="-210" dirty="0"/>
              <a:t>đề </a:t>
            </a:r>
            <a:r>
              <a:rPr spc="-350" dirty="0"/>
              <a:t>cần </a:t>
            </a:r>
            <a:r>
              <a:rPr spc="-275" dirty="0"/>
              <a:t>chú </a:t>
            </a:r>
            <a:r>
              <a:rPr spc="-285" dirty="0"/>
              <a:t>ý </a:t>
            </a:r>
            <a:r>
              <a:rPr spc="-350" dirty="0"/>
              <a:t>của</a:t>
            </a:r>
            <a:r>
              <a:rPr spc="-430" dirty="0"/>
              <a:t> </a:t>
            </a:r>
            <a:r>
              <a:rPr spc="-330" dirty="0"/>
              <a:t>mạch  </a:t>
            </a:r>
            <a:r>
              <a:rPr spc="-220" dirty="0"/>
              <a:t>chỉnh</a:t>
            </a:r>
            <a:r>
              <a:rPr spc="-345" dirty="0"/>
              <a:t> </a:t>
            </a:r>
            <a:r>
              <a:rPr spc="-245" dirty="0"/>
              <a:t>lưu</a:t>
            </a:r>
          </a:p>
        </p:txBody>
      </p:sp>
      <p:sp>
        <p:nvSpPr>
          <p:cNvPr id="3" name="object 3"/>
          <p:cNvSpPr/>
          <p:nvPr/>
        </p:nvSpPr>
        <p:spPr>
          <a:xfrm>
            <a:off x="5298947" y="2866517"/>
            <a:ext cx="803275" cy="0"/>
          </a:xfrm>
          <a:custGeom>
            <a:avLst/>
            <a:gdLst/>
            <a:ahLst/>
            <a:cxnLst/>
            <a:rect l="l" t="t" r="r" b="b"/>
            <a:pathLst>
              <a:path w="803275">
                <a:moveTo>
                  <a:pt x="0" y="0"/>
                </a:moveTo>
                <a:lnTo>
                  <a:pt x="803148" y="0"/>
                </a:lnTo>
              </a:path>
            </a:pathLst>
          </a:custGeom>
          <a:ln w="16763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541645" y="2908807"/>
            <a:ext cx="313690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75" spc="690" baseline="11494" dirty="0">
                <a:solidFill>
                  <a:srgbClr val="404040"/>
                </a:solidFill>
                <a:latin typeface="Trebuchet MS"/>
                <a:cs typeface="Trebuchet MS"/>
              </a:rPr>
              <a:t>𝑉</a:t>
            </a:r>
            <a:r>
              <a:rPr sz="1200" spc="-300" dirty="0">
                <a:solidFill>
                  <a:srgbClr val="404040"/>
                </a:solidFill>
                <a:latin typeface="Trebuchet MS"/>
                <a:cs typeface="Trebuchet MS"/>
              </a:rPr>
              <a:t>𝑖</a:t>
            </a:r>
            <a:r>
              <a:rPr sz="1200" spc="495" dirty="0">
                <a:solidFill>
                  <a:srgbClr val="404040"/>
                </a:solidFill>
                <a:latin typeface="Trebuchet MS"/>
                <a:cs typeface="Trebuchet MS"/>
              </a:rPr>
              <a:t>𝑛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1884426"/>
            <a:ext cx="8199755" cy="111887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04139" marR="5080" indent="-91440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sz="2000" spc="-150" dirty="0">
                <a:solidFill>
                  <a:srgbClr val="404040"/>
                </a:solidFill>
                <a:latin typeface="Arial"/>
                <a:cs typeface="Arial"/>
              </a:rPr>
              <a:t>Ví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dụ: </a:t>
            </a:r>
            <a:r>
              <a:rPr sz="2000" spc="-160" dirty="0">
                <a:solidFill>
                  <a:srgbClr val="404040"/>
                </a:solidFill>
                <a:latin typeface="Arial"/>
                <a:cs typeface="Arial"/>
              </a:rPr>
              <a:t>Vẽ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lại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2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chỉnh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lưu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trên.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sai </a:t>
            </a:r>
            <a:r>
              <a:rPr sz="2000" spc="-135" dirty="0">
                <a:solidFill>
                  <a:srgbClr val="404040"/>
                </a:solidFill>
                <a:latin typeface="Arial"/>
                <a:cs typeface="Arial"/>
              </a:rPr>
              <a:t>số 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giá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50" dirty="0">
                <a:solidFill>
                  <a:srgbClr val="404040"/>
                </a:solidFill>
                <a:latin typeface="Arial"/>
                <a:cs typeface="Arial"/>
              </a:rPr>
              <a:t>trị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hiệu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thế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đầu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ra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so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với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giá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50" dirty="0">
                <a:solidFill>
                  <a:srgbClr val="404040"/>
                </a:solidFill>
                <a:latin typeface="Arial"/>
                <a:cs typeface="Arial"/>
              </a:rPr>
              <a:t>trị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hiệu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thế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đầu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 vào?</a:t>
            </a:r>
            <a:endParaRPr sz="2000">
              <a:latin typeface="Arial"/>
              <a:cs typeface="Arial"/>
            </a:endParaRPr>
          </a:p>
          <a:p>
            <a:pPr marL="2032000">
              <a:lnSpc>
                <a:spcPct val="100000"/>
              </a:lnSpc>
              <a:spcBef>
                <a:spcPts val="1610"/>
              </a:spcBef>
            </a:pPr>
            <a:r>
              <a:rPr sz="2000" spc="-165" dirty="0">
                <a:solidFill>
                  <a:srgbClr val="404040"/>
                </a:solidFill>
                <a:latin typeface="Arial"/>
                <a:cs typeface="Arial"/>
              </a:rPr>
              <a:t>Công</a:t>
            </a:r>
            <a:r>
              <a:rPr sz="2000" spc="-1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thức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tính: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45" dirty="0">
                <a:solidFill>
                  <a:srgbClr val="404040"/>
                </a:solidFill>
                <a:latin typeface="Trebuchet MS"/>
                <a:cs typeface="Trebuchet MS"/>
              </a:rPr>
              <a:t>𝐸𝑟𝑟</a:t>
            </a:r>
            <a:r>
              <a:rPr sz="20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450" dirty="0">
                <a:solidFill>
                  <a:srgbClr val="404040"/>
                </a:solidFill>
                <a:latin typeface="Trebuchet MS"/>
                <a:cs typeface="Trebuchet MS"/>
              </a:rPr>
              <a:t>=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175" spc="195" baseline="45977" dirty="0">
                <a:solidFill>
                  <a:srgbClr val="404040"/>
                </a:solidFill>
                <a:latin typeface="Trebuchet MS"/>
                <a:cs typeface="Trebuchet MS"/>
              </a:rPr>
              <a:t>𝑉</a:t>
            </a:r>
            <a:r>
              <a:rPr sz="1800" spc="195" baseline="39351" dirty="0">
                <a:solidFill>
                  <a:srgbClr val="404040"/>
                </a:solidFill>
                <a:latin typeface="Trebuchet MS"/>
                <a:cs typeface="Trebuchet MS"/>
              </a:rPr>
              <a:t>𝑖𝑛</a:t>
            </a:r>
            <a:r>
              <a:rPr sz="2175" spc="195" baseline="45977" dirty="0">
                <a:solidFill>
                  <a:srgbClr val="404040"/>
                </a:solidFill>
                <a:latin typeface="Trebuchet MS"/>
                <a:cs typeface="Trebuchet MS"/>
              </a:rPr>
              <a:t>−𝑉</a:t>
            </a:r>
            <a:r>
              <a:rPr sz="1800" spc="195" baseline="41666" dirty="0">
                <a:solidFill>
                  <a:srgbClr val="404040"/>
                </a:solidFill>
                <a:latin typeface="Trebuchet MS"/>
                <a:cs typeface="Trebuchet MS"/>
              </a:rPr>
              <a:t>𝑜𝑢𝑡 </a:t>
            </a:r>
            <a:r>
              <a:rPr sz="2000" spc="380" dirty="0">
                <a:solidFill>
                  <a:srgbClr val="404040"/>
                </a:solidFill>
                <a:latin typeface="Trebuchet MS"/>
                <a:cs typeface="Trebuchet MS"/>
              </a:rPr>
              <a:t>×</a:t>
            </a:r>
            <a:r>
              <a:rPr sz="2000" spc="-1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190" dirty="0">
                <a:solidFill>
                  <a:srgbClr val="404040"/>
                </a:solidFill>
                <a:latin typeface="Trebuchet MS"/>
                <a:cs typeface="Trebuchet MS"/>
              </a:rPr>
              <a:t>100%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4930" y="3465791"/>
            <a:ext cx="9680065" cy="19680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28637" y="5595315"/>
            <a:ext cx="888619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sz="2000" u="heavy" spc="-50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spc="-1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Kết</a:t>
            </a:r>
            <a:r>
              <a:rPr sz="2000" b="1" u="heavy" spc="-10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 </a:t>
            </a:r>
            <a:r>
              <a:rPr sz="2000" b="1" u="heavy" spc="-10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luận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: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Ảnh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hưởng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của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hiệu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thế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ngưỡng</a:t>
            </a:r>
            <a:r>
              <a:rPr sz="2000" spc="-1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70" dirty="0">
                <a:solidFill>
                  <a:srgbClr val="404040"/>
                </a:solidFill>
                <a:latin typeface="Arial"/>
                <a:cs typeface="Arial"/>
              </a:rPr>
              <a:t>sẽ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được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bỏ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qua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nếu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hiệu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thế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đầu 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vào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lớn.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34</a:t>
            </a:fld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2649220" marR="5080" indent="-2582545">
              <a:lnSpc>
                <a:spcPts val="4900"/>
              </a:lnSpc>
              <a:spcBef>
                <a:spcPts val="980"/>
              </a:spcBef>
            </a:pPr>
            <a:r>
              <a:rPr spc="-595" dirty="0"/>
              <a:t>Các </a:t>
            </a:r>
            <a:r>
              <a:rPr spc="-330" dirty="0"/>
              <a:t>vấn </a:t>
            </a:r>
            <a:r>
              <a:rPr spc="-210" dirty="0"/>
              <a:t>đề </a:t>
            </a:r>
            <a:r>
              <a:rPr spc="-350" dirty="0"/>
              <a:t>cần </a:t>
            </a:r>
            <a:r>
              <a:rPr spc="-275" dirty="0"/>
              <a:t>chú </a:t>
            </a:r>
            <a:r>
              <a:rPr spc="-285" dirty="0"/>
              <a:t>ý </a:t>
            </a:r>
            <a:r>
              <a:rPr spc="-350" dirty="0"/>
              <a:t>của</a:t>
            </a:r>
            <a:r>
              <a:rPr spc="-430" dirty="0"/>
              <a:t> </a:t>
            </a:r>
            <a:r>
              <a:rPr spc="-330" dirty="0"/>
              <a:t>mạch  </a:t>
            </a:r>
            <a:r>
              <a:rPr spc="-220" dirty="0"/>
              <a:t>chỉnh</a:t>
            </a:r>
            <a:r>
              <a:rPr spc="-345" dirty="0"/>
              <a:t> </a:t>
            </a:r>
            <a:r>
              <a:rPr spc="-245" dirty="0"/>
              <a:t>lưu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58029" y="6583324"/>
            <a:ext cx="79311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80"/>
              </a:lnSpc>
            </a:pPr>
            <a:r>
              <a:rPr sz="900" spc="-5" dirty="0">
                <a:solidFill>
                  <a:srgbClr val="FFFFFF"/>
                </a:solidFill>
                <a:latin typeface="Times New Roman"/>
                <a:cs typeface="Times New Roman"/>
              </a:rPr>
              <a:t>TRỊNH LÊ</a:t>
            </a:r>
            <a:r>
              <a:rPr sz="9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Times New Roman"/>
                <a:cs typeface="Times New Roman"/>
              </a:rPr>
              <a:t>HUY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72473" y="6546595"/>
            <a:ext cx="16002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Times New Roman"/>
                <a:cs typeface="Times New Roman"/>
              </a:rPr>
              <a:t>35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1737207"/>
            <a:ext cx="8199755" cy="3206750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260"/>
              </a:spcBef>
              <a:buClr>
                <a:srgbClr val="99CA38"/>
              </a:buClr>
              <a:buFont typeface="Wingdings"/>
              <a:buChar char=""/>
              <a:tabLst>
                <a:tab pos="270510" algn="l"/>
              </a:tabLst>
            </a:pPr>
            <a:r>
              <a:rPr sz="2000" u="heavy" spc="-50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spc="-1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Điện </a:t>
            </a:r>
            <a:r>
              <a:rPr sz="2000" b="1" u="heavy" spc="-7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thế </a:t>
            </a:r>
            <a:r>
              <a:rPr sz="2000" b="1" u="heavy" spc="-17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nghịch </a:t>
            </a:r>
            <a:r>
              <a:rPr sz="2000" b="1" u="heavy" spc="-1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đảo </a:t>
            </a:r>
            <a:r>
              <a:rPr sz="2000" b="1" u="heavy" spc="-2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cực </a:t>
            </a:r>
            <a:r>
              <a:rPr sz="2000" b="1" u="heavy" spc="-9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đại </a:t>
            </a:r>
            <a:r>
              <a:rPr sz="2000" b="1" u="heavy" spc="-1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(Peak </a:t>
            </a:r>
            <a:r>
              <a:rPr sz="2000" b="1" u="heavy" spc="-13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Inverse</a:t>
            </a:r>
            <a:r>
              <a:rPr sz="2000" b="1" u="heavy" spc="-2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 </a:t>
            </a:r>
            <a:r>
              <a:rPr sz="2000" b="1" u="heavy" spc="-114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Voltage)</a:t>
            </a:r>
            <a:endParaRPr sz="2000">
              <a:latin typeface="Arial"/>
              <a:cs typeface="Arial"/>
            </a:endParaRPr>
          </a:p>
          <a:p>
            <a:pPr marL="12700" marR="5080" indent="57785" algn="just">
              <a:lnSpc>
                <a:spcPct val="90000"/>
              </a:lnSpc>
              <a:spcBef>
                <a:spcPts val="1405"/>
              </a:spcBef>
            </a:pP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chỉnh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lưu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động, </a:t>
            </a:r>
            <a:r>
              <a:rPr sz="2000" spc="-170" dirty="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thời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điểm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hoặc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nhiều diode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trong 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bị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2000" spc="-145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nghịch.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đó,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nếu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đánh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thủng </a:t>
            </a:r>
            <a:r>
              <a:rPr sz="2000" spc="-13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bé  hơn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2000" spc="-150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nguồn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xoay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chiều </a:t>
            </a:r>
            <a:r>
              <a:rPr sz="2000" dirty="0">
                <a:solidFill>
                  <a:srgbClr val="404040"/>
                </a:solidFill>
                <a:latin typeface="Arial"/>
                <a:cs typeface="Arial"/>
              </a:rPr>
              <a:t>đi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vào,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chỉnh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lưu </a:t>
            </a:r>
            <a:r>
              <a:rPr sz="2000" spc="-175" dirty="0">
                <a:solidFill>
                  <a:srgbClr val="404040"/>
                </a:solidFill>
                <a:latin typeface="Arial"/>
                <a:cs typeface="Arial"/>
              </a:rPr>
              <a:t>sẽ 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không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động bình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thường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(có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nguy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cơ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bị</a:t>
            </a:r>
            <a:r>
              <a:rPr sz="2000" spc="-38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cháy,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hỏng…).</a:t>
            </a:r>
            <a:endParaRPr sz="2000">
              <a:latin typeface="Arial"/>
              <a:cs typeface="Arial"/>
            </a:endParaRPr>
          </a:p>
          <a:p>
            <a:pPr marL="70485">
              <a:lnSpc>
                <a:spcPts val="2280"/>
              </a:lnSpc>
              <a:spcBef>
                <a:spcPts val="1155"/>
              </a:spcBef>
            </a:pP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nghịch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đảo </a:t>
            </a:r>
            <a:r>
              <a:rPr sz="2000" spc="-150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đại </a:t>
            </a:r>
            <a:r>
              <a:rPr sz="2000" spc="-185" dirty="0">
                <a:solidFill>
                  <a:srgbClr val="404040"/>
                </a:solidFill>
                <a:latin typeface="Arial"/>
                <a:cs typeface="Arial"/>
              </a:rPr>
              <a:t>PIV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định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nghĩa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2000" spc="-150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đại</a:t>
            </a:r>
            <a:r>
              <a:rPr sz="2000" spc="2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mà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280"/>
              </a:lnSpc>
            </a:pP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nguồn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áp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lên diode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phân</a:t>
            </a:r>
            <a:r>
              <a:rPr sz="2000" spc="-4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45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nghịch.</a:t>
            </a:r>
            <a:endParaRPr sz="2000">
              <a:latin typeface="Arial"/>
              <a:cs typeface="Arial"/>
            </a:endParaRPr>
          </a:p>
          <a:p>
            <a:pPr marL="12700" marR="6350" indent="57785">
              <a:lnSpc>
                <a:spcPts val="2160"/>
              </a:lnSpc>
              <a:spcBef>
                <a:spcPts val="1435"/>
              </a:spcBef>
            </a:pP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thường,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người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ta </a:t>
            </a:r>
            <a:r>
              <a:rPr sz="2000" spc="-170" dirty="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chọn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đánh </a:t>
            </a:r>
            <a:r>
              <a:rPr sz="2000" spc="-55" dirty="0">
                <a:solidFill>
                  <a:srgbClr val="404040"/>
                </a:solidFill>
                <a:latin typeface="Arial"/>
                <a:cs typeface="Arial"/>
              </a:rPr>
              <a:t>thủng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lớn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hơn  </a:t>
            </a:r>
            <a:r>
              <a:rPr sz="2000" spc="-180" dirty="0">
                <a:solidFill>
                  <a:srgbClr val="404040"/>
                </a:solidFill>
                <a:latin typeface="Arial"/>
                <a:cs typeface="Arial"/>
              </a:rPr>
              <a:t>20%</a:t>
            </a:r>
            <a:r>
              <a:rPr sz="2000" spc="-1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PIV.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61616" y="4844794"/>
            <a:ext cx="5385815" cy="20132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2649220" marR="5080" indent="-2582545">
              <a:lnSpc>
                <a:spcPts val="4900"/>
              </a:lnSpc>
              <a:spcBef>
                <a:spcPts val="980"/>
              </a:spcBef>
            </a:pPr>
            <a:r>
              <a:rPr spc="-595" dirty="0"/>
              <a:t>Các </a:t>
            </a:r>
            <a:r>
              <a:rPr spc="-330" dirty="0"/>
              <a:t>vấn </a:t>
            </a:r>
            <a:r>
              <a:rPr spc="-210" dirty="0"/>
              <a:t>đề </a:t>
            </a:r>
            <a:r>
              <a:rPr spc="-350" dirty="0"/>
              <a:t>cần </a:t>
            </a:r>
            <a:r>
              <a:rPr spc="-275" dirty="0"/>
              <a:t>chú </a:t>
            </a:r>
            <a:r>
              <a:rPr spc="-285" dirty="0"/>
              <a:t>ý </a:t>
            </a:r>
            <a:r>
              <a:rPr spc="-350" dirty="0"/>
              <a:t>của</a:t>
            </a:r>
            <a:r>
              <a:rPr spc="-430" dirty="0"/>
              <a:t> </a:t>
            </a:r>
            <a:r>
              <a:rPr spc="-330" dirty="0"/>
              <a:t>mạch  </a:t>
            </a:r>
            <a:r>
              <a:rPr spc="-220" dirty="0"/>
              <a:t>chỉnh</a:t>
            </a:r>
            <a:r>
              <a:rPr spc="-345" dirty="0"/>
              <a:t> </a:t>
            </a:r>
            <a:r>
              <a:rPr spc="-245" dirty="0"/>
              <a:t>lưu</a:t>
            </a:r>
          </a:p>
        </p:txBody>
      </p:sp>
      <p:sp>
        <p:nvSpPr>
          <p:cNvPr id="3" name="object 3"/>
          <p:cNvSpPr/>
          <p:nvPr/>
        </p:nvSpPr>
        <p:spPr>
          <a:xfrm>
            <a:off x="922596" y="3394564"/>
            <a:ext cx="8146673" cy="27328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78839" y="1737207"/>
            <a:ext cx="7207250" cy="1747520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260"/>
              </a:spcBef>
              <a:buClr>
                <a:srgbClr val="99CA38"/>
              </a:buClr>
              <a:buFont typeface="Wingdings"/>
              <a:buChar char=""/>
              <a:tabLst>
                <a:tab pos="270510" algn="l"/>
              </a:tabLst>
            </a:pPr>
            <a:r>
              <a:rPr sz="2000" u="heavy" spc="-50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heavy" spc="-1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Điện </a:t>
            </a:r>
            <a:r>
              <a:rPr sz="2000" b="1" u="heavy" spc="-7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thế </a:t>
            </a:r>
            <a:r>
              <a:rPr sz="2000" b="1" u="heavy" spc="-17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nghịch </a:t>
            </a:r>
            <a:r>
              <a:rPr sz="2000" b="1" u="heavy" spc="-1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đảo </a:t>
            </a:r>
            <a:r>
              <a:rPr sz="2000" b="1" u="heavy" spc="-2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cực </a:t>
            </a:r>
            <a:r>
              <a:rPr sz="2000" b="1" u="heavy" spc="-9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đại </a:t>
            </a:r>
            <a:r>
              <a:rPr sz="2000" b="1" u="heavy" spc="-1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(Peak </a:t>
            </a:r>
            <a:r>
              <a:rPr sz="2000" b="1" u="heavy" spc="-13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Inverse</a:t>
            </a:r>
            <a:r>
              <a:rPr sz="2000" b="1" u="heavy" spc="-2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 </a:t>
            </a:r>
            <a:r>
              <a:rPr sz="2000" b="1" u="heavy" spc="-114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Voltage)</a:t>
            </a:r>
            <a:endParaRPr sz="2000">
              <a:latin typeface="Arial"/>
              <a:cs typeface="Arial"/>
            </a:endParaRPr>
          </a:p>
          <a:p>
            <a:pPr marL="69215">
              <a:lnSpc>
                <a:spcPct val="100000"/>
              </a:lnSpc>
              <a:spcBef>
                <a:spcPts val="1165"/>
              </a:spcBef>
            </a:pPr>
            <a:r>
              <a:rPr sz="2000" spc="-170" dirty="0">
                <a:solidFill>
                  <a:srgbClr val="404040"/>
                </a:solidFill>
                <a:latin typeface="Arial"/>
                <a:cs typeface="Arial"/>
              </a:rPr>
              <a:t>Cho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như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hình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vẽ,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sz="2000" spc="50" dirty="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sz="2000" spc="-185" dirty="0">
                <a:solidFill>
                  <a:srgbClr val="404040"/>
                </a:solidFill>
                <a:latin typeface="Arial"/>
                <a:cs typeface="Arial"/>
              </a:rPr>
              <a:t>PIV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mạch</a:t>
            </a:r>
            <a:r>
              <a:rPr sz="2000" spc="-3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60" dirty="0">
                <a:solidFill>
                  <a:srgbClr val="404040"/>
                </a:solidFill>
                <a:latin typeface="Arial"/>
                <a:cs typeface="Arial"/>
              </a:rPr>
              <a:t>sau?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R="1017905" algn="ctr">
              <a:lnSpc>
                <a:spcPct val="100000"/>
              </a:lnSpc>
              <a:spcBef>
                <a:spcPts val="1255"/>
              </a:spcBef>
            </a:pPr>
            <a:r>
              <a:rPr sz="2400" dirty="0">
                <a:latin typeface="Times New Roman"/>
                <a:cs typeface="Times New Roman"/>
              </a:rPr>
              <a:t>10:1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36</a:t>
            </a:fld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7364" y="908380"/>
            <a:ext cx="64077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Mạch </a:t>
            </a:r>
            <a:r>
              <a:rPr spc="-215" dirty="0"/>
              <a:t>lọc </a:t>
            </a:r>
            <a:r>
              <a:rPr spc="-265" dirty="0"/>
              <a:t>nguồn </a:t>
            </a:r>
            <a:r>
              <a:rPr spc="-80" dirty="0"/>
              <a:t>một</a:t>
            </a:r>
            <a:r>
              <a:rPr spc="-720" dirty="0"/>
              <a:t> </a:t>
            </a:r>
            <a:r>
              <a:rPr spc="-245" dirty="0"/>
              <a:t>chiều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8201659" cy="8794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04139" marR="5080" indent="-91440" algn="just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nguồn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tác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nâng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cao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sz="2000" spc="50" dirty="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trung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bình </a:t>
            </a:r>
            <a:r>
              <a:rPr sz="2000" spc="-13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2000" spc="-15" dirty="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đầu ra, 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đặc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biệt,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góp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phần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làm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mượt </a:t>
            </a:r>
            <a:r>
              <a:rPr sz="2000" spc="-15" dirty="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mục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đích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tạo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chiều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ổn</a:t>
            </a:r>
            <a:r>
              <a:rPr sz="2000" spc="-2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định.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83544" y="5671467"/>
            <a:ext cx="1723479" cy="5645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974338" y="6080252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8266" y="3908739"/>
            <a:ext cx="8791940" cy="15814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31750" y="3020997"/>
            <a:ext cx="1578580" cy="6248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37</a:t>
            </a:fld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7364" y="908380"/>
            <a:ext cx="64077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Mạch </a:t>
            </a:r>
            <a:r>
              <a:rPr spc="-215" dirty="0"/>
              <a:t>lọc </a:t>
            </a:r>
            <a:r>
              <a:rPr spc="-265" dirty="0"/>
              <a:t>nguồn </a:t>
            </a:r>
            <a:r>
              <a:rPr spc="-80" dirty="0"/>
              <a:t>một</a:t>
            </a:r>
            <a:r>
              <a:rPr spc="-720" dirty="0"/>
              <a:t> </a:t>
            </a:r>
            <a:r>
              <a:rPr spc="-245" dirty="0"/>
              <a:t>chiều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56260"/>
            <a:ext cx="4178935" cy="385127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325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spc="-190" dirty="0">
                <a:solidFill>
                  <a:srgbClr val="404040"/>
                </a:solidFill>
                <a:latin typeface="Arial"/>
                <a:cs typeface="Arial"/>
              </a:rPr>
              <a:t>Cách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thức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hoạt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động:</a:t>
            </a:r>
            <a:endParaRPr sz="2000">
              <a:latin typeface="Arial"/>
              <a:cs typeface="Arial"/>
            </a:endParaRPr>
          </a:p>
          <a:p>
            <a:pPr marL="396875" marR="5715" lvl="1" indent="-182880" algn="just">
              <a:lnSpc>
                <a:spcPct val="90000"/>
              </a:lnSpc>
              <a:spcBef>
                <a:spcPts val="415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800" spc="-112" baseline="-20833" dirty="0">
                <a:solidFill>
                  <a:srgbClr val="404040"/>
                </a:solidFill>
                <a:latin typeface="Arial"/>
                <a:cs typeface="Arial"/>
              </a:rPr>
              <a:t>in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tăng </a:t>
            </a:r>
            <a:r>
              <a:rPr sz="1800" spc="-15" dirty="0">
                <a:solidFill>
                  <a:srgbClr val="404040"/>
                </a:solidFill>
                <a:latin typeface="Arial"/>
                <a:cs typeface="Arial"/>
              </a:rPr>
              <a:t>từ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0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-&gt; 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Vp,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800" spc="-75" baseline="-20833" dirty="0">
                <a:solidFill>
                  <a:srgbClr val="404040"/>
                </a:solidFill>
                <a:latin typeface="Arial"/>
                <a:cs typeface="Arial"/>
              </a:rPr>
              <a:t>out </a:t>
            </a: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tăng </a:t>
            </a:r>
            <a:r>
              <a:rPr sz="1800" spc="-15" dirty="0">
                <a:solidFill>
                  <a:srgbClr val="404040"/>
                </a:solidFill>
                <a:latin typeface="Arial"/>
                <a:cs typeface="Arial"/>
              </a:rPr>
              <a:t>từ 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0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-&gt;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Vp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-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0.7 </a:t>
            </a:r>
            <a:r>
              <a:rPr sz="1800" spc="-110" dirty="0">
                <a:solidFill>
                  <a:srgbClr val="404040"/>
                </a:solidFill>
                <a:latin typeface="Arial"/>
                <a:cs typeface="Arial"/>
              </a:rPr>
              <a:t>V. Đồng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thời </a:t>
            </a:r>
            <a:r>
              <a:rPr sz="1800" spc="20" dirty="0">
                <a:solidFill>
                  <a:srgbClr val="404040"/>
                </a:solidFill>
                <a:latin typeface="Arial"/>
                <a:cs typeface="Arial"/>
              </a:rPr>
              <a:t>tụ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sẽ 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nạp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đến 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sz="1800" spc="40" dirty="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Vp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–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0.7</a:t>
            </a:r>
            <a:r>
              <a:rPr sz="1800" spc="-1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V.</a:t>
            </a:r>
            <a:endParaRPr sz="1800">
              <a:latin typeface="Arial"/>
              <a:cs typeface="Arial"/>
            </a:endParaRPr>
          </a:p>
          <a:p>
            <a:pPr marL="396875" marR="7620" lvl="1" indent="-182880" algn="just">
              <a:lnSpc>
                <a:spcPts val="1939"/>
              </a:lnSpc>
              <a:spcBef>
                <a:spcPts val="63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800" spc="-112" baseline="-20833" dirty="0">
                <a:solidFill>
                  <a:srgbClr val="404040"/>
                </a:solidFill>
                <a:latin typeface="Arial"/>
                <a:cs typeface="Arial"/>
              </a:rPr>
              <a:t>in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giảm </a:t>
            </a:r>
            <a:r>
              <a:rPr sz="1800" spc="-15" dirty="0">
                <a:solidFill>
                  <a:srgbClr val="404040"/>
                </a:solidFill>
                <a:latin typeface="Arial"/>
                <a:cs typeface="Arial"/>
              </a:rPr>
              <a:t>từ 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Vp,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1800" spc="-30" dirty="0">
                <a:solidFill>
                  <a:srgbClr val="404040"/>
                </a:solidFill>
                <a:latin typeface="Arial"/>
                <a:cs typeface="Arial"/>
              </a:rPr>
              <a:t>đó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sẽ 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không dẫn. </a:t>
            </a:r>
            <a:r>
              <a:rPr sz="1800" spc="-145" dirty="0">
                <a:solidFill>
                  <a:srgbClr val="404040"/>
                </a:solidFill>
                <a:latin typeface="Arial"/>
                <a:cs typeface="Arial"/>
              </a:rPr>
              <a:t>Tụ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sz="1800" spc="-130" dirty="0">
                <a:solidFill>
                  <a:srgbClr val="404040"/>
                </a:solidFill>
                <a:latin typeface="Arial"/>
                <a:cs typeface="Arial"/>
              </a:rPr>
              <a:t>xả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được xem 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như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nguồn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cho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tải. </a:t>
            </a:r>
            <a:r>
              <a:rPr sz="1800" spc="-130" dirty="0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sz="1800" spc="45" dirty="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hiệu 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800" spc="-70" dirty="0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sz="1800" spc="-60" dirty="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giảm</a:t>
            </a:r>
            <a:r>
              <a:rPr sz="1800" spc="-2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dần.</a:t>
            </a:r>
            <a:endParaRPr sz="1800">
              <a:latin typeface="Arial"/>
              <a:cs typeface="Arial"/>
            </a:endParaRPr>
          </a:p>
          <a:p>
            <a:pPr marL="396875" marR="5080" lvl="1" indent="-182880" algn="just">
              <a:lnSpc>
                <a:spcPct val="89900"/>
              </a:lnSpc>
              <a:spcBef>
                <a:spcPts val="60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190" dirty="0">
                <a:solidFill>
                  <a:srgbClr val="404040"/>
                </a:solidFill>
                <a:latin typeface="Arial"/>
                <a:cs typeface="Arial"/>
              </a:rPr>
              <a:t>Sau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1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thời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gian </a:t>
            </a:r>
            <a:r>
              <a:rPr sz="1800" spc="15" dirty="0">
                <a:solidFill>
                  <a:srgbClr val="404040"/>
                </a:solidFill>
                <a:latin typeface="Symbol"/>
                <a:cs typeface="Symbol"/>
              </a:rPr>
              <a:t></a:t>
            </a:r>
            <a:r>
              <a:rPr sz="1800" spc="15" dirty="0">
                <a:solidFill>
                  <a:srgbClr val="404040"/>
                </a:solidFill>
                <a:latin typeface="Arial"/>
                <a:cs typeface="Arial"/>
              </a:rPr>
              <a:t>t,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1800" spc="-75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800" spc="-112" baseline="-20833" dirty="0">
                <a:solidFill>
                  <a:srgbClr val="404040"/>
                </a:solidFill>
                <a:latin typeface="Arial"/>
                <a:cs typeface="Arial"/>
              </a:rPr>
              <a:t>in </a:t>
            </a: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&gt;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800" spc="-75" baseline="-20833" dirty="0">
                <a:solidFill>
                  <a:srgbClr val="404040"/>
                </a:solidFill>
                <a:latin typeface="Arial"/>
                <a:cs typeface="Arial"/>
              </a:rPr>
              <a:t>out </a:t>
            </a: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+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0.7 </a:t>
            </a:r>
            <a:r>
              <a:rPr sz="1800" spc="-135" dirty="0">
                <a:solidFill>
                  <a:srgbClr val="404040"/>
                </a:solidFill>
                <a:latin typeface="Arial"/>
                <a:cs typeface="Arial"/>
              </a:rPr>
              <a:t>V, 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lúc </a:t>
            </a:r>
            <a:r>
              <a:rPr sz="1800" spc="-100" dirty="0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1800" spc="-145" dirty="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chuyển 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từ 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trạng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thái 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khóa </a:t>
            </a: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sang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trạng </a:t>
            </a:r>
            <a:r>
              <a:rPr sz="1800" spc="-20" dirty="0">
                <a:solidFill>
                  <a:srgbClr val="404040"/>
                </a:solidFill>
                <a:latin typeface="Arial"/>
                <a:cs typeface="Arial"/>
              </a:rPr>
              <a:t>thái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dẫn, </a:t>
            </a:r>
            <a:r>
              <a:rPr sz="1800" spc="-85" dirty="0">
                <a:solidFill>
                  <a:srgbClr val="404040"/>
                </a:solidFill>
                <a:latin typeface="Arial"/>
                <a:cs typeface="Arial"/>
              </a:rPr>
              <a:t>nhờ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đó,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800" spc="-75" baseline="-20833" dirty="0">
                <a:solidFill>
                  <a:srgbClr val="404040"/>
                </a:solidFill>
                <a:latin typeface="Arial"/>
                <a:cs typeface="Arial"/>
              </a:rPr>
              <a:t>out </a:t>
            </a:r>
            <a:r>
              <a:rPr sz="1200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sz="1800" spc="-65" dirty="0">
                <a:solidFill>
                  <a:srgbClr val="404040"/>
                </a:solidFill>
                <a:latin typeface="Arial"/>
                <a:cs typeface="Arial"/>
              </a:rPr>
              <a:t>tăng </a:t>
            </a:r>
            <a:r>
              <a:rPr sz="1800" spc="-15" dirty="0">
                <a:solidFill>
                  <a:srgbClr val="404040"/>
                </a:solidFill>
                <a:latin typeface="Arial"/>
                <a:cs typeface="Arial"/>
              </a:rPr>
              <a:t>từ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0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-&gt;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Vp 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-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0.7 </a:t>
            </a:r>
            <a:r>
              <a:rPr sz="1800" spc="-180" dirty="0">
                <a:solidFill>
                  <a:srgbClr val="404040"/>
                </a:solidFill>
                <a:latin typeface="Arial"/>
                <a:cs typeface="Arial"/>
              </a:rPr>
              <a:t>V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1800" spc="20" dirty="0">
                <a:solidFill>
                  <a:srgbClr val="404040"/>
                </a:solidFill>
                <a:latin typeface="Arial"/>
                <a:cs typeface="Arial"/>
              </a:rPr>
              <a:t>tụ </a:t>
            </a:r>
            <a:r>
              <a:rPr sz="1800" spc="-4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800" spc="-155" dirty="0">
                <a:solidFill>
                  <a:srgbClr val="404040"/>
                </a:solidFill>
                <a:latin typeface="Arial"/>
                <a:cs typeface="Arial"/>
              </a:rPr>
              <a:t>sẽ 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sz="1800" spc="-90" dirty="0">
                <a:solidFill>
                  <a:srgbClr val="404040"/>
                </a:solidFill>
                <a:latin typeface="Arial"/>
                <a:cs typeface="Arial"/>
              </a:rPr>
              <a:t>nạp </a:t>
            </a:r>
            <a:r>
              <a:rPr sz="1800" spc="-55" dirty="0">
                <a:solidFill>
                  <a:srgbClr val="404040"/>
                </a:solidFill>
                <a:latin typeface="Arial"/>
                <a:cs typeface="Arial"/>
              </a:rPr>
              <a:t>đến </a:t>
            </a:r>
            <a:r>
              <a:rPr sz="1800" spc="-95" dirty="0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sz="1800" spc="45" dirty="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sz="1800" spc="-120" dirty="0">
                <a:solidFill>
                  <a:srgbClr val="404040"/>
                </a:solidFill>
                <a:latin typeface="Arial"/>
                <a:cs typeface="Arial"/>
              </a:rPr>
              <a:t>Vp </a:t>
            </a:r>
            <a:r>
              <a:rPr sz="1800" spc="-105" dirty="0">
                <a:solidFill>
                  <a:srgbClr val="404040"/>
                </a:solidFill>
                <a:latin typeface="Arial"/>
                <a:cs typeface="Arial"/>
              </a:rPr>
              <a:t>– </a:t>
            </a:r>
            <a:r>
              <a:rPr sz="1800" spc="-80" dirty="0">
                <a:solidFill>
                  <a:srgbClr val="404040"/>
                </a:solidFill>
                <a:latin typeface="Arial"/>
                <a:cs typeface="Arial"/>
              </a:rPr>
              <a:t>0.7</a:t>
            </a:r>
            <a:r>
              <a:rPr sz="1800" spc="-2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spc="-114" dirty="0">
                <a:solidFill>
                  <a:srgbClr val="404040"/>
                </a:solidFill>
                <a:latin typeface="Arial"/>
                <a:cs typeface="Arial"/>
              </a:rPr>
              <a:t>V.</a:t>
            </a:r>
            <a:endParaRPr sz="1800">
              <a:latin typeface="Arial"/>
              <a:cs typeface="Arial"/>
            </a:endParaRPr>
          </a:p>
          <a:p>
            <a:pPr marL="396875" lvl="1" indent="-182880">
              <a:lnSpc>
                <a:spcPct val="100000"/>
              </a:lnSpc>
              <a:spcBef>
                <a:spcPts val="390"/>
              </a:spcBef>
              <a:buClr>
                <a:srgbClr val="99CA38"/>
              </a:buClr>
              <a:buFont typeface="Wingdings"/>
              <a:buChar char=""/>
              <a:tabLst>
                <a:tab pos="448945" algn="l"/>
              </a:tabLst>
            </a:pP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...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04538" y="1999754"/>
            <a:ext cx="4645175" cy="13430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89626" y="3430553"/>
            <a:ext cx="4673821" cy="28454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33144" y="5634228"/>
            <a:ext cx="1170305" cy="0"/>
          </a:xfrm>
          <a:custGeom>
            <a:avLst/>
            <a:gdLst/>
            <a:ahLst/>
            <a:cxnLst/>
            <a:rect l="l" t="t" r="r" b="b"/>
            <a:pathLst>
              <a:path w="1170305">
                <a:moveTo>
                  <a:pt x="0" y="0"/>
                </a:moveTo>
                <a:lnTo>
                  <a:pt x="1170178" y="0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02051" y="5634228"/>
            <a:ext cx="0" cy="405130"/>
          </a:xfrm>
          <a:custGeom>
            <a:avLst/>
            <a:gdLst/>
            <a:ahLst/>
            <a:cxnLst/>
            <a:rect l="l" t="t" r="r" b="b"/>
            <a:pathLst>
              <a:path h="405129">
                <a:moveTo>
                  <a:pt x="0" y="0"/>
                </a:moveTo>
                <a:lnTo>
                  <a:pt x="0" y="405041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1539" y="6039611"/>
            <a:ext cx="1811655" cy="0"/>
          </a:xfrm>
          <a:custGeom>
            <a:avLst/>
            <a:gdLst/>
            <a:ahLst/>
            <a:cxnLst/>
            <a:rect l="l" t="t" r="r" b="b"/>
            <a:pathLst>
              <a:path w="1811655">
                <a:moveTo>
                  <a:pt x="1811147" y="0"/>
                </a:moveTo>
                <a:lnTo>
                  <a:pt x="0" y="0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1539" y="2348483"/>
            <a:ext cx="0" cy="3690620"/>
          </a:xfrm>
          <a:custGeom>
            <a:avLst/>
            <a:gdLst/>
            <a:ahLst/>
            <a:cxnLst/>
            <a:rect l="l" t="t" r="r" b="b"/>
            <a:pathLst>
              <a:path h="3690620">
                <a:moveTo>
                  <a:pt x="0" y="3690404"/>
                </a:moveTo>
                <a:lnTo>
                  <a:pt x="0" y="0"/>
                </a:lnTo>
              </a:path>
            </a:pathLst>
          </a:custGeom>
          <a:ln w="12192">
            <a:solidFill>
              <a:srgbClr val="99CA3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1539" y="2310383"/>
            <a:ext cx="191033" cy="76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38</a:t>
            </a:fld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593090" marR="5080" indent="199390">
              <a:lnSpc>
                <a:spcPts val="4900"/>
              </a:lnSpc>
              <a:spcBef>
                <a:spcPts val="980"/>
              </a:spcBef>
            </a:pPr>
            <a:r>
              <a:rPr spc="-595" dirty="0"/>
              <a:t>Các </a:t>
            </a:r>
            <a:r>
              <a:rPr spc="-330" dirty="0"/>
              <a:t>vấn </a:t>
            </a:r>
            <a:r>
              <a:rPr spc="-210" dirty="0"/>
              <a:t>đề </a:t>
            </a:r>
            <a:r>
              <a:rPr spc="-350" dirty="0"/>
              <a:t>cần </a:t>
            </a:r>
            <a:r>
              <a:rPr spc="-270" dirty="0"/>
              <a:t>chú </a:t>
            </a:r>
            <a:r>
              <a:rPr spc="-285" dirty="0"/>
              <a:t>ý </a:t>
            </a:r>
            <a:r>
              <a:rPr spc="-365" dirty="0"/>
              <a:t>của  </a:t>
            </a:r>
            <a:r>
              <a:rPr spc="-330" dirty="0"/>
              <a:t>mạch </a:t>
            </a:r>
            <a:r>
              <a:rPr spc="-215" dirty="0"/>
              <a:t>lọc </a:t>
            </a:r>
            <a:r>
              <a:rPr spc="-265" dirty="0"/>
              <a:t>nguồn </a:t>
            </a:r>
            <a:r>
              <a:rPr spc="-80" dirty="0"/>
              <a:t>một</a:t>
            </a:r>
            <a:r>
              <a:rPr spc="-625" dirty="0"/>
              <a:t> </a:t>
            </a:r>
            <a:r>
              <a:rPr spc="-245" dirty="0"/>
              <a:t>chiều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8320405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04139" marR="5080" indent="-91440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sz="2000" b="1" spc="-145" dirty="0">
                <a:solidFill>
                  <a:srgbClr val="404040"/>
                </a:solidFill>
                <a:latin typeface="Arial"/>
                <a:cs typeface="Arial"/>
              </a:rPr>
              <a:t>Hệ </a:t>
            </a:r>
            <a:r>
              <a:rPr sz="2000" b="1" spc="-235" dirty="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sz="2000" b="1" spc="-140" dirty="0">
                <a:solidFill>
                  <a:srgbClr val="404040"/>
                </a:solidFill>
                <a:latin typeface="Arial"/>
                <a:cs typeface="Arial"/>
              </a:rPr>
              <a:t>nhấp </a:t>
            </a:r>
            <a:r>
              <a:rPr sz="2000" b="1" spc="-120" dirty="0">
                <a:solidFill>
                  <a:srgbClr val="404040"/>
                </a:solidFill>
                <a:latin typeface="Arial"/>
                <a:cs typeface="Arial"/>
              </a:rPr>
              <a:t>nhô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đây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2000" spc="-55" dirty="0">
                <a:solidFill>
                  <a:srgbClr val="404040"/>
                </a:solidFill>
                <a:latin typeface="Arial"/>
                <a:cs typeface="Arial"/>
              </a:rPr>
              <a:t>thông 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thể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hiện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chất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lượng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lọc,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lọc  </a:t>
            </a:r>
            <a:r>
              <a:rPr sz="2000" spc="-135" dirty="0">
                <a:solidFill>
                  <a:srgbClr val="404040"/>
                </a:solidFill>
                <a:latin typeface="Arial"/>
                <a:cs typeface="Arial"/>
              </a:rPr>
              <a:t>càng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mượt </a:t>
            </a:r>
            <a:r>
              <a:rPr sz="2000" spc="-15" dirty="0">
                <a:solidFill>
                  <a:srgbClr val="404040"/>
                </a:solidFill>
                <a:latin typeface="Arial"/>
                <a:cs typeface="Arial"/>
              </a:rPr>
              <a:t>thì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hệ 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nhấp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nhô </a:t>
            </a:r>
            <a:r>
              <a:rPr sz="2000" spc="-135" dirty="0">
                <a:solidFill>
                  <a:srgbClr val="404040"/>
                </a:solidFill>
                <a:latin typeface="Arial"/>
                <a:cs typeface="Arial"/>
              </a:rPr>
              <a:t>càng</a:t>
            </a:r>
            <a:r>
              <a:rPr sz="2000" spc="-3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thấp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0151" y="3009713"/>
            <a:ext cx="9103758" cy="16114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4669" y="4924370"/>
            <a:ext cx="2246620" cy="10625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42692" y="4620005"/>
            <a:ext cx="7054850" cy="170053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800" spc="-67" baseline="-20833" dirty="0">
                <a:solidFill>
                  <a:srgbClr val="404040"/>
                </a:solidFill>
                <a:latin typeface="Arial"/>
                <a:cs typeface="Arial"/>
              </a:rPr>
              <a:t>p(rect)</a:t>
            </a:r>
            <a:r>
              <a:rPr sz="1800" spc="-45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sz="1600" i="1" spc="-30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600" i="1" spc="-70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600" i="1" spc="-5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600" i="1" spc="-4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600" i="1" spc="-35" dirty="0">
                <a:solidFill>
                  <a:srgbClr val="404040"/>
                </a:solidFill>
                <a:latin typeface="Arial"/>
                <a:cs typeface="Arial"/>
              </a:rPr>
              <a:t>đỉnh </a:t>
            </a:r>
            <a:r>
              <a:rPr sz="1600" i="1" spc="10" dirty="0">
                <a:solidFill>
                  <a:srgbClr val="404040"/>
                </a:solidFill>
                <a:latin typeface="Arial"/>
                <a:cs typeface="Arial"/>
              </a:rPr>
              <a:t>tới</a:t>
            </a:r>
            <a:r>
              <a:rPr sz="1600" i="1" spc="-3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i="1" spc="-35" dirty="0">
                <a:solidFill>
                  <a:srgbClr val="404040"/>
                </a:solidFill>
                <a:latin typeface="Arial"/>
                <a:cs typeface="Arial"/>
              </a:rPr>
              <a:t>đỉnh </a:t>
            </a:r>
            <a:r>
              <a:rPr sz="1600" i="1" spc="-80" dirty="0">
                <a:solidFill>
                  <a:srgbClr val="404040"/>
                </a:solidFill>
                <a:latin typeface="Arial"/>
                <a:cs typeface="Arial"/>
              </a:rPr>
              <a:t>(peak-peak) </a:t>
            </a:r>
            <a:r>
              <a:rPr sz="1600" i="1" spc="-95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600" i="1" spc="-20" dirty="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sz="1600" i="1" spc="-70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600" i="1" spc="-110" dirty="0">
                <a:solidFill>
                  <a:srgbClr val="404040"/>
                </a:solidFill>
                <a:latin typeface="Arial"/>
                <a:cs typeface="Arial"/>
              </a:rPr>
              <a:t>sau </a:t>
            </a:r>
            <a:r>
              <a:rPr sz="1600" i="1" spc="-50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1600" i="1" spc="-75" dirty="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sz="1600" i="1" spc="-70" dirty="0">
                <a:solidFill>
                  <a:srgbClr val="404040"/>
                </a:solidFill>
                <a:latin typeface="Arial"/>
                <a:cs typeface="Arial"/>
              </a:rPr>
              <a:t>chỉnh </a:t>
            </a:r>
            <a:r>
              <a:rPr sz="1600" i="1" spc="-45" dirty="0">
                <a:solidFill>
                  <a:srgbClr val="404040"/>
                </a:solidFill>
                <a:latin typeface="Arial"/>
                <a:cs typeface="Arial"/>
              </a:rPr>
              <a:t>lưu.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800" spc="-75" baseline="-20833" dirty="0">
                <a:solidFill>
                  <a:srgbClr val="404040"/>
                </a:solidFill>
                <a:latin typeface="Arial"/>
                <a:cs typeface="Arial"/>
              </a:rPr>
              <a:t>r(pp)</a:t>
            </a:r>
            <a:r>
              <a:rPr sz="1800" spc="-50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sz="1600" i="1" spc="-145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600" i="1" spc="-70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600" i="1" spc="-5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600" i="1" spc="-4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600" i="1" spc="-35" dirty="0">
                <a:solidFill>
                  <a:srgbClr val="404040"/>
                </a:solidFill>
                <a:latin typeface="Arial"/>
                <a:cs typeface="Arial"/>
              </a:rPr>
              <a:t>đỉnh </a:t>
            </a:r>
            <a:r>
              <a:rPr sz="1600" i="1" spc="10" dirty="0">
                <a:solidFill>
                  <a:srgbClr val="404040"/>
                </a:solidFill>
                <a:latin typeface="Arial"/>
                <a:cs typeface="Arial"/>
              </a:rPr>
              <a:t>tới </a:t>
            </a:r>
            <a:r>
              <a:rPr sz="1600" i="1" spc="-35" dirty="0">
                <a:solidFill>
                  <a:srgbClr val="404040"/>
                </a:solidFill>
                <a:latin typeface="Arial"/>
                <a:cs typeface="Arial"/>
              </a:rPr>
              <a:t>đỉnh </a:t>
            </a:r>
            <a:r>
              <a:rPr sz="1600" i="1" spc="-80" dirty="0">
                <a:solidFill>
                  <a:srgbClr val="404040"/>
                </a:solidFill>
                <a:latin typeface="Arial"/>
                <a:cs typeface="Arial"/>
              </a:rPr>
              <a:t>(peak-peak) </a:t>
            </a:r>
            <a:r>
              <a:rPr sz="1600" i="1" spc="-95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600" i="1" spc="-20" dirty="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sz="1600" i="1" spc="-70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600" i="1" spc="-110" dirty="0">
                <a:solidFill>
                  <a:srgbClr val="404040"/>
                </a:solidFill>
                <a:latin typeface="Arial"/>
                <a:cs typeface="Arial"/>
              </a:rPr>
              <a:t>sau </a:t>
            </a:r>
            <a:r>
              <a:rPr sz="1600" i="1" spc="-50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1600" i="1" spc="-75" dirty="0">
                <a:solidFill>
                  <a:srgbClr val="404040"/>
                </a:solidFill>
                <a:latin typeface="Arial"/>
                <a:cs typeface="Arial"/>
              </a:rPr>
              <a:t>được</a:t>
            </a:r>
            <a:r>
              <a:rPr sz="1600" i="1" spc="-3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i="1" spc="-65" dirty="0">
                <a:solidFill>
                  <a:srgbClr val="404040"/>
                </a:solidFill>
                <a:latin typeface="Arial"/>
                <a:cs typeface="Arial"/>
              </a:rPr>
              <a:t>lọc.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800" spc="-209" baseline="-20833" dirty="0">
                <a:solidFill>
                  <a:srgbClr val="404040"/>
                </a:solidFill>
                <a:latin typeface="Arial"/>
                <a:cs typeface="Arial"/>
              </a:rPr>
              <a:t>DC</a:t>
            </a:r>
            <a:r>
              <a:rPr sz="1800" spc="-140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sz="1600" i="1" spc="-30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1600" i="1" spc="-6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600" i="1" spc="-5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1600" i="1" spc="-35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1600" i="1" spc="-25" dirty="0">
                <a:solidFill>
                  <a:srgbClr val="404040"/>
                </a:solidFill>
                <a:latin typeface="Arial"/>
                <a:cs typeface="Arial"/>
              </a:rPr>
              <a:t>trung </a:t>
            </a:r>
            <a:r>
              <a:rPr sz="1600" i="1" spc="-75" dirty="0">
                <a:solidFill>
                  <a:srgbClr val="404040"/>
                </a:solidFill>
                <a:latin typeface="Arial"/>
                <a:cs typeface="Arial"/>
              </a:rPr>
              <a:t>bình </a:t>
            </a:r>
            <a:r>
              <a:rPr sz="1600" i="1" spc="-95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600" i="1" spc="-20" dirty="0">
                <a:solidFill>
                  <a:srgbClr val="404040"/>
                </a:solidFill>
                <a:latin typeface="Arial"/>
                <a:cs typeface="Arial"/>
              </a:rPr>
              <a:t>tín </a:t>
            </a:r>
            <a:r>
              <a:rPr sz="1600" i="1" spc="-65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1600" i="1" spc="-110" dirty="0">
                <a:solidFill>
                  <a:srgbClr val="404040"/>
                </a:solidFill>
                <a:latin typeface="Arial"/>
                <a:cs typeface="Arial"/>
              </a:rPr>
              <a:t>sau </a:t>
            </a:r>
            <a:r>
              <a:rPr sz="1600" i="1" spc="-50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1600" i="1" spc="-70" dirty="0">
                <a:solidFill>
                  <a:srgbClr val="404040"/>
                </a:solidFill>
                <a:latin typeface="Arial"/>
                <a:cs typeface="Arial"/>
              </a:rPr>
              <a:t>được</a:t>
            </a:r>
            <a:r>
              <a:rPr sz="1600" i="1" spc="-2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i="1" spc="-60" dirty="0">
                <a:solidFill>
                  <a:srgbClr val="404040"/>
                </a:solidFill>
                <a:latin typeface="Arial"/>
                <a:cs typeface="Arial"/>
              </a:rPr>
              <a:t>lọc.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600" i="1" spc="10" dirty="0">
                <a:solidFill>
                  <a:srgbClr val="404040"/>
                </a:solidFill>
                <a:latin typeface="Arial"/>
                <a:cs typeface="Arial"/>
              </a:rPr>
              <a:t>f: </a:t>
            </a:r>
            <a:r>
              <a:rPr sz="1600" i="1" spc="-20" dirty="0">
                <a:solidFill>
                  <a:srgbClr val="404040"/>
                </a:solidFill>
                <a:latin typeface="Arial"/>
                <a:cs typeface="Arial"/>
              </a:rPr>
              <a:t>tần </a:t>
            </a:r>
            <a:r>
              <a:rPr sz="1600" i="1" spc="-125" dirty="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sz="1600" i="1" spc="-95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1600" i="1" spc="-20" dirty="0">
                <a:solidFill>
                  <a:srgbClr val="404040"/>
                </a:solidFill>
                <a:latin typeface="Arial"/>
                <a:cs typeface="Arial"/>
              </a:rPr>
              <a:t>tín</a:t>
            </a:r>
            <a:r>
              <a:rPr sz="1600" i="1" spc="-1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i="1" spc="-70" dirty="0">
                <a:solidFill>
                  <a:srgbClr val="404040"/>
                </a:solidFill>
                <a:latin typeface="Arial"/>
                <a:cs typeface="Arial"/>
              </a:rPr>
              <a:t>hiệu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12820" y="3639311"/>
            <a:ext cx="1304544" cy="7848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92807" y="3601211"/>
            <a:ext cx="1170305" cy="76200"/>
          </a:xfrm>
          <a:custGeom>
            <a:avLst/>
            <a:gdLst/>
            <a:ahLst/>
            <a:cxnLst/>
            <a:rect l="l" t="t" r="r" b="b"/>
            <a:pathLst>
              <a:path w="117030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5719"/>
                </a:lnTo>
                <a:lnTo>
                  <a:pt x="63500" y="45719"/>
                </a:lnTo>
                <a:lnTo>
                  <a:pt x="63500" y="30480"/>
                </a:lnTo>
                <a:lnTo>
                  <a:pt x="76200" y="30480"/>
                </a:lnTo>
                <a:lnTo>
                  <a:pt x="76200" y="0"/>
                </a:lnTo>
                <a:close/>
              </a:path>
              <a:path w="1170305" h="76200">
                <a:moveTo>
                  <a:pt x="1093978" y="0"/>
                </a:moveTo>
                <a:lnTo>
                  <a:pt x="1093978" y="76200"/>
                </a:lnTo>
                <a:lnTo>
                  <a:pt x="1154938" y="45719"/>
                </a:lnTo>
                <a:lnTo>
                  <a:pt x="1106678" y="45719"/>
                </a:lnTo>
                <a:lnTo>
                  <a:pt x="1106678" y="30480"/>
                </a:lnTo>
                <a:lnTo>
                  <a:pt x="1154938" y="30480"/>
                </a:lnTo>
                <a:lnTo>
                  <a:pt x="1093978" y="0"/>
                </a:lnTo>
                <a:close/>
              </a:path>
              <a:path w="1170305" h="76200">
                <a:moveTo>
                  <a:pt x="76200" y="30480"/>
                </a:moveTo>
                <a:lnTo>
                  <a:pt x="63500" y="30480"/>
                </a:lnTo>
                <a:lnTo>
                  <a:pt x="63500" y="45719"/>
                </a:lnTo>
                <a:lnTo>
                  <a:pt x="76200" y="45719"/>
                </a:lnTo>
                <a:lnTo>
                  <a:pt x="76200" y="30480"/>
                </a:lnTo>
                <a:close/>
              </a:path>
              <a:path w="1170305" h="76200">
                <a:moveTo>
                  <a:pt x="1093978" y="30480"/>
                </a:moveTo>
                <a:lnTo>
                  <a:pt x="76200" y="30480"/>
                </a:lnTo>
                <a:lnTo>
                  <a:pt x="76200" y="45719"/>
                </a:lnTo>
                <a:lnTo>
                  <a:pt x="1093978" y="45719"/>
                </a:lnTo>
                <a:lnTo>
                  <a:pt x="1093978" y="30480"/>
                </a:lnTo>
                <a:close/>
              </a:path>
              <a:path w="1170305" h="76200">
                <a:moveTo>
                  <a:pt x="1154938" y="30480"/>
                </a:moveTo>
                <a:lnTo>
                  <a:pt x="1106678" y="30480"/>
                </a:lnTo>
                <a:lnTo>
                  <a:pt x="1106678" y="45719"/>
                </a:lnTo>
                <a:lnTo>
                  <a:pt x="1154938" y="45719"/>
                </a:lnTo>
                <a:lnTo>
                  <a:pt x="1170178" y="38100"/>
                </a:lnTo>
                <a:lnTo>
                  <a:pt x="1154938" y="30480"/>
                </a:lnTo>
                <a:close/>
              </a:path>
            </a:pathLst>
          </a:custGeom>
          <a:solidFill>
            <a:srgbClr val="51C3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147061" y="3666490"/>
            <a:ext cx="48958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0AFEF"/>
                </a:solidFill>
                <a:latin typeface="Times New Roman"/>
                <a:cs typeface="Times New Roman"/>
              </a:rPr>
              <a:t>T=</a:t>
            </a:r>
            <a:r>
              <a:rPr sz="1600" dirty="0">
                <a:solidFill>
                  <a:srgbClr val="00AFEF"/>
                </a:solidFill>
                <a:latin typeface="Times New Roman"/>
                <a:cs typeface="Times New Roman"/>
              </a:rPr>
              <a:t>1</a:t>
            </a:r>
            <a:r>
              <a:rPr sz="1600" spc="-5" dirty="0">
                <a:solidFill>
                  <a:srgbClr val="00AFEF"/>
                </a:solidFill>
                <a:latin typeface="Times New Roman"/>
                <a:cs typeface="Times New Roman"/>
              </a:rPr>
              <a:t>/f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39</a:t>
            </a:fld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593090" marR="5080" indent="199390">
              <a:lnSpc>
                <a:spcPts val="4900"/>
              </a:lnSpc>
              <a:spcBef>
                <a:spcPts val="980"/>
              </a:spcBef>
            </a:pPr>
            <a:r>
              <a:rPr spc="-595" dirty="0"/>
              <a:t>Các </a:t>
            </a:r>
            <a:r>
              <a:rPr spc="-330" dirty="0"/>
              <a:t>vấn </a:t>
            </a:r>
            <a:r>
              <a:rPr spc="-210" dirty="0"/>
              <a:t>đề </a:t>
            </a:r>
            <a:r>
              <a:rPr spc="-350" dirty="0"/>
              <a:t>cần </a:t>
            </a:r>
            <a:r>
              <a:rPr spc="-270" dirty="0"/>
              <a:t>chú </a:t>
            </a:r>
            <a:r>
              <a:rPr spc="-285" dirty="0"/>
              <a:t>ý </a:t>
            </a:r>
            <a:r>
              <a:rPr spc="-365" dirty="0"/>
              <a:t>của  </a:t>
            </a:r>
            <a:r>
              <a:rPr spc="-330" dirty="0"/>
              <a:t>mạch </a:t>
            </a:r>
            <a:r>
              <a:rPr spc="-215" dirty="0"/>
              <a:t>lọc </a:t>
            </a:r>
            <a:r>
              <a:rPr spc="-265" dirty="0"/>
              <a:t>nguồn </a:t>
            </a:r>
            <a:r>
              <a:rPr spc="-80" dirty="0"/>
              <a:t>một</a:t>
            </a:r>
            <a:r>
              <a:rPr spc="-625" dirty="0"/>
              <a:t> </a:t>
            </a:r>
            <a:r>
              <a:rPr spc="-245" dirty="0"/>
              <a:t>chiều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737207"/>
            <a:ext cx="8318500" cy="1205230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26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b="1" spc="-145" dirty="0">
                <a:solidFill>
                  <a:srgbClr val="404040"/>
                </a:solidFill>
                <a:latin typeface="Arial"/>
                <a:cs typeface="Arial"/>
              </a:rPr>
              <a:t>Hệ </a:t>
            </a:r>
            <a:r>
              <a:rPr sz="2000" b="1" spc="-229" dirty="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sz="2000" b="1" spc="-140" dirty="0">
                <a:solidFill>
                  <a:srgbClr val="404040"/>
                </a:solidFill>
                <a:latin typeface="Arial"/>
                <a:cs typeface="Arial"/>
              </a:rPr>
              <a:t>nhấp</a:t>
            </a:r>
            <a:r>
              <a:rPr sz="2000" b="1" spc="-2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14" dirty="0">
                <a:solidFill>
                  <a:srgbClr val="404040"/>
                </a:solidFill>
                <a:latin typeface="Arial"/>
                <a:cs typeface="Arial"/>
              </a:rPr>
              <a:t>nhô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280"/>
              </a:lnSpc>
              <a:spcBef>
                <a:spcPts val="1165"/>
              </a:spcBef>
            </a:pPr>
            <a:r>
              <a:rPr sz="2000" spc="-145" dirty="0">
                <a:solidFill>
                  <a:srgbClr val="404040"/>
                </a:solidFill>
                <a:latin typeface="Arial"/>
                <a:cs typeface="Arial"/>
              </a:rPr>
              <a:t>Ví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dụ: </a:t>
            </a:r>
            <a:r>
              <a:rPr sz="2000" spc="-145" dirty="0">
                <a:solidFill>
                  <a:srgbClr val="404040"/>
                </a:solidFill>
                <a:latin typeface="Arial"/>
                <a:cs typeface="Arial"/>
              </a:rPr>
              <a:t>Thay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đổi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linh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kiện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lọc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như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nào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để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chuyển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đổi </a:t>
            </a:r>
            <a:r>
              <a:rPr sz="2000" spc="-15" dirty="0">
                <a:solidFill>
                  <a:srgbClr val="404040"/>
                </a:solidFill>
                <a:latin typeface="Arial"/>
                <a:cs typeface="Arial"/>
              </a:rPr>
              <a:t>tín</a:t>
            </a:r>
            <a:r>
              <a:rPr sz="2000" spc="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hiệu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280"/>
              </a:lnSpc>
            </a:pP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sz="2000" spc="-10" dirty="0">
                <a:solidFill>
                  <a:srgbClr val="404040"/>
                </a:solidFill>
                <a:latin typeface="Arial"/>
                <a:cs typeface="Arial"/>
              </a:rPr>
              <a:t>từ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hình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(a)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thành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hình</a:t>
            </a:r>
            <a:r>
              <a:rPr sz="2000" spc="-4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(b)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60597" y="3354373"/>
            <a:ext cx="4990733" cy="9813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98688" y="5119793"/>
            <a:ext cx="5009421" cy="9804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417" y="3935983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(a)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40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963574" y="5580989"/>
            <a:ext cx="381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(b)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593090" marR="5080" indent="199390">
              <a:lnSpc>
                <a:spcPts val="4900"/>
              </a:lnSpc>
              <a:spcBef>
                <a:spcPts val="980"/>
              </a:spcBef>
            </a:pPr>
            <a:r>
              <a:rPr spc="-595" dirty="0"/>
              <a:t>Các </a:t>
            </a:r>
            <a:r>
              <a:rPr spc="-330" dirty="0"/>
              <a:t>vấn </a:t>
            </a:r>
            <a:r>
              <a:rPr spc="-210" dirty="0"/>
              <a:t>đề </a:t>
            </a:r>
            <a:r>
              <a:rPr spc="-350" dirty="0"/>
              <a:t>cần </a:t>
            </a:r>
            <a:r>
              <a:rPr spc="-270" dirty="0"/>
              <a:t>chú </a:t>
            </a:r>
            <a:r>
              <a:rPr spc="-285" dirty="0"/>
              <a:t>ý </a:t>
            </a:r>
            <a:r>
              <a:rPr spc="-365" dirty="0"/>
              <a:t>của  </a:t>
            </a:r>
            <a:r>
              <a:rPr spc="-330" dirty="0"/>
              <a:t>mạch </a:t>
            </a:r>
            <a:r>
              <a:rPr spc="-215" dirty="0"/>
              <a:t>lọc </a:t>
            </a:r>
            <a:r>
              <a:rPr spc="-265" dirty="0"/>
              <a:t>nguồn </a:t>
            </a:r>
            <a:r>
              <a:rPr spc="-80" dirty="0"/>
              <a:t>một</a:t>
            </a:r>
            <a:r>
              <a:rPr spc="-625" dirty="0"/>
              <a:t> </a:t>
            </a:r>
            <a:r>
              <a:rPr spc="-245" dirty="0"/>
              <a:t>chiều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737207"/>
            <a:ext cx="8321040" cy="1205230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26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b="1" spc="-145" dirty="0">
                <a:solidFill>
                  <a:srgbClr val="404040"/>
                </a:solidFill>
                <a:latin typeface="Arial"/>
                <a:cs typeface="Arial"/>
              </a:rPr>
              <a:t>Hệ </a:t>
            </a:r>
            <a:r>
              <a:rPr sz="2000" b="1" spc="-229" dirty="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sz="2000" b="1" spc="-140" dirty="0">
                <a:solidFill>
                  <a:srgbClr val="404040"/>
                </a:solidFill>
                <a:latin typeface="Arial"/>
                <a:cs typeface="Arial"/>
              </a:rPr>
              <a:t>nhấp</a:t>
            </a:r>
            <a:r>
              <a:rPr sz="2000" b="1" spc="-2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14" dirty="0">
                <a:solidFill>
                  <a:srgbClr val="404040"/>
                </a:solidFill>
                <a:latin typeface="Arial"/>
                <a:cs typeface="Arial"/>
              </a:rPr>
              <a:t>nhô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280"/>
              </a:lnSpc>
              <a:spcBef>
                <a:spcPts val="1165"/>
              </a:spcBef>
            </a:pPr>
            <a:r>
              <a:rPr sz="2000" spc="-145" dirty="0">
                <a:solidFill>
                  <a:srgbClr val="404040"/>
                </a:solidFill>
                <a:latin typeface="Arial"/>
                <a:cs typeface="Arial"/>
              </a:rPr>
              <a:t>Ví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dụ: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hệ 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số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nhấp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nhô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(ripple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factor)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sau.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Biết hiệu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r>
              <a:rPr sz="2000" spc="2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thế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280"/>
              </a:lnSpc>
            </a:pP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ngưỡng của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1N4001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là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0.7</a:t>
            </a:r>
            <a:r>
              <a:rPr sz="2000" spc="-200" dirty="0">
                <a:solidFill>
                  <a:srgbClr val="404040"/>
                </a:solidFill>
                <a:latin typeface="Arial"/>
                <a:cs typeface="Arial"/>
              </a:rPr>
              <a:t> V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5935" y="3365792"/>
            <a:ext cx="6418158" cy="23064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41</a:t>
            </a:fld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593090" marR="5080" indent="199390">
              <a:lnSpc>
                <a:spcPts val="4900"/>
              </a:lnSpc>
              <a:spcBef>
                <a:spcPts val="980"/>
              </a:spcBef>
            </a:pPr>
            <a:r>
              <a:rPr spc="-595" dirty="0"/>
              <a:t>Các </a:t>
            </a:r>
            <a:r>
              <a:rPr spc="-330" dirty="0"/>
              <a:t>vấn </a:t>
            </a:r>
            <a:r>
              <a:rPr spc="-210" dirty="0"/>
              <a:t>đề </a:t>
            </a:r>
            <a:r>
              <a:rPr spc="-350" dirty="0"/>
              <a:t>cần </a:t>
            </a:r>
            <a:r>
              <a:rPr spc="-270" dirty="0"/>
              <a:t>chú </a:t>
            </a:r>
            <a:r>
              <a:rPr spc="-285" dirty="0"/>
              <a:t>ý </a:t>
            </a:r>
            <a:r>
              <a:rPr spc="-365" dirty="0"/>
              <a:t>của  </a:t>
            </a:r>
            <a:r>
              <a:rPr spc="-330" dirty="0"/>
              <a:t>mạch </a:t>
            </a:r>
            <a:r>
              <a:rPr spc="-215" dirty="0"/>
              <a:t>lọc </a:t>
            </a:r>
            <a:r>
              <a:rPr spc="-265" dirty="0"/>
              <a:t>nguồn </a:t>
            </a:r>
            <a:r>
              <a:rPr spc="-80" dirty="0"/>
              <a:t>một</a:t>
            </a:r>
            <a:r>
              <a:rPr spc="-625" dirty="0"/>
              <a:t> </a:t>
            </a:r>
            <a:r>
              <a:rPr spc="-245" dirty="0"/>
              <a:t>chiều</a:t>
            </a:r>
          </a:p>
        </p:txBody>
      </p:sp>
      <p:sp>
        <p:nvSpPr>
          <p:cNvPr id="3" name="object 3"/>
          <p:cNvSpPr/>
          <p:nvPr/>
        </p:nvSpPr>
        <p:spPr>
          <a:xfrm>
            <a:off x="2720714" y="3699146"/>
            <a:ext cx="6971929" cy="25721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482583" y="5274564"/>
            <a:ext cx="495300" cy="495300"/>
          </a:xfrm>
          <a:custGeom>
            <a:avLst/>
            <a:gdLst/>
            <a:ahLst/>
            <a:cxnLst/>
            <a:rect l="l" t="t" r="r" b="b"/>
            <a:pathLst>
              <a:path w="495300" h="495300">
                <a:moveTo>
                  <a:pt x="0" y="247650"/>
                </a:moveTo>
                <a:lnTo>
                  <a:pt x="5031" y="197738"/>
                </a:lnTo>
                <a:lnTo>
                  <a:pt x="19460" y="151251"/>
                </a:lnTo>
                <a:lnTo>
                  <a:pt x="42293" y="109184"/>
                </a:lnTo>
                <a:lnTo>
                  <a:pt x="72532" y="72532"/>
                </a:lnTo>
                <a:lnTo>
                  <a:pt x="109184" y="42293"/>
                </a:lnTo>
                <a:lnTo>
                  <a:pt x="151251" y="19460"/>
                </a:lnTo>
                <a:lnTo>
                  <a:pt x="197738" y="5031"/>
                </a:lnTo>
                <a:lnTo>
                  <a:pt x="247650" y="0"/>
                </a:lnTo>
                <a:lnTo>
                  <a:pt x="297561" y="5031"/>
                </a:lnTo>
                <a:lnTo>
                  <a:pt x="344048" y="19460"/>
                </a:lnTo>
                <a:lnTo>
                  <a:pt x="386115" y="42293"/>
                </a:lnTo>
                <a:lnTo>
                  <a:pt x="422767" y="72532"/>
                </a:lnTo>
                <a:lnTo>
                  <a:pt x="453006" y="109184"/>
                </a:lnTo>
                <a:lnTo>
                  <a:pt x="475839" y="151251"/>
                </a:lnTo>
                <a:lnTo>
                  <a:pt x="490268" y="197738"/>
                </a:lnTo>
                <a:lnTo>
                  <a:pt x="495300" y="247650"/>
                </a:lnTo>
                <a:lnTo>
                  <a:pt x="490268" y="297561"/>
                </a:lnTo>
                <a:lnTo>
                  <a:pt x="475839" y="344048"/>
                </a:lnTo>
                <a:lnTo>
                  <a:pt x="453006" y="386115"/>
                </a:lnTo>
                <a:lnTo>
                  <a:pt x="422767" y="422767"/>
                </a:lnTo>
                <a:lnTo>
                  <a:pt x="386115" y="453006"/>
                </a:lnTo>
                <a:lnTo>
                  <a:pt x="344048" y="475839"/>
                </a:lnTo>
                <a:lnTo>
                  <a:pt x="297561" y="490268"/>
                </a:lnTo>
                <a:lnTo>
                  <a:pt x="247650" y="495300"/>
                </a:lnTo>
                <a:lnTo>
                  <a:pt x="197738" y="490268"/>
                </a:lnTo>
                <a:lnTo>
                  <a:pt x="151251" y="475839"/>
                </a:lnTo>
                <a:lnTo>
                  <a:pt x="109184" y="453006"/>
                </a:lnTo>
                <a:lnTo>
                  <a:pt x="72532" y="422767"/>
                </a:lnTo>
                <a:lnTo>
                  <a:pt x="42293" y="386115"/>
                </a:lnTo>
                <a:lnTo>
                  <a:pt x="19460" y="344048"/>
                </a:lnTo>
                <a:lnTo>
                  <a:pt x="5031" y="297561"/>
                </a:lnTo>
                <a:lnTo>
                  <a:pt x="0" y="247650"/>
                </a:lnTo>
                <a:close/>
              </a:path>
            </a:pathLst>
          </a:custGeom>
          <a:ln w="152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62884" y="4509515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182879"/>
                </a:moveTo>
                <a:lnTo>
                  <a:pt x="6535" y="134276"/>
                </a:lnTo>
                <a:lnTo>
                  <a:pt x="24976" y="90593"/>
                </a:lnTo>
                <a:lnTo>
                  <a:pt x="53578" y="53578"/>
                </a:lnTo>
                <a:lnTo>
                  <a:pt x="90593" y="24976"/>
                </a:lnTo>
                <a:lnTo>
                  <a:pt x="134276" y="6535"/>
                </a:lnTo>
                <a:lnTo>
                  <a:pt x="182879" y="0"/>
                </a:lnTo>
                <a:lnTo>
                  <a:pt x="231483" y="6535"/>
                </a:lnTo>
                <a:lnTo>
                  <a:pt x="275166" y="24976"/>
                </a:lnTo>
                <a:lnTo>
                  <a:pt x="312181" y="53578"/>
                </a:lnTo>
                <a:lnTo>
                  <a:pt x="340783" y="90593"/>
                </a:lnTo>
                <a:lnTo>
                  <a:pt x="359224" y="134276"/>
                </a:lnTo>
                <a:lnTo>
                  <a:pt x="365760" y="182879"/>
                </a:lnTo>
                <a:lnTo>
                  <a:pt x="359224" y="231483"/>
                </a:lnTo>
                <a:lnTo>
                  <a:pt x="340783" y="275166"/>
                </a:lnTo>
                <a:lnTo>
                  <a:pt x="312181" y="312181"/>
                </a:lnTo>
                <a:lnTo>
                  <a:pt x="275166" y="340783"/>
                </a:lnTo>
                <a:lnTo>
                  <a:pt x="231483" y="359224"/>
                </a:lnTo>
                <a:lnTo>
                  <a:pt x="182879" y="365759"/>
                </a:lnTo>
                <a:lnTo>
                  <a:pt x="134276" y="359224"/>
                </a:lnTo>
                <a:lnTo>
                  <a:pt x="90593" y="340783"/>
                </a:lnTo>
                <a:lnTo>
                  <a:pt x="53578" y="312181"/>
                </a:lnTo>
                <a:lnTo>
                  <a:pt x="24976" y="275166"/>
                </a:lnTo>
                <a:lnTo>
                  <a:pt x="6535" y="231483"/>
                </a:lnTo>
                <a:lnTo>
                  <a:pt x="0" y="182879"/>
                </a:lnTo>
                <a:close/>
              </a:path>
            </a:pathLst>
          </a:custGeom>
          <a:ln w="152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78839" y="1737207"/>
            <a:ext cx="8321040" cy="368236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26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b="1" spc="-175" dirty="0">
                <a:solidFill>
                  <a:srgbClr val="404040"/>
                </a:solidFill>
                <a:latin typeface="Arial"/>
                <a:cs typeface="Arial"/>
              </a:rPr>
              <a:t>Ảnh hưởng </a:t>
            </a:r>
            <a:r>
              <a:rPr sz="2000" b="1" spc="-185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2000" b="1" spc="-180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2000" b="1" spc="-10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b="1" spc="-130" dirty="0">
                <a:solidFill>
                  <a:srgbClr val="404040"/>
                </a:solidFill>
                <a:latin typeface="Arial"/>
                <a:cs typeface="Arial"/>
              </a:rPr>
              <a:t>tăng </a:t>
            </a:r>
            <a:r>
              <a:rPr sz="2000" b="1" spc="-100" dirty="0">
                <a:solidFill>
                  <a:srgbClr val="404040"/>
                </a:solidFill>
                <a:latin typeface="Arial"/>
                <a:cs typeface="Arial"/>
              </a:rPr>
              <a:t>vọt </a:t>
            </a:r>
            <a:r>
              <a:rPr sz="2000" b="1" spc="-160" dirty="0">
                <a:solidFill>
                  <a:srgbClr val="404040"/>
                </a:solidFill>
                <a:latin typeface="Arial"/>
                <a:cs typeface="Arial"/>
              </a:rPr>
              <a:t>(surge</a:t>
            </a:r>
            <a:r>
              <a:rPr sz="2000" b="1" spc="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00" dirty="0">
                <a:solidFill>
                  <a:srgbClr val="404040"/>
                </a:solidFill>
                <a:latin typeface="Arial"/>
                <a:cs typeface="Arial"/>
              </a:rPr>
              <a:t>current)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12700" marR="5080" algn="just">
              <a:lnSpc>
                <a:spcPct val="90000"/>
              </a:lnSpc>
              <a:spcBef>
                <a:spcPts val="1405"/>
              </a:spcBef>
            </a:pP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khởi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bộ 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cấp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nguồn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chiều,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đôi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người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ta </a:t>
            </a:r>
            <a:r>
              <a:rPr sz="2000" spc="-170" dirty="0">
                <a:solidFill>
                  <a:srgbClr val="404040"/>
                </a:solidFill>
                <a:latin typeface="Arial"/>
                <a:cs typeface="Arial"/>
              </a:rPr>
              <a:t>sẽ </a:t>
            </a:r>
            <a:r>
              <a:rPr sz="2000" spc="-130" dirty="0">
                <a:solidFill>
                  <a:srgbClr val="404040"/>
                </a:solidFill>
                <a:latin typeface="Arial"/>
                <a:cs typeface="Arial"/>
              </a:rPr>
              <a:t>gặp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vấn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đề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dòng 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lúc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khởi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giá </a:t>
            </a:r>
            <a:r>
              <a:rPr sz="2000" spc="55" dirty="0">
                <a:solidFill>
                  <a:srgbClr val="404040"/>
                </a:solidFill>
                <a:latin typeface="Arial"/>
                <a:cs typeface="Arial"/>
              </a:rPr>
              <a:t>trị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rất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cao </a:t>
            </a:r>
            <a:r>
              <a:rPr sz="2000" spc="-145" dirty="0">
                <a:solidFill>
                  <a:srgbClr val="404040"/>
                </a:solidFill>
                <a:latin typeface="Arial"/>
                <a:cs typeface="Arial"/>
              </a:rPr>
              <a:t>gây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ảnh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hưởng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đến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linh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kiện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trong 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mạch.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Ngoài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ra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185" dirty="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dụng dòng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xoay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chiều,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hiện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tượng 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này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cũng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thường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xuyên </a:t>
            </a:r>
            <a:r>
              <a:rPr sz="2000" spc="-130" dirty="0">
                <a:solidFill>
                  <a:srgbClr val="404040"/>
                </a:solidFill>
                <a:latin typeface="Arial"/>
                <a:cs typeface="Arial"/>
              </a:rPr>
              <a:t>xảy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ra khiến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cho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bị</a:t>
            </a:r>
            <a:r>
              <a:rPr sz="2000" spc="-3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reset.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00">
              <a:latin typeface="Times New Roman"/>
              <a:cs typeface="Times New Roman"/>
            </a:endParaRPr>
          </a:p>
          <a:p>
            <a:pPr marL="2504440">
              <a:lnSpc>
                <a:spcPct val="100000"/>
              </a:lnSpc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750">
              <a:latin typeface="Times New Roman"/>
              <a:cs typeface="Times New Roman"/>
            </a:endParaRPr>
          </a:p>
          <a:p>
            <a:pPr marR="153035" algn="r">
              <a:lnSpc>
                <a:spcPct val="100000"/>
              </a:lnSpc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7160" y="4194047"/>
            <a:ext cx="2659380" cy="1755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42</a:t>
            </a:fld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593090" marR="5080" indent="199390">
              <a:lnSpc>
                <a:spcPts val="4900"/>
              </a:lnSpc>
              <a:spcBef>
                <a:spcPts val="980"/>
              </a:spcBef>
            </a:pPr>
            <a:r>
              <a:rPr spc="-595" dirty="0"/>
              <a:t>Các </a:t>
            </a:r>
            <a:r>
              <a:rPr spc="-330" dirty="0"/>
              <a:t>vấn </a:t>
            </a:r>
            <a:r>
              <a:rPr spc="-210" dirty="0"/>
              <a:t>đề </a:t>
            </a:r>
            <a:r>
              <a:rPr spc="-350" dirty="0"/>
              <a:t>cần </a:t>
            </a:r>
            <a:r>
              <a:rPr spc="-270" dirty="0"/>
              <a:t>chú </a:t>
            </a:r>
            <a:r>
              <a:rPr spc="-285" dirty="0"/>
              <a:t>ý </a:t>
            </a:r>
            <a:r>
              <a:rPr spc="-365" dirty="0"/>
              <a:t>của  </a:t>
            </a:r>
            <a:r>
              <a:rPr spc="-330" dirty="0"/>
              <a:t>mạch </a:t>
            </a:r>
            <a:r>
              <a:rPr spc="-215" dirty="0"/>
              <a:t>lọc </a:t>
            </a:r>
            <a:r>
              <a:rPr spc="-265" dirty="0"/>
              <a:t>nguồn </a:t>
            </a:r>
            <a:r>
              <a:rPr spc="-80" dirty="0"/>
              <a:t>một</a:t>
            </a:r>
            <a:r>
              <a:rPr spc="-625" dirty="0"/>
              <a:t> </a:t>
            </a:r>
            <a:r>
              <a:rPr spc="-245" dirty="0"/>
              <a:t>chiều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737207"/>
            <a:ext cx="5654040" cy="93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8500"/>
              </a:lnSpc>
              <a:spcBef>
                <a:spcPts val="100"/>
              </a:spcBef>
              <a:buClr>
                <a:srgbClr val="99CA38"/>
              </a:buClr>
              <a:buFont typeface="Wingdings"/>
              <a:buChar char=""/>
              <a:tabLst>
                <a:tab pos="271145" algn="l"/>
              </a:tabLst>
            </a:pPr>
            <a:r>
              <a:rPr sz="2000" b="1" spc="-175" dirty="0">
                <a:solidFill>
                  <a:srgbClr val="404040"/>
                </a:solidFill>
                <a:latin typeface="Arial"/>
                <a:cs typeface="Arial"/>
              </a:rPr>
              <a:t>Ảnh hưởng </a:t>
            </a:r>
            <a:r>
              <a:rPr sz="2000" b="1" spc="-185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2000" b="1" spc="-180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2000" b="1" spc="-10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b="1" spc="-130" dirty="0">
                <a:solidFill>
                  <a:srgbClr val="404040"/>
                </a:solidFill>
                <a:latin typeface="Arial"/>
                <a:cs typeface="Arial"/>
              </a:rPr>
              <a:t>tăng </a:t>
            </a:r>
            <a:r>
              <a:rPr sz="2000" b="1" spc="-100" dirty="0">
                <a:solidFill>
                  <a:srgbClr val="404040"/>
                </a:solidFill>
                <a:latin typeface="Arial"/>
                <a:cs typeface="Arial"/>
              </a:rPr>
              <a:t>vọt </a:t>
            </a:r>
            <a:r>
              <a:rPr sz="2000" b="1" spc="-160" dirty="0">
                <a:solidFill>
                  <a:srgbClr val="404040"/>
                </a:solidFill>
                <a:latin typeface="Arial"/>
                <a:cs typeface="Arial"/>
              </a:rPr>
              <a:t>(surge </a:t>
            </a:r>
            <a:r>
              <a:rPr sz="2000" b="1" spc="-100" dirty="0">
                <a:solidFill>
                  <a:srgbClr val="404040"/>
                </a:solidFill>
                <a:latin typeface="Arial"/>
                <a:cs typeface="Arial"/>
              </a:rPr>
              <a:t>current)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:  </a:t>
            </a:r>
            <a:r>
              <a:rPr sz="2000" spc="-135" dirty="0">
                <a:solidFill>
                  <a:srgbClr val="404040"/>
                </a:solidFill>
                <a:latin typeface="Arial"/>
                <a:cs typeface="Arial"/>
              </a:rPr>
              <a:t>Thảo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luận: </a:t>
            </a:r>
            <a:r>
              <a:rPr sz="2000" spc="-200" dirty="0">
                <a:solidFill>
                  <a:srgbClr val="404040"/>
                </a:solidFill>
                <a:latin typeface="Arial"/>
                <a:cs typeface="Arial"/>
              </a:rPr>
              <a:t>Cầu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chì 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(Fuse)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nên </a:t>
            </a:r>
            <a:r>
              <a:rPr sz="2000" spc="-15" dirty="0">
                <a:solidFill>
                  <a:srgbClr val="404040"/>
                </a:solidFill>
                <a:latin typeface="Arial"/>
                <a:cs typeface="Arial"/>
              </a:rPr>
              <a:t>đặt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ở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đâu </a:t>
            </a:r>
            <a:r>
              <a:rPr sz="2000" spc="-130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2000" spc="-10" dirty="0">
                <a:solidFill>
                  <a:srgbClr val="404040"/>
                </a:solidFill>
                <a:latin typeface="Arial"/>
                <a:cs typeface="Arial"/>
              </a:rPr>
              <a:t>tại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60" dirty="0">
                <a:solidFill>
                  <a:srgbClr val="404040"/>
                </a:solidFill>
                <a:latin typeface="Arial"/>
                <a:cs typeface="Arial"/>
              </a:rPr>
              <a:t>sao?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16835" y="2980944"/>
            <a:ext cx="5683758" cy="32209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43</a:t>
            </a:fld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9009" y="908380"/>
            <a:ext cx="29457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0" dirty="0"/>
              <a:t>Diode</a:t>
            </a:r>
            <a:r>
              <a:rPr spc="-440" dirty="0"/>
              <a:t> </a:t>
            </a:r>
            <a:r>
              <a:rPr spc="-340" dirty="0"/>
              <a:t>Zener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9" y="1884426"/>
            <a:ext cx="4944110" cy="370459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04139" marR="5715" indent="-91440" algn="just">
              <a:lnSpc>
                <a:spcPct val="90000"/>
              </a:lnSpc>
              <a:spcBef>
                <a:spcPts val="340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sz="2000" b="1" spc="-135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2000" b="1" spc="-145" dirty="0">
                <a:solidFill>
                  <a:srgbClr val="404040"/>
                </a:solidFill>
                <a:latin typeface="Arial"/>
                <a:cs typeface="Arial"/>
              </a:rPr>
              <a:t>Zener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được chế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tạo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với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mục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đích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hạn 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chế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đánh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thủng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ở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mức </a:t>
            </a:r>
            <a:r>
              <a:rPr sz="2000" spc="-135" dirty="0">
                <a:solidFill>
                  <a:srgbClr val="404040"/>
                </a:solidFill>
                <a:latin typeface="Arial"/>
                <a:cs typeface="Arial"/>
              </a:rPr>
              <a:t>vừa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phải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để 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giảm 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cường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xuất 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hiện hiện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tượng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đánh </a:t>
            </a:r>
            <a:r>
              <a:rPr sz="2000" spc="-55" dirty="0">
                <a:solidFill>
                  <a:srgbClr val="404040"/>
                </a:solidFill>
                <a:latin typeface="Arial"/>
                <a:cs typeface="Arial"/>
              </a:rPr>
              <a:t>thủng,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nhờ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đó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2000" spc="5" dirty="0">
                <a:solidFill>
                  <a:srgbClr val="404040"/>
                </a:solidFill>
                <a:latin typeface="Arial"/>
                <a:cs typeface="Arial"/>
              </a:rPr>
              <a:t>thiết 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bị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vẫn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động bình</a:t>
            </a:r>
            <a:r>
              <a:rPr sz="2000" spc="-409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thường.</a:t>
            </a:r>
            <a:endParaRPr sz="2000">
              <a:latin typeface="Arial"/>
              <a:cs typeface="Arial"/>
            </a:endParaRPr>
          </a:p>
          <a:p>
            <a:pPr marL="104139" marR="5080" indent="-91440" algn="just">
              <a:lnSpc>
                <a:spcPct val="90000"/>
              </a:lnSpc>
              <a:spcBef>
                <a:spcPts val="1405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Zener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bị </a:t>
            </a:r>
            <a:r>
              <a:rPr sz="2000" b="1" spc="-130" dirty="0">
                <a:solidFill>
                  <a:srgbClr val="404040"/>
                </a:solidFill>
                <a:latin typeface="Arial"/>
                <a:cs typeface="Arial"/>
              </a:rPr>
              <a:t>đánh </a:t>
            </a:r>
            <a:r>
              <a:rPr sz="2000" b="1" spc="-125" dirty="0">
                <a:solidFill>
                  <a:srgbClr val="404040"/>
                </a:solidFill>
                <a:latin typeface="Arial"/>
                <a:cs typeface="Arial"/>
              </a:rPr>
              <a:t>thủng</a:t>
            </a:r>
            <a:r>
              <a:rPr sz="2000" spc="-125" dirty="0">
                <a:solidFill>
                  <a:srgbClr val="404040"/>
                </a:solidFill>
                <a:latin typeface="Arial"/>
                <a:cs typeface="Arial"/>
              </a:rPr>
              <a:t>,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cho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dù  </a:t>
            </a:r>
            <a:r>
              <a:rPr sz="2000" b="1" spc="-204" dirty="0">
                <a:solidFill>
                  <a:srgbClr val="404040"/>
                </a:solidFill>
                <a:latin typeface="Arial"/>
                <a:cs typeface="Arial"/>
              </a:rPr>
              <a:t>cường </a:t>
            </a:r>
            <a:r>
              <a:rPr sz="2000" b="1" spc="-120" dirty="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sz="2000" b="1" spc="-185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2000" b="1" spc="-10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b="1" spc="-120" dirty="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sz="2000" b="1" spc="-18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b="1" spc="-100" dirty="0">
                <a:solidFill>
                  <a:srgbClr val="404040"/>
                </a:solidFill>
                <a:latin typeface="Arial"/>
                <a:cs typeface="Arial"/>
              </a:rPr>
              <a:t>thay </a:t>
            </a:r>
            <a:r>
              <a:rPr sz="2000" b="1" spc="-90" dirty="0">
                <a:solidFill>
                  <a:srgbClr val="404040"/>
                </a:solidFill>
                <a:latin typeface="Arial"/>
                <a:cs typeface="Arial"/>
              </a:rPr>
              <a:t>đổi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,  </a:t>
            </a:r>
            <a:r>
              <a:rPr sz="2000" b="1" spc="-114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2000" b="1" spc="-10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b="1" spc="-75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giữa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hai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đầu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Zener </a:t>
            </a:r>
            <a:r>
              <a:rPr sz="2000" spc="-55" dirty="0">
                <a:solidFill>
                  <a:srgbClr val="404040"/>
                </a:solidFill>
                <a:latin typeface="Arial"/>
                <a:cs typeface="Arial"/>
              </a:rPr>
              <a:t>thay 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đổi </a:t>
            </a:r>
            <a:r>
              <a:rPr sz="2000" b="1" spc="-160" dirty="0">
                <a:solidFill>
                  <a:srgbClr val="404040"/>
                </a:solidFill>
                <a:latin typeface="Arial"/>
                <a:cs typeface="Arial"/>
              </a:rPr>
              <a:t>vô </a:t>
            </a:r>
            <a:r>
              <a:rPr sz="2000" b="1" spc="-215" dirty="0">
                <a:solidFill>
                  <a:srgbClr val="404040"/>
                </a:solidFill>
                <a:latin typeface="Arial"/>
                <a:cs typeface="Arial"/>
              </a:rPr>
              <a:t>cùng </a:t>
            </a:r>
            <a:r>
              <a:rPr sz="2000" b="1" spc="-125" dirty="0">
                <a:solidFill>
                  <a:srgbClr val="404040"/>
                </a:solidFill>
                <a:latin typeface="Arial"/>
                <a:cs typeface="Arial"/>
              </a:rPr>
              <a:t>bé </a:t>
            </a:r>
            <a:r>
              <a:rPr sz="2000" spc="-30" dirty="0">
                <a:solidFill>
                  <a:srgbClr val="404040"/>
                </a:solidFill>
                <a:latin typeface="Arial"/>
                <a:cs typeface="Arial"/>
              </a:rPr>
              <a:t>trong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khoảng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nào</a:t>
            </a:r>
            <a:r>
              <a:rPr sz="2000" spc="-2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đó.</a:t>
            </a:r>
            <a:endParaRPr sz="2000">
              <a:latin typeface="Arial"/>
              <a:cs typeface="Arial"/>
            </a:endParaRPr>
          </a:p>
          <a:p>
            <a:pPr marL="104139" marR="5080" indent="-91440" algn="just">
              <a:lnSpc>
                <a:spcPct val="90100"/>
              </a:lnSpc>
              <a:spcBef>
                <a:spcPts val="1390"/>
              </a:spcBef>
              <a:buClr>
                <a:srgbClr val="99CA38"/>
              </a:buClr>
              <a:buFont typeface="Wingdings"/>
              <a:buChar char=""/>
              <a:tabLst>
                <a:tab pos="272415" algn="l"/>
              </a:tabLst>
            </a:pPr>
            <a:r>
              <a:rPr sz="2000" spc="-150" dirty="0">
                <a:solidFill>
                  <a:srgbClr val="404040"/>
                </a:solidFill>
                <a:latin typeface="Arial"/>
                <a:cs typeface="Arial"/>
              </a:rPr>
              <a:t>Vì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vậy,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2000" b="1" spc="-145" dirty="0">
                <a:solidFill>
                  <a:srgbClr val="404040"/>
                </a:solidFill>
                <a:latin typeface="Arial"/>
                <a:cs typeface="Arial"/>
              </a:rPr>
              <a:t>Zener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hay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sz="2000" spc="-180" dirty="0">
                <a:solidFill>
                  <a:srgbClr val="404040"/>
                </a:solidFill>
                <a:latin typeface="Arial"/>
                <a:cs typeface="Arial"/>
              </a:rPr>
              <a:t>sử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dụng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trong 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các </a:t>
            </a:r>
            <a:r>
              <a:rPr sz="2000" b="1" spc="-18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b="1" spc="-155" dirty="0">
                <a:solidFill>
                  <a:srgbClr val="404040"/>
                </a:solidFill>
                <a:latin typeface="Arial"/>
                <a:cs typeface="Arial"/>
              </a:rPr>
              <a:t>ổn </a:t>
            </a:r>
            <a:r>
              <a:rPr sz="2000" b="1" spc="-145" dirty="0">
                <a:solidFill>
                  <a:srgbClr val="404040"/>
                </a:solidFill>
                <a:latin typeface="Arial"/>
                <a:cs typeface="Arial"/>
              </a:rPr>
              <a:t>áp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nhờ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vào </a:t>
            </a:r>
            <a:r>
              <a:rPr sz="2000" b="1" spc="-235" dirty="0">
                <a:solidFill>
                  <a:srgbClr val="404040"/>
                </a:solidFill>
                <a:latin typeface="Arial"/>
                <a:cs typeface="Arial"/>
              </a:rPr>
              <a:t>sự </a:t>
            </a:r>
            <a:r>
              <a:rPr sz="2000" b="1" spc="-145" dirty="0">
                <a:solidFill>
                  <a:srgbClr val="404040"/>
                </a:solidFill>
                <a:latin typeface="Arial"/>
                <a:cs typeface="Arial"/>
              </a:rPr>
              <a:t>ổn </a:t>
            </a:r>
            <a:r>
              <a:rPr sz="2000" b="1" spc="-114" dirty="0">
                <a:solidFill>
                  <a:srgbClr val="404040"/>
                </a:solidFill>
                <a:latin typeface="Arial"/>
                <a:cs typeface="Arial"/>
              </a:rPr>
              <a:t>định </a:t>
            </a:r>
            <a:r>
              <a:rPr sz="2000" spc="-130" dirty="0">
                <a:solidFill>
                  <a:srgbClr val="404040"/>
                </a:solidFill>
                <a:latin typeface="Arial"/>
                <a:cs typeface="Arial"/>
              </a:rPr>
              <a:t>của </a:t>
            </a:r>
            <a:r>
              <a:rPr sz="2000" b="1" spc="-125" dirty="0">
                <a:solidFill>
                  <a:srgbClr val="404040"/>
                </a:solidFill>
                <a:latin typeface="Arial"/>
                <a:cs typeface="Arial"/>
              </a:rPr>
              <a:t>hiệu  </a:t>
            </a:r>
            <a:r>
              <a:rPr sz="2000" b="1" spc="-10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b="1" spc="-75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2000" spc="-25" dirty="0">
                <a:solidFill>
                  <a:srgbClr val="404040"/>
                </a:solidFill>
                <a:latin typeface="Arial"/>
                <a:cs typeface="Arial"/>
              </a:rPr>
              <a:t>bị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đánh</a:t>
            </a:r>
            <a:r>
              <a:rPr sz="2000" spc="-3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thủng.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12149" y="1902850"/>
            <a:ext cx="3477993" cy="30050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577071" y="3654552"/>
            <a:ext cx="1034796" cy="14965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44</a:t>
            </a:fld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4438" y="908380"/>
            <a:ext cx="295465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0" dirty="0"/>
              <a:t>Diode</a:t>
            </a:r>
            <a:r>
              <a:rPr spc="-440" dirty="0"/>
              <a:t> </a:t>
            </a:r>
            <a:r>
              <a:rPr spc="-325" dirty="0"/>
              <a:t>Zener</a:t>
            </a:r>
          </a:p>
        </p:txBody>
      </p:sp>
      <p:sp>
        <p:nvSpPr>
          <p:cNvPr id="3" name="object 3"/>
          <p:cNvSpPr/>
          <p:nvPr/>
        </p:nvSpPr>
        <p:spPr>
          <a:xfrm>
            <a:off x="5951160" y="2382011"/>
            <a:ext cx="3587448" cy="37849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457700" y="3055620"/>
            <a:ext cx="1999488" cy="30891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09980" y="1884426"/>
            <a:ext cx="8415655" cy="223266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73050" marR="5080" indent="-92075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"/>
              <a:tabLst>
                <a:tab pos="441325" algn="l"/>
              </a:tabLst>
            </a:pP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2000" spc="-85" dirty="0">
                <a:solidFill>
                  <a:srgbClr val="404040"/>
                </a:solidFill>
                <a:latin typeface="Arial"/>
                <a:cs typeface="Arial"/>
              </a:rPr>
              <a:t>phân </a:t>
            </a:r>
            <a:r>
              <a:rPr sz="2000" spc="-150" dirty="0">
                <a:solidFill>
                  <a:srgbClr val="404040"/>
                </a:solidFill>
                <a:latin typeface="Arial"/>
                <a:cs typeface="Arial"/>
              </a:rPr>
              <a:t>cực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nghịch,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Zener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được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biểu diễn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như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một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nguồn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một 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chiều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nối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Arial"/>
                <a:cs typeface="Arial"/>
              </a:rPr>
              <a:t>tiếp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80" dirty="0">
                <a:solidFill>
                  <a:srgbClr val="404040"/>
                </a:solidFill>
                <a:latin typeface="Arial"/>
                <a:cs typeface="Arial"/>
              </a:rPr>
              <a:t>với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một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Arial"/>
                <a:cs typeface="Arial"/>
              </a:rPr>
              <a:t>trở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210" dirty="0">
                <a:solidFill>
                  <a:srgbClr val="404040"/>
                </a:solidFill>
                <a:latin typeface="Arial"/>
                <a:cs typeface="Arial"/>
              </a:rPr>
              <a:t>Z</a:t>
            </a:r>
            <a:r>
              <a:rPr sz="1950" spc="-315" baseline="-21367" dirty="0">
                <a:solidFill>
                  <a:srgbClr val="404040"/>
                </a:solidFill>
                <a:latin typeface="Arial"/>
                <a:cs typeface="Arial"/>
              </a:rPr>
              <a:t>z</a:t>
            </a:r>
            <a:endParaRPr sz="1950" baseline="-21367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 marR="4657090">
              <a:lnSpc>
                <a:spcPts val="2160"/>
              </a:lnSpc>
            </a:pP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sz="1950" spc="-165" baseline="-21367" dirty="0">
                <a:solidFill>
                  <a:srgbClr val="404040"/>
                </a:solidFill>
                <a:latin typeface="Arial"/>
                <a:cs typeface="Arial"/>
              </a:rPr>
              <a:t>ZK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cường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bé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nhất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khi 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Zener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ổn</a:t>
            </a:r>
            <a:r>
              <a:rPr sz="2000" spc="-2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định.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280"/>
              </a:lnSpc>
              <a:spcBef>
                <a:spcPts val="1130"/>
              </a:spcBef>
            </a:pP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sz="1950" spc="-75" baseline="-21367" dirty="0">
                <a:solidFill>
                  <a:srgbClr val="404040"/>
                </a:solidFill>
                <a:latin typeface="Arial"/>
                <a:cs typeface="Arial"/>
              </a:rPr>
              <a:t>ZM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cường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lớn</a:t>
            </a:r>
            <a:r>
              <a:rPr sz="2000" spc="-2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nhất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280"/>
              </a:lnSpc>
            </a:pP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mà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Zener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thể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chịu</a:t>
            </a:r>
            <a:r>
              <a:rPr sz="2000" spc="-2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được.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45</a:t>
            </a:fld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65085" y="1927860"/>
            <a:ext cx="3140330" cy="41661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04438" y="908380"/>
            <a:ext cx="295465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0" dirty="0"/>
              <a:t>Diode</a:t>
            </a:r>
            <a:r>
              <a:rPr spc="-440" dirty="0"/>
              <a:t> </a:t>
            </a:r>
            <a:r>
              <a:rPr spc="-325" dirty="0"/>
              <a:t>Zener</a:t>
            </a:r>
          </a:p>
        </p:txBody>
      </p:sp>
      <p:sp>
        <p:nvSpPr>
          <p:cNvPr id="4" name="object 4"/>
          <p:cNvSpPr/>
          <p:nvPr/>
        </p:nvSpPr>
        <p:spPr>
          <a:xfrm>
            <a:off x="4573380" y="2057273"/>
            <a:ext cx="1510996" cy="24208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09980" y="2784729"/>
            <a:ext cx="3762375" cy="133223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715">
              <a:lnSpc>
                <a:spcPts val="2160"/>
              </a:lnSpc>
              <a:spcBef>
                <a:spcPts val="375"/>
              </a:spcBef>
            </a:pP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sz="1950" spc="-165" baseline="-21367" dirty="0">
                <a:solidFill>
                  <a:srgbClr val="404040"/>
                </a:solidFill>
                <a:latin typeface="Arial"/>
                <a:cs typeface="Arial"/>
              </a:rPr>
              <a:t>ZK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cường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90" dirty="0">
                <a:solidFill>
                  <a:srgbClr val="404040"/>
                </a:solidFill>
                <a:latin typeface="Arial"/>
                <a:cs typeface="Arial"/>
              </a:rPr>
              <a:t>bé </a:t>
            </a:r>
            <a:r>
              <a:rPr sz="2000" spc="-40" dirty="0">
                <a:solidFill>
                  <a:srgbClr val="404040"/>
                </a:solidFill>
                <a:latin typeface="Arial"/>
                <a:cs typeface="Arial"/>
              </a:rPr>
              <a:t>nhất </a:t>
            </a:r>
            <a:r>
              <a:rPr sz="2000" spc="-55" dirty="0">
                <a:solidFill>
                  <a:srgbClr val="404040"/>
                </a:solidFill>
                <a:latin typeface="Arial"/>
                <a:cs typeface="Arial"/>
              </a:rPr>
              <a:t>khi 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Zener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hoạt </a:t>
            </a:r>
            <a:r>
              <a:rPr sz="2000" spc="-75" dirty="0">
                <a:solidFill>
                  <a:srgbClr val="404040"/>
                </a:solidFill>
                <a:latin typeface="Arial"/>
                <a:cs typeface="Arial"/>
              </a:rPr>
              <a:t>động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ổn</a:t>
            </a:r>
            <a:r>
              <a:rPr sz="2000" spc="-2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định.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280"/>
              </a:lnSpc>
              <a:spcBef>
                <a:spcPts val="1130"/>
              </a:spcBef>
            </a:pP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sz="1950" spc="-75" baseline="-21367" dirty="0">
                <a:solidFill>
                  <a:srgbClr val="404040"/>
                </a:solidFill>
                <a:latin typeface="Arial"/>
                <a:cs typeface="Arial"/>
              </a:rPr>
              <a:t>ZM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: 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cường </a:t>
            </a:r>
            <a:r>
              <a:rPr sz="2000" spc="-35" dirty="0">
                <a:solidFill>
                  <a:srgbClr val="404040"/>
                </a:solidFill>
                <a:latin typeface="Arial"/>
                <a:cs typeface="Arial"/>
              </a:rPr>
              <a:t>độ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dòng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70" dirty="0">
                <a:solidFill>
                  <a:srgbClr val="404040"/>
                </a:solidFill>
                <a:latin typeface="Arial"/>
                <a:cs typeface="Arial"/>
              </a:rPr>
              <a:t>lớn</a:t>
            </a:r>
            <a:r>
              <a:rPr sz="2000" spc="-254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nhất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280"/>
              </a:lnSpc>
            </a:pP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mà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diode </a:t>
            </a:r>
            <a:r>
              <a:rPr sz="2000" spc="-114" dirty="0">
                <a:solidFill>
                  <a:srgbClr val="404040"/>
                </a:solidFill>
                <a:latin typeface="Arial"/>
                <a:cs typeface="Arial"/>
              </a:rPr>
              <a:t>Zener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có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thể </a:t>
            </a:r>
            <a:r>
              <a:rPr sz="2000" spc="-65" dirty="0">
                <a:solidFill>
                  <a:srgbClr val="404040"/>
                </a:solidFill>
                <a:latin typeface="Arial"/>
                <a:cs typeface="Arial"/>
              </a:rPr>
              <a:t>chịu</a:t>
            </a:r>
            <a:r>
              <a:rPr sz="2000" spc="-2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100" dirty="0">
                <a:solidFill>
                  <a:srgbClr val="404040"/>
                </a:solidFill>
                <a:latin typeface="Arial"/>
                <a:cs typeface="Arial"/>
              </a:rPr>
              <a:t>được.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5636" y="4753355"/>
            <a:ext cx="6798564" cy="14462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88635" y="5004815"/>
            <a:ext cx="539750" cy="1195070"/>
          </a:xfrm>
          <a:custGeom>
            <a:avLst/>
            <a:gdLst/>
            <a:ahLst/>
            <a:cxnLst/>
            <a:rect l="l" t="t" r="r" b="b"/>
            <a:pathLst>
              <a:path w="539750" h="1195070">
                <a:moveTo>
                  <a:pt x="0" y="1194816"/>
                </a:moveTo>
                <a:lnTo>
                  <a:pt x="539496" y="1194816"/>
                </a:lnTo>
                <a:lnTo>
                  <a:pt x="539496" y="0"/>
                </a:lnTo>
                <a:lnTo>
                  <a:pt x="0" y="0"/>
                </a:lnTo>
                <a:lnTo>
                  <a:pt x="0" y="1194816"/>
                </a:lnTo>
                <a:close/>
              </a:path>
            </a:pathLst>
          </a:custGeom>
          <a:ln w="152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236964" y="2773679"/>
            <a:ext cx="494030" cy="360045"/>
          </a:xfrm>
          <a:custGeom>
            <a:avLst/>
            <a:gdLst/>
            <a:ahLst/>
            <a:cxnLst/>
            <a:rect l="l" t="t" r="r" b="b"/>
            <a:pathLst>
              <a:path w="494029" h="360044">
                <a:moveTo>
                  <a:pt x="0" y="179832"/>
                </a:moveTo>
                <a:lnTo>
                  <a:pt x="6518" y="138599"/>
                </a:lnTo>
                <a:lnTo>
                  <a:pt x="25086" y="100748"/>
                </a:lnTo>
                <a:lnTo>
                  <a:pt x="54224" y="67358"/>
                </a:lnTo>
                <a:lnTo>
                  <a:pt x="92453" y="39508"/>
                </a:lnTo>
                <a:lnTo>
                  <a:pt x="138293" y="18279"/>
                </a:lnTo>
                <a:lnTo>
                  <a:pt x="190264" y="4749"/>
                </a:lnTo>
                <a:lnTo>
                  <a:pt x="246887" y="0"/>
                </a:lnTo>
                <a:lnTo>
                  <a:pt x="303511" y="4749"/>
                </a:lnTo>
                <a:lnTo>
                  <a:pt x="355482" y="18279"/>
                </a:lnTo>
                <a:lnTo>
                  <a:pt x="401322" y="39508"/>
                </a:lnTo>
                <a:lnTo>
                  <a:pt x="439551" y="67358"/>
                </a:lnTo>
                <a:lnTo>
                  <a:pt x="468689" y="100748"/>
                </a:lnTo>
                <a:lnTo>
                  <a:pt x="487257" y="138599"/>
                </a:lnTo>
                <a:lnTo>
                  <a:pt x="493775" y="179832"/>
                </a:lnTo>
                <a:lnTo>
                  <a:pt x="487257" y="221064"/>
                </a:lnTo>
                <a:lnTo>
                  <a:pt x="468689" y="258915"/>
                </a:lnTo>
                <a:lnTo>
                  <a:pt x="439551" y="292305"/>
                </a:lnTo>
                <a:lnTo>
                  <a:pt x="401322" y="320155"/>
                </a:lnTo>
                <a:lnTo>
                  <a:pt x="355482" y="341384"/>
                </a:lnTo>
                <a:lnTo>
                  <a:pt x="303511" y="354914"/>
                </a:lnTo>
                <a:lnTo>
                  <a:pt x="246887" y="359664"/>
                </a:lnTo>
                <a:lnTo>
                  <a:pt x="190264" y="354914"/>
                </a:lnTo>
                <a:lnTo>
                  <a:pt x="138293" y="341384"/>
                </a:lnTo>
                <a:lnTo>
                  <a:pt x="92453" y="320155"/>
                </a:lnTo>
                <a:lnTo>
                  <a:pt x="54224" y="292305"/>
                </a:lnTo>
                <a:lnTo>
                  <a:pt x="25086" y="258915"/>
                </a:lnTo>
                <a:lnTo>
                  <a:pt x="6518" y="221064"/>
                </a:lnTo>
                <a:lnTo>
                  <a:pt x="0" y="179832"/>
                </a:lnTo>
                <a:close/>
              </a:path>
            </a:pathLst>
          </a:custGeom>
          <a:ln w="152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628894" y="3082289"/>
            <a:ext cx="3681095" cy="2520950"/>
          </a:xfrm>
          <a:custGeom>
            <a:avLst/>
            <a:gdLst/>
            <a:ahLst/>
            <a:cxnLst/>
            <a:rect l="l" t="t" r="r" b="b"/>
            <a:pathLst>
              <a:path w="3681095" h="2520950">
                <a:moveTo>
                  <a:pt x="42163" y="2444750"/>
                </a:moveTo>
                <a:lnTo>
                  <a:pt x="0" y="2520670"/>
                </a:lnTo>
                <a:lnTo>
                  <a:pt x="86105" y="2508821"/>
                </a:lnTo>
                <a:lnTo>
                  <a:pt x="76481" y="2494788"/>
                </a:lnTo>
                <a:lnTo>
                  <a:pt x="60705" y="2494788"/>
                </a:lnTo>
                <a:lnTo>
                  <a:pt x="46100" y="2473452"/>
                </a:lnTo>
                <a:lnTo>
                  <a:pt x="56816" y="2466114"/>
                </a:lnTo>
                <a:lnTo>
                  <a:pt x="42163" y="2444750"/>
                </a:lnTo>
                <a:close/>
              </a:path>
              <a:path w="3681095" h="2520950">
                <a:moveTo>
                  <a:pt x="56816" y="2466114"/>
                </a:moveTo>
                <a:lnTo>
                  <a:pt x="46100" y="2473452"/>
                </a:lnTo>
                <a:lnTo>
                  <a:pt x="60705" y="2494788"/>
                </a:lnTo>
                <a:lnTo>
                  <a:pt x="71440" y="2487437"/>
                </a:lnTo>
                <a:lnTo>
                  <a:pt x="56816" y="2466114"/>
                </a:lnTo>
                <a:close/>
              </a:path>
              <a:path w="3681095" h="2520950">
                <a:moveTo>
                  <a:pt x="71440" y="2487437"/>
                </a:moveTo>
                <a:lnTo>
                  <a:pt x="60705" y="2494788"/>
                </a:lnTo>
                <a:lnTo>
                  <a:pt x="76481" y="2494788"/>
                </a:lnTo>
                <a:lnTo>
                  <a:pt x="71440" y="2487437"/>
                </a:lnTo>
                <a:close/>
              </a:path>
              <a:path w="3681095" h="2520950">
                <a:moveTo>
                  <a:pt x="3609420" y="33245"/>
                </a:moveTo>
                <a:lnTo>
                  <a:pt x="56816" y="2466114"/>
                </a:lnTo>
                <a:lnTo>
                  <a:pt x="71440" y="2487437"/>
                </a:lnTo>
                <a:lnTo>
                  <a:pt x="3624034" y="54575"/>
                </a:lnTo>
                <a:lnTo>
                  <a:pt x="3609420" y="33245"/>
                </a:lnTo>
                <a:close/>
              </a:path>
              <a:path w="3681095" h="2520950">
                <a:moveTo>
                  <a:pt x="3666457" y="25908"/>
                </a:moveTo>
                <a:lnTo>
                  <a:pt x="3620134" y="25908"/>
                </a:lnTo>
                <a:lnTo>
                  <a:pt x="3634739" y="47244"/>
                </a:lnTo>
                <a:lnTo>
                  <a:pt x="3624034" y="54575"/>
                </a:lnTo>
                <a:lnTo>
                  <a:pt x="3638677" y="75946"/>
                </a:lnTo>
                <a:lnTo>
                  <a:pt x="3666457" y="25908"/>
                </a:lnTo>
                <a:close/>
              </a:path>
              <a:path w="3681095" h="2520950">
                <a:moveTo>
                  <a:pt x="3620134" y="25908"/>
                </a:moveTo>
                <a:lnTo>
                  <a:pt x="3609420" y="33245"/>
                </a:lnTo>
                <a:lnTo>
                  <a:pt x="3624034" y="54575"/>
                </a:lnTo>
                <a:lnTo>
                  <a:pt x="3634739" y="47244"/>
                </a:lnTo>
                <a:lnTo>
                  <a:pt x="3620134" y="25908"/>
                </a:lnTo>
                <a:close/>
              </a:path>
              <a:path w="3681095" h="2520950">
                <a:moveTo>
                  <a:pt x="3680840" y="0"/>
                </a:moveTo>
                <a:lnTo>
                  <a:pt x="3594734" y="11811"/>
                </a:lnTo>
                <a:lnTo>
                  <a:pt x="3609420" y="33245"/>
                </a:lnTo>
                <a:lnTo>
                  <a:pt x="3620134" y="25908"/>
                </a:lnTo>
                <a:lnTo>
                  <a:pt x="3666457" y="25908"/>
                </a:lnTo>
                <a:lnTo>
                  <a:pt x="36808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28894" y="2439161"/>
            <a:ext cx="419100" cy="451484"/>
          </a:xfrm>
          <a:custGeom>
            <a:avLst/>
            <a:gdLst/>
            <a:ahLst/>
            <a:cxnLst/>
            <a:rect l="l" t="t" r="r" b="b"/>
            <a:pathLst>
              <a:path w="419100" h="451485">
                <a:moveTo>
                  <a:pt x="0" y="225551"/>
                </a:moveTo>
                <a:lnTo>
                  <a:pt x="5536" y="173829"/>
                </a:lnTo>
                <a:lnTo>
                  <a:pt x="21304" y="126352"/>
                </a:lnTo>
                <a:lnTo>
                  <a:pt x="46046" y="84473"/>
                </a:lnTo>
                <a:lnTo>
                  <a:pt x="78501" y="49545"/>
                </a:lnTo>
                <a:lnTo>
                  <a:pt x="117410" y="22922"/>
                </a:lnTo>
                <a:lnTo>
                  <a:pt x="161512" y="5956"/>
                </a:lnTo>
                <a:lnTo>
                  <a:pt x="209550" y="0"/>
                </a:lnTo>
                <a:lnTo>
                  <a:pt x="257587" y="5956"/>
                </a:lnTo>
                <a:lnTo>
                  <a:pt x="301689" y="22922"/>
                </a:lnTo>
                <a:lnTo>
                  <a:pt x="340598" y="49545"/>
                </a:lnTo>
                <a:lnTo>
                  <a:pt x="373053" y="84473"/>
                </a:lnTo>
                <a:lnTo>
                  <a:pt x="397795" y="126352"/>
                </a:lnTo>
                <a:lnTo>
                  <a:pt x="413563" y="173829"/>
                </a:lnTo>
                <a:lnTo>
                  <a:pt x="419100" y="225551"/>
                </a:lnTo>
                <a:lnTo>
                  <a:pt x="413563" y="277274"/>
                </a:lnTo>
                <a:lnTo>
                  <a:pt x="397795" y="324751"/>
                </a:lnTo>
                <a:lnTo>
                  <a:pt x="373053" y="366630"/>
                </a:lnTo>
                <a:lnTo>
                  <a:pt x="340598" y="401558"/>
                </a:lnTo>
                <a:lnTo>
                  <a:pt x="301689" y="428181"/>
                </a:lnTo>
                <a:lnTo>
                  <a:pt x="257587" y="445147"/>
                </a:lnTo>
                <a:lnTo>
                  <a:pt x="209550" y="451103"/>
                </a:lnTo>
                <a:lnTo>
                  <a:pt x="161512" y="445147"/>
                </a:lnTo>
                <a:lnTo>
                  <a:pt x="117410" y="428181"/>
                </a:lnTo>
                <a:lnTo>
                  <a:pt x="78501" y="401558"/>
                </a:lnTo>
                <a:lnTo>
                  <a:pt x="46046" y="366630"/>
                </a:lnTo>
                <a:lnTo>
                  <a:pt x="21304" y="324751"/>
                </a:lnTo>
                <a:lnTo>
                  <a:pt x="5536" y="277274"/>
                </a:lnTo>
                <a:lnTo>
                  <a:pt x="0" y="225551"/>
                </a:lnTo>
                <a:close/>
              </a:path>
            </a:pathLst>
          </a:custGeom>
          <a:ln w="32004">
            <a:solidFill>
              <a:srgbClr val="6E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83329" y="5005578"/>
            <a:ext cx="585470" cy="1195070"/>
          </a:xfrm>
          <a:custGeom>
            <a:avLst/>
            <a:gdLst/>
            <a:ahLst/>
            <a:cxnLst/>
            <a:rect l="l" t="t" r="r" b="b"/>
            <a:pathLst>
              <a:path w="585470" h="1195070">
                <a:moveTo>
                  <a:pt x="0" y="1194816"/>
                </a:moveTo>
                <a:lnTo>
                  <a:pt x="585215" y="1194816"/>
                </a:lnTo>
                <a:lnTo>
                  <a:pt x="585215" y="0"/>
                </a:lnTo>
                <a:lnTo>
                  <a:pt x="0" y="0"/>
                </a:lnTo>
                <a:lnTo>
                  <a:pt x="0" y="1194816"/>
                </a:lnTo>
                <a:close/>
              </a:path>
            </a:pathLst>
          </a:custGeom>
          <a:ln w="32004">
            <a:solidFill>
              <a:srgbClr val="6E94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366640" y="2823210"/>
            <a:ext cx="1325245" cy="2778760"/>
          </a:xfrm>
          <a:custGeom>
            <a:avLst/>
            <a:gdLst/>
            <a:ahLst/>
            <a:cxnLst/>
            <a:rect l="l" t="t" r="r" b="b"/>
            <a:pathLst>
              <a:path w="1325245" h="2778760">
                <a:moveTo>
                  <a:pt x="0" y="2681478"/>
                </a:moveTo>
                <a:lnTo>
                  <a:pt x="1905" y="2778620"/>
                </a:lnTo>
                <a:lnTo>
                  <a:pt x="77672" y="2719451"/>
                </a:lnTo>
                <a:lnTo>
                  <a:pt x="46100" y="2719451"/>
                </a:lnTo>
                <a:lnTo>
                  <a:pt x="19938" y="2707004"/>
                </a:lnTo>
                <a:lnTo>
                  <a:pt x="26160" y="2693923"/>
                </a:lnTo>
                <a:lnTo>
                  <a:pt x="0" y="2681478"/>
                </a:lnTo>
                <a:close/>
              </a:path>
              <a:path w="1325245" h="2778760">
                <a:moveTo>
                  <a:pt x="26160" y="2693923"/>
                </a:moveTo>
                <a:lnTo>
                  <a:pt x="19938" y="2707004"/>
                </a:lnTo>
                <a:lnTo>
                  <a:pt x="46100" y="2719451"/>
                </a:lnTo>
                <a:lnTo>
                  <a:pt x="52322" y="2706369"/>
                </a:lnTo>
                <a:lnTo>
                  <a:pt x="26160" y="2693923"/>
                </a:lnTo>
                <a:close/>
              </a:path>
              <a:path w="1325245" h="2778760">
                <a:moveTo>
                  <a:pt x="52322" y="2706369"/>
                </a:moveTo>
                <a:lnTo>
                  <a:pt x="46100" y="2719451"/>
                </a:lnTo>
                <a:lnTo>
                  <a:pt x="77672" y="2719451"/>
                </a:lnTo>
                <a:lnTo>
                  <a:pt x="78486" y="2718816"/>
                </a:lnTo>
                <a:lnTo>
                  <a:pt x="52322" y="2706369"/>
                </a:lnTo>
                <a:close/>
              </a:path>
              <a:path w="1325245" h="2778760">
                <a:moveTo>
                  <a:pt x="1272922" y="72263"/>
                </a:moveTo>
                <a:lnTo>
                  <a:pt x="26160" y="2693923"/>
                </a:lnTo>
                <a:lnTo>
                  <a:pt x="52322" y="2706369"/>
                </a:lnTo>
                <a:lnTo>
                  <a:pt x="1299084" y="84709"/>
                </a:lnTo>
                <a:lnTo>
                  <a:pt x="1272922" y="72263"/>
                </a:lnTo>
                <a:close/>
              </a:path>
              <a:path w="1325245" h="2778760">
                <a:moveTo>
                  <a:pt x="1324500" y="59181"/>
                </a:moveTo>
                <a:lnTo>
                  <a:pt x="1279144" y="59181"/>
                </a:lnTo>
                <a:lnTo>
                  <a:pt x="1305306" y="71627"/>
                </a:lnTo>
                <a:lnTo>
                  <a:pt x="1299084" y="84709"/>
                </a:lnTo>
                <a:lnTo>
                  <a:pt x="1325245" y="97154"/>
                </a:lnTo>
                <a:lnTo>
                  <a:pt x="1324500" y="59181"/>
                </a:lnTo>
                <a:close/>
              </a:path>
              <a:path w="1325245" h="2778760">
                <a:moveTo>
                  <a:pt x="1279144" y="59181"/>
                </a:moveTo>
                <a:lnTo>
                  <a:pt x="1272922" y="72263"/>
                </a:lnTo>
                <a:lnTo>
                  <a:pt x="1299084" y="84709"/>
                </a:lnTo>
                <a:lnTo>
                  <a:pt x="1305306" y="71627"/>
                </a:lnTo>
                <a:lnTo>
                  <a:pt x="1279144" y="59181"/>
                </a:lnTo>
                <a:close/>
              </a:path>
              <a:path w="1325245" h="2778760">
                <a:moveTo>
                  <a:pt x="1323339" y="0"/>
                </a:moveTo>
                <a:lnTo>
                  <a:pt x="1246759" y="59816"/>
                </a:lnTo>
                <a:lnTo>
                  <a:pt x="1272922" y="72263"/>
                </a:lnTo>
                <a:lnTo>
                  <a:pt x="1279144" y="59181"/>
                </a:lnTo>
                <a:lnTo>
                  <a:pt x="1324500" y="59181"/>
                </a:lnTo>
                <a:lnTo>
                  <a:pt x="1323339" y="0"/>
                </a:lnTo>
                <a:close/>
              </a:path>
            </a:pathLst>
          </a:custGeom>
          <a:solidFill>
            <a:srgbClr val="99CA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31770" y="5363717"/>
            <a:ext cx="1007744" cy="832485"/>
          </a:xfrm>
          <a:custGeom>
            <a:avLst/>
            <a:gdLst/>
            <a:ahLst/>
            <a:cxnLst/>
            <a:rect l="l" t="t" r="r" b="b"/>
            <a:pathLst>
              <a:path w="1007745" h="832485">
                <a:moveTo>
                  <a:pt x="0" y="832103"/>
                </a:moveTo>
                <a:lnTo>
                  <a:pt x="1007363" y="832103"/>
                </a:lnTo>
                <a:lnTo>
                  <a:pt x="1007363" y="0"/>
                </a:lnTo>
                <a:lnTo>
                  <a:pt x="0" y="0"/>
                </a:lnTo>
                <a:lnTo>
                  <a:pt x="0" y="832103"/>
                </a:lnTo>
                <a:close/>
              </a:path>
            </a:pathLst>
          </a:custGeom>
          <a:ln w="320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17141" y="5363717"/>
            <a:ext cx="596265" cy="828040"/>
          </a:xfrm>
          <a:custGeom>
            <a:avLst/>
            <a:gdLst/>
            <a:ahLst/>
            <a:cxnLst/>
            <a:rect l="l" t="t" r="r" b="b"/>
            <a:pathLst>
              <a:path w="596264" h="828039">
                <a:moveTo>
                  <a:pt x="0" y="827531"/>
                </a:moveTo>
                <a:lnTo>
                  <a:pt x="595884" y="827531"/>
                </a:lnTo>
                <a:lnTo>
                  <a:pt x="595884" y="0"/>
                </a:lnTo>
                <a:lnTo>
                  <a:pt x="0" y="0"/>
                </a:lnTo>
                <a:lnTo>
                  <a:pt x="0" y="827531"/>
                </a:lnTo>
                <a:close/>
              </a:path>
            </a:pathLst>
          </a:custGeom>
          <a:ln w="32004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234689" y="3988180"/>
            <a:ext cx="5876290" cy="1400810"/>
          </a:xfrm>
          <a:custGeom>
            <a:avLst/>
            <a:gdLst/>
            <a:ahLst/>
            <a:cxnLst/>
            <a:rect l="l" t="t" r="r" b="b"/>
            <a:pathLst>
              <a:path w="5876290" h="1400810">
                <a:moveTo>
                  <a:pt x="82804" y="1307211"/>
                </a:moveTo>
                <a:lnTo>
                  <a:pt x="0" y="1375537"/>
                </a:lnTo>
                <a:lnTo>
                  <a:pt x="104267" y="1400810"/>
                </a:lnTo>
                <a:lnTo>
                  <a:pt x="97918" y="1373124"/>
                </a:lnTo>
                <a:lnTo>
                  <a:pt x="81534" y="1373124"/>
                </a:lnTo>
                <a:lnTo>
                  <a:pt x="74422" y="1342009"/>
                </a:lnTo>
                <a:lnTo>
                  <a:pt x="89964" y="1338437"/>
                </a:lnTo>
                <a:lnTo>
                  <a:pt x="82804" y="1307211"/>
                </a:lnTo>
                <a:close/>
              </a:path>
              <a:path w="5876290" h="1400810">
                <a:moveTo>
                  <a:pt x="89964" y="1338437"/>
                </a:moveTo>
                <a:lnTo>
                  <a:pt x="74422" y="1342009"/>
                </a:lnTo>
                <a:lnTo>
                  <a:pt x="81534" y="1373124"/>
                </a:lnTo>
                <a:lnTo>
                  <a:pt x="97098" y="1369547"/>
                </a:lnTo>
                <a:lnTo>
                  <a:pt x="89964" y="1338437"/>
                </a:lnTo>
                <a:close/>
              </a:path>
              <a:path w="5876290" h="1400810">
                <a:moveTo>
                  <a:pt x="97098" y="1369547"/>
                </a:moveTo>
                <a:lnTo>
                  <a:pt x="81534" y="1373124"/>
                </a:lnTo>
                <a:lnTo>
                  <a:pt x="97918" y="1373124"/>
                </a:lnTo>
                <a:lnTo>
                  <a:pt x="97098" y="1369547"/>
                </a:lnTo>
                <a:close/>
              </a:path>
              <a:path w="5876290" h="1400810">
                <a:moveTo>
                  <a:pt x="5778656" y="31142"/>
                </a:moveTo>
                <a:lnTo>
                  <a:pt x="89964" y="1338437"/>
                </a:lnTo>
                <a:lnTo>
                  <a:pt x="97098" y="1369547"/>
                </a:lnTo>
                <a:lnTo>
                  <a:pt x="5785823" y="62400"/>
                </a:lnTo>
                <a:lnTo>
                  <a:pt x="5778656" y="31142"/>
                </a:lnTo>
                <a:close/>
              </a:path>
              <a:path w="5876290" h="1400810">
                <a:moveTo>
                  <a:pt x="5873011" y="27559"/>
                </a:moveTo>
                <a:lnTo>
                  <a:pt x="5794248" y="27559"/>
                </a:lnTo>
                <a:lnTo>
                  <a:pt x="5801487" y="58801"/>
                </a:lnTo>
                <a:lnTo>
                  <a:pt x="5785823" y="62400"/>
                </a:lnTo>
                <a:lnTo>
                  <a:pt x="5792978" y="93599"/>
                </a:lnTo>
                <a:lnTo>
                  <a:pt x="5873011" y="27559"/>
                </a:lnTo>
                <a:close/>
              </a:path>
              <a:path w="5876290" h="1400810">
                <a:moveTo>
                  <a:pt x="5794248" y="27559"/>
                </a:moveTo>
                <a:lnTo>
                  <a:pt x="5778656" y="31142"/>
                </a:lnTo>
                <a:lnTo>
                  <a:pt x="5785823" y="62400"/>
                </a:lnTo>
                <a:lnTo>
                  <a:pt x="5801487" y="58801"/>
                </a:lnTo>
                <a:lnTo>
                  <a:pt x="5794248" y="27559"/>
                </a:lnTo>
                <a:close/>
              </a:path>
              <a:path w="5876290" h="1400810">
                <a:moveTo>
                  <a:pt x="5771515" y="0"/>
                </a:moveTo>
                <a:lnTo>
                  <a:pt x="5778656" y="31142"/>
                </a:lnTo>
                <a:lnTo>
                  <a:pt x="5794248" y="27559"/>
                </a:lnTo>
                <a:lnTo>
                  <a:pt x="5873011" y="27559"/>
                </a:lnTo>
                <a:lnTo>
                  <a:pt x="5875782" y="25273"/>
                </a:lnTo>
                <a:lnTo>
                  <a:pt x="577151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667" y="1862327"/>
            <a:ext cx="5077968" cy="5760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61" y="2125217"/>
            <a:ext cx="4008120" cy="314325"/>
          </a:xfrm>
          <a:custGeom>
            <a:avLst/>
            <a:gdLst/>
            <a:ahLst/>
            <a:cxnLst/>
            <a:rect l="l" t="t" r="r" b="b"/>
            <a:pathLst>
              <a:path w="4008120" h="314325">
                <a:moveTo>
                  <a:pt x="0" y="313943"/>
                </a:moveTo>
                <a:lnTo>
                  <a:pt x="4008120" y="313943"/>
                </a:lnTo>
                <a:lnTo>
                  <a:pt x="4008120" y="0"/>
                </a:lnTo>
                <a:lnTo>
                  <a:pt x="0" y="0"/>
                </a:lnTo>
                <a:lnTo>
                  <a:pt x="0" y="313943"/>
                </a:lnTo>
                <a:close/>
              </a:path>
            </a:pathLst>
          </a:custGeom>
          <a:ln w="32004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266681" y="4940046"/>
            <a:ext cx="436245" cy="417830"/>
          </a:xfrm>
          <a:custGeom>
            <a:avLst/>
            <a:gdLst/>
            <a:ahLst/>
            <a:cxnLst/>
            <a:rect l="l" t="t" r="r" b="b"/>
            <a:pathLst>
              <a:path w="436245" h="417829">
                <a:moveTo>
                  <a:pt x="0" y="208787"/>
                </a:moveTo>
                <a:lnTo>
                  <a:pt x="5753" y="160913"/>
                </a:lnTo>
                <a:lnTo>
                  <a:pt x="22144" y="116965"/>
                </a:lnTo>
                <a:lnTo>
                  <a:pt x="47866" y="78199"/>
                </a:lnTo>
                <a:lnTo>
                  <a:pt x="81611" y="45866"/>
                </a:lnTo>
                <a:lnTo>
                  <a:pt x="122075" y="21220"/>
                </a:lnTo>
                <a:lnTo>
                  <a:pt x="167951" y="5513"/>
                </a:lnTo>
                <a:lnTo>
                  <a:pt x="217932" y="0"/>
                </a:lnTo>
                <a:lnTo>
                  <a:pt x="267912" y="5513"/>
                </a:lnTo>
                <a:lnTo>
                  <a:pt x="313788" y="21220"/>
                </a:lnTo>
                <a:lnTo>
                  <a:pt x="354252" y="45866"/>
                </a:lnTo>
                <a:lnTo>
                  <a:pt x="387997" y="78199"/>
                </a:lnTo>
                <a:lnTo>
                  <a:pt x="413719" y="116965"/>
                </a:lnTo>
                <a:lnTo>
                  <a:pt x="430110" y="160913"/>
                </a:lnTo>
                <a:lnTo>
                  <a:pt x="435864" y="208787"/>
                </a:lnTo>
                <a:lnTo>
                  <a:pt x="430110" y="256662"/>
                </a:lnTo>
                <a:lnTo>
                  <a:pt x="413719" y="300610"/>
                </a:lnTo>
                <a:lnTo>
                  <a:pt x="387997" y="339376"/>
                </a:lnTo>
                <a:lnTo>
                  <a:pt x="354252" y="371709"/>
                </a:lnTo>
                <a:lnTo>
                  <a:pt x="313788" y="396355"/>
                </a:lnTo>
                <a:lnTo>
                  <a:pt x="267912" y="412062"/>
                </a:lnTo>
                <a:lnTo>
                  <a:pt x="217932" y="417575"/>
                </a:lnTo>
                <a:lnTo>
                  <a:pt x="167951" y="412062"/>
                </a:lnTo>
                <a:lnTo>
                  <a:pt x="122075" y="396355"/>
                </a:lnTo>
                <a:lnTo>
                  <a:pt x="81611" y="371709"/>
                </a:lnTo>
                <a:lnTo>
                  <a:pt x="47866" y="339376"/>
                </a:lnTo>
                <a:lnTo>
                  <a:pt x="22144" y="300610"/>
                </a:lnTo>
                <a:lnTo>
                  <a:pt x="5753" y="256662"/>
                </a:lnTo>
                <a:lnTo>
                  <a:pt x="0" y="208787"/>
                </a:lnTo>
                <a:close/>
              </a:path>
            </a:pathLst>
          </a:custGeom>
          <a:ln w="32004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004822" y="2428875"/>
            <a:ext cx="7262495" cy="2729865"/>
          </a:xfrm>
          <a:custGeom>
            <a:avLst/>
            <a:gdLst/>
            <a:ahLst/>
            <a:cxnLst/>
            <a:rect l="l" t="t" r="r" b="b"/>
            <a:pathLst>
              <a:path w="7262495" h="2729865">
                <a:moveTo>
                  <a:pt x="7175473" y="2702433"/>
                </a:moveTo>
                <a:lnTo>
                  <a:pt x="7165339" y="2729611"/>
                </a:lnTo>
                <a:lnTo>
                  <a:pt x="7261986" y="2719324"/>
                </a:lnTo>
                <a:lnTo>
                  <a:pt x="7250977" y="2707513"/>
                </a:lnTo>
                <a:lnTo>
                  <a:pt x="7189088" y="2707513"/>
                </a:lnTo>
                <a:lnTo>
                  <a:pt x="7175473" y="2702433"/>
                </a:lnTo>
                <a:close/>
              </a:path>
              <a:path w="7262495" h="2729865">
                <a:moveTo>
                  <a:pt x="7185568" y="2675358"/>
                </a:moveTo>
                <a:lnTo>
                  <a:pt x="7175473" y="2702433"/>
                </a:lnTo>
                <a:lnTo>
                  <a:pt x="7189088" y="2707513"/>
                </a:lnTo>
                <a:lnTo>
                  <a:pt x="7199249" y="2680462"/>
                </a:lnTo>
                <a:lnTo>
                  <a:pt x="7185568" y="2675358"/>
                </a:lnTo>
                <a:close/>
              </a:path>
              <a:path w="7262495" h="2729865">
                <a:moveTo>
                  <a:pt x="7195693" y="2648204"/>
                </a:moveTo>
                <a:lnTo>
                  <a:pt x="7185568" y="2675358"/>
                </a:lnTo>
                <a:lnTo>
                  <a:pt x="7199249" y="2680462"/>
                </a:lnTo>
                <a:lnTo>
                  <a:pt x="7189088" y="2707513"/>
                </a:lnTo>
                <a:lnTo>
                  <a:pt x="7250977" y="2707513"/>
                </a:lnTo>
                <a:lnTo>
                  <a:pt x="7195693" y="2648204"/>
                </a:lnTo>
                <a:close/>
              </a:path>
              <a:path w="7262495" h="2729865">
                <a:moveTo>
                  <a:pt x="86414" y="27060"/>
                </a:moveTo>
                <a:lnTo>
                  <a:pt x="76279" y="54200"/>
                </a:lnTo>
                <a:lnTo>
                  <a:pt x="7175473" y="2702433"/>
                </a:lnTo>
                <a:lnTo>
                  <a:pt x="7185568" y="2675358"/>
                </a:lnTo>
                <a:lnTo>
                  <a:pt x="86414" y="27060"/>
                </a:lnTo>
                <a:close/>
              </a:path>
              <a:path w="7262495" h="2729865">
                <a:moveTo>
                  <a:pt x="96519" y="0"/>
                </a:moveTo>
                <a:lnTo>
                  <a:pt x="0" y="10287"/>
                </a:lnTo>
                <a:lnTo>
                  <a:pt x="66166" y="81279"/>
                </a:lnTo>
                <a:lnTo>
                  <a:pt x="76279" y="54200"/>
                </a:lnTo>
                <a:lnTo>
                  <a:pt x="62737" y="49149"/>
                </a:lnTo>
                <a:lnTo>
                  <a:pt x="72770" y="21971"/>
                </a:lnTo>
                <a:lnTo>
                  <a:pt x="88315" y="21971"/>
                </a:lnTo>
                <a:lnTo>
                  <a:pt x="96519" y="0"/>
                </a:lnTo>
                <a:close/>
              </a:path>
              <a:path w="7262495" h="2729865">
                <a:moveTo>
                  <a:pt x="72770" y="21971"/>
                </a:moveTo>
                <a:lnTo>
                  <a:pt x="62737" y="49149"/>
                </a:lnTo>
                <a:lnTo>
                  <a:pt x="76279" y="54200"/>
                </a:lnTo>
                <a:lnTo>
                  <a:pt x="86414" y="27060"/>
                </a:lnTo>
                <a:lnTo>
                  <a:pt x="72770" y="21971"/>
                </a:lnTo>
                <a:close/>
              </a:path>
              <a:path w="7262495" h="2729865">
                <a:moveTo>
                  <a:pt x="88315" y="21971"/>
                </a:moveTo>
                <a:lnTo>
                  <a:pt x="72770" y="21971"/>
                </a:lnTo>
                <a:lnTo>
                  <a:pt x="86414" y="27060"/>
                </a:lnTo>
                <a:lnTo>
                  <a:pt x="88315" y="21971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137904" y="3788664"/>
            <a:ext cx="495300" cy="360045"/>
          </a:xfrm>
          <a:custGeom>
            <a:avLst/>
            <a:gdLst/>
            <a:ahLst/>
            <a:cxnLst/>
            <a:rect l="l" t="t" r="r" b="b"/>
            <a:pathLst>
              <a:path w="495300" h="360045">
                <a:moveTo>
                  <a:pt x="0" y="179831"/>
                </a:moveTo>
                <a:lnTo>
                  <a:pt x="6540" y="138599"/>
                </a:lnTo>
                <a:lnTo>
                  <a:pt x="25170" y="100748"/>
                </a:lnTo>
                <a:lnTo>
                  <a:pt x="54404" y="67358"/>
                </a:lnTo>
                <a:lnTo>
                  <a:pt x="92755" y="39508"/>
                </a:lnTo>
                <a:lnTo>
                  <a:pt x="138737" y="18279"/>
                </a:lnTo>
                <a:lnTo>
                  <a:pt x="190864" y="4749"/>
                </a:lnTo>
                <a:lnTo>
                  <a:pt x="247650" y="0"/>
                </a:lnTo>
                <a:lnTo>
                  <a:pt x="304435" y="4749"/>
                </a:lnTo>
                <a:lnTo>
                  <a:pt x="356562" y="18279"/>
                </a:lnTo>
                <a:lnTo>
                  <a:pt x="402544" y="39508"/>
                </a:lnTo>
                <a:lnTo>
                  <a:pt x="440895" y="67358"/>
                </a:lnTo>
                <a:lnTo>
                  <a:pt x="470129" y="100748"/>
                </a:lnTo>
                <a:lnTo>
                  <a:pt x="488759" y="138599"/>
                </a:lnTo>
                <a:lnTo>
                  <a:pt x="495300" y="179831"/>
                </a:lnTo>
                <a:lnTo>
                  <a:pt x="488759" y="221064"/>
                </a:lnTo>
                <a:lnTo>
                  <a:pt x="470129" y="258915"/>
                </a:lnTo>
                <a:lnTo>
                  <a:pt x="440895" y="292305"/>
                </a:lnTo>
                <a:lnTo>
                  <a:pt x="402544" y="320155"/>
                </a:lnTo>
                <a:lnTo>
                  <a:pt x="356562" y="341384"/>
                </a:lnTo>
                <a:lnTo>
                  <a:pt x="304435" y="354914"/>
                </a:lnTo>
                <a:lnTo>
                  <a:pt x="247650" y="359663"/>
                </a:lnTo>
                <a:lnTo>
                  <a:pt x="190864" y="354914"/>
                </a:lnTo>
                <a:lnTo>
                  <a:pt x="138737" y="341384"/>
                </a:lnTo>
                <a:lnTo>
                  <a:pt x="92755" y="320155"/>
                </a:lnTo>
                <a:lnTo>
                  <a:pt x="54404" y="292305"/>
                </a:lnTo>
                <a:lnTo>
                  <a:pt x="25170" y="258915"/>
                </a:lnTo>
                <a:lnTo>
                  <a:pt x="6540" y="221064"/>
                </a:lnTo>
                <a:lnTo>
                  <a:pt x="0" y="179831"/>
                </a:lnTo>
                <a:close/>
              </a:path>
            </a:pathLst>
          </a:custGeom>
          <a:ln w="15239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46</a:t>
            </a:fld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5578" y="908380"/>
            <a:ext cx="797115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Mạch </a:t>
            </a:r>
            <a:r>
              <a:rPr spc="-195" dirty="0"/>
              <a:t>ổn </a:t>
            </a:r>
            <a:r>
              <a:rPr spc="-320" dirty="0"/>
              <a:t>áp </a:t>
            </a:r>
            <a:r>
              <a:rPr spc="-515" dirty="0"/>
              <a:t>sử </a:t>
            </a:r>
            <a:r>
              <a:rPr spc="-270" dirty="0"/>
              <a:t>dụng </a:t>
            </a:r>
            <a:r>
              <a:rPr spc="-280" dirty="0"/>
              <a:t>Diode</a:t>
            </a:r>
            <a:r>
              <a:rPr spc="-620" dirty="0"/>
              <a:t> </a:t>
            </a:r>
            <a:r>
              <a:rPr spc="-325" dirty="0"/>
              <a:t>Zener</a:t>
            </a:r>
          </a:p>
        </p:txBody>
      </p:sp>
      <p:sp>
        <p:nvSpPr>
          <p:cNvPr id="3" name="object 3"/>
          <p:cNvSpPr/>
          <p:nvPr/>
        </p:nvSpPr>
        <p:spPr>
          <a:xfrm>
            <a:off x="276761" y="3188891"/>
            <a:ext cx="5278656" cy="2455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41133" y="2040635"/>
            <a:ext cx="3588865" cy="37849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31544" y="2036826"/>
            <a:ext cx="4880610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04139" marR="5080" indent="-91440">
              <a:lnSpc>
                <a:spcPts val="2160"/>
              </a:lnSpc>
              <a:spcBef>
                <a:spcPts val="375"/>
              </a:spcBef>
              <a:buClr>
                <a:srgbClr val="99CA38"/>
              </a:buClr>
              <a:buFont typeface="Wingdings"/>
              <a:buChar char=""/>
              <a:tabLst>
                <a:tab pos="271780" algn="l"/>
              </a:tabLst>
            </a:pPr>
            <a:r>
              <a:rPr sz="2000" spc="-120" dirty="0">
                <a:solidFill>
                  <a:srgbClr val="404040"/>
                </a:solidFill>
                <a:latin typeface="Arial"/>
                <a:cs typeface="Arial"/>
              </a:rPr>
              <a:t>Tính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2000" spc="-105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950" spc="-157" baseline="-21367" dirty="0">
                <a:solidFill>
                  <a:srgbClr val="404040"/>
                </a:solidFill>
                <a:latin typeface="Arial"/>
                <a:cs typeface="Arial"/>
              </a:rPr>
              <a:t>IN </a:t>
            </a:r>
            <a:r>
              <a:rPr sz="2000" spc="-140" dirty="0">
                <a:solidFill>
                  <a:srgbClr val="404040"/>
                </a:solidFill>
                <a:latin typeface="Arial"/>
                <a:cs typeface="Arial"/>
              </a:rPr>
              <a:t>và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hiệu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điện </a:t>
            </a:r>
            <a:r>
              <a:rPr sz="2000" spc="-20" dirty="0">
                <a:solidFill>
                  <a:srgbClr val="404040"/>
                </a:solidFill>
                <a:latin typeface="Arial"/>
                <a:cs typeface="Arial"/>
              </a:rPr>
              <a:t>thế </a:t>
            </a:r>
            <a:r>
              <a:rPr sz="2000" spc="-155" dirty="0">
                <a:solidFill>
                  <a:srgbClr val="404040"/>
                </a:solidFill>
                <a:latin typeface="Arial"/>
                <a:cs typeface="Arial"/>
              </a:rPr>
              <a:t>V</a:t>
            </a:r>
            <a:r>
              <a:rPr sz="1950" spc="-232" baseline="-21367" dirty="0">
                <a:solidFill>
                  <a:srgbClr val="404040"/>
                </a:solidFill>
                <a:latin typeface="Arial"/>
                <a:cs typeface="Arial"/>
              </a:rPr>
              <a:t>OUT </a:t>
            </a:r>
            <a:r>
              <a:rPr sz="1300" spc="-1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Arial"/>
                <a:cs typeface="Arial"/>
              </a:rPr>
              <a:t>khi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mạch </a:t>
            </a:r>
            <a:r>
              <a:rPr sz="2000" spc="-60" dirty="0">
                <a:solidFill>
                  <a:srgbClr val="404040"/>
                </a:solidFill>
                <a:latin typeface="Arial"/>
                <a:cs typeface="Arial"/>
              </a:rPr>
              <a:t>ổn </a:t>
            </a:r>
            <a:r>
              <a:rPr sz="2000" spc="-110" dirty="0">
                <a:solidFill>
                  <a:srgbClr val="404040"/>
                </a:solidFill>
                <a:latin typeface="Arial"/>
                <a:cs typeface="Arial"/>
              </a:rPr>
              <a:t>áp </a:t>
            </a:r>
            <a:r>
              <a:rPr sz="2000" spc="-50" dirty="0">
                <a:solidFill>
                  <a:srgbClr val="404040"/>
                </a:solidFill>
                <a:latin typeface="Arial"/>
                <a:cs typeface="Arial"/>
              </a:rPr>
              <a:t>hoạt</a:t>
            </a:r>
            <a:r>
              <a:rPr sz="2000" spc="-2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spc="-95" dirty="0">
                <a:solidFill>
                  <a:srgbClr val="404040"/>
                </a:solidFill>
                <a:latin typeface="Arial"/>
                <a:cs typeface="Arial"/>
              </a:rPr>
              <a:t>động?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47</a:t>
            </a:fld>
            <a:endParaRPr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00"/>
              </a:spcBef>
            </a:pPr>
            <a:r>
              <a:rPr spc="-385" dirty="0"/>
              <a:t>Bài</a:t>
            </a:r>
            <a:r>
              <a:rPr spc="-409" dirty="0"/>
              <a:t> </a:t>
            </a:r>
            <a:r>
              <a:rPr spc="-155" dirty="0"/>
              <a:t>tập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27758" y="1815845"/>
            <a:ext cx="6326505" cy="6419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55"/>
              </a:spcBef>
            </a:pPr>
            <a:r>
              <a:rPr sz="2000" spc="-5" dirty="0">
                <a:latin typeface="Times New Roman"/>
                <a:cs typeface="Times New Roman"/>
              </a:rPr>
              <a:t>Bài </a:t>
            </a:r>
            <a:r>
              <a:rPr sz="2000" dirty="0">
                <a:latin typeface="Times New Roman"/>
                <a:cs typeface="Times New Roman"/>
              </a:rPr>
              <a:t>1: </a:t>
            </a:r>
            <a:r>
              <a:rPr sz="2000" spc="-35" dirty="0">
                <a:latin typeface="Times New Roman"/>
                <a:cs typeface="Times New Roman"/>
              </a:rPr>
              <a:t>T</a:t>
            </a:r>
            <a:r>
              <a:rPr sz="2000" spc="-35" dirty="0">
                <a:latin typeface="Arial"/>
                <a:cs typeface="Arial"/>
              </a:rPr>
              <a:t>ì</a:t>
            </a:r>
            <a:r>
              <a:rPr sz="2000" spc="-35" dirty="0">
                <a:latin typeface="Times New Roman"/>
                <a:cs typeface="Times New Roman"/>
              </a:rPr>
              <a:t>m </a:t>
            </a:r>
            <a:r>
              <a:rPr sz="2000" spc="5" dirty="0">
                <a:latin typeface="Times New Roman"/>
                <a:cs typeface="Times New Roman"/>
              </a:rPr>
              <a:t>V</a:t>
            </a:r>
            <a:r>
              <a:rPr sz="1950" spc="7" baseline="-25641" dirty="0">
                <a:latin typeface="Times New Roman"/>
                <a:cs typeface="Times New Roman"/>
              </a:rPr>
              <a:t>1</a:t>
            </a:r>
            <a:r>
              <a:rPr sz="2000" spc="5" dirty="0">
                <a:latin typeface="Times New Roman"/>
                <a:cs typeface="Times New Roman"/>
              </a:rPr>
              <a:t>,V</a:t>
            </a:r>
            <a:r>
              <a:rPr sz="1950" spc="7" baseline="-25641" dirty="0">
                <a:latin typeface="Times New Roman"/>
                <a:cs typeface="Times New Roman"/>
              </a:rPr>
              <a:t>2 </a:t>
            </a:r>
            <a:r>
              <a:rPr sz="2000" spc="-75" dirty="0">
                <a:latin typeface="Times New Roman"/>
                <a:cs typeface="Times New Roman"/>
              </a:rPr>
              <a:t>v</a:t>
            </a:r>
            <a:r>
              <a:rPr sz="2000" spc="-75" dirty="0">
                <a:latin typeface="Arial"/>
                <a:cs typeface="Arial"/>
              </a:rPr>
              <a:t>à </a:t>
            </a:r>
            <a:r>
              <a:rPr sz="2000" spc="5" dirty="0">
                <a:latin typeface="Times New Roman"/>
                <a:cs typeface="Times New Roman"/>
              </a:rPr>
              <a:t>V</a:t>
            </a:r>
            <a:r>
              <a:rPr sz="1950" spc="7" baseline="-25641" dirty="0">
                <a:latin typeface="Times New Roman"/>
                <a:cs typeface="Times New Roman"/>
              </a:rPr>
              <a:t>0 </a:t>
            </a:r>
            <a:r>
              <a:rPr sz="2000" dirty="0">
                <a:latin typeface="Times New Roman"/>
                <a:cs typeface="Times New Roman"/>
              </a:rPr>
              <a:t>trong </a:t>
            </a:r>
            <a:r>
              <a:rPr sz="2000" spc="-5" dirty="0">
                <a:latin typeface="Times New Roman"/>
                <a:cs typeface="Times New Roman"/>
              </a:rPr>
              <a:t>mạch. </a:t>
            </a:r>
            <a:r>
              <a:rPr sz="2000" spc="-50" dirty="0">
                <a:latin typeface="Times New Roman"/>
                <a:cs typeface="Times New Roman"/>
              </a:rPr>
              <a:t>X</a:t>
            </a:r>
            <a:r>
              <a:rPr sz="2000" spc="-50" dirty="0">
                <a:latin typeface="Arial"/>
                <a:cs typeface="Arial"/>
              </a:rPr>
              <a:t>á</a:t>
            </a:r>
            <a:r>
              <a:rPr sz="2000" spc="-50" dirty="0">
                <a:latin typeface="Times New Roman"/>
                <a:cs typeface="Times New Roman"/>
              </a:rPr>
              <a:t>c </a:t>
            </a:r>
            <a:r>
              <a:rPr sz="2000" dirty="0">
                <a:latin typeface="Times New Roman"/>
                <a:cs typeface="Times New Roman"/>
              </a:rPr>
              <a:t>định </a:t>
            </a:r>
            <a:r>
              <a:rPr sz="2000" spc="-5" dirty="0">
                <a:latin typeface="Times New Roman"/>
                <a:cs typeface="Times New Roman"/>
              </a:rPr>
              <a:t>Q, </a:t>
            </a:r>
            <a:r>
              <a:rPr sz="2000" dirty="0">
                <a:latin typeface="Times New Roman"/>
                <a:cs typeface="Times New Roman"/>
              </a:rPr>
              <a:t>viết pt </a:t>
            </a:r>
            <a:r>
              <a:rPr sz="2000" spc="-75" dirty="0">
                <a:latin typeface="Times New Roman"/>
                <a:cs typeface="Times New Roman"/>
              </a:rPr>
              <a:t>v</a:t>
            </a:r>
            <a:r>
              <a:rPr sz="2000" spc="-75" dirty="0">
                <a:latin typeface="Arial"/>
                <a:cs typeface="Arial"/>
              </a:rPr>
              <a:t>à </a:t>
            </a:r>
            <a:r>
              <a:rPr sz="2000" spc="5" dirty="0">
                <a:latin typeface="Times New Roman"/>
                <a:cs typeface="Times New Roman"/>
              </a:rPr>
              <a:t>vẽ  </a:t>
            </a:r>
            <a:r>
              <a:rPr sz="2000" dirty="0">
                <a:latin typeface="Times New Roman"/>
                <a:cs typeface="Times New Roman"/>
              </a:rPr>
              <a:t>đường </a:t>
            </a:r>
            <a:r>
              <a:rPr sz="2000" spc="-5" dirty="0">
                <a:latin typeface="Times New Roman"/>
                <a:cs typeface="Times New Roman"/>
              </a:rPr>
              <a:t>tải </a:t>
            </a:r>
            <a:r>
              <a:rPr sz="2000" spc="-10" dirty="0">
                <a:latin typeface="Times New Roman"/>
                <a:cs typeface="Times New Roman"/>
              </a:rPr>
              <a:t>một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chiều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91255" y="2681178"/>
            <a:ext cx="3293695" cy="16610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48</a:t>
            </a:fld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1470" y="908380"/>
            <a:ext cx="16795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85" dirty="0"/>
              <a:t>Bài</a:t>
            </a:r>
            <a:r>
              <a:rPr spc="-409" dirty="0"/>
              <a:t> </a:t>
            </a:r>
            <a:r>
              <a:rPr spc="-155" dirty="0"/>
              <a:t>tập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2430" y="1742059"/>
            <a:ext cx="9255760" cy="181011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800" dirty="0">
                <a:latin typeface="Times New Roman"/>
                <a:cs typeface="Times New Roman"/>
              </a:rPr>
              <a:t>Bài 2 : Cho </a:t>
            </a:r>
            <a:r>
              <a:rPr sz="1800" spc="-5" dirty="0">
                <a:latin typeface="Times New Roman"/>
                <a:cs typeface="Times New Roman"/>
              </a:rPr>
              <a:t>mạch </a:t>
            </a:r>
            <a:r>
              <a:rPr sz="1800" dirty="0">
                <a:latin typeface="Times New Roman"/>
                <a:cs typeface="Times New Roman"/>
              </a:rPr>
              <a:t>ổn áp đơn giản như hình vẽ, diode Zener có </a:t>
            </a:r>
            <a:r>
              <a:rPr sz="1800" spc="-5" dirty="0">
                <a:latin typeface="Times New Roman"/>
                <a:cs typeface="Times New Roman"/>
              </a:rPr>
              <a:t>Vz </a:t>
            </a:r>
            <a:r>
              <a:rPr sz="1800" dirty="0">
                <a:latin typeface="Times New Roman"/>
                <a:cs typeface="Times New Roman"/>
              </a:rPr>
              <a:t>= </a:t>
            </a:r>
            <a:r>
              <a:rPr sz="1800" spc="-5" dirty="0">
                <a:latin typeface="Times New Roman"/>
                <a:cs typeface="Times New Roman"/>
              </a:rPr>
              <a:t>20V, I</a:t>
            </a:r>
            <a:r>
              <a:rPr sz="1800" spc="-7" baseline="-20833" dirty="0">
                <a:latin typeface="Times New Roman"/>
                <a:cs typeface="Times New Roman"/>
              </a:rPr>
              <a:t>Zmin </a:t>
            </a:r>
            <a:r>
              <a:rPr sz="1800" dirty="0">
                <a:latin typeface="Times New Roman"/>
                <a:cs typeface="Times New Roman"/>
              </a:rPr>
              <a:t>= </a:t>
            </a:r>
            <a:r>
              <a:rPr sz="1800" spc="-5" dirty="0">
                <a:latin typeface="Times New Roman"/>
                <a:cs typeface="Times New Roman"/>
              </a:rPr>
              <a:t>5mA,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</a:t>
            </a:r>
            <a:r>
              <a:rPr sz="1800" spc="-7" baseline="-20833" dirty="0">
                <a:latin typeface="Times New Roman"/>
                <a:cs typeface="Times New Roman"/>
              </a:rPr>
              <a:t>Zmax</a:t>
            </a:r>
            <a:r>
              <a:rPr sz="1800" spc="-5" dirty="0">
                <a:latin typeface="Times New Roman"/>
                <a:cs typeface="Times New Roman"/>
              </a:rPr>
              <a:t>=200mA,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800" spc="-5" dirty="0">
                <a:latin typeface="Times New Roman"/>
                <a:cs typeface="Times New Roman"/>
              </a:rPr>
              <a:t>R</a:t>
            </a:r>
            <a:r>
              <a:rPr sz="1800" spc="-7" baseline="-20833" dirty="0">
                <a:latin typeface="Times New Roman"/>
                <a:cs typeface="Times New Roman"/>
              </a:rPr>
              <a:t>L </a:t>
            </a:r>
            <a:r>
              <a:rPr sz="1800" dirty="0">
                <a:latin typeface="Times New Roman"/>
                <a:cs typeface="Times New Roman"/>
              </a:rPr>
              <a:t>= </a:t>
            </a:r>
            <a:r>
              <a:rPr sz="1800" spc="-5" dirty="0">
                <a:latin typeface="Times New Roman"/>
                <a:cs typeface="Times New Roman"/>
              </a:rPr>
              <a:t>400Ω, R</a:t>
            </a:r>
            <a:r>
              <a:rPr sz="1800" spc="-7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 </a:t>
            </a:r>
            <a:r>
              <a:rPr sz="1800" spc="-5" dirty="0">
                <a:latin typeface="Times New Roman"/>
                <a:cs typeface="Times New Roman"/>
              </a:rPr>
              <a:t>100Ω.</a:t>
            </a:r>
            <a:r>
              <a:rPr sz="1800" spc="-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Tính</a:t>
            </a:r>
          </a:p>
          <a:p>
            <a:pPr marL="228600" indent="-215900">
              <a:lnSpc>
                <a:spcPct val="100000"/>
              </a:lnSpc>
              <a:spcBef>
                <a:spcPts val="155"/>
              </a:spcBef>
              <a:buAutoNum type="alphaLcPeriod"/>
              <a:tabLst>
                <a:tab pos="229235" algn="l"/>
              </a:tabLst>
            </a:pPr>
            <a:r>
              <a:rPr sz="1800" spc="-5" dirty="0">
                <a:latin typeface="Times New Roman"/>
                <a:cs typeface="Times New Roman"/>
              </a:rPr>
              <a:t>Điện </a:t>
            </a:r>
            <a:r>
              <a:rPr sz="1800" dirty="0">
                <a:latin typeface="Times New Roman"/>
                <a:cs typeface="Times New Roman"/>
              </a:rPr>
              <a:t>thế ngõ ra tại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</a:t>
            </a:r>
            <a:r>
              <a:rPr sz="1800" spc="-15" baseline="-20833" dirty="0">
                <a:latin typeface="Times New Roman"/>
                <a:cs typeface="Times New Roman"/>
              </a:rPr>
              <a:t>L</a:t>
            </a:r>
            <a:r>
              <a:rPr sz="1800" spc="-10" dirty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45"/>
              </a:spcBef>
              <a:buAutoNum type="alphaLcPeriod"/>
              <a:tabLst>
                <a:tab pos="241300" algn="l"/>
              </a:tabLst>
            </a:pPr>
            <a:r>
              <a:rPr sz="1800" dirty="0">
                <a:latin typeface="Times New Roman"/>
                <a:cs typeface="Times New Roman"/>
              </a:rPr>
              <a:t>Trị </a:t>
            </a:r>
            <a:r>
              <a:rPr sz="1800" spc="-5" dirty="0">
                <a:latin typeface="Times New Roman"/>
                <a:cs typeface="Times New Roman"/>
              </a:rPr>
              <a:t>số </a:t>
            </a:r>
            <a:r>
              <a:rPr sz="1800" dirty="0" err="1">
                <a:latin typeface="Times New Roman"/>
                <a:cs typeface="Times New Roman"/>
              </a:rPr>
              <a:t>dòng</a:t>
            </a:r>
            <a:r>
              <a:rPr sz="1800" dirty="0">
                <a:latin typeface="Times New Roman"/>
                <a:cs typeface="Times New Roman"/>
              </a:rPr>
              <a:t> I</a:t>
            </a:r>
            <a:r>
              <a:rPr sz="1800" baseline="-20833" dirty="0">
                <a:latin typeface="Times New Roman"/>
                <a:cs typeface="Times New Roman"/>
              </a:rPr>
              <a:t>R</a:t>
            </a:r>
            <a:r>
              <a:rPr sz="1800" dirty="0">
                <a:latin typeface="Times New Roman"/>
                <a:cs typeface="Times New Roman"/>
              </a:rPr>
              <a:t>, I</a:t>
            </a:r>
            <a:r>
              <a:rPr sz="1800" baseline="-20833" dirty="0">
                <a:latin typeface="Times New Roman"/>
                <a:cs typeface="Times New Roman"/>
              </a:rPr>
              <a:t>Z </a:t>
            </a:r>
            <a:r>
              <a:rPr sz="1800" dirty="0">
                <a:latin typeface="Times New Roman"/>
                <a:cs typeface="Times New Roman"/>
              </a:rPr>
              <a:t>và </a:t>
            </a:r>
            <a:r>
              <a:rPr sz="1800" spc="-10" dirty="0">
                <a:latin typeface="Times New Roman"/>
                <a:cs typeface="Times New Roman"/>
              </a:rPr>
              <a:t>I</a:t>
            </a:r>
            <a:r>
              <a:rPr sz="1800" spc="-15" baseline="-20833" dirty="0">
                <a:latin typeface="Times New Roman"/>
                <a:cs typeface="Times New Roman"/>
              </a:rPr>
              <a:t>RL</a:t>
            </a:r>
            <a:r>
              <a:rPr sz="1800" spc="-10" dirty="0">
                <a:latin typeface="Times New Roman"/>
                <a:cs typeface="Times New Roman"/>
              </a:rPr>
              <a:t>. </a:t>
            </a:r>
            <a:r>
              <a:rPr sz="1800" dirty="0">
                <a:latin typeface="Times New Roman"/>
                <a:cs typeface="Times New Roman"/>
              </a:rPr>
              <a:t>Cho biết diode hoạt động có tốt hay</a:t>
            </a:r>
            <a:r>
              <a:rPr sz="1800" spc="-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không?</a:t>
            </a:r>
          </a:p>
          <a:p>
            <a:pPr marL="228600" indent="-215900">
              <a:lnSpc>
                <a:spcPct val="100000"/>
              </a:lnSpc>
              <a:spcBef>
                <a:spcPts val="160"/>
              </a:spcBef>
              <a:buAutoNum type="alphaLcPeriod"/>
              <a:tabLst>
                <a:tab pos="229235" algn="l"/>
              </a:tabLst>
            </a:pPr>
            <a:r>
              <a:rPr sz="1800" spc="-5" dirty="0">
                <a:latin typeface="Times New Roman"/>
                <a:cs typeface="Times New Roman"/>
              </a:rPr>
              <a:t>Khi </a:t>
            </a:r>
            <a:r>
              <a:rPr sz="1800" dirty="0">
                <a:latin typeface="Times New Roman"/>
                <a:cs typeface="Times New Roman"/>
              </a:rPr>
              <a:t>hở tải </a:t>
            </a:r>
            <a:r>
              <a:rPr sz="1800" spc="-5" dirty="0">
                <a:latin typeface="Times New Roman"/>
                <a:cs typeface="Times New Roman"/>
              </a:rPr>
              <a:t>R</a:t>
            </a:r>
            <a:r>
              <a:rPr sz="1800" spc="-7" baseline="-20833" dirty="0">
                <a:latin typeface="Times New Roman"/>
                <a:cs typeface="Times New Roman"/>
              </a:rPr>
              <a:t>L </a:t>
            </a:r>
            <a:r>
              <a:rPr sz="1800" dirty="0">
                <a:latin typeface="Times New Roman"/>
                <a:cs typeface="Times New Roman"/>
              </a:rPr>
              <a:t>thì diode còn hoạt động tốt</a:t>
            </a:r>
            <a:r>
              <a:rPr sz="1800" spc="-1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không?</a:t>
            </a:r>
          </a:p>
          <a:p>
            <a:pPr marL="241300" indent="-228600">
              <a:lnSpc>
                <a:spcPct val="100000"/>
              </a:lnSpc>
              <a:spcBef>
                <a:spcPts val="155"/>
              </a:spcBef>
              <a:buAutoNum type="alphaLcPeriod"/>
              <a:tabLst>
                <a:tab pos="241300" algn="l"/>
              </a:tabLst>
            </a:pPr>
            <a:r>
              <a:rPr sz="1800" dirty="0">
                <a:latin typeface="Times New Roman"/>
                <a:cs typeface="Times New Roman"/>
              </a:rPr>
              <a:t>Tính công </a:t>
            </a:r>
            <a:r>
              <a:rPr sz="1800" spc="-5" dirty="0">
                <a:latin typeface="Times New Roman"/>
                <a:cs typeface="Times New Roman"/>
              </a:rPr>
              <a:t>suất </a:t>
            </a:r>
            <a:r>
              <a:rPr sz="1800" dirty="0">
                <a:latin typeface="Times New Roman"/>
                <a:cs typeface="Times New Roman"/>
              </a:rPr>
              <a:t>của </a:t>
            </a:r>
            <a:r>
              <a:rPr sz="1800" dirty="0" err="1">
                <a:latin typeface="Times New Roman"/>
                <a:cs typeface="Times New Roman"/>
              </a:rPr>
              <a:t>trở</a:t>
            </a:r>
            <a:r>
              <a:rPr sz="1800" dirty="0">
                <a:latin typeface="Times New Roman"/>
                <a:cs typeface="Times New Roman"/>
              </a:rPr>
              <a:t> R</a:t>
            </a:r>
            <a:r>
              <a:rPr sz="1800" baseline="-20833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và </a:t>
            </a:r>
            <a:r>
              <a:rPr sz="1800" dirty="0" err="1">
                <a:latin typeface="Times New Roman"/>
                <a:cs typeface="Times New Roman"/>
              </a:rPr>
              <a:t>chọn</a:t>
            </a:r>
            <a:r>
              <a:rPr sz="1800">
                <a:latin typeface="Times New Roman"/>
                <a:cs typeface="Times New Roman"/>
              </a:rPr>
              <a:t> </a:t>
            </a:r>
            <a:r>
              <a:rPr sz="1800" spc="-5">
                <a:latin typeface="Times New Roman"/>
                <a:cs typeface="Times New Roman"/>
              </a:rPr>
              <a:t>R</a:t>
            </a:r>
            <a:r>
              <a:rPr sz="1800" spc="-7" baseline="-20833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có công </a:t>
            </a:r>
            <a:r>
              <a:rPr sz="1800" spc="-5" dirty="0">
                <a:latin typeface="Times New Roman"/>
                <a:cs typeface="Times New Roman"/>
              </a:rPr>
              <a:t>suất </a:t>
            </a:r>
            <a:r>
              <a:rPr sz="1800" dirty="0">
                <a:latin typeface="Times New Roman"/>
                <a:cs typeface="Times New Roman"/>
              </a:rPr>
              <a:t>bao nhiêu để diode không bị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hư.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53155" y="3698747"/>
            <a:ext cx="3918204" cy="24316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49</a:t>
            </a:fld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8755" y="2982544"/>
            <a:ext cx="8049259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035925" algn="l"/>
              </a:tabLst>
            </a:pPr>
            <a:r>
              <a:rPr sz="8000" u="sng" spc="-1989" dirty="0">
                <a:solidFill>
                  <a:srgbClr val="252525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0" u="sng" spc="-590" dirty="0">
                <a:solidFill>
                  <a:srgbClr val="252525"/>
                </a:solidFill>
                <a:uFill>
                  <a:solidFill>
                    <a:srgbClr val="7E7E7E"/>
                  </a:solidFill>
                </a:uFill>
              </a:rPr>
              <a:t>Thank</a:t>
            </a:r>
            <a:r>
              <a:rPr sz="8000" u="sng" spc="-615" dirty="0">
                <a:solidFill>
                  <a:srgbClr val="252525"/>
                </a:solidFill>
                <a:uFill>
                  <a:solidFill>
                    <a:srgbClr val="7E7E7E"/>
                  </a:solidFill>
                </a:uFill>
              </a:rPr>
              <a:t> </a:t>
            </a:r>
            <a:r>
              <a:rPr sz="8000" u="sng" spc="-200" dirty="0">
                <a:solidFill>
                  <a:srgbClr val="252525"/>
                </a:solidFill>
                <a:uFill>
                  <a:solidFill>
                    <a:srgbClr val="7E7E7E"/>
                  </a:solidFill>
                </a:uFill>
              </a:rPr>
              <a:t>you!	</a:t>
            </a:r>
            <a:endParaRPr sz="8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TRỊNH LÊ</a:t>
            </a:r>
            <a:r>
              <a:rPr spc="-50" dirty="0"/>
              <a:t> </a:t>
            </a:r>
            <a:r>
              <a:rPr spc="-5" dirty="0"/>
              <a:t>HUY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50"/>
              </a:lnSpc>
            </a:pPr>
            <a:fld id="{81D60167-4931-47E6-BA6A-407CBD079E47}" type="slidenum">
              <a:rPr dirty="0"/>
              <a:t>50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3513</Words>
  <Application>Microsoft Office PowerPoint</Application>
  <PresentationFormat>A4 Paper (210x297 mm)</PresentationFormat>
  <Paragraphs>421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Arial</vt:lpstr>
      <vt:lpstr>Calibri</vt:lpstr>
      <vt:lpstr>Symbol</vt:lpstr>
      <vt:lpstr>Times New Roman</vt:lpstr>
      <vt:lpstr>Trebuchet MS</vt:lpstr>
      <vt:lpstr>Wingdings</vt:lpstr>
      <vt:lpstr>Office Theme</vt:lpstr>
      <vt:lpstr>CÁC THIẾT BỊ VÀ  MẠCH ĐIỆN TỬ</vt:lpstr>
      <vt:lpstr>Vật liệu bán dẫn?</vt:lpstr>
      <vt:lpstr>Vật liệu bán dẫn?</vt:lpstr>
      <vt:lpstr>Vật liệu bán dẫn?</vt:lpstr>
      <vt:lpstr>Vật liệu bán dẫn?</vt:lpstr>
      <vt:lpstr>Vật liệu bán dẫn?</vt:lpstr>
      <vt:lpstr>Chuyển tiếp P-N</vt:lpstr>
      <vt:lpstr>Chuyển tiếp P-N</vt:lpstr>
      <vt:lpstr>Chuyển tiếp P-N</vt:lpstr>
      <vt:lpstr>Cấu tạo của Diode</vt:lpstr>
      <vt:lpstr>Nguyên tắc hoạt động</vt:lpstr>
      <vt:lpstr>Nguyên tắc hoạt động</vt:lpstr>
      <vt:lpstr>Nguyên tắc hoạt động</vt:lpstr>
      <vt:lpstr>Nguyên tắc hoạt động</vt:lpstr>
      <vt:lpstr>Đặc tính Diode</vt:lpstr>
      <vt:lpstr>Đặc tính Diode</vt:lpstr>
      <vt:lpstr>Đặc tính Diode</vt:lpstr>
      <vt:lpstr>Đặc tính Diode</vt:lpstr>
      <vt:lpstr>Các mô hình của Diode</vt:lpstr>
      <vt:lpstr>Các mô hình của Diode</vt:lpstr>
      <vt:lpstr>Các mô hình của Diode</vt:lpstr>
      <vt:lpstr>Các mô hình của Diode</vt:lpstr>
      <vt:lpstr>Các mô hình của Diode</vt:lpstr>
      <vt:lpstr>Các mô hình của Diode</vt:lpstr>
      <vt:lpstr>Các mô hình của Diode</vt:lpstr>
      <vt:lpstr>PowerPoint Presentation</vt:lpstr>
      <vt:lpstr>Các ứng dụng của diode</vt:lpstr>
      <vt:lpstr>Biến áp (Transformer)</vt:lpstr>
      <vt:lpstr>Mạch chỉnh lưu</vt:lpstr>
      <vt:lpstr>Mạch chỉnh lưu bán chu kì</vt:lpstr>
      <vt:lpstr>Mạch chỉnh lưu toàn chu kì</vt:lpstr>
      <vt:lpstr>Các vấn đề cần chú ý  của mạch chỉnh lưu</vt:lpstr>
      <vt:lpstr>Các vấn đề cần chú ý  của mạch chỉnh lưu</vt:lpstr>
      <vt:lpstr>Các vấn đề cần chú ý của mạch  chỉnh lưu</vt:lpstr>
      <vt:lpstr>Các vấn đề cần chú ý của mạch  chỉnh lưu</vt:lpstr>
      <vt:lpstr>Các vấn đề cần chú ý của mạch  chỉnh lưu</vt:lpstr>
      <vt:lpstr>Mạch lọc nguồn một chiều</vt:lpstr>
      <vt:lpstr>Mạch lọc nguồn một chiều</vt:lpstr>
      <vt:lpstr>Các vấn đề cần chú ý của  mạch lọc nguồn một chiều</vt:lpstr>
      <vt:lpstr>Các vấn đề cần chú ý của  mạch lọc nguồn một chiều</vt:lpstr>
      <vt:lpstr>Các vấn đề cần chú ý của  mạch lọc nguồn một chiều</vt:lpstr>
      <vt:lpstr>Các vấn đề cần chú ý của  mạch lọc nguồn một chiều</vt:lpstr>
      <vt:lpstr>Các vấn đề cần chú ý của  mạch lọc nguồn một chiều</vt:lpstr>
      <vt:lpstr>Diode Zener</vt:lpstr>
      <vt:lpstr>Diode Zener</vt:lpstr>
      <vt:lpstr>Diode Zener</vt:lpstr>
      <vt:lpstr>Mạch ổn áp sử dụng Diode Zener</vt:lpstr>
      <vt:lpstr>Bài tập</vt:lpstr>
      <vt:lpstr>Bài tập</vt:lpstr>
      <vt:lpstr> Thank you!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Kent Bertilsson</dc:creator>
  <cp:lastModifiedBy>Trịnh Lê Huy</cp:lastModifiedBy>
  <cp:revision>1</cp:revision>
  <dcterms:created xsi:type="dcterms:W3CDTF">2019-03-22T05:54:52Z</dcterms:created>
  <dcterms:modified xsi:type="dcterms:W3CDTF">2020-11-02T06:48:54Z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2019-03-16T00:00:00Z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2019-03-22T00:00:00Z</vt:filetime>
  </property>
</Properties>
</file>