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47" y="6400799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199"/>
                </a:moveTo>
                <a:lnTo>
                  <a:pt x="9902952" y="457199"/>
                </a:lnTo>
                <a:lnTo>
                  <a:pt x="9902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7"/>
                </a:moveTo>
                <a:lnTo>
                  <a:pt x="9902952" y="64007"/>
                </a:lnTo>
                <a:lnTo>
                  <a:pt x="9902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0" y="457199"/>
                </a:moveTo>
                <a:lnTo>
                  <a:pt x="9906000" y="457199"/>
                </a:lnTo>
                <a:lnTo>
                  <a:pt x="9906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6000" cy="67310"/>
          </a:xfrm>
          <a:custGeom>
            <a:avLst/>
            <a:gdLst/>
            <a:ahLst/>
            <a:cxnLst/>
            <a:rect l="l" t="t" r="r" b="b"/>
            <a:pathLst>
              <a:path w="9906000" h="67310">
                <a:moveTo>
                  <a:pt x="0" y="67055"/>
                </a:moveTo>
                <a:lnTo>
                  <a:pt x="9906000" y="67055"/>
                </a:lnTo>
                <a:lnTo>
                  <a:pt x="9906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69263" y="1737360"/>
            <a:ext cx="8098155" cy="0"/>
          </a:xfrm>
          <a:custGeom>
            <a:avLst/>
            <a:gdLst/>
            <a:ahLst/>
            <a:cxnLst/>
            <a:rect l="l" t="t" r="r" b="b"/>
            <a:pathLst>
              <a:path w="8098155" h="0">
                <a:moveTo>
                  <a:pt x="0" y="0"/>
                </a:moveTo>
                <a:lnTo>
                  <a:pt x="8098155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1127" y="178434"/>
            <a:ext cx="652145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5032" y="1767078"/>
            <a:ext cx="8415934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45329" y="6570624"/>
            <a:ext cx="81851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59773" y="6561198"/>
            <a:ext cx="1854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image" Target="../media/image33.png"/><Relationship Id="rId29" Type="http://schemas.openxmlformats.org/officeDocument/2006/relationships/image" Target="../media/image34.png"/><Relationship Id="rId30" Type="http://schemas.openxmlformats.org/officeDocument/2006/relationships/image" Target="../media/image35.png"/><Relationship Id="rId31" Type="http://schemas.openxmlformats.org/officeDocument/2006/relationships/image" Target="../media/image36.png"/><Relationship Id="rId32" Type="http://schemas.openxmlformats.org/officeDocument/2006/relationships/image" Target="../media/image37.png"/><Relationship Id="rId33" Type="http://schemas.openxmlformats.org/officeDocument/2006/relationships/image" Target="../media/image38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png"/><Relationship Id="rId3" Type="http://schemas.openxmlformats.org/officeDocument/2006/relationships/image" Target="../media/image40.jp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Relationship Id="rId4" Type="http://schemas.openxmlformats.org/officeDocument/2006/relationships/image" Target="../media/image61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291840" cy="6858000"/>
          </a:xfrm>
          <a:custGeom>
            <a:avLst/>
            <a:gdLst/>
            <a:ahLst/>
            <a:cxnLst/>
            <a:rect l="l" t="t" r="r" b="b"/>
            <a:pathLst>
              <a:path w="3291840" h="6858000">
                <a:moveTo>
                  <a:pt x="0" y="6858000"/>
                </a:moveTo>
                <a:lnTo>
                  <a:pt x="3291840" y="6858000"/>
                </a:lnTo>
                <a:lnTo>
                  <a:pt x="32918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08603" y="0"/>
            <a:ext cx="0" cy="155575"/>
          </a:xfrm>
          <a:custGeom>
            <a:avLst/>
            <a:gdLst/>
            <a:ahLst/>
            <a:cxnLst/>
            <a:rect l="l" t="t" r="r" b="b"/>
            <a:pathLst>
              <a:path w="0" h="155575">
                <a:moveTo>
                  <a:pt x="0" y="0"/>
                </a:moveTo>
                <a:lnTo>
                  <a:pt x="0" y="155448"/>
                </a:lnTo>
              </a:path>
            </a:pathLst>
          </a:custGeom>
          <a:ln w="51815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08603" y="1356360"/>
            <a:ext cx="0" cy="5501640"/>
          </a:xfrm>
          <a:custGeom>
            <a:avLst/>
            <a:gdLst/>
            <a:ahLst/>
            <a:cxnLst/>
            <a:rect l="l" t="t" r="r" b="b"/>
            <a:pathLst>
              <a:path w="0" h="5501640">
                <a:moveTo>
                  <a:pt x="0" y="0"/>
                </a:moveTo>
                <a:lnTo>
                  <a:pt x="0" y="5501639"/>
                </a:lnTo>
              </a:path>
            </a:pathLst>
          </a:custGeom>
          <a:ln w="51815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2141220"/>
            <a:ext cx="1285494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0287" y="2141220"/>
            <a:ext cx="1085850" cy="10066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60932" y="2141220"/>
            <a:ext cx="1131570" cy="10066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97379" y="2141220"/>
            <a:ext cx="1422654" cy="10066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8739" y="2245614"/>
            <a:ext cx="29406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90">
                <a:solidFill>
                  <a:srgbClr val="FFFFFF"/>
                </a:solidFill>
                <a:latin typeface="Arial"/>
                <a:cs typeface="Arial"/>
              </a:rPr>
              <a:t>Kiểm </a:t>
            </a:r>
            <a:r>
              <a:rPr dirty="0" sz="3600" spc="-90">
                <a:solidFill>
                  <a:srgbClr val="FFFFFF"/>
                </a:solidFill>
                <a:latin typeface="Arial"/>
                <a:cs typeface="Arial"/>
              </a:rPr>
              <a:t>tra</a:t>
            </a:r>
            <a:r>
              <a:rPr dirty="0" sz="3600" spc="-7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210">
                <a:solidFill>
                  <a:srgbClr val="FFFFFF"/>
                </a:solidFill>
                <a:latin typeface="Arial"/>
                <a:cs typeface="Arial"/>
              </a:rPr>
              <a:t>20 </a:t>
            </a:r>
            <a:r>
              <a:rPr dirty="0" sz="3600" spc="-130">
                <a:solidFill>
                  <a:srgbClr val="FFFFFF"/>
                </a:solidFill>
                <a:latin typeface="Arial"/>
                <a:cs typeface="Arial"/>
              </a:rPr>
              <a:t>phút</a:t>
            </a:r>
            <a:endParaRPr sz="3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92626" y="6573898"/>
            <a:ext cx="5026660" cy="148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50"/>
              </a:lnSpc>
              <a:tabLst>
                <a:tab pos="4959350" algn="l"/>
              </a:tabLst>
            </a:pPr>
            <a:r>
              <a:rPr dirty="0" baseline="3086" sz="1350" spc="-15">
                <a:solidFill>
                  <a:srgbClr val="455F51"/>
                </a:solidFill>
                <a:latin typeface="Times New Roman"/>
                <a:cs typeface="Times New Roman"/>
              </a:rPr>
              <a:t>T</a:t>
            </a:r>
            <a:r>
              <a:rPr dirty="0" baseline="3086" sz="1350">
                <a:solidFill>
                  <a:srgbClr val="455F51"/>
                </a:solidFill>
                <a:latin typeface="Times New Roman"/>
                <a:cs typeface="Times New Roman"/>
              </a:rPr>
              <a:t>RỊNH</a:t>
            </a:r>
            <a:r>
              <a:rPr dirty="0" baseline="3086" sz="1350" spc="15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baseline="3086" sz="1350" spc="-15">
                <a:solidFill>
                  <a:srgbClr val="455F51"/>
                </a:solidFill>
                <a:latin typeface="Times New Roman"/>
                <a:cs typeface="Times New Roman"/>
              </a:rPr>
              <a:t>L</a:t>
            </a:r>
            <a:r>
              <a:rPr dirty="0" baseline="3086" sz="1350">
                <a:solidFill>
                  <a:srgbClr val="455F51"/>
                </a:solidFill>
                <a:latin typeface="Times New Roman"/>
                <a:cs typeface="Times New Roman"/>
              </a:rPr>
              <a:t>Ê </a:t>
            </a:r>
            <a:r>
              <a:rPr dirty="0" baseline="3086" sz="1350" spc="-7">
                <a:solidFill>
                  <a:srgbClr val="455F51"/>
                </a:solidFill>
                <a:latin typeface="Times New Roman"/>
                <a:cs typeface="Times New Roman"/>
              </a:rPr>
              <a:t>HU</a:t>
            </a:r>
            <a:r>
              <a:rPr dirty="0" baseline="3086" sz="1350">
                <a:solidFill>
                  <a:srgbClr val="455F51"/>
                </a:solidFill>
                <a:latin typeface="Times New Roman"/>
                <a:cs typeface="Times New Roman"/>
              </a:rPr>
              <a:t>Y	</a:t>
            </a:r>
            <a:r>
              <a:rPr dirty="0" sz="1050">
                <a:solidFill>
                  <a:srgbClr val="455F51"/>
                </a:solid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557014"/>
            <a:ext cx="3436620" cy="32674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26463" y="4395215"/>
            <a:ext cx="372110" cy="224154"/>
          </a:xfrm>
          <a:custGeom>
            <a:avLst/>
            <a:gdLst/>
            <a:ahLst/>
            <a:cxnLst/>
            <a:rect l="l" t="t" r="r" b="b"/>
            <a:pathLst>
              <a:path w="372110" h="224154">
                <a:moveTo>
                  <a:pt x="0" y="224028"/>
                </a:moveTo>
                <a:lnTo>
                  <a:pt x="371856" y="224028"/>
                </a:lnTo>
                <a:lnTo>
                  <a:pt x="371856" y="0"/>
                </a:lnTo>
                <a:lnTo>
                  <a:pt x="0" y="0"/>
                </a:lnTo>
                <a:lnTo>
                  <a:pt x="0" y="2240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26463" y="4395215"/>
            <a:ext cx="372110" cy="224154"/>
          </a:xfrm>
          <a:custGeom>
            <a:avLst/>
            <a:gdLst/>
            <a:ahLst/>
            <a:cxnLst/>
            <a:rect l="l" t="t" r="r" b="b"/>
            <a:pathLst>
              <a:path w="372110" h="224154">
                <a:moveTo>
                  <a:pt x="0" y="224028"/>
                </a:moveTo>
                <a:lnTo>
                  <a:pt x="371856" y="224028"/>
                </a:lnTo>
                <a:lnTo>
                  <a:pt x="371856" y="0"/>
                </a:lnTo>
                <a:lnTo>
                  <a:pt x="0" y="0"/>
                </a:lnTo>
                <a:lnTo>
                  <a:pt x="0" y="224028"/>
                </a:lnTo>
                <a:close/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335405" y="4349622"/>
            <a:ext cx="5365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>
                <a:solidFill>
                  <a:srgbClr val="FF0000"/>
                </a:solidFill>
                <a:latin typeface="Trebuchet MS"/>
                <a:cs typeface="Trebuchet MS"/>
              </a:rPr>
              <a:t>450</a:t>
            </a:r>
            <a:r>
              <a:rPr dirty="0" sz="1600" spc="-18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1600" spc="-5">
                <a:solidFill>
                  <a:srgbClr val="FF0000"/>
                </a:solidFill>
                <a:latin typeface="Symbol"/>
                <a:cs typeface="Symbol"/>
              </a:rPr>
              <a:t>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04433" y="1611610"/>
            <a:ext cx="6347315" cy="51255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02692" y="155447"/>
            <a:ext cx="9410700" cy="1201420"/>
          </a:xfrm>
          <a:custGeom>
            <a:avLst/>
            <a:gdLst/>
            <a:ahLst/>
            <a:cxnLst/>
            <a:rect l="l" t="t" r="r" b="b"/>
            <a:pathLst>
              <a:path w="9410700" h="1201420">
                <a:moveTo>
                  <a:pt x="0" y="1200912"/>
                </a:moveTo>
                <a:lnTo>
                  <a:pt x="9410700" y="1200912"/>
                </a:lnTo>
                <a:lnTo>
                  <a:pt x="9410700" y="0"/>
                </a:lnTo>
                <a:lnTo>
                  <a:pt x="0" y="0"/>
                </a:lnTo>
                <a:lnTo>
                  <a:pt x="0" y="1200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Vẽ </a:t>
            </a:r>
            <a:r>
              <a:rPr dirty="0"/>
              <a:t>đường </a:t>
            </a:r>
            <a:r>
              <a:rPr dirty="0" spc="-5"/>
              <a:t>DC </a:t>
            </a:r>
            <a:r>
              <a:rPr dirty="0"/>
              <a:t>Load line và xác định điểm Q sao</a:t>
            </a:r>
            <a:r>
              <a:rPr dirty="0" spc="-135"/>
              <a:t> </a:t>
            </a:r>
            <a:r>
              <a:rPr dirty="0"/>
              <a:t>cho: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81127" y="544195"/>
            <a:ext cx="92417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1135" indent="-178435">
              <a:lnSpc>
                <a:spcPct val="100000"/>
              </a:lnSpc>
              <a:spcBef>
                <a:spcPts val="100"/>
              </a:spcBef>
              <a:buChar char="-"/>
              <a:tabLst>
                <a:tab pos="191770" algn="l"/>
              </a:tabLst>
            </a:pPr>
            <a:r>
              <a:rPr dirty="0" sz="2400">
                <a:latin typeface="Times New Roman"/>
                <a:cs typeface="Times New Roman"/>
              </a:rPr>
              <a:t>Mạch khuếch đại hoạt động tuyến tính với tín hiện đầu vào có</a:t>
            </a:r>
            <a:r>
              <a:rPr dirty="0" sz="2400" spc="-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Ipp=400uA</a:t>
            </a:r>
            <a:endParaRPr sz="2400">
              <a:latin typeface="Times New Roman"/>
              <a:cs typeface="Times New Roman"/>
            </a:endParaRPr>
          </a:p>
          <a:p>
            <a:pPr marL="191135" indent="-178435">
              <a:lnSpc>
                <a:spcPct val="100000"/>
              </a:lnSpc>
              <a:buChar char="-"/>
              <a:tabLst>
                <a:tab pos="191770" algn="l"/>
              </a:tabLst>
            </a:pPr>
            <a:r>
              <a:rPr dirty="0" sz="2400" spc="-10">
                <a:latin typeface="Times New Roman"/>
                <a:cs typeface="Times New Roman"/>
              </a:rPr>
              <a:t>Đưa </a:t>
            </a:r>
            <a:r>
              <a:rPr dirty="0" sz="2400">
                <a:latin typeface="Times New Roman"/>
                <a:cs typeface="Times New Roman"/>
              </a:rPr>
              <a:t>ra giải pháp nếu ko xác định được điểm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291840" cy="6858000"/>
          </a:xfrm>
          <a:custGeom>
            <a:avLst/>
            <a:gdLst/>
            <a:ahLst/>
            <a:cxnLst/>
            <a:rect l="l" t="t" r="r" b="b"/>
            <a:pathLst>
              <a:path w="3291840" h="6858000">
                <a:moveTo>
                  <a:pt x="0" y="6858000"/>
                </a:moveTo>
                <a:lnTo>
                  <a:pt x="3291840" y="6858000"/>
                </a:lnTo>
                <a:lnTo>
                  <a:pt x="32918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0860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1815">
            <a:solidFill>
              <a:srgbClr val="99CA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9831" y="2141220"/>
            <a:ext cx="1978914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55064" y="2141220"/>
            <a:ext cx="819150" cy="10066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20084" y="510540"/>
            <a:ext cx="6139434" cy="13388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70020" y="1168908"/>
            <a:ext cx="5426202" cy="13388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084701" y="670001"/>
            <a:ext cx="5223510" cy="1416050"/>
          </a:xfrm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262255" marR="5080" indent="-250190">
              <a:lnSpc>
                <a:spcPts val="5190"/>
              </a:lnSpc>
              <a:spcBef>
                <a:spcPts val="750"/>
              </a:spcBef>
            </a:pPr>
            <a:r>
              <a:rPr dirty="0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CÁC </a:t>
            </a:r>
            <a:r>
              <a:rPr dirty="0" sz="4800" b="1">
                <a:solidFill>
                  <a:srgbClr val="404040"/>
                </a:solidFill>
                <a:latin typeface="Times New Roman"/>
                <a:cs typeface="Times New Roman"/>
              </a:rPr>
              <a:t>THIẾT BỊ</a:t>
            </a:r>
            <a:r>
              <a:rPr dirty="0" sz="4800" spc="-37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VÀ  </a:t>
            </a:r>
            <a:r>
              <a:rPr dirty="0" sz="4800" b="1">
                <a:solidFill>
                  <a:srgbClr val="404040"/>
                </a:solidFill>
                <a:latin typeface="Times New Roman"/>
                <a:cs typeface="Times New Roman"/>
              </a:rPr>
              <a:t>MẠCH </a:t>
            </a:r>
            <a:r>
              <a:rPr dirty="0" sz="4800" spc="-5" b="1">
                <a:solidFill>
                  <a:srgbClr val="404040"/>
                </a:solidFill>
                <a:latin typeface="Times New Roman"/>
                <a:cs typeface="Times New Roman"/>
              </a:rPr>
              <a:t>ĐIỆN</a:t>
            </a:r>
            <a:r>
              <a:rPr dirty="0" sz="4800" spc="-16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4800" b="1">
                <a:solidFill>
                  <a:srgbClr val="404040"/>
                </a:solidFill>
                <a:latin typeface="Times New Roman"/>
                <a:cs typeface="Times New Roman"/>
              </a:rPr>
              <a:t>TỬ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0040" y="2869704"/>
            <a:ext cx="2503170" cy="5112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8515" y="3110496"/>
            <a:ext cx="1500378" cy="511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50291" y="1981200"/>
            <a:ext cx="2157095" cy="1485900"/>
          </a:xfrm>
          <a:prstGeom prst="rect">
            <a:avLst/>
          </a:prstGeom>
        </p:spPr>
        <p:txBody>
          <a:bodyPr wrap="square" lIns="0" tIns="276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dirty="0" sz="3600" spc="-405">
                <a:solidFill>
                  <a:srgbClr val="FFFFFF"/>
                </a:solidFill>
                <a:latin typeface="Arial"/>
                <a:cs typeface="Arial"/>
              </a:rPr>
              <a:t>Chương</a:t>
            </a:r>
            <a:r>
              <a:rPr dirty="0" sz="3600" spc="-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18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3600">
              <a:latin typeface="Arial"/>
              <a:cs typeface="Arial"/>
            </a:endParaRPr>
          </a:p>
          <a:p>
            <a:pPr marL="12700" marR="5080">
              <a:lnSpc>
                <a:spcPts val="1900"/>
              </a:lnSpc>
              <a:spcBef>
                <a:spcPts val="132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Phân tích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các</a:t>
            </a:r>
            <a:r>
              <a:rPr dirty="0" sz="18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mạch 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khuếch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đại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2043" y="3569220"/>
            <a:ext cx="407682" cy="3969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9412" y="3557028"/>
            <a:ext cx="698754" cy="4289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14044" y="3557028"/>
            <a:ext cx="829818" cy="42899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28216" y="3557028"/>
            <a:ext cx="506717" cy="4289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017776" y="3557028"/>
            <a:ext cx="531113" cy="42899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334767" y="3557028"/>
            <a:ext cx="555498" cy="42899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2043" y="3951744"/>
            <a:ext cx="407682" cy="39698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29412" y="3939552"/>
            <a:ext cx="698754" cy="42899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14044" y="3939552"/>
            <a:ext cx="829818" cy="42899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728216" y="3939552"/>
            <a:ext cx="506717" cy="42899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17776" y="3939552"/>
            <a:ext cx="450342" cy="42899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2043" y="4335792"/>
            <a:ext cx="407682" cy="39698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9412" y="4323600"/>
            <a:ext cx="698754" cy="42899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14044" y="4323600"/>
            <a:ext cx="829818" cy="42899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728216" y="4323600"/>
            <a:ext cx="506717" cy="42899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017776" y="4323600"/>
            <a:ext cx="464057" cy="42899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52043" y="4719840"/>
            <a:ext cx="407682" cy="39698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29412" y="4707648"/>
            <a:ext cx="698754" cy="42899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14044" y="4707648"/>
            <a:ext cx="829818" cy="42899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728216" y="4707648"/>
            <a:ext cx="506717" cy="42899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017776" y="4707648"/>
            <a:ext cx="457974" cy="42899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52043" y="5102364"/>
            <a:ext cx="407682" cy="39698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29412" y="5090172"/>
            <a:ext cx="505206" cy="42899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18972" y="5090172"/>
            <a:ext cx="517410" cy="42899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50291" y="3597020"/>
            <a:ext cx="2316480" cy="1787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khuếch 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đại </a:t>
            </a:r>
            <a:r>
              <a:rPr dirty="0" sz="1500" spc="-145" b="1">
                <a:solidFill>
                  <a:srgbClr val="FFFFFF"/>
                </a:solidFill>
                <a:latin typeface="Arial"/>
                <a:cs typeface="Arial"/>
              </a:rPr>
              <a:t>căn</a:t>
            </a:r>
            <a:r>
              <a:rPr dirty="0" sz="1500" spc="-1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10" b="1">
                <a:solidFill>
                  <a:srgbClr val="FFFFFF"/>
                </a:solidFill>
                <a:latin typeface="Arial"/>
                <a:cs typeface="Arial"/>
              </a:rPr>
              <a:t>bản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1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khuếch 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đại</a:t>
            </a:r>
            <a:r>
              <a:rPr dirty="0" sz="1500" spc="-1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85" b="1">
                <a:solidFill>
                  <a:srgbClr val="FFFFFF"/>
                </a:solidFill>
                <a:latin typeface="Arial"/>
                <a:cs typeface="Arial"/>
              </a:rPr>
              <a:t>CE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2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khuếch 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đại</a:t>
            </a:r>
            <a:r>
              <a:rPr dirty="0" sz="1500" spc="-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75" b="1">
                <a:solidFill>
                  <a:srgbClr val="FFFFFF"/>
                </a:solidFill>
                <a:latin typeface="Arial"/>
                <a:cs typeface="Arial"/>
              </a:rPr>
              <a:t>CB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2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Mạch </a:t>
            </a:r>
            <a:r>
              <a:rPr dirty="0" sz="1500" spc="-125" b="1">
                <a:solidFill>
                  <a:srgbClr val="FFFFFF"/>
                </a:solidFill>
                <a:latin typeface="Arial"/>
                <a:cs typeface="Arial"/>
              </a:rPr>
              <a:t>khuếch 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đại</a:t>
            </a:r>
            <a:r>
              <a:rPr dirty="0" sz="1500" spc="-1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95" b="1">
                <a:solidFill>
                  <a:srgbClr val="FFFFFF"/>
                </a:solidFill>
                <a:latin typeface="Arial"/>
                <a:cs typeface="Arial"/>
              </a:rPr>
              <a:t>CC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1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dirty="0" sz="1500" spc="-130" b="1">
                <a:solidFill>
                  <a:srgbClr val="FFFFFF"/>
                </a:solidFill>
                <a:latin typeface="Arial"/>
                <a:cs typeface="Arial"/>
              </a:rPr>
              <a:t>Bài</a:t>
            </a:r>
            <a:r>
              <a:rPr dirty="0" sz="15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70" b="1">
                <a:solidFill>
                  <a:srgbClr val="FFFFFF"/>
                </a:solidFill>
                <a:latin typeface="Arial"/>
                <a:cs typeface="Arial"/>
              </a:rPr>
              <a:t>tập</a:t>
            </a:r>
            <a:endParaRPr sz="15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979926" y="6558178"/>
            <a:ext cx="818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5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455F51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939530" y="6546595"/>
            <a:ext cx="92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455F51"/>
                </a:solidFill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783835" y="3159251"/>
            <a:ext cx="1770888" cy="142798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617069" y="3151493"/>
            <a:ext cx="1666701" cy="133419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00799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0" y="457199"/>
                </a:moveTo>
                <a:lnTo>
                  <a:pt x="9906000" y="457199"/>
                </a:lnTo>
                <a:lnTo>
                  <a:pt x="9906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333744"/>
            <a:ext cx="9906000" cy="67310"/>
          </a:xfrm>
          <a:custGeom>
            <a:avLst/>
            <a:gdLst/>
            <a:ahLst/>
            <a:cxnLst/>
            <a:rect l="l" t="t" r="r" b="b"/>
            <a:pathLst>
              <a:path w="9906000" h="67310">
                <a:moveTo>
                  <a:pt x="0" y="67055"/>
                </a:moveTo>
                <a:lnTo>
                  <a:pt x="9906000" y="67055"/>
                </a:lnTo>
                <a:lnTo>
                  <a:pt x="9906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69263" y="1737360"/>
            <a:ext cx="8098155" cy="0"/>
          </a:xfrm>
          <a:custGeom>
            <a:avLst/>
            <a:gdLst/>
            <a:ahLst/>
            <a:cxnLst/>
            <a:rect l="l" t="t" r="r" b="b"/>
            <a:pathLst>
              <a:path w="8098155" h="0">
                <a:moveTo>
                  <a:pt x="0" y="0"/>
                </a:moveTo>
                <a:lnTo>
                  <a:pt x="8098155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0584" y="926033"/>
            <a:ext cx="6731634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5">
                <a:solidFill>
                  <a:srgbClr val="404040"/>
                </a:solidFill>
              </a:rPr>
              <a:t>Mạch </a:t>
            </a:r>
            <a:r>
              <a:rPr dirty="0" sz="4800" spc="-40">
                <a:solidFill>
                  <a:srgbClr val="404040"/>
                </a:solidFill>
              </a:rPr>
              <a:t>tương đương </a:t>
            </a:r>
            <a:r>
              <a:rPr dirty="0" sz="4800" spc="-35">
                <a:solidFill>
                  <a:srgbClr val="404040"/>
                </a:solidFill>
              </a:rPr>
              <a:t>của</a:t>
            </a:r>
            <a:r>
              <a:rPr dirty="0" sz="4800" spc="-445">
                <a:solidFill>
                  <a:srgbClr val="404040"/>
                </a:solidFill>
              </a:rPr>
              <a:t> </a:t>
            </a:r>
            <a:r>
              <a:rPr dirty="0" sz="4800" spc="-45">
                <a:solidFill>
                  <a:srgbClr val="404040"/>
                </a:solidFill>
              </a:rPr>
              <a:t>BJT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4558029" y="6573898"/>
            <a:ext cx="4461510" cy="148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50"/>
              </a:lnSpc>
              <a:tabLst>
                <a:tab pos="4393565" algn="l"/>
              </a:tabLst>
            </a:pPr>
            <a:r>
              <a:rPr dirty="0" baseline="3086" sz="1350" spc="-15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baseline="3086" sz="1350">
                <a:solidFill>
                  <a:srgbClr val="FFFFFF"/>
                </a:solidFill>
                <a:latin typeface="Times New Roman"/>
                <a:cs typeface="Times New Roman"/>
              </a:rPr>
              <a:t>RỊNH</a:t>
            </a:r>
            <a:r>
              <a:rPr dirty="0" baseline="3086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3086" sz="1350" spc="-15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baseline="3086" sz="1350">
                <a:solidFill>
                  <a:srgbClr val="FFFFFF"/>
                </a:solidFill>
                <a:latin typeface="Times New Roman"/>
                <a:cs typeface="Times New Roman"/>
              </a:rPr>
              <a:t>Ê </a:t>
            </a:r>
            <a:r>
              <a:rPr dirty="0" baseline="3086" sz="1350" spc="-7">
                <a:solidFill>
                  <a:srgbClr val="FFFFFF"/>
                </a:solidFill>
                <a:latin typeface="Times New Roman"/>
                <a:cs typeface="Times New Roman"/>
              </a:rPr>
              <a:t>HU</a:t>
            </a:r>
            <a:r>
              <a:rPr dirty="0" baseline="3086" sz="1350">
                <a:solidFill>
                  <a:srgbClr val="FFFFFF"/>
                </a:solidFill>
                <a:latin typeface="Times New Roman"/>
                <a:cs typeface="Times New Roman"/>
              </a:rPr>
              <a:t>Y	</a:t>
            </a:r>
            <a:r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73779" y="3814570"/>
            <a:ext cx="5539739" cy="30434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8283" y="2781237"/>
            <a:ext cx="1867217" cy="25611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32276" y="1840992"/>
            <a:ext cx="4131564" cy="20345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33472" y="3354323"/>
            <a:ext cx="1099185" cy="1173480"/>
          </a:xfrm>
          <a:custGeom>
            <a:avLst/>
            <a:gdLst/>
            <a:ahLst/>
            <a:cxnLst/>
            <a:rect l="l" t="t" r="r" b="b"/>
            <a:pathLst>
              <a:path w="1099185" h="1173479">
                <a:moveTo>
                  <a:pt x="549401" y="0"/>
                </a:moveTo>
                <a:lnTo>
                  <a:pt x="549401" y="293369"/>
                </a:lnTo>
                <a:lnTo>
                  <a:pt x="0" y="293369"/>
                </a:lnTo>
                <a:lnTo>
                  <a:pt x="0" y="880109"/>
                </a:lnTo>
                <a:lnTo>
                  <a:pt x="549401" y="880109"/>
                </a:lnTo>
                <a:lnTo>
                  <a:pt x="549401" y="1173480"/>
                </a:lnTo>
                <a:lnTo>
                  <a:pt x="1098803" y="586739"/>
                </a:lnTo>
                <a:lnTo>
                  <a:pt x="549401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33472" y="3354323"/>
            <a:ext cx="1099185" cy="1173480"/>
          </a:xfrm>
          <a:custGeom>
            <a:avLst/>
            <a:gdLst/>
            <a:ahLst/>
            <a:cxnLst/>
            <a:rect l="l" t="t" r="r" b="b"/>
            <a:pathLst>
              <a:path w="1099185" h="1173479">
                <a:moveTo>
                  <a:pt x="0" y="293369"/>
                </a:moveTo>
                <a:lnTo>
                  <a:pt x="549401" y="293369"/>
                </a:lnTo>
                <a:lnTo>
                  <a:pt x="549401" y="0"/>
                </a:lnTo>
                <a:lnTo>
                  <a:pt x="1098803" y="586739"/>
                </a:lnTo>
                <a:lnTo>
                  <a:pt x="549401" y="1173480"/>
                </a:lnTo>
                <a:lnTo>
                  <a:pt x="549401" y="880109"/>
                </a:lnTo>
                <a:lnTo>
                  <a:pt x="0" y="880109"/>
                </a:lnTo>
                <a:lnTo>
                  <a:pt x="0" y="293369"/>
                </a:lnTo>
                <a:close/>
              </a:path>
            </a:pathLst>
          </a:custGeom>
          <a:ln w="15240">
            <a:solidFill>
              <a:srgbClr val="6E94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129244" y="2573317"/>
            <a:ext cx="1593799" cy="6832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8693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2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185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4800" spc="-33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2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4800" spc="-195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4800" spc="-5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935">
                <a:solidFill>
                  <a:srgbClr val="404040"/>
                </a:solidFill>
                <a:latin typeface="Arial"/>
                <a:cs typeface="Arial"/>
              </a:rPr>
              <a:t>CE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6991" y="2109216"/>
            <a:ext cx="3185160" cy="4181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807458" y="5648959"/>
            <a:ext cx="29229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I</a:t>
            </a:r>
            <a:r>
              <a:rPr dirty="0" baseline="-20833" sz="2400" spc="-7">
                <a:latin typeface="Times New Roman"/>
                <a:cs typeface="Times New Roman"/>
              </a:rPr>
              <a:t>E</a:t>
            </a:r>
            <a:r>
              <a:rPr dirty="0" sz="2400" spc="-5">
                <a:latin typeface="Times New Roman"/>
                <a:cs typeface="Times New Roman"/>
              </a:rPr>
              <a:t>, I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, V</a:t>
            </a:r>
            <a:r>
              <a:rPr dirty="0" baseline="-20833" sz="2400" spc="-7">
                <a:latin typeface="Times New Roman"/>
                <a:cs typeface="Times New Roman"/>
              </a:rPr>
              <a:t>E</a:t>
            </a:r>
            <a:r>
              <a:rPr dirty="0" sz="2400" spc="-5">
                <a:latin typeface="Times New Roman"/>
                <a:cs typeface="Times New Roman"/>
              </a:rPr>
              <a:t>, V</a:t>
            </a:r>
            <a:r>
              <a:rPr dirty="0" baseline="-20833" sz="2400" spc="-7">
                <a:latin typeface="Times New Roman"/>
                <a:cs typeface="Times New Roman"/>
              </a:rPr>
              <a:t>B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19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86529" y="1987342"/>
            <a:ext cx="6211675" cy="33809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17391" y="2039111"/>
            <a:ext cx="1000506" cy="7871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39184" y="2039111"/>
            <a:ext cx="1119377" cy="7871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81371" y="2039111"/>
            <a:ext cx="960881" cy="7871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75147" y="2039111"/>
            <a:ext cx="585977" cy="7871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726560" y="2131009"/>
            <a:ext cx="20021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Tín hiệu</a:t>
            </a:r>
            <a:r>
              <a:rPr dirty="0" sz="2800" spc="-7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lớn!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fld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8693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2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185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4800" spc="-33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2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4800" spc="-195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4800" spc="-5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935">
                <a:solidFill>
                  <a:srgbClr val="404040"/>
                </a:solidFill>
                <a:latin typeface="Arial"/>
                <a:cs typeface="Arial"/>
              </a:rPr>
              <a:t>CE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4226" y="5594096"/>
            <a:ext cx="34791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R</a:t>
            </a:r>
            <a:r>
              <a:rPr dirty="0" baseline="-20833" sz="2400" spc="-7">
                <a:latin typeface="Times New Roman"/>
                <a:cs typeface="Times New Roman"/>
              </a:rPr>
              <a:t>in(base)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>
                <a:latin typeface="Times New Roman"/>
                <a:cs typeface="Times New Roman"/>
              </a:rPr>
              <a:t>R</a:t>
            </a:r>
            <a:r>
              <a:rPr dirty="0" baseline="-20833" sz="2400">
                <a:latin typeface="Times New Roman"/>
                <a:cs typeface="Times New Roman"/>
              </a:rPr>
              <a:t>in</a:t>
            </a:r>
            <a:r>
              <a:rPr dirty="0" sz="2400">
                <a:latin typeface="Times New Roman"/>
                <a:cs typeface="Times New Roman"/>
              </a:rPr>
              <a:t>, </a:t>
            </a:r>
            <a:r>
              <a:rPr dirty="0" sz="2400" spc="-100">
                <a:latin typeface="Times New Roman"/>
                <a:cs typeface="Times New Roman"/>
              </a:rPr>
              <a:t>A</a:t>
            </a:r>
            <a:r>
              <a:rPr dirty="0" baseline="-20833" sz="2400" spc="-150">
                <a:latin typeface="Times New Roman"/>
                <a:cs typeface="Times New Roman"/>
              </a:rPr>
              <a:t>v</a:t>
            </a:r>
            <a:r>
              <a:rPr dirty="0" sz="2400" spc="-10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i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30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p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0311" y="1888235"/>
            <a:ext cx="3168395" cy="44714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86529" y="1987342"/>
            <a:ext cx="6211675" cy="33809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29584" y="1857755"/>
            <a:ext cx="1000506" cy="7871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51376" y="1857755"/>
            <a:ext cx="1119377" cy="7871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93564" y="1857755"/>
            <a:ext cx="1041653" cy="7871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68111" y="1857755"/>
            <a:ext cx="585977" cy="7871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738498" y="1949576"/>
            <a:ext cx="20828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Tín 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hiệu</a:t>
            </a:r>
            <a:r>
              <a:rPr dirty="0" sz="2800" spc="-5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nhỏ!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fld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8693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2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185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4800" spc="-33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2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4800" spc="-195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4800" spc="-5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935">
                <a:solidFill>
                  <a:srgbClr val="404040"/>
                </a:solidFill>
                <a:latin typeface="Arial"/>
                <a:cs typeface="Arial"/>
              </a:rPr>
              <a:t>CE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283" y="3047238"/>
            <a:ext cx="34791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I</a:t>
            </a:r>
            <a:r>
              <a:rPr dirty="0" baseline="-20833" sz="2400" spc="-7">
                <a:latin typeface="Times New Roman"/>
                <a:cs typeface="Times New Roman"/>
              </a:rPr>
              <a:t>E</a:t>
            </a:r>
            <a:r>
              <a:rPr dirty="0" sz="2400" spc="-5">
                <a:latin typeface="Times New Roman"/>
                <a:cs typeface="Times New Roman"/>
              </a:rPr>
              <a:t>, I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 spc="-10">
                <a:latin typeface="Times New Roman"/>
                <a:cs typeface="Times New Roman"/>
              </a:rPr>
              <a:t>V</a:t>
            </a:r>
            <a:r>
              <a:rPr dirty="0" baseline="-20833" sz="2400" spc="-15">
                <a:latin typeface="Times New Roman"/>
                <a:cs typeface="Times New Roman"/>
              </a:rPr>
              <a:t>E</a:t>
            </a:r>
            <a:r>
              <a:rPr dirty="0" sz="2400" spc="-1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B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1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R</a:t>
            </a:r>
            <a:r>
              <a:rPr dirty="0" baseline="-20833" sz="2400" spc="-7">
                <a:latin typeface="Times New Roman"/>
                <a:cs typeface="Times New Roman"/>
              </a:rPr>
              <a:t>in(base)</a:t>
            </a:r>
            <a:r>
              <a:rPr dirty="0" sz="2400" spc="-5">
                <a:latin typeface="Times New Roman"/>
                <a:cs typeface="Times New Roman"/>
              </a:rPr>
              <a:t>, R</a:t>
            </a:r>
            <a:r>
              <a:rPr dirty="0" baseline="-20833" sz="2400" spc="-7">
                <a:latin typeface="Times New Roman"/>
                <a:cs typeface="Times New Roman"/>
              </a:rPr>
              <a:t>in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 spc="-100">
                <a:latin typeface="Times New Roman"/>
                <a:cs typeface="Times New Roman"/>
              </a:rPr>
              <a:t>A</a:t>
            </a:r>
            <a:r>
              <a:rPr dirty="0" baseline="-20833" sz="2400" spc="-150">
                <a:latin typeface="Times New Roman"/>
                <a:cs typeface="Times New Roman"/>
              </a:rPr>
              <a:t>v</a:t>
            </a:r>
            <a:r>
              <a:rPr dirty="0" sz="2400" spc="-10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i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27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p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68420" y="2148860"/>
            <a:ext cx="4571651" cy="38960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fld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8693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2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185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4800" spc="-33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2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4800" spc="-195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4800" spc="-5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935">
                <a:solidFill>
                  <a:srgbClr val="404040"/>
                </a:solidFill>
                <a:latin typeface="Arial"/>
                <a:cs typeface="Arial"/>
              </a:rPr>
              <a:t>CE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18499" y="1956803"/>
            <a:ext cx="6201493" cy="4143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1451" y="2380234"/>
            <a:ext cx="34791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I</a:t>
            </a:r>
            <a:r>
              <a:rPr dirty="0" baseline="-20833" sz="2400" spc="-7">
                <a:latin typeface="Times New Roman"/>
                <a:cs typeface="Times New Roman"/>
              </a:rPr>
              <a:t>E</a:t>
            </a:r>
            <a:r>
              <a:rPr dirty="0" sz="2400" spc="-5">
                <a:latin typeface="Times New Roman"/>
                <a:cs typeface="Times New Roman"/>
              </a:rPr>
              <a:t>, I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 spc="-10">
                <a:latin typeface="Times New Roman"/>
                <a:cs typeface="Times New Roman"/>
              </a:rPr>
              <a:t>V</a:t>
            </a:r>
            <a:r>
              <a:rPr dirty="0" baseline="-20833" sz="2400" spc="-15">
                <a:latin typeface="Times New Roman"/>
                <a:cs typeface="Times New Roman"/>
              </a:rPr>
              <a:t>E</a:t>
            </a:r>
            <a:r>
              <a:rPr dirty="0" sz="2400" spc="-1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B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1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R</a:t>
            </a:r>
            <a:r>
              <a:rPr dirty="0" baseline="-20833" sz="2400" spc="-7">
                <a:latin typeface="Times New Roman"/>
                <a:cs typeface="Times New Roman"/>
              </a:rPr>
              <a:t>in(base)</a:t>
            </a:r>
            <a:r>
              <a:rPr dirty="0" sz="2400" spc="-5">
                <a:latin typeface="Times New Roman"/>
                <a:cs typeface="Times New Roman"/>
              </a:rPr>
              <a:t>, R</a:t>
            </a:r>
            <a:r>
              <a:rPr dirty="0" baseline="-20833" sz="2400" spc="-7">
                <a:latin typeface="Times New Roman"/>
                <a:cs typeface="Times New Roman"/>
              </a:rPr>
              <a:t>in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 spc="-100">
                <a:latin typeface="Times New Roman"/>
                <a:cs typeface="Times New Roman"/>
              </a:rPr>
              <a:t>A</a:t>
            </a:r>
            <a:r>
              <a:rPr dirty="0" baseline="-20833" sz="2400" spc="-150">
                <a:latin typeface="Times New Roman"/>
                <a:cs typeface="Times New Roman"/>
              </a:rPr>
              <a:t>v</a:t>
            </a:r>
            <a:r>
              <a:rPr dirty="0" sz="2400" spc="-10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i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27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p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fld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8693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2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185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4800" spc="-33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2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4800" spc="-195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4800" spc="-5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935">
                <a:solidFill>
                  <a:srgbClr val="404040"/>
                </a:solidFill>
                <a:latin typeface="Arial"/>
                <a:cs typeface="Arial"/>
              </a:rPr>
              <a:t>CE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56988" y="2061192"/>
            <a:ext cx="4858431" cy="41430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41451" y="2380234"/>
            <a:ext cx="404622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I</a:t>
            </a:r>
            <a:r>
              <a:rPr dirty="0" baseline="-20833" sz="2400" spc="-7">
                <a:latin typeface="Times New Roman"/>
                <a:cs typeface="Times New Roman"/>
              </a:rPr>
              <a:t>E</a:t>
            </a:r>
            <a:r>
              <a:rPr dirty="0" sz="2400" spc="-5">
                <a:latin typeface="Times New Roman"/>
                <a:cs typeface="Times New Roman"/>
              </a:rPr>
              <a:t>, I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 spc="-10">
                <a:latin typeface="Times New Roman"/>
                <a:cs typeface="Times New Roman"/>
              </a:rPr>
              <a:t>V</a:t>
            </a:r>
            <a:r>
              <a:rPr dirty="0" baseline="-20833" sz="2400" spc="-15">
                <a:latin typeface="Times New Roman"/>
                <a:cs typeface="Times New Roman"/>
              </a:rPr>
              <a:t>E</a:t>
            </a:r>
            <a:r>
              <a:rPr dirty="0" sz="2400" spc="-1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B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13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R</a:t>
            </a:r>
            <a:r>
              <a:rPr dirty="0" baseline="-20833" sz="2400" spc="-7">
                <a:latin typeface="Times New Roman"/>
                <a:cs typeface="Times New Roman"/>
              </a:rPr>
              <a:t>in(base)</a:t>
            </a:r>
            <a:r>
              <a:rPr dirty="0" sz="2400" spc="-5">
                <a:latin typeface="Times New Roman"/>
                <a:cs typeface="Times New Roman"/>
              </a:rPr>
              <a:t>, R</a:t>
            </a:r>
            <a:r>
              <a:rPr dirty="0" baseline="-20833" sz="2400" spc="-7">
                <a:latin typeface="Times New Roman"/>
                <a:cs typeface="Times New Roman"/>
              </a:rPr>
              <a:t>in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 spc="-100">
                <a:latin typeface="Times New Roman"/>
                <a:cs typeface="Times New Roman"/>
              </a:rPr>
              <a:t>A</a:t>
            </a:r>
            <a:r>
              <a:rPr dirty="0" baseline="-20833" sz="2400" spc="-150">
                <a:latin typeface="Times New Roman"/>
                <a:cs typeface="Times New Roman"/>
              </a:rPr>
              <a:t>v</a:t>
            </a:r>
            <a:r>
              <a:rPr dirty="0" sz="2400" spc="-10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i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 spc="-10">
                <a:latin typeface="Times New Roman"/>
                <a:cs typeface="Times New Roman"/>
              </a:rPr>
              <a:t>A</a:t>
            </a:r>
            <a:r>
              <a:rPr dirty="0" baseline="-20833" sz="2400" spc="-15">
                <a:latin typeface="Times New Roman"/>
                <a:cs typeface="Times New Roman"/>
              </a:rPr>
              <a:t>p</a:t>
            </a:r>
            <a:r>
              <a:rPr dirty="0" baseline="-20833" sz="2400" spc="-67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khi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biến trở </a:t>
            </a:r>
            <a:r>
              <a:rPr dirty="0" sz="2400" spc="-5">
                <a:latin typeface="Times New Roman"/>
                <a:cs typeface="Times New Roman"/>
              </a:rPr>
              <a:t>R</a:t>
            </a:r>
            <a:r>
              <a:rPr dirty="0" baseline="-20833" sz="2400" spc="-7">
                <a:latin typeface="Times New Roman"/>
                <a:cs typeface="Times New Roman"/>
              </a:rPr>
              <a:t>E </a:t>
            </a:r>
            <a:r>
              <a:rPr dirty="0" sz="2400">
                <a:latin typeface="Times New Roman"/>
                <a:cs typeface="Times New Roman"/>
              </a:rPr>
              <a:t>thay đổi từ 0 đến</a:t>
            </a:r>
            <a:r>
              <a:rPr dirty="0" sz="2400" spc="-3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fld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18693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2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185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4800" spc="-33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2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4800" spc="-195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4800" spc="-5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935">
                <a:solidFill>
                  <a:srgbClr val="404040"/>
                </a:solidFill>
                <a:latin typeface="Arial"/>
                <a:cs typeface="Arial"/>
              </a:rPr>
              <a:t>CE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58029" y="6583324"/>
            <a:ext cx="793115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80"/>
              </a:lnSpc>
            </a:pP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dirty="0" sz="9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" spc="-5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1539" y="2619754"/>
            <a:ext cx="7921752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7173" y="1786254"/>
            <a:ext cx="403225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Tóm lại </a:t>
            </a:r>
            <a:r>
              <a:rPr dirty="0" sz="2400" spc="-5">
                <a:latin typeface="Times New Roman"/>
                <a:cs typeface="Times New Roman"/>
              </a:rPr>
              <a:t>mạch </a:t>
            </a:r>
            <a:r>
              <a:rPr dirty="0" sz="2400">
                <a:latin typeface="Times New Roman"/>
                <a:cs typeface="Times New Roman"/>
              </a:rPr>
              <a:t>khuếch đại CE</a:t>
            </a:r>
            <a:r>
              <a:rPr dirty="0" sz="2400" spc="-1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có: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- </a:t>
            </a:r>
            <a:r>
              <a:rPr dirty="0" sz="2400" spc="-5">
                <a:latin typeface="Times New Roman"/>
                <a:cs typeface="Times New Roman"/>
              </a:rPr>
              <a:t>Hệ </a:t>
            </a:r>
            <a:r>
              <a:rPr dirty="0" sz="2400">
                <a:latin typeface="Times New Roman"/>
                <a:cs typeface="Times New Roman"/>
              </a:rPr>
              <a:t>số khuếch đại áp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cao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- </a:t>
            </a:r>
            <a:r>
              <a:rPr dirty="0" sz="2400" spc="-5">
                <a:latin typeface="Times New Roman"/>
                <a:cs typeface="Times New Roman"/>
              </a:rPr>
              <a:t>Hệ </a:t>
            </a:r>
            <a:r>
              <a:rPr dirty="0" sz="2400">
                <a:latin typeface="Times New Roman"/>
                <a:cs typeface="Times New Roman"/>
              </a:rPr>
              <a:t>số khuếch đại dòng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26830" y="6561198"/>
            <a:ext cx="118110" cy="17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 sz="105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fld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21550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2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185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4800" spc="-33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2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4800" spc="-195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4800" spc="-5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955">
                <a:solidFill>
                  <a:srgbClr val="404040"/>
                </a:solidFill>
                <a:latin typeface="Arial"/>
                <a:cs typeface="Arial"/>
              </a:rPr>
              <a:t>CC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244" y="2709672"/>
            <a:ext cx="2008632" cy="2734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12880" y="2519498"/>
            <a:ext cx="5333256" cy="32183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746630" y="1847469"/>
            <a:ext cx="347916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I</a:t>
            </a:r>
            <a:r>
              <a:rPr dirty="0" baseline="-20833" sz="2400" spc="-7">
                <a:latin typeface="Times New Roman"/>
                <a:cs typeface="Times New Roman"/>
              </a:rPr>
              <a:t>E</a:t>
            </a:r>
            <a:r>
              <a:rPr dirty="0" sz="2400" spc="-5">
                <a:latin typeface="Times New Roman"/>
                <a:cs typeface="Times New Roman"/>
              </a:rPr>
              <a:t>, I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 spc="-10">
                <a:latin typeface="Times New Roman"/>
                <a:cs typeface="Times New Roman"/>
              </a:rPr>
              <a:t>V</a:t>
            </a:r>
            <a:r>
              <a:rPr dirty="0" baseline="-20833" sz="2400" spc="-15">
                <a:latin typeface="Times New Roman"/>
                <a:cs typeface="Times New Roman"/>
              </a:rPr>
              <a:t>E</a:t>
            </a:r>
            <a:r>
              <a:rPr dirty="0" sz="2400" spc="-1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B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1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R</a:t>
            </a:r>
            <a:r>
              <a:rPr dirty="0" baseline="-20833" sz="2400" spc="-7">
                <a:latin typeface="Times New Roman"/>
                <a:cs typeface="Times New Roman"/>
              </a:rPr>
              <a:t>in(base)</a:t>
            </a:r>
            <a:r>
              <a:rPr dirty="0" sz="2400" spc="-5">
                <a:latin typeface="Times New Roman"/>
                <a:cs typeface="Times New Roman"/>
              </a:rPr>
              <a:t>, R</a:t>
            </a:r>
            <a:r>
              <a:rPr dirty="0" baseline="-20833" sz="2400" spc="-7">
                <a:latin typeface="Times New Roman"/>
                <a:cs typeface="Times New Roman"/>
              </a:rPr>
              <a:t>in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 spc="-100">
                <a:latin typeface="Times New Roman"/>
                <a:cs typeface="Times New Roman"/>
              </a:rPr>
              <a:t>A</a:t>
            </a:r>
            <a:r>
              <a:rPr dirty="0" baseline="-20833" sz="2400" spc="-150">
                <a:latin typeface="Times New Roman"/>
                <a:cs typeface="Times New Roman"/>
              </a:rPr>
              <a:t>v</a:t>
            </a:r>
            <a:r>
              <a:rPr dirty="0" sz="2400" spc="-10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i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27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p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63851" y="4332730"/>
            <a:ext cx="2654807" cy="24917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21550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2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185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4800" spc="-33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2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4800" spc="-195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4800" spc="-5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955">
                <a:solidFill>
                  <a:srgbClr val="404040"/>
                </a:solidFill>
                <a:latin typeface="Arial"/>
                <a:cs typeface="Arial"/>
              </a:rPr>
              <a:t>CC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4324" y="2678684"/>
            <a:ext cx="347916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I</a:t>
            </a:r>
            <a:r>
              <a:rPr dirty="0" baseline="-20833" sz="2400" spc="-7">
                <a:latin typeface="Times New Roman"/>
                <a:cs typeface="Times New Roman"/>
              </a:rPr>
              <a:t>E</a:t>
            </a:r>
            <a:r>
              <a:rPr dirty="0" sz="2400" spc="-5">
                <a:latin typeface="Times New Roman"/>
                <a:cs typeface="Times New Roman"/>
              </a:rPr>
              <a:t>, I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 spc="-10">
                <a:latin typeface="Times New Roman"/>
                <a:cs typeface="Times New Roman"/>
              </a:rPr>
              <a:t>V</a:t>
            </a:r>
            <a:r>
              <a:rPr dirty="0" baseline="-20833" sz="2400" spc="-15">
                <a:latin typeface="Times New Roman"/>
                <a:cs typeface="Times New Roman"/>
              </a:rPr>
              <a:t>E</a:t>
            </a:r>
            <a:r>
              <a:rPr dirty="0" sz="2400" spc="-1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B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1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R</a:t>
            </a:r>
            <a:r>
              <a:rPr dirty="0" baseline="-20833" sz="2400" spc="-7">
                <a:latin typeface="Times New Roman"/>
                <a:cs typeface="Times New Roman"/>
              </a:rPr>
              <a:t>in(base)</a:t>
            </a:r>
            <a:r>
              <a:rPr dirty="0" sz="2400" spc="-5">
                <a:latin typeface="Times New Roman"/>
                <a:cs typeface="Times New Roman"/>
              </a:rPr>
              <a:t>, R</a:t>
            </a:r>
            <a:r>
              <a:rPr dirty="0" baseline="-20833" sz="2400" spc="-7">
                <a:latin typeface="Times New Roman"/>
                <a:cs typeface="Times New Roman"/>
              </a:rPr>
              <a:t>in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 spc="-100">
                <a:latin typeface="Times New Roman"/>
                <a:cs typeface="Times New Roman"/>
              </a:rPr>
              <a:t>A</a:t>
            </a:r>
            <a:r>
              <a:rPr dirty="0" baseline="-20833" sz="2400" spc="-150">
                <a:latin typeface="Times New Roman"/>
                <a:cs typeface="Times New Roman"/>
              </a:rPr>
              <a:t>v</a:t>
            </a:r>
            <a:r>
              <a:rPr dirty="0" sz="2400" spc="-10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i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2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p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29193" y="2028063"/>
            <a:ext cx="4123973" cy="4171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721550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25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dirty="0" sz="4800" spc="-185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dirty="0" sz="4800" spc="-33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dirty="0" sz="4800" spc="-285">
                <a:solidFill>
                  <a:srgbClr val="404040"/>
                </a:solidFill>
                <a:latin typeface="Arial"/>
                <a:cs typeface="Arial"/>
              </a:rPr>
              <a:t>khuếch </a:t>
            </a:r>
            <a:r>
              <a:rPr dirty="0" sz="4800" spc="-195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dirty="0" sz="4800" spc="-535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955">
                <a:solidFill>
                  <a:srgbClr val="404040"/>
                </a:solidFill>
                <a:latin typeface="Arial"/>
                <a:cs typeface="Arial"/>
              </a:rPr>
              <a:t>CC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032" y="1767078"/>
            <a:ext cx="416369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Tóm lại </a:t>
            </a:r>
            <a:r>
              <a:rPr dirty="0" sz="2400" spc="-5">
                <a:latin typeface="Times New Roman"/>
                <a:cs typeface="Times New Roman"/>
              </a:rPr>
              <a:t>mạch </a:t>
            </a:r>
            <a:r>
              <a:rPr dirty="0" sz="2400">
                <a:latin typeface="Times New Roman"/>
                <a:cs typeface="Times New Roman"/>
              </a:rPr>
              <a:t>khuếch đại </a:t>
            </a:r>
            <a:r>
              <a:rPr dirty="0" sz="2400" spc="-5">
                <a:latin typeface="Times New Roman"/>
                <a:cs typeface="Times New Roman"/>
              </a:rPr>
              <a:t>CC</a:t>
            </a:r>
            <a:r>
              <a:rPr dirty="0" sz="2400" spc="-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có:</a:t>
            </a:r>
            <a:endParaRPr sz="2400">
              <a:latin typeface="Times New Roman"/>
              <a:cs typeface="Times New Roman"/>
            </a:endParaRPr>
          </a:p>
          <a:p>
            <a:pPr marL="266700" indent="-177800">
              <a:lnSpc>
                <a:spcPct val="100000"/>
              </a:lnSpc>
              <a:buChar char="-"/>
              <a:tabLst>
                <a:tab pos="267335" algn="l"/>
              </a:tabLst>
            </a:pPr>
            <a:r>
              <a:rPr dirty="0" sz="2400" spc="-5">
                <a:latin typeface="Times New Roman"/>
                <a:cs typeface="Times New Roman"/>
              </a:rPr>
              <a:t>Hệ </a:t>
            </a:r>
            <a:r>
              <a:rPr dirty="0" sz="2400">
                <a:latin typeface="Times New Roman"/>
                <a:cs typeface="Times New Roman"/>
              </a:rPr>
              <a:t>số khuếch đại áp gần bằng</a:t>
            </a:r>
            <a:r>
              <a:rPr dirty="0" sz="2400" spc="-11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266700" indent="-177800">
              <a:lnSpc>
                <a:spcPct val="100000"/>
              </a:lnSpc>
              <a:buChar char="-"/>
              <a:tabLst>
                <a:tab pos="267335" algn="l"/>
              </a:tabLst>
            </a:pPr>
            <a:r>
              <a:rPr dirty="0" sz="2400" spc="-5">
                <a:latin typeface="Times New Roman"/>
                <a:cs typeface="Times New Roman"/>
              </a:rPr>
              <a:t>Điện </a:t>
            </a:r>
            <a:r>
              <a:rPr dirty="0" sz="2400">
                <a:latin typeface="Times New Roman"/>
                <a:cs typeface="Times New Roman"/>
              </a:rPr>
              <a:t>trở đầu vào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lớn</a:t>
            </a:r>
            <a:endParaRPr sz="2400">
              <a:latin typeface="Times New Roman"/>
              <a:cs typeface="Times New Roman"/>
            </a:endParaRPr>
          </a:p>
          <a:p>
            <a:pPr marL="266700" indent="-177800">
              <a:lnSpc>
                <a:spcPct val="100000"/>
              </a:lnSpc>
              <a:buChar char="-"/>
              <a:tabLst>
                <a:tab pos="267335" algn="l"/>
              </a:tabLst>
            </a:pPr>
            <a:r>
              <a:rPr dirty="0" sz="2400" spc="-5">
                <a:latin typeface="Times New Roman"/>
                <a:cs typeface="Times New Roman"/>
              </a:rPr>
              <a:t>Hệ </a:t>
            </a:r>
            <a:r>
              <a:rPr dirty="0" sz="2400">
                <a:latin typeface="Times New Roman"/>
                <a:cs typeface="Times New Roman"/>
              </a:rPr>
              <a:t>số khuếch đại dòng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1547" y="3428189"/>
            <a:ext cx="7201067" cy="26467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2982544"/>
            <a:ext cx="8047990" cy="1245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034655" algn="l"/>
              </a:tabLst>
            </a:pPr>
            <a:r>
              <a:rPr dirty="0" u="sng" sz="8000" spc="-59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  <a:latin typeface="Arial"/>
                <a:cs typeface="Arial"/>
              </a:rPr>
              <a:t>Thank</a:t>
            </a:r>
            <a:r>
              <a:rPr dirty="0" u="sng" sz="8000" spc="-61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  <a:latin typeface="Arial"/>
                <a:cs typeface="Arial"/>
              </a:rPr>
              <a:t> </a:t>
            </a:r>
            <a:r>
              <a:rPr dirty="0" u="sng" sz="8000" spc="-225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  <a:latin typeface="Arial"/>
                <a:cs typeface="Arial"/>
              </a:rPr>
              <a:t>you!	</a:t>
            </a:r>
            <a:endParaRPr sz="8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402272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60">
                <a:solidFill>
                  <a:srgbClr val="404040"/>
                </a:solidFill>
                <a:latin typeface="Arial"/>
                <a:cs typeface="Arial"/>
              </a:rPr>
              <a:t>Kiểm </a:t>
            </a:r>
            <a:r>
              <a:rPr dirty="0" sz="4800" spc="-105">
                <a:solidFill>
                  <a:srgbClr val="404040"/>
                </a:solidFill>
                <a:latin typeface="Arial"/>
                <a:cs typeface="Arial"/>
              </a:rPr>
              <a:t>tra </a:t>
            </a:r>
            <a:r>
              <a:rPr dirty="0" sz="4800" spc="-265">
                <a:solidFill>
                  <a:srgbClr val="404040"/>
                </a:solidFill>
                <a:latin typeface="Arial"/>
                <a:cs typeface="Arial"/>
              </a:rPr>
              <a:t>15</a:t>
            </a:r>
            <a:r>
              <a:rPr dirty="0" sz="4800" spc="-6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120">
                <a:solidFill>
                  <a:srgbClr val="404040"/>
                </a:solidFill>
                <a:latin typeface="Arial"/>
                <a:cs typeface="Arial"/>
              </a:rPr>
              <a:t>phút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07825" y="2154701"/>
            <a:ext cx="5837799" cy="3177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20973" y="5421883"/>
            <a:ext cx="34791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I</a:t>
            </a:r>
            <a:r>
              <a:rPr dirty="0" baseline="-20833" sz="2400" spc="-7">
                <a:latin typeface="Times New Roman"/>
                <a:cs typeface="Times New Roman"/>
              </a:rPr>
              <a:t>E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baseline="-20833" sz="2400">
                <a:latin typeface="Times New Roman"/>
                <a:cs typeface="Times New Roman"/>
              </a:rPr>
              <a:t>C</a:t>
            </a:r>
            <a:r>
              <a:rPr dirty="0" sz="2400">
                <a:latin typeface="Times New Roman"/>
                <a:cs typeface="Times New Roman"/>
              </a:rPr>
              <a:t>, </a:t>
            </a:r>
            <a:r>
              <a:rPr dirty="0" sz="2400" spc="-10">
                <a:latin typeface="Times New Roman"/>
                <a:cs typeface="Times New Roman"/>
              </a:rPr>
              <a:t>V</a:t>
            </a:r>
            <a:r>
              <a:rPr dirty="0" baseline="-20833" sz="2400" spc="-15">
                <a:latin typeface="Times New Roman"/>
                <a:cs typeface="Times New Roman"/>
              </a:rPr>
              <a:t>E</a:t>
            </a:r>
            <a:r>
              <a:rPr dirty="0" sz="2400" spc="-1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B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15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trike="sngStrike">
                <a:latin typeface="Times New Roman"/>
                <a:cs typeface="Times New Roman"/>
              </a:rPr>
              <a:t>Tính </a:t>
            </a:r>
            <a:r>
              <a:rPr dirty="0" sz="2400" spc="-5" strike="sngStrike">
                <a:latin typeface="Times New Roman"/>
                <a:cs typeface="Times New Roman"/>
              </a:rPr>
              <a:t>R</a:t>
            </a:r>
            <a:r>
              <a:rPr dirty="0" baseline="-20833" sz="2400" spc="-7" strike="sngStrike">
                <a:latin typeface="Times New Roman"/>
                <a:cs typeface="Times New Roman"/>
              </a:rPr>
              <a:t>in(base)</a:t>
            </a:r>
            <a:r>
              <a:rPr dirty="0" sz="2400" spc="-5" strike="sngStrike">
                <a:latin typeface="Times New Roman"/>
                <a:cs typeface="Times New Roman"/>
              </a:rPr>
              <a:t>, R</a:t>
            </a:r>
            <a:r>
              <a:rPr dirty="0" baseline="-20833" sz="2400" spc="-7" strike="sngStrike">
                <a:latin typeface="Times New Roman"/>
                <a:cs typeface="Times New Roman"/>
              </a:rPr>
              <a:t>in</a:t>
            </a:r>
            <a:r>
              <a:rPr dirty="0" sz="2400" spc="-5" strike="sngStrike">
                <a:latin typeface="Times New Roman"/>
                <a:cs typeface="Times New Roman"/>
              </a:rPr>
              <a:t>, </a:t>
            </a:r>
            <a:r>
              <a:rPr dirty="0" sz="2400" spc="-100" strike="sngStrike">
                <a:latin typeface="Times New Roman"/>
                <a:cs typeface="Times New Roman"/>
              </a:rPr>
              <a:t>A</a:t>
            </a:r>
            <a:r>
              <a:rPr dirty="0" baseline="-20833" sz="2400" spc="-150" strike="sngStrike">
                <a:latin typeface="Times New Roman"/>
                <a:cs typeface="Times New Roman"/>
              </a:rPr>
              <a:t>v</a:t>
            </a:r>
            <a:r>
              <a:rPr dirty="0" sz="2400" spc="-100" strike="sngStrike">
                <a:latin typeface="Times New Roman"/>
                <a:cs typeface="Times New Roman"/>
              </a:rPr>
              <a:t>, </a:t>
            </a:r>
            <a:r>
              <a:rPr dirty="0" sz="2400" spc="-5" strike="sngStrike">
                <a:latin typeface="Times New Roman"/>
                <a:cs typeface="Times New Roman"/>
              </a:rPr>
              <a:t>A</a:t>
            </a:r>
            <a:r>
              <a:rPr dirty="0" baseline="-20833" sz="2400" spc="-7" strike="sngStrike">
                <a:latin typeface="Times New Roman"/>
                <a:cs typeface="Times New Roman"/>
              </a:rPr>
              <a:t>i</a:t>
            </a:r>
            <a:r>
              <a:rPr dirty="0" sz="2400" spc="-5" strike="sngStrike">
                <a:latin typeface="Times New Roman"/>
                <a:cs typeface="Times New Roman"/>
              </a:rPr>
              <a:t>,</a:t>
            </a:r>
            <a:r>
              <a:rPr dirty="0" sz="2400" spc="-270" strike="sngStrike">
                <a:latin typeface="Times New Roman"/>
                <a:cs typeface="Times New Roman"/>
              </a:rPr>
              <a:t> </a:t>
            </a:r>
            <a:r>
              <a:rPr dirty="0" sz="2400" spc="-5" strike="sngStrike">
                <a:latin typeface="Times New Roman"/>
                <a:cs typeface="Times New Roman"/>
              </a:rPr>
              <a:t>A</a:t>
            </a:r>
            <a:r>
              <a:rPr dirty="0" baseline="-20833" sz="2400" spc="-7" strike="sngStrike">
                <a:latin typeface="Times New Roman"/>
                <a:cs typeface="Times New Roman"/>
              </a:rPr>
              <a:t>p</a:t>
            </a:r>
            <a:r>
              <a:rPr dirty="0" sz="2400" spc="-5" strike="sngStrike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584" y="908380"/>
            <a:ext cx="402272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60">
                <a:solidFill>
                  <a:srgbClr val="404040"/>
                </a:solidFill>
                <a:latin typeface="Arial"/>
                <a:cs typeface="Arial"/>
              </a:rPr>
              <a:t>Kiểm </a:t>
            </a:r>
            <a:r>
              <a:rPr dirty="0" sz="4800" spc="-105">
                <a:solidFill>
                  <a:srgbClr val="404040"/>
                </a:solidFill>
                <a:latin typeface="Arial"/>
                <a:cs typeface="Arial"/>
              </a:rPr>
              <a:t>tra </a:t>
            </a:r>
            <a:r>
              <a:rPr dirty="0" sz="4800" spc="-265">
                <a:solidFill>
                  <a:srgbClr val="404040"/>
                </a:solidFill>
                <a:latin typeface="Arial"/>
                <a:cs typeface="Arial"/>
              </a:rPr>
              <a:t>15</a:t>
            </a:r>
            <a:r>
              <a:rPr dirty="0" sz="4800" spc="-66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4800" spc="-120">
                <a:solidFill>
                  <a:srgbClr val="404040"/>
                </a:solidFill>
                <a:latin typeface="Arial"/>
                <a:cs typeface="Arial"/>
              </a:rPr>
              <a:t>phút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4324" y="2678684"/>
            <a:ext cx="347916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I</a:t>
            </a:r>
            <a:r>
              <a:rPr dirty="0" baseline="-20833" sz="2400" spc="-7">
                <a:latin typeface="Times New Roman"/>
                <a:cs typeface="Times New Roman"/>
              </a:rPr>
              <a:t>E</a:t>
            </a:r>
            <a:r>
              <a:rPr dirty="0" sz="2400" spc="-5">
                <a:latin typeface="Times New Roman"/>
                <a:cs typeface="Times New Roman"/>
              </a:rPr>
              <a:t>, I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 spc="-10">
                <a:latin typeface="Times New Roman"/>
                <a:cs typeface="Times New Roman"/>
              </a:rPr>
              <a:t>V</a:t>
            </a:r>
            <a:r>
              <a:rPr dirty="0" baseline="-20833" sz="2400" spc="-15">
                <a:latin typeface="Times New Roman"/>
                <a:cs typeface="Times New Roman"/>
              </a:rPr>
              <a:t>E</a:t>
            </a:r>
            <a:r>
              <a:rPr dirty="0" sz="2400" spc="-1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B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145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V</a:t>
            </a:r>
            <a:r>
              <a:rPr dirty="0" baseline="-20833" sz="2400" spc="-7">
                <a:latin typeface="Times New Roman"/>
                <a:cs typeface="Times New Roman"/>
              </a:rPr>
              <a:t>C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Tính </a:t>
            </a:r>
            <a:r>
              <a:rPr dirty="0" sz="2400" spc="-5">
                <a:latin typeface="Times New Roman"/>
                <a:cs typeface="Times New Roman"/>
              </a:rPr>
              <a:t>R</a:t>
            </a:r>
            <a:r>
              <a:rPr dirty="0" baseline="-20833" sz="2400" spc="-7">
                <a:latin typeface="Times New Roman"/>
                <a:cs typeface="Times New Roman"/>
              </a:rPr>
              <a:t>in(base)</a:t>
            </a:r>
            <a:r>
              <a:rPr dirty="0" sz="2400" spc="-5">
                <a:latin typeface="Times New Roman"/>
                <a:cs typeface="Times New Roman"/>
              </a:rPr>
              <a:t>, R</a:t>
            </a:r>
            <a:r>
              <a:rPr dirty="0" baseline="-20833" sz="2400" spc="-7">
                <a:latin typeface="Times New Roman"/>
                <a:cs typeface="Times New Roman"/>
              </a:rPr>
              <a:t>in</a:t>
            </a:r>
            <a:r>
              <a:rPr dirty="0" sz="2400" spc="-5">
                <a:latin typeface="Times New Roman"/>
                <a:cs typeface="Times New Roman"/>
              </a:rPr>
              <a:t>, </a:t>
            </a:r>
            <a:r>
              <a:rPr dirty="0" sz="2400" spc="-100">
                <a:latin typeface="Times New Roman"/>
                <a:cs typeface="Times New Roman"/>
              </a:rPr>
              <a:t>A</a:t>
            </a:r>
            <a:r>
              <a:rPr dirty="0" baseline="-20833" sz="2400" spc="-150">
                <a:latin typeface="Times New Roman"/>
                <a:cs typeface="Times New Roman"/>
              </a:rPr>
              <a:t>v</a:t>
            </a:r>
            <a:r>
              <a:rPr dirty="0" sz="2400" spc="-100">
                <a:latin typeface="Times New Roman"/>
                <a:cs typeface="Times New Roman"/>
              </a:rPr>
              <a:t>,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i</a:t>
            </a:r>
            <a:r>
              <a:rPr dirty="0" sz="2400" spc="-5">
                <a:latin typeface="Times New Roman"/>
                <a:cs typeface="Times New Roman"/>
              </a:rPr>
              <a:t>,</a:t>
            </a:r>
            <a:r>
              <a:rPr dirty="0" sz="2400" spc="-280">
                <a:latin typeface="Times New Roman"/>
                <a:cs typeface="Times New Roman"/>
              </a:rPr>
              <a:t> </a:t>
            </a:r>
            <a:r>
              <a:rPr dirty="0" sz="2400" spc="-5">
                <a:latin typeface="Times New Roman"/>
                <a:cs typeface="Times New Roman"/>
              </a:rPr>
              <a:t>A</a:t>
            </a:r>
            <a:r>
              <a:rPr dirty="0" baseline="-20833" sz="2400" spc="-7">
                <a:latin typeface="Times New Roman"/>
                <a:cs typeface="Times New Roman"/>
              </a:rPr>
              <a:t>p</a:t>
            </a:r>
            <a:r>
              <a:rPr dirty="0" sz="2400" spc="-5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29193" y="2028063"/>
            <a:ext cx="4123973" cy="4171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TRỊNH LÊ</a:t>
            </a:r>
            <a:r>
              <a:rPr dirty="0" spc="-50"/>
              <a:t> </a:t>
            </a:r>
            <a:r>
              <a:rPr dirty="0" spc="-5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Kent Bertilsson</dc:creator>
  <dc:title>PowerPoint-presentation</dc:title>
  <dcterms:created xsi:type="dcterms:W3CDTF">2019-03-22T05:59:13Z</dcterms:created>
  <dcterms:modified xsi:type="dcterms:W3CDTF">2019-03-22T05:59:13Z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2019-03-16T00:00:00Z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2019-03-22T00:00:00Z</vt:filetime>
  </property>
</Properties>
</file>