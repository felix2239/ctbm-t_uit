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906000" cy="6858000" type="A4"/>
  <p:notesSz cx="9906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38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84" y="908380"/>
            <a:ext cx="5487035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0402" y="1664798"/>
            <a:ext cx="6221730" cy="2920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45329" y="6570624"/>
            <a:ext cx="81851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59773" y="6561198"/>
            <a:ext cx="1854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39" Type="http://schemas.openxmlformats.org/officeDocument/2006/relationships/image" Target="../media/image91.png"/><Relationship Id="rId21" Type="http://schemas.openxmlformats.org/officeDocument/2006/relationships/image" Target="../media/image73.png"/><Relationship Id="rId34" Type="http://schemas.openxmlformats.org/officeDocument/2006/relationships/image" Target="../media/image86.png"/><Relationship Id="rId42" Type="http://schemas.openxmlformats.org/officeDocument/2006/relationships/image" Target="../media/image94.png"/><Relationship Id="rId47" Type="http://schemas.openxmlformats.org/officeDocument/2006/relationships/image" Target="../media/image99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29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76.png"/><Relationship Id="rId32" Type="http://schemas.openxmlformats.org/officeDocument/2006/relationships/image" Target="../media/image84.png"/><Relationship Id="rId37" Type="http://schemas.openxmlformats.org/officeDocument/2006/relationships/image" Target="../media/image89.png"/><Relationship Id="rId40" Type="http://schemas.openxmlformats.org/officeDocument/2006/relationships/image" Target="../media/image92.png"/><Relationship Id="rId45" Type="http://schemas.openxmlformats.org/officeDocument/2006/relationships/image" Target="../media/image97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23" Type="http://schemas.openxmlformats.org/officeDocument/2006/relationships/image" Target="../media/image75.png"/><Relationship Id="rId28" Type="http://schemas.openxmlformats.org/officeDocument/2006/relationships/image" Target="../media/image80.png"/><Relationship Id="rId36" Type="http://schemas.openxmlformats.org/officeDocument/2006/relationships/image" Target="../media/image88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31" Type="http://schemas.openxmlformats.org/officeDocument/2006/relationships/image" Target="../media/image83.png"/><Relationship Id="rId44" Type="http://schemas.openxmlformats.org/officeDocument/2006/relationships/image" Target="../media/image96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Relationship Id="rId27" Type="http://schemas.openxmlformats.org/officeDocument/2006/relationships/image" Target="../media/image79.png"/><Relationship Id="rId30" Type="http://schemas.openxmlformats.org/officeDocument/2006/relationships/image" Target="../media/image82.png"/><Relationship Id="rId35" Type="http://schemas.openxmlformats.org/officeDocument/2006/relationships/image" Target="../media/image87.png"/><Relationship Id="rId43" Type="http://schemas.openxmlformats.org/officeDocument/2006/relationships/image" Target="../media/image95.png"/><Relationship Id="rId48" Type="http://schemas.openxmlformats.org/officeDocument/2006/relationships/image" Target="../media/image100.png"/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5" Type="http://schemas.openxmlformats.org/officeDocument/2006/relationships/image" Target="../media/image77.png"/><Relationship Id="rId33" Type="http://schemas.openxmlformats.org/officeDocument/2006/relationships/image" Target="../media/image85.png"/><Relationship Id="rId38" Type="http://schemas.openxmlformats.org/officeDocument/2006/relationships/image" Target="../media/image90.png"/><Relationship Id="rId46" Type="http://schemas.openxmlformats.org/officeDocument/2006/relationships/image" Target="../media/image98.png"/><Relationship Id="rId20" Type="http://schemas.openxmlformats.org/officeDocument/2006/relationships/image" Target="../media/image72.png"/><Relationship Id="rId41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26" Type="http://schemas.openxmlformats.org/officeDocument/2006/relationships/image" Target="../media/image125.png"/><Relationship Id="rId39" Type="http://schemas.openxmlformats.org/officeDocument/2006/relationships/image" Target="../media/image138.png"/><Relationship Id="rId21" Type="http://schemas.openxmlformats.org/officeDocument/2006/relationships/image" Target="../media/image120.png"/><Relationship Id="rId34" Type="http://schemas.openxmlformats.org/officeDocument/2006/relationships/image" Target="../media/image133.png"/><Relationship Id="rId42" Type="http://schemas.openxmlformats.org/officeDocument/2006/relationships/image" Target="../media/image141.png"/><Relationship Id="rId47" Type="http://schemas.openxmlformats.org/officeDocument/2006/relationships/image" Target="../media/image146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29" Type="http://schemas.openxmlformats.org/officeDocument/2006/relationships/image" Target="../media/image1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24" Type="http://schemas.openxmlformats.org/officeDocument/2006/relationships/image" Target="../media/image123.png"/><Relationship Id="rId32" Type="http://schemas.openxmlformats.org/officeDocument/2006/relationships/image" Target="../media/image131.png"/><Relationship Id="rId37" Type="http://schemas.openxmlformats.org/officeDocument/2006/relationships/image" Target="../media/image136.png"/><Relationship Id="rId40" Type="http://schemas.openxmlformats.org/officeDocument/2006/relationships/image" Target="../media/image139.png"/><Relationship Id="rId45" Type="http://schemas.openxmlformats.org/officeDocument/2006/relationships/image" Target="../media/image144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23" Type="http://schemas.openxmlformats.org/officeDocument/2006/relationships/image" Target="../media/image122.png"/><Relationship Id="rId28" Type="http://schemas.openxmlformats.org/officeDocument/2006/relationships/image" Target="../media/image127.png"/><Relationship Id="rId36" Type="http://schemas.openxmlformats.org/officeDocument/2006/relationships/image" Target="../media/image135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31" Type="http://schemas.openxmlformats.org/officeDocument/2006/relationships/image" Target="../media/image130.png"/><Relationship Id="rId44" Type="http://schemas.openxmlformats.org/officeDocument/2006/relationships/image" Target="../media/image143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Relationship Id="rId22" Type="http://schemas.openxmlformats.org/officeDocument/2006/relationships/image" Target="../media/image121.png"/><Relationship Id="rId27" Type="http://schemas.openxmlformats.org/officeDocument/2006/relationships/image" Target="../media/image126.png"/><Relationship Id="rId30" Type="http://schemas.openxmlformats.org/officeDocument/2006/relationships/image" Target="../media/image129.png"/><Relationship Id="rId35" Type="http://schemas.openxmlformats.org/officeDocument/2006/relationships/image" Target="../media/image134.png"/><Relationship Id="rId43" Type="http://schemas.openxmlformats.org/officeDocument/2006/relationships/image" Target="../media/image142.png"/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5" Type="http://schemas.openxmlformats.org/officeDocument/2006/relationships/image" Target="../media/image124.png"/><Relationship Id="rId33" Type="http://schemas.openxmlformats.org/officeDocument/2006/relationships/image" Target="../media/image132.png"/><Relationship Id="rId38" Type="http://schemas.openxmlformats.org/officeDocument/2006/relationships/image" Target="../media/image137.png"/><Relationship Id="rId46" Type="http://schemas.openxmlformats.org/officeDocument/2006/relationships/image" Target="../media/image145.png"/><Relationship Id="rId20" Type="http://schemas.openxmlformats.org/officeDocument/2006/relationships/image" Target="../media/image119.png"/><Relationship Id="rId41" Type="http://schemas.openxmlformats.org/officeDocument/2006/relationships/image" Target="../media/image140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26" Type="http://schemas.openxmlformats.org/officeDocument/2006/relationships/image" Target="../media/image170.png"/><Relationship Id="rId39" Type="http://schemas.openxmlformats.org/officeDocument/2006/relationships/image" Target="../media/image183.png"/><Relationship Id="rId21" Type="http://schemas.openxmlformats.org/officeDocument/2006/relationships/image" Target="../media/image166.png"/><Relationship Id="rId34" Type="http://schemas.openxmlformats.org/officeDocument/2006/relationships/image" Target="../media/image178.png"/><Relationship Id="rId42" Type="http://schemas.openxmlformats.org/officeDocument/2006/relationships/image" Target="../media/image186.png"/><Relationship Id="rId7" Type="http://schemas.openxmlformats.org/officeDocument/2006/relationships/image" Target="../media/image152.png"/><Relationship Id="rId2" Type="http://schemas.openxmlformats.org/officeDocument/2006/relationships/image" Target="../media/image147.png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29" Type="http://schemas.openxmlformats.org/officeDocument/2006/relationships/image" Target="../media/image173.png"/><Relationship Id="rId41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24" Type="http://schemas.openxmlformats.org/officeDocument/2006/relationships/image" Target="../media/image168.png"/><Relationship Id="rId32" Type="http://schemas.openxmlformats.org/officeDocument/2006/relationships/image" Target="../media/image176.png"/><Relationship Id="rId37" Type="http://schemas.openxmlformats.org/officeDocument/2006/relationships/image" Target="../media/image181.png"/><Relationship Id="rId40" Type="http://schemas.openxmlformats.org/officeDocument/2006/relationships/image" Target="../media/image184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23" Type="http://schemas.openxmlformats.org/officeDocument/2006/relationships/image" Target="../media/image167.png"/><Relationship Id="rId28" Type="http://schemas.openxmlformats.org/officeDocument/2006/relationships/image" Target="../media/image172.png"/><Relationship Id="rId36" Type="http://schemas.openxmlformats.org/officeDocument/2006/relationships/image" Target="../media/image180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31" Type="http://schemas.openxmlformats.org/officeDocument/2006/relationships/image" Target="../media/image17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Relationship Id="rId22" Type="http://schemas.openxmlformats.org/officeDocument/2006/relationships/image" Target="../media/image128.jpg"/><Relationship Id="rId27" Type="http://schemas.openxmlformats.org/officeDocument/2006/relationships/image" Target="../media/image171.png"/><Relationship Id="rId30" Type="http://schemas.openxmlformats.org/officeDocument/2006/relationships/image" Target="../media/image174.png"/><Relationship Id="rId35" Type="http://schemas.openxmlformats.org/officeDocument/2006/relationships/image" Target="../media/image179.png"/><Relationship Id="rId43" Type="http://schemas.openxmlformats.org/officeDocument/2006/relationships/image" Target="../media/image187.png"/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5" Type="http://schemas.openxmlformats.org/officeDocument/2006/relationships/image" Target="../media/image169.png"/><Relationship Id="rId33" Type="http://schemas.openxmlformats.org/officeDocument/2006/relationships/image" Target="../media/image177.png"/><Relationship Id="rId38" Type="http://schemas.openxmlformats.org/officeDocument/2006/relationships/image" Target="../media/image18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0860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831" y="2141220"/>
            <a:ext cx="1978914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5064" y="2141220"/>
            <a:ext cx="819150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0291" y="2245614"/>
            <a:ext cx="17329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5" dirty="0">
                <a:solidFill>
                  <a:srgbClr val="FFFFFF"/>
                </a:solidFill>
                <a:latin typeface="Arial"/>
                <a:cs typeface="Arial"/>
              </a:rPr>
              <a:t>Chương</a:t>
            </a:r>
            <a:r>
              <a:rPr sz="3600" spc="-4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18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20084" y="510540"/>
            <a:ext cx="6139434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70020" y="1168908"/>
            <a:ext cx="5426202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084701" y="670001"/>
            <a:ext cx="5223510" cy="14160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62255" marR="5080" indent="-250190">
              <a:lnSpc>
                <a:spcPts val="5190"/>
              </a:lnSpc>
              <a:spcBef>
                <a:spcPts val="750"/>
              </a:spcBef>
            </a:pPr>
            <a:r>
              <a:rPr b="1" spc="-5" dirty="0">
                <a:latin typeface="Times New Roman"/>
                <a:cs typeface="Times New Roman"/>
              </a:rPr>
              <a:t>CÁC </a:t>
            </a:r>
            <a:r>
              <a:rPr b="1" dirty="0">
                <a:latin typeface="Times New Roman"/>
                <a:cs typeface="Times New Roman"/>
              </a:rPr>
              <a:t>THIẾT BỊ</a:t>
            </a:r>
            <a:r>
              <a:rPr b="1" spc="-37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VÀ  </a:t>
            </a:r>
            <a:r>
              <a:rPr b="1" dirty="0">
                <a:latin typeface="Times New Roman"/>
                <a:cs typeface="Times New Roman"/>
              </a:rPr>
              <a:t>MẠCH </a:t>
            </a:r>
            <a:r>
              <a:rPr b="1" spc="-5" dirty="0">
                <a:latin typeface="Times New Roman"/>
                <a:cs typeface="Times New Roman"/>
              </a:rPr>
              <a:t>ĐIỆN</a:t>
            </a:r>
            <a:r>
              <a:rPr b="1" spc="-1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TỬ</a:t>
            </a:r>
          </a:p>
        </p:txBody>
      </p:sp>
      <p:sp>
        <p:nvSpPr>
          <p:cNvPr id="10" name="object 10"/>
          <p:cNvSpPr/>
          <p:nvPr/>
        </p:nvSpPr>
        <p:spPr>
          <a:xfrm>
            <a:off x="352043" y="2897136"/>
            <a:ext cx="407682" cy="3969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9412" y="2884944"/>
            <a:ext cx="628650" cy="4289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45463" y="2884944"/>
            <a:ext cx="657606" cy="4289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85900" y="2884944"/>
            <a:ext cx="441198" cy="4289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2976" y="2884944"/>
            <a:ext cx="627126" cy="4289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27504" y="2884944"/>
            <a:ext cx="540257" cy="4289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2043" y="3281184"/>
            <a:ext cx="407682" cy="3969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9412" y="3268992"/>
            <a:ext cx="604266" cy="42899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19555" y="3268992"/>
            <a:ext cx="567690" cy="42899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71600" y="3268992"/>
            <a:ext cx="438137" cy="42899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97152" y="3268992"/>
            <a:ext cx="508266" cy="4289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89760" y="3268992"/>
            <a:ext cx="695706" cy="42899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28672" y="3268992"/>
            <a:ext cx="616457" cy="4289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9412" y="3474732"/>
            <a:ext cx="540257" cy="4289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2043" y="3869448"/>
            <a:ext cx="407682" cy="3969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9412" y="3857256"/>
            <a:ext cx="453402" cy="42899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8680" y="3857256"/>
            <a:ext cx="736854" cy="42899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391411" y="3857256"/>
            <a:ext cx="680465" cy="42899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56232" y="3857256"/>
            <a:ext cx="540257" cy="4289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2043" y="4253496"/>
            <a:ext cx="407682" cy="3969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9412" y="4241304"/>
            <a:ext cx="488429" cy="42899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02208" y="4241304"/>
            <a:ext cx="445770" cy="42899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30808" y="4241304"/>
            <a:ext cx="593597" cy="42899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08760" y="4241304"/>
            <a:ext cx="627126" cy="42899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50291" y="2924936"/>
            <a:ext cx="2371090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185" dirty="0">
                <a:solidFill>
                  <a:srgbClr val="FFFFFF"/>
                </a:solidFill>
                <a:latin typeface="Arial"/>
                <a:cs typeface="Arial"/>
              </a:rPr>
              <a:t>Tổng </a:t>
            </a:r>
            <a:r>
              <a:rPr sz="1500" b="1" spc="-110" dirty="0">
                <a:solidFill>
                  <a:srgbClr val="FFFFFF"/>
                </a:solidFill>
                <a:latin typeface="Arial"/>
                <a:cs typeface="Arial"/>
              </a:rPr>
              <a:t>quan về 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Môn</a:t>
            </a:r>
            <a:r>
              <a:rPr sz="1500" b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45" dirty="0">
                <a:solidFill>
                  <a:srgbClr val="FFFFFF"/>
                </a:solidFill>
                <a:latin typeface="Arial"/>
                <a:cs typeface="Arial"/>
              </a:rPr>
              <a:t>học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ts val="1710"/>
              </a:lnSpc>
              <a:spcBef>
                <a:spcPts val="122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90" dirty="0">
                <a:solidFill>
                  <a:srgbClr val="FFFFFF"/>
                </a:solidFill>
                <a:latin typeface="Arial"/>
                <a:cs typeface="Arial"/>
              </a:rPr>
              <a:t>Mục 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tiêu </a:t>
            </a:r>
            <a:r>
              <a:rPr sz="1500" b="1" spc="-125" dirty="0">
                <a:solidFill>
                  <a:srgbClr val="FFFFFF"/>
                </a:solidFill>
                <a:latin typeface="Arial"/>
                <a:cs typeface="Arial"/>
              </a:rPr>
              <a:t>và </a:t>
            </a:r>
            <a:r>
              <a:rPr sz="1500" b="1" spc="-95" dirty="0">
                <a:solidFill>
                  <a:srgbClr val="FFFFFF"/>
                </a:solidFill>
                <a:latin typeface="Arial"/>
                <a:cs typeface="Arial"/>
              </a:rPr>
              <a:t>nội </a:t>
            </a:r>
            <a:r>
              <a:rPr sz="1500" b="1" spc="-140" dirty="0">
                <a:solidFill>
                  <a:srgbClr val="FFFFFF"/>
                </a:solidFill>
                <a:latin typeface="Arial"/>
                <a:cs typeface="Arial"/>
              </a:rPr>
              <a:t>dung</a:t>
            </a:r>
            <a:r>
              <a:rPr sz="15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20" dirty="0">
                <a:solidFill>
                  <a:srgbClr val="FFFFFF"/>
                </a:solidFill>
                <a:latin typeface="Arial"/>
                <a:cs typeface="Arial"/>
              </a:rPr>
              <a:t>môn</a:t>
            </a:r>
            <a:endParaRPr sz="1500">
              <a:latin typeface="Arial"/>
              <a:cs typeface="Arial"/>
            </a:endParaRPr>
          </a:p>
          <a:p>
            <a:pPr marL="299085">
              <a:lnSpc>
                <a:spcPts val="1710"/>
              </a:lnSpc>
            </a:pPr>
            <a:r>
              <a:rPr sz="1500" b="1" spc="-145" dirty="0">
                <a:solidFill>
                  <a:srgbClr val="FFFFFF"/>
                </a:solidFill>
                <a:latin typeface="Arial"/>
                <a:cs typeface="Arial"/>
              </a:rPr>
              <a:t>học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1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190" dirty="0">
                <a:solidFill>
                  <a:srgbClr val="FFFFFF"/>
                </a:solidFill>
                <a:latin typeface="Arial"/>
                <a:cs typeface="Arial"/>
              </a:rPr>
              <a:t>Kế </a:t>
            </a:r>
            <a:r>
              <a:rPr sz="1500" b="1" spc="-130" dirty="0">
                <a:solidFill>
                  <a:srgbClr val="FFFFFF"/>
                </a:solidFill>
                <a:latin typeface="Arial"/>
                <a:cs typeface="Arial"/>
              </a:rPr>
              <a:t>hoạch </a:t>
            </a:r>
            <a:r>
              <a:rPr sz="1500" b="1" spc="-140" dirty="0">
                <a:solidFill>
                  <a:srgbClr val="FFFFFF"/>
                </a:solidFill>
                <a:latin typeface="Arial"/>
                <a:cs typeface="Arial"/>
              </a:rPr>
              <a:t>giảng</a:t>
            </a:r>
            <a:r>
              <a:rPr sz="1500" b="1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20" dirty="0">
                <a:solidFill>
                  <a:srgbClr val="FFFFFF"/>
                </a:solidFill>
                <a:latin typeface="Arial"/>
                <a:cs typeface="Arial"/>
              </a:rPr>
              <a:t>dạy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2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130" dirty="0">
                <a:solidFill>
                  <a:srgbClr val="FFFFFF"/>
                </a:solidFill>
                <a:latin typeface="Arial"/>
                <a:cs typeface="Arial"/>
              </a:rPr>
              <a:t>Ôn </a:t>
            </a:r>
            <a:r>
              <a:rPr sz="1500" b="1" spc="-65" dirty="0">
                <a:solidFill>
                  <a:srgbClr val="FFFFFF"/>
                </a:solidFill>
                <a:latin typeface="Arial"/>
                <a:cs typeface="Arial"/>
              </a:rPr>
              <a:t>lại </a:t>
            </a:r>
            <a:r>
              <a:rPr sz="1500" b="1" spc="-90" dirty="0">
                <a:solidFill>
                  <a:srgbClr val="FFFFFF"/>
                </a:solidFill>
                <a:latin typeface="Arial"/>
                <a:cs typeface="Arial"/>
              </a:rPr>
              <a:t>kiến</a:t>
            </a:r>
            <a:r>
              <a:rPr sz="1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5" dirty="0">
                <a:solidFill>
                  <a:srgbClr val="FFFFFF"/>
                </a:solidFill>
                <a:latin typeface="Arial"/>
                <a:cs typeface="Arial"/>
              </a:rPr>
              <a:t>thức</a:t>
            </a:r>
            <a:endParaRPr sz="15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38117" y="5773928"/>
            <a:ext cx="5741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55F51"/>
                </a:solidFill>
                <a:latin typeface="Times New Roman"/>
                <a:cs typeface="Times New Roman"/>
              </a:rPr>
              <a:t>SLIDE: TRỊNH LÊ HUY - TRẦN QUANG</a:t>
            </a:r>
            <a:r>
              <a:rPr sz="2000" spc="-65" dirty="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55F51"/>
                </a:solidFill>
                <a:latin typeface="Times New Roman"/>
                <a:cs typeface="Times New Roman"/>
              </a:rPr>
              <a:t>NGUYÊN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39530" y="6546595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783835" y="3159251"/>
            <a:ext cx="1770888" cy="142798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617069" y="3151493"/>
            <a:ext cx="1666701" cy="133419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2469" y="661161"/>
            <a:ext cx="24098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Giáo</a:t>
            </a:r>
            <a:r>
              <a:rPr spc="-425" dirty="0"/>
              <a:t> </a:t>
            </a:r>
            <a:r>
              <a:rPr spc="-105" dirty="0"/>
              <a:t>trình</a:t>
            </a:r>
          </a:p>
        </p:txBody>
      </p:sp>
      <p:sp>
        <p:nvSpPr>
          <p:cNvPr id="3" name="object 3"/>
          <p:cNvSpPr/>
          <p:nvPr/>
        </p:nvSpPr>
        <p:spPr>
          <a:xfrm>
            <a:off x="1307591" y="1808988"/>
            <a:ext cx="2961132" cy="3976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60364" y="1792223"/>
            <a:ext cx="2817876" cy="3977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2775" y="5796178"/>
            <a:ext cx="415607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5805" marR="5080" indent="-71374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Thomas L.Floyd (2007). </a:t>
            </a:r>
            <a:r>
              <a:rPr sz="1700" i="1" spc="-10" dirty="0">
                <a:latin typeface="Times New Roman"/>
                <a:cs typeface="Times New Roman"/>
              </a:rPr>
              <a:t>Electronic </a:t>
            </a:r>
            <a:r>
              <a:rPr sz="1700" i="1" dirty="0">
                <a:latin typeface="Times New Roman"/>
                <a:cs typeface="Times New Roman"/>
              </a:rPr>
              <a:t>Devices,</a:t>
            </a:r>
            <a:r>
              <a:rPr sz="1700" i="1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9</a:t>
            </a:r>
            <a:r>
              <a:rPr sz="1650" baseline="25252" dirty="0">
                <a:latin typeface="Times New Roman"/>
                <a:cs typeface="Times New Roman"/>
              </a:rPr>
              <a:t>th  </a:t>
            </a:r>
            <a:r>
              <a:rPr sz="1700" spc="-5" dirty="0">
                <a:latin typeface="Times New Roman"/>
                <a:cs typeface="Times New Roman"/>
              </a:rPr>
              <a:t>edition. Pearson </a:t>
            </a:r>
            <a:r>
              <a:rPr sz="1700" dirty="0">
                <a:latin typeface="Times New Roman"/>
                <a:cs typeface="Times New Roman"/>
              </a:rPr>
              <a:t>Education,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Inc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fld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3395" y="5797702"/>
            <a:ext cx="38004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marR="5080" indent="-2032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TS. Lê Mạnh </a:t>
            </a:r>
            <a:r>
              <a:rPr sz="1500" dirty="0">
                <a:latin typeface="Times New Roman"/>
                <a:cs typeface="Times New Roman"/>
              </a:rPr>
              <a:t>(2014). </a:t>
            </a:r>
            <a:r>
              <a:rPr sz="1500" i="1" dirty="0">
                <a:latin typeface="Times New Roman"/>
                <a:cs typeface="Times New Roman"/>
              </a:rPr>
              <a:t>Linh </a:t>
            </a:r>
            <a:r>
              <a:rPr sz="1500" i="1" spc="-5" dirty="0">
                <a:latin typeface="Times New Roman"/>
                <a:cs typeface="Times New Roman"/>
              </a:rPr>
              <a:t>Kiện Điện </a:t>
            </a:r>
            <a:r>
              <a:rPr sz="1500" i="1" dirty="0">
                <a:latin typeface="Times New Roman"/>
                <a:cs typeface="Times New Roman"/>
              </a:rPr>
              <a:t>Tử </a:t>
            </a:r>
            <a:r>
              <a:rPr sz="1500" i="1" spc="-60" dirty="0">
                <a:latin typeface="Times New Roman"/>
                <a:cs typeface="Times New Roman"/>
              </a:rPr>
              <a:t>Vi </a:t>
            </a:r>
            <a:r>
              <a:rPr sz="1500" i="1" spc="-5" dirty="0">
                <a:latin typeface="Times New Roman"/>
                <a:cs typeface="Times New Roman"/>
              </a:rPr>
              <a:t>Mạch  Điện </a:t>
            </a:r>
            <a:r>
              <a:rPr sz="1500" i="1" dirty="0">
                <a:latin typeface="Times New Roman"/>
                <a:cs typeface="Times New Roman"/>
              </a:rPr>
              <a:t>Tử</a:t>
            </a:r>
            <a:r>
              <a:rPr sz="1500" dirty="0">
                <a:latin typeface="Times New Roman"/>
                <a:cs typeface="Times New Roman"/>
              </a:rPr>
              <a:t>. </a:t>
            </a:r>
            <a:r>
              <a:rPr sz="1500" spc="-5" dirty="0">
                <a:latin typeface="Times New Roman"/>
                <a:cs typeface="Times New Roman"/>
              </a:rPr>
              <a:t>NXB Đại Học Quốc Gia </a:t>
            </a:r>
            <a:r>
              <a:rPr sz="1500" spc="-60" dirty="0">
                <a:latin typeface="Times New Roman"/>
                <a:cs typeface="Times New Roman"/>
              </a:rPr>
              <a:t>TP.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HCM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9682" y="908380"/>
            <a:ext cx="43827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Tài </a:t>
            </a:r>
            <a:r>
              <a:rPr spc="-160" dirty="0"/>
              <a:t>liệu </a:t>
            </a:r>
            <a:r>
              <a:rPr spc="-180" dirty="0"/>
              <a:t>tham</a:t>
            </a:r>
            <a:r>
              <a:rPr spc="-455" dirty="0"/>
              <a:t> </a:t>
            </a:r>
            <a:r>
              <a:rPr spc="-300" dirty="0"/>
              <a:t>khảo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fld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1" y="1966721"/>
            <a:ext cx="889762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Tiếng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Việt: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buChar char="-"/>
              <a:tabLst>
                <a:tab pos="185420" algn="l"/>
              </a:tabLst>
            </a:pPr>
            <a:r>
              <a:rPr sz="2400" spc="-25" dirty="0">
                <a:latin typeface="Times New Roman"/>
                <a:cs typeface="Times New Roman"/>
              </a:rPr>
              <a:t>Trần </a:t>
            </a:r>
            <a:r>
              <a:rPr sz="2400" dirty="0">
                <a:latin typeface="Times New Roman"/>
                <a:cs typeface="Times New Roman"/>
              </a:rPr>
              <a:t>Thu </a:t>
            </a:r>
            <a:r>
              <a:rPr sz="2400" spc="-5" dirty="0">
                <a:latin typeface="Times New Roman"/>
                <a:cs typeface="Times New Roman"/>
              </a:rPr>
              <a:t>Hà </a:t>
            </a:r>
            <a:r>
              <a:rPr sz="2400" dirty="0">
                <a:latin typeface="Times New Roman"/>
                <a:cs typeface="Times New Roman"/>
              </a:rPr>
              <a:t>- </a:t>
            </a:r>
            <a:r>
              <a:rPr sz="2400" spc="-15" dirty="0">
                <a:latin typeface="Times New Roman"/>
                <a:cs typeface="Times New Roman"/>
              </a:rPr>
              <a:t>Trương </a:t>
            </a:r>
            <a:r>
              <a:rPr sz="2400" dirty="0">
                <a:latin typeface="Times New Roman"/>
                <a:cs typeface="Times New Roman"/>
              </a:rPr>
              <a:t>Thị Bích </a:t>
            </a:r>
            <a:r>
              <a:rPr sz="2400" spc="-5" dirty="0">
                <a:latin typeface="Times New Roman"/>
                <a:cs typeface="Times New Roman"/>
              </a:rPr>
              <a:t>Ngà </a:t>
            </a:r>
            <a:r>
              <a:rPr sz="2400" dirty="0">
                <a:latin typeface="Times New Roman"/>
                <a:cs typeface="Times New Roman"/>
              </a:rPr>
              <a:t>- </a:t>
            </a:r>
            <a:r>
              <a:rPr sz="2400" spc="-5" dirty="0">
                <a:latin typeface="Times New Roman"/>
                <a:cs typeface="Times New Roman"/>
              </a:rPr>
              <a:t>Nguyễn </a:t>
            </a:r>
            <a:r>
              <a:rPr sz="2400" dirty="0">
                <a:latin typeface="Times New Roman"/>
                <a:cs typeface="Times New Roman"/>
              </a:rPr>
              <a:t>Thị Lưỡng (2013)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23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Giáo  </a:t>
            </a:r>
            <a:r>
              <a:rPr sz="2400" i="1" dirty="0">
                <a:latin typeface="Times New Roman"/>
                <a:cs typeface="Times New Roman"/>
              </a:rPr>
              <a:t>trình điện tử cơ bản, </a:t>
            </a:r>
            <a:r>
              <a:rPr sz="2400" spc="-5" dirty="0">
                <a:latin typeface="Times New Roman"/>
                <a:cs typeface="Times New Roman"/>
              </a:rPr>
              <a:t>NXB Đại </a:t>
            </a:r>
            <a:r>
              <a:rPr sz="2400" dirty="0">
                <a:latin typeface="Times New Roman"/>
                <a:cs typeface="Times New Roman"/>
              </a:rPr>
              <a:t>học </a:t>
            </a:r>
            <a:r>
              <a:rPr sz="2400" spc="-5" dirty="0">
                <a:latin typeface="Times New Roman"/>
                <a:cs typeface="Times New Roman"/>
              </a:rPr>
              <a:t>Quốc </a:t>
            </a:r>
            <a:r>
              <a:rPr sz="2400" dirty="0">
                <a:latin typeface="Times New Roman"/>
                <a:cs typeface="Times New Roman"/>
              </a:rPr>
              <a:t>gia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Tp.HCM.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-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Phạm Hồng </a:t>
            </a:r>
            <a:r>
              <a:rPr sz="2400" dirty="0">
                <a:latin typeface="Times New Roman"/>
                <a:cs typeface="Times New Roman"/>
              </a:rPr>
              <a:t>Liên (2010). </a:t>
            </a:r>
            <a:r>
              <a:rPr sz="2400" i="1" spc="-5" dirty="0">
                <a:latin typeface="Times New Roman"/>
                <a:cs typeface="Times New Roman"/>
              </a:rPr>
              <a:t>Điện </a:t>
            </a:r>
            <a:r>
              <a:rPr sz="2400" i="1" dirty="0">
                <a:latin typeface="Times New Roman"/>
                <a:cs typeface="Times New Roman"/>
              </a:rPr>
              <a:t>tử 1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Đại </a:t>
            </a:r>
            <a:r>
              <a:rPr sz="2400" dirty="0">
                <a:latin typeface="Times New Roman"/>
                <a:cs typeface="Times New Roman"/>
              </a:rPr>
              <a:t>học Bách </a:t>
            </a:r>
            <a:r>
              <a:rPr sz="2400" spc="-5" dirty="0">
                <a:latin typeface="Times New Roman"/>
                <a:cs typeface="Times New Roman"/>
              </a:rPr>
              <a:t>Khoa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TpHCM.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-"/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latin typeface="Times New Roman"/>
                <a:cs typeface="Times New Roman"/>
              </a:rPr>
              <a:t>Tiếng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Anh</a:t>
            </a:r>
            <a:endParaRPr sz="2400">
              <a:latin typeface="Times New Roman"/>
              <a:cs typeface="Times New Roman"/>
            </a:endParaRPr>
          </a:p>
          <a:p>
            <a:pPr marL="12700" marR="1289050">
              <a:lnSpc>
                <a:spcPct val="100000"/>
              </a:lnSpc>
              <a:buChar char="-"/>
              <a:tabLst>
                <a:tab pos="191135" algn="l"/>
              </a:tabLst>
            </a:pPr>
            <a:r>
              <a:rPr sz="2400" spc="-5" dirty="0">
                <a:latin typeface="Times New Roman"/>
                <a:cs typeface="Times New Roman"/>
              </a:rPr>
              <a:t>Jean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5" dirty="0">
                <a:latin typeface="Times New Roman"/>
                <a:cs typeface="Times New Roman"/>
              </a:rPr>
              <a:t>Pierre </a:t>
            </a:r>
            <a:r>
              <a:rPr sz="2400" dirty="0">
                <a:latin typeface="Times New Roman"/>
                <a:cs typeface="Times New Roman"/>
              </a:rPr>
              <a:t>Colinge, Cynthia </a:t>
            </a:r>
            <a:r>
              <a:rPr sz="2400" spc="-5" dirty="0">
                <a:latin typeface="Times New Roman"/>
                <a:cs typeface="Times New Roman"/>
              </a:rPr>
              <a:t>A. </a:t>
            </a:r>
            <a:r>
              <a:rPr sz="2400" dirty="0">
                <a:latin typeface="Times New Roman"/>
                <a:cs typeface="Times New Roman"/>
              </a:rPr>
              <a:t>Colinge (2002), </a:t>
            </a:r>
            <a:r>
              <a:rPr sz="2400" i="1" dirty="0">
                <a:latin typeface="Times New Roman"/>
                <a:cs typeface="Times New Roman"/>
              </a:rPr>
              <a:t>Physics</a:t>
            </a:r>
            <a:r>
              <a:rPr sz="2400" i="1" spc="-2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of  </a:t>
            </a:r>
            <a:r>
              <a:rPr sz="2400" i="1" spc="-5" dirty="0">
                <a:latin typeface="Times New Roman"/>
                <a:cs typeface="Times New Roman"/>
              </a:rPr>
              <a:t>semiconductor </a:t>
            </a:r>
            <a:r>
              <a:rPr sz="2400" i="1" dirty="0">
                <a:latin typeface="Times New Roman"/>
                <a:cs typeface="Times New Roman"/>
              </a:rPr>
              <a:t>devices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Kluwer Academic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Publishers</a:t>
            </a:r>
            <a:endParaRPr sz="2400">
              <a:latin typeface="Times New Roman"/>
              <a:cs typeface="Times New Roman"/>
            </a:endParaRPr>
          </a:p>
          <a:p>
            <a:pPr marL="12700" marR="593725">
              <a:lnSpc>
                <a:spcPct val="100000"/>
              </a:lnSpc>
              <a:buChar char="-"/>
              <a:tabLst>
                <a:tab pos="191135" algn="l"/>
              </a:tabLst>
            </a:pPr>
            <a:r>
              <a:rPr sz="2400" spc="-40" dirty="0">
                <a:latin typeface="Times New Roman"/>
                <a:cs typeface="Times New Roman"/>
              </a:rPr>
              <a:t>Gu-Yeon </a:t>
            </a:r>
            <a:r>
              <a:rPr sz="2400" spc="-75" dirty="0">
                <a:latin typeface="Times New Roman"/>
                <a:cs typeface="Times New Roman"/>
              </a:rPr>
              <a:t>Wei </a:t>
            </a:r>
            <a:r>
              <a:rPr sz="2400" dirty="0">
                <a:latin typeface="Times New Roman"/>
                <a:cs typeface="Times New Roman"/>
              </a:rPr>
              <a:t>(2004), </a:t>
            </a:r>
            <a:r>
              <a:rPr sz="2400" i="1" spc="-10" dirty="0">
                <a:latin typeface="Times New Roman"/>
                <a:cs typeface="Times New Roman"/>
              </a:rPr>
              <a:t>Electronic </a:t>
            </a:r>
            <a:r>
              <a:rPr sz="2400" i="1" spc="-5" dirty="0">
                <a:latin typeface="Times New Roman"/>
                <a:cs typeface="Times New Roman"/>
              </a:rPr>
              <a:t>Devices </a:t>
            </a:r>
            <a:r>
              <a:rPr sz="2400" i="1" dirty="0">
                <a:latin typeface="Times New Roman"/>
                <a:cs typeface="Times New Roman"/>
              </a:rPr>
              <a:t>and </a:t>
            </a:r>
            <a:r>
              <a:rPr sz="2400" i="1" spc="-10" dirty="0">
                <a:latin typeface="Times New Roman"/>
                <a:cs typeface="Times New Roman"/>
              </a:rPr>
              <a:t>Circuits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Division </a:t>
            </a:r>
            <a:r>
              <a:rPr sz="2400" dirty="0">
                <a:latin typeface="Times New Roman"/>
                <a:cs typeface="Times New Roman"/>
              </a:rPr>
              <a:t>of  Engineering and </a:t>
            </a:r>
            <a:r>
              <a:rPr sz="2400" spc="-5" dirty="0">
                <a:latin typeface="Times New Roman"/>
                <a:cs typeface="Times New Roman"/>
              </a:rPr>
              <a:t>Applied Sciences, Harvard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University.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9689" y="776478"/>
            <a:ext cx="6197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420" dirty="0"/>
              <a:t>Tổng </a:t>
            </a:r>
            <a:r>
              <a:rPr sz="5400" spc="-300" dirty="0"/>
              <a:t>quan </a:t>
            </a:r>
            <a:r>
              <a:rPr sz="5400" spc="-350" dirty="0"/>
              <a:t>về </a:t>
            </a:r>
            <a:r>
              <a:rPr sz="5400" spc="-245" dirty="0"/>
              <a:t>môn</a:t>
            </a:r>
            <a:r>
              <a:rPr sz="5400" spc="-520" dirty="0"/>
              <a:t> </a:t>
            </a:r>
            <a:r>
              <a:rPr sz="5400" spc="-295" dirty="0"/>
              <a:t>học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3692776" y="2081276"/>
            <a:ext cx="1755775" cy="4115435"/>
          </a:xfrm>
          <a:custGeom>
            <a:avLst/>
            <a:gdLst/>
            <a:ahLst/>
            <a:cxnLst/>
            <a:rect l="l" t="t" r="r" b="b"/>
            <a:pathLst>
              <a:path w="1755775" h="4115435">
                <a:moveTo>
                  <a:pt x="916815" y="0"/>
                </a:moveTo>
                <a:lnTo>
                  <a:pt x="1054356" y="2542032"/>
                </a:lnTo>
                <a:lnTo>
                  <a:pt x="1104576" y="2552757"/>
                </a:lnTo>
                <a:lnTo>
                  <a:pt x="1153439" y="2565933"/>
                </a:lnTo>
                <a:lnTo>
                  <a:pt x="1200881" y="2581472"/>
                </a:lnTo>
                <a:lnTo>
                  <a:pt x="1246839" y="2599285"/>
                </a:lnTo>
                <a:lnTo>
                  <a:pt x="1291247" y="2619286"/>
                </a:lnTo>
                <a:lnTo>
                  <a:pt x="1334042" y="2641385"/>
                </a:lnTo>
                <a:lnTo>
                  <a:pt x="1375160" y="2665495"/>
                </a:lnTo>
                <a:lnTo>
                  <a:pt x="1414536" y="2691529"/>
                </a:lnTo>
                <a:lnTo>
                  <a:pt x="1452106" y="2719397"/>
                </a:lnTo>
                <a:lnTo>
                  <a:pt x="1487807" y="2749012"/>
                </a:lnTo>
                <a:lnTo>
                  <a:pt x="1521574" y="2780287"/>
                </a:lnTo>
                <a:lnTo>
                  <a:pt x="1553344" y="2813132"/>
                </a:lnTo>
                <a:lnTo>
                  <a:pt x="1583051" y="2847461"/>
                </a:lnTo>
                <a:lnTo>
                  <a:pt x="1610632" y="2883185"/>
                </a:lnTo>
                <a:lnTo>
                  <a:pt x="1636022" y="2920217"/>
                </a:lnTo>
                <a:lnTo>
                  <a:pt x="1659159" y="2958467"/>
                </a:lnTo>
                <a:lnTo>
                  <a:pt x="1679976" y="2997849"/>
                </a:lnTo>
                <a:lnTo>
                  <a:pt x="1698412" y="3038274"/>
                </a:lnTo>
                <a:lnTo>
                  <a:pt x="1714400" y="3079655"/>
                </a:lnTo>
                <a:lnTo>
                  <a:pt x="1727878" y="3121903"/>
                </a:lnTo>
                <a:lnTo>
                  <a:pt x="1738781" y="3164931"/>
                </a:lnTo>
                <a:lnTo>
                  <a:pt x="1747044" y="3208650"/>
                </a:lnTo>
                <a:lnTo>
                  <a:pt x="1752605" y="3252973"/>
                </a:lnTo>
                <a:lnTo>
                  <a:pt x="1755398" y="3297811"/>
                </a:lnTo>
                <a:lnTo>
                  <a:pt x="1755360" y="3343077"/>
                </a:lnTo>
                <a:lnTo>
                  <a:pt x="1752426" y="3388683"/>
                </a:lnTo>
                <a:lnTo>
                  <a:pt x="1746533" y="3434540"/>
                </a:lnTo>
                <a:lnTo>
                  <a:pt x="1737616" y="3480562"/>
                </a:lnTo>
                <a:lnTo>
                  <a:pt x="1726220" y="3524479"/>
                </a:lnTo>
                <a:lnTo>
                  <a:pt x="1712298" y="3567253"/>
                </a:lnTo>
                <a:lnTo>
                  <a:pt x="1695937" y="3608831"/>
                </a:lnTo>
                <a:lnTo>
                  <a:pt x="1677225" y="3649162"/>
                </a:lnTo>
                <a:lnTo>
                  <a:pt x="1656248" y="3688192"/>
                </a:lnTo>
                <a:lnTo>
                  <a:pt x="1633095" y="3725870"/>
                </a:lnTo>
                <a:lnTo>
                  <a:pt x="1607852" y="3762143"/>
                </a:lnTo>
                <a:lnTo>
                  <a:pt x="1580608" y="3796959"/>
                </a:lnTo>
                <a:lnTo>
                  <a:pt x="1551450" y="3830266"/>
                </a:lnTo>
                <a:lnTo>
                  <a:pt x="1520466" y="3862011"/>
                </a:lnTo>
                <a:lnTo>
                  <a:pt x="1487742" y="3892143"/>
                </a:lnTo>
                <a:lnTo>
                  <a:pt x="1453366" y="3920609"/>
                </a:lnTo>
                <a:lnTo>
                  <a:pt x="1417426" y="3947357"/>
                </a:lnTo>
                <a:lnTo>
                  <a:pt x="1380010" y="3972335"/>
                </a:lnTo>
                <a:lnTo>
                  <a:pt x="1341204" y="3995490"/>
                </a:lnTo>
                <a:lnTo>
                  <a:pt x="1301096" y="4016770"/>
                </a:lnTo>
                <a:lnTo>
                  <a:pt x="1259774" y="4036123"/>
                </a:lnTo>
                <a:lnTo>
                  <a:pt x="1217326" y="4053497"/>
                </a:lnTo>
                <a:lnTo>
                  <a:pt x="1173838" y="4068840"/>
                </a:lnTo>
                <a:lnTo>
                  <a:pt x="1129398" y="4082098"/>
                </a:lnTo>
                <a:lnTo>
                  <a:pt x="1084094" y="4093221"/>
                </a:lnTo>
                <a:lnTo>
                  <a:pt x="1038013" y="4102156"/>
                </a:lnTo>
                <a:lnTo>
                  <a:pt x="991242" y="4108850"/>
                </a:lnTo>
                <a:lnTo>
                  <a:pt x="943870" y="4113251"/>
                </a:lnTo>
                <a:lnTo>
                  <a:pt x="895983" y="4115307"/>
                </a:lnTo>
                <a:lnTo>
                  <a:pt x="847670" y="4114967"/>
                </a:lnTo>
                <a:lnTo>
                  <a:pt x="799016" y="4112176"/>
                </a:lnTo>
                <a:lnTo>
                  <a:pt x="750111" y="4106885"/>
                </a:lnTo>
                <a:lnTo>
                  <a:pt x="701042" y="4099039"/>
                </a:lnTo>
                <a:lnTo>
                  <a:pt x="650822" y="4088319"/>
                </a:lnTo>
                <a:lnTo>
                  <a:pt x="601958" y="4075147"/>
                </a:lnTo>
                <a:lnTo>
                  <a:pt x="554516" y="4059612"/>
                </a:lnTo>
                <a:lnTo>
                  <a:pt x="508559" y="4041802"/>
                </a:lnTo>
                <a:lnTo>
                  <a:pt x="464150" y="4021804"/>
                </a:lnTo>
                <a:lnTo>
                  <a:pt x="421355" y="3999707"/>
                </a:lnTo>
                <a:lnTo>
                  <a:pt x="380238" y="3975598"/>
                </a:lnTo>
                <a:lnTo>
                  <a:pt x="340862" y="3949566"/>
                </a:lnTo>
                <a:lnTo>
                  <a:pt x="303291" y="3921699"/>
                </a:lnTo>
                <a:lnTo>
                  <a:pt x="267590" y="3892084"/>
                </a:lnTo>
                <a:lnTo>
                  <a:pt x="233823" y="3860810"/>
                </a:lnTo>
                <a:lnTo>
                  <a:pt x="202054" y="3827964"/>
                </a:lnTo>
                <a:lnTo>
                  <a:pt x="172347" y="3793635"/>
                </a:lnTo>
                <a:lnTo>
                  <a:pt x="144766" y="3757910"/>
                </a:lnTo>
                <a:lnTo>
                  <a:pt x="119375" y="3720878"/>
                </a:lnTo>
                <a:lnTo>
                  <a:pt x="96239" y="3682627"/>
                </a:lnTo>
                <a:lnTo>
                  <a:pt x="75421" y="3643244"/>
                </a:lnTo>
                <a:lnTo>
                  <a:pt x="56986" y="3602818"/>
                </a:lnTo>
                <a:lnTo>
                  <a:pt x="40997" y="3561436"/>
                </a:lnTo>
                <a:lnTo>
                  <a:pt x="27520" y="3519186"/>
                </a:lnTo>
                <a:lnTo>
                  <a:pt x="16617" y="3476157"/>
                </a:lnTo>
                <a:lnTo>
                  <a:pt x="8353" y="3432437"/>
                </a:lnTo>
                <a:lnTo>
                  <a:pt x="2793" y="3388113"/>
                </a:lnTo>
                <a:lnTo>
                  <a:pt x="0" y="3343274"/>
                </a:lnTo>
                <a:lnTo>
                  <a:pt x="38" y="3298007"/>
                </a:lnTo>
                <a:lnTo>
                  <a:pt x="2971" y="3252401"/>
                </a:lnTo>
                <a:lnTo>
                  <a:pt x="8865" y="3206543"/>
                </a:lnTo>
                <a:lnTo>
                  <a:pt x="17782" y="3160522"/>
                </a:lnTo>
                <a:lnTo>
                  <a:pt x="29470" y="3115698"/>
                </a:lnTo>
                <a:lnTo>
                  <a:pt x="43867" y="3071919"/>
                </a:lnTo>
                <a:lnTo>
                  <a:pt x="60889" y="3029260"/>
                </a:lnTo>
                <a:lnTo>
                  <a:pt x="80450" y="2987797"/>
                </a:lnTo>
                <a:lnTo>
                  <a:pt x="102467" y="2947604"/>
                </a:lnTo>
                <a:lnTo>
                  <a:pt x="126854" y="2908758"/>
                </a:lnTo>
                <a:lnTo>
                  <a:pt x="153526" y="2871333"/>
                </a:lnTo>
                <a:lnTo>
                  <a:pt x="182399" y="2835405"/>
                </a:lnTo>
                <a:lnTo>
                  <a:pt x="213388" y="2801050"/>
                </a:lnTo>
                <a:lnTo>
                  <a:pt x="246408" y="2768342"/>
                </a:lnTo>
                <a:lnTo>
                  <a:pt x="281375" y="2737357"/>
                </a:lnTo>
                <a:lnTo>
                  <a:pt x="318204" y="2708170"/>
                </a:lnTo>
                <a:lnTo>
                  <a:pt x="356809" y="2680858"/>
                </a:lnTo>
                <a:lnTo>
                  <a:pt x="397107" y="2655494"/>
                </a:lnTo>
                <a:lnTo>
                  <a:pt x="439013" y="2632155"/>
                </a:lnTo>
                <a:lnTo>
                  <a:pt x="482441" y="2610916"/>
                </a:lnTo>
                <a:lnTo>
                  <a:pt x="527307" y="2591852"/>
                </a:lnTo>
                <a:lnTo>
                  <a:pt x="573526" y="2575039"/>
                </a:lnTo>
                <a:lnTo>
                  <a:pt x="621014" y="2560552"/>
                </a:lnTo>
                <a:lnTo>
                  <a:pt x="669686" y="2548466"/>
                </a:lnTo>
                <a:lnTo>
                  <a:pt x="719457" y="2538857"/>
                </a:lnTo>
                <a:lnTo>
                  <a:pt x="91681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09084" y="5108828"/>
            <a:ext cx="9207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Mục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tiêu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môn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học?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7814" y="1841373"/>
            <a:ext cx="2743835" cy="1261745"/>
          </a:xfrm>
          <a:custGeom>
            <a:avLst/>
            <a:gdLst/>
            <a:ahLst/>
            <a:cxnLst/>
            <a:rect l="l" t="t" r="r" b="b"/>
            <a:pathLst>
              <a:path w="2743835" h="1261745">
                <a:moveTo>
                  <a:pt x="2743314" y="0"/>
                </a:moveTo>
                <a:lnTo>
                  <a:pt x="1705089" y="513334"/>
                </a:lnTo>
                <a:lnTo>
                  <a:pt x="1723017" y="550099"/>
                </a:lnTo>
                <a:lnTo>
                  <a:pt x="1736850" y="587047"/>
                </a:lnTo>
                <a:lnTo>
                  <a:pt x="1746668" y="624070"/>
                </a:lnTo>
                <a:lnTo>
                  <a:pt x="1752552" y="661060"/>
                </a:lnTo>
                <a:lnTo>
                  <a:pt x="1754580" y="697913"/>
                </a:lnTo>
                <a:lnTo>
                  <a:pt x="1752833" y="734520"/>
                </a:lnTo>
                <a:lnTo>
                  <a:pt x="1738335" y="806572"/>
                </a:lnTo>
                <a:lnTo>
                  <a:pt x="1709697" y="876362"/>
                </a:lnTo>
                <a:lnTo>
                  <a:pt x="1690276" y="910143"/>
                </a:lnTo>
                <a:lnTo>
                  <a:pt x="1667560" y="943038"/>
                </a:lnTo>
                <a:lnTo>
                  <a:pt x="1641630" y="974941"/>
                </a:lnTo>
                <a:lnTo>
                  <a:pt x="1612565" y="1005745"/>
                </a:lnTo>
                <a:lnTo>
                  <a:pt x="1580445" y="1035343"/>
                </a:lnTo>
                <a:lnTo>
                  <a:pt x="1545351" y="1063629"/>
                </a:lnTo>
                <a:lnTo>
                  <a:pt x="1507362" y="1090496"/>
                </a:lnTo>
                <a:lnTo>
                  <a:pt x="1466559" y="1115837"/>
                </a:lnTo>
                <a:lnTo>
                  <a:pt x="1423021" y="1139546"/>
                </a:lnTo>
                <a:lnTo>
                  <a:pt x="1376829" y="1161516"/>
                </a:lnTo>
                <a:lnTo>
                  <a:pt x="1328063" y="1181639"/>
                </a:lnTo>
                <a:lnTo>
                  <a:pt x="1276802" y="1199810"/>
                </a:lnTo>
                <a:lnTo>
                  <a:pt x="1223126" y="1215922"/>
                </a:lnTo>
                <a:lnTo>
                  <a:pt x="1167117" y="1229867"/>
                </a:lnTo>
                <a:lnTo>
                  <a:pt x="1114200" y="1240574"/>
                </a:lnTo>
                <a:lnTo>
                  <a:pt x="1061031" y="1249039"/>
                </a:lnTo>
                <a:lnTo>
                  <a:pt x="1007739" y="1255304"/>
                </a:lnTo>
                <a:lnTo>
                  <a:pt x="954457" y="1259408"/>
                </a:lnTo>
                <a:lnTo>
                  <a:pt x="901314" y="1261392"/>
                </a:lnTo>
                <a:lnTo>
                  <a:pt x="848443" y="1261297"/>
                </a:lnTo>
                <a:lnTo>
                  <a:pt x="795973" y="1259163"/>
                </a:lnTo>
                <a:lnTo>
                  <a:pt x="744035" y="1255030"/>
                </a:lnTo>
                <a:lnTo>
                  <a:pt x="692762" y="1248939"/>
                </a:lnTo>
                <a:lnTo>
                  <a:pt x="642283" y="1240930"/>
                </a:lnTo>
                <a:lnTo>
                  <a:pt x="592729" y="1231044"/>
                </a:lnTo>
                <a:lnTo>
                  <a:pt x="544232" y="1219321"/>
                </a:lnTo>
                <a:lnTo>
                  <a:pt x="496922" y="1205801"/>
                </a:lnTo>
                <a:lnTo>
                  <a:pt x="450930" y="1190525"/>
                </a:lnTo>
                <a:lnTo>
                  <a:pt x="406388" y="1173533"/>
                </a:lnTo>
                <a:lnTo>
                  <a:pt x="363426" y="1154866"/>
                </a:lnTo>
                <a:lnTo>
                  <a:pt x="322175" y="1134563"/>
                </a:lnTo>
                <a:lnTo>
                  <a:pt x="282766" y="1112667"/>
                </a:lnTo>
                <a:lnTo>
                  <a:pt x="245330" y="1089216"/>
                </a:lnTo>
                <a:lnTo>
                  <a:pt x="209997" y="1064251"/>
                </a:lnTo>
                <a:lnTo>
                  <a:pt x="176900" y="1037813"/>
                </a:lnTo>
                <a:lnTo>
                  <a:pt x="146168" y="1009941"/>
                </a:lnTo>
                <a:lnTo>
                  <a:pt x="117933" y="980678"/>
                </a:lnTo>
                <a:lnTo>
                  <a:pt x="92325" y="950062"/>
                </a:lnTo>
                <a:lnTo>
                  <a:pt x="69476" y="918134"/>
                </a:lnTo>
                <a:lnTo>
                  <a:pt x="49517" y="884936"/>
                </a:lnTo>
                <a:lnTo>
                  <a:pt x="31581" y="848170"/>
                </a:lnTo>
                <a:lnTo>
                  <a:pt x="17742" y="811222"/>
                </a:lnTo>
                <a:lnTo>
                  <a:pt x="7918" y="774199"/>
                </a:lnTo>
                <a:lnTo>
                  <a:pt x="0" y="700356"/>
                </a:lnTo>
                <a:lnTo>
                  <a:pt x="1744" y="663749"/>
                </a:lnTo>
                <a:lnTo>
                  <a:pt x="16239" y="591697"/>
                </a:lnTo>
                <a:lnTo>
                  <a:pt x="44875" y="521907"/>
                </a:lnTo>
                <a:lnTo>
                  <a:pt x="64296" y="488126"/>
                </a:lnTo>
                <a:lnTo>
                  <a:pt x="87012" y="455231"/>
                </a:lnTo>
                <a:lnTo>
                  <a:pt x="112943" y="423328"/>
                </a:lnTo>
                <a:lnTo>
                  <a:pt x="142009" y="392524"/>
                </a:lnTo>
                <a:lnTo>
                  <a:pt x="174129" y="362926"/>
                </a:lnTo>
                <a:lnTo>
                  <a:pt x="209224" y="334640"/>
                </a:lnTo>
                <a:lnTo>
                  <a:pt x="247213" y="307773"/>
                </a:lnTo>
                <a:lnTo>
                  <a:pt x="288016" y="282432"/>
                </a:lnTo>
                <a:lnTo>
                  <a:pt x="331554" y="258723"/>
                </a:lnTo>
                <a:lnTo>
                  <a:pt x="377746" y="236753"/>
                </a:lnTo>
                <a:lnTo>
                  <a:pt x="426511" y="216630"/>
                </a:lnTo>
                <a:lnTo>
                  <a:pt x="477771" y="198459"/>
                </a:lnTo>
                <a:lnTo>
                  <a:pt x="531444" y="182347"/>
                </a:lnTo>
                <a:lnTo>
                  <a:pt x="587451" y="168401"/>
                </a:lnTo>
                <a:lnTo>
                  <a:pt x="638334" y="158068"/>
                </a:lnTo>
                <a:lnTo>
                  <a:pt x="689651" y="149798"/>
                </a:lnTo>
                <a:lnTo>
                  <a:pt x="741270" y="143568"/>
                </a:lnTo>
                <a:lnTo>
                  <a:pt x="793057" y="139357"/>
                </a:lnTo>
                <a:lnTo>
                  <a:pt x="844880" y="137142"/>
                </a:lnTo>
                <a:lnTo>
                  <a:pt x="896606" y="136899"/>
                </a:lnTo>
                <a:lnTo>
                  <a:pt x="948102" y="138607"/>
                </a:lnTo>
                <a:lnTo>
                  <a:pt x="999235" y="142244"/>
                </a:lnTo>
                <a:lnTo>
                  <a:pt x="1049872" y="147785"/>
                </a:lnTo>
                <a:lnTo>
                  <a:pt x="1099882" y="155209"/>
                </a:lnTo>
                <a:lnTo>
                  <a:pt x="1149129" y="164494"/>
                </a:lnTo>
                <a:lnTo>
                  <a:pt x="1197483" y="175616"/>
                </a:lnTo>
                <a:lnTo>
                  <a:pt x="1244809" y="188553"/>
                </a:lnTo>
                <a:lnTo>
                  <a:pt x="1290976" y="203283"/>
                </a:lnTo>
                <a:lnTo>
                  <a:pt x="1335850" y="219783"/>
                </a:lnTo>
                <a:lnTo>
                  <a:pt x="1379298" y="238030"/>
                </a:lnTo>
                <a:lnTo>
                  <a:pt x="1421188" y="258002"/>
                </a:lnTo>
                <a:lnTo>
                  <a:pt x="1461387" y="279676"/>
                </a:lnTo>
                <a:lnTo>
                  <a:pt x="1499761" y="303030"/>
                </a:lnTo>
                <a:lnTo>
                  <a:pt x="1536179" y="328040"/>
                </a:lnTo>
                <a:lnTo>
                  <a:pt x="2743314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0090" y="2245867"/>
            <a:ext cx="15525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Điện </a:t>
            </a:r>
            <a:r>
              <a:rPr sz="1800" dirty="0">
                <a:latin typeface="Times New Roman"/>
                <a:cs typeface="Times New Roman"/>
              </a:rPr>
              <a:t>tử </a:t>
            </a:r>
            <a:r>
              <a:rPr sz="1800" spc="-5" dirty="0">
                <a:latin typeface="Times New Roman"/>
                <a:cs typeface="Times New Roman"/>
              </a:rPr>
              <a:t>tương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tự</a:t>
            </a:r>
            <a:endParaRPr sz="1800">
              <a:latin typeface="Times New Roman"/>
              <a:cs typeface="Times New Roman"/>
            </a:endParaRPr>
          </a:p>
          <a:p>
            <a:pPr marL="53340"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là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gì?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71852" y="1917445"/>
            <a:ext cx="2662555" cy="3671570"/>
          </a:xfrm>
          <a:custGeom>
            <a:avLst/>
            <a:gdLst/>
            <a:ahLst/>
            <a:cxnLst/>
            <a:rect l="l" t="t" r="r" b="b"/>
            <a:pathLst>
              <a:path w="2662554" h="3671570">
                <a:moveTo>
                  <a:pt x="2662276" y="0"/>
                </a:moveTo>
                <a:lnTo>
                  <a:pt x="1332459" y="2627629"/>
                </a:lnTo>
                <a:lnTo>
                  <a:pt x="1384954" y="2649629"/>
                </a:lnTo>
                <a:lnTo>
                  <a:pt x="1434198" y="2673596"/>
                </a:lnTo>
                <a:lnTo>
                  <a:pt x="1480143" y="2699400"/>
                </a:lnTo>
                <a:lnTo>
                  <a:pt x="1522738" y="2726911"/>
                </a:lnTo>
                <a:lnTo>
                  <a:pt x="1561934" y="2755997"/>
                </a:lnTo>
                <a:lnTo>
                  <a:pt x="1597679" y="2786529"/>
                </a:lnTo>
                <a:lnTo>
                  <a:pt x="1629924" y="2818374"/>
                </a:lnTo>
                <a:lnTo>
                  <a:pt x="1658619" y="2851403"/>
                </a:lnTo>
                <a:lnTo>
                  <a:pt x="1683713" y="2885484"/>
                </a:lnTo>
                <a:lnTo>
                  <a:pt x="1705156" y="2920488"/>
                </a:lnTo>
                <a:lnTo>
                  <a:pt x="1722899" y="2956282"/>
                </a:lnTo>
                <a:lnTo>
                  <a:pt x="1736890" y="2992736"/>
                </a:lnTo>
                <a:lnTo>
                  <a:pt x="1747080" y="3029721"/>
                </a:lnTo>
                <a:lnTo>
                  <a:pt x="1755856" y="3104754"/>
                </a:lnTo>
                <a:lnTo>
                  <a:pt x="1754342" y="3142542"/>
                </a:lnTo>
                <a:lnTo>
                  <a:pt x="1748825" y="3180337"/>
                </a:lnTo>
                <a:lnTo>
                  <a:pt x="1739257" y="3218007"/>
                </a:lnTo>
                <a:lnTo>
                  <a:pt x="1725586" y="3255422"/>
                </a:lnTo>
                <a:lnTo>
                  <a:pt x="1707763" y="3292451"/>
                </a:lnTo>
                <a:lnTo>
                  <a:pt x="1685737" y="3328964"/>
                </a:lnTo>
                <a:lnTo>
                  <a:pt x="1659459" y="3364829"/>
                </a:lnTo>
                <a:lnTo>
                  <a:pt x="1628877" y="3399916"/>
                </a:lnTo>
                <a:lnTo>
                  <a:pt x="1599813" y="3428690"/>
                </a:lnTo>
                <a:lnTo>
                  <a:pt x="1568499" y="3455957"/>
                </a:lnTo>
                <a:lnTo>
                  <a:pt x="1535061" y="3481697"/>
                </a:lnTo>
                <a:lnTo>
                  <a:pt x="1499625" y="3505890"/>
                </a:lnTo>
                <a:lnTo>
                  <a:pt x="1462318" y="3528517"/>
                </a:lnTo>
                <a:lnTo>
                  <a:pt x="1423266" y="3549558"/>
                </a:lnTo>
                <a:lnTo>
                  <a:pt x="1382595" y="3568992"/>
                </a:lnTo>
                <a:lnTo>
                  <a:pt x="1340431" y="3586801"/>
                </a:lnTo>
                <a:lnTo>
                  <a:pt x="1296899" y="3602963"/>
                </a:lnTo>
                <a:lnTo>
                  <a:pt x="1252128" y="3617460"/>
                </a:lnTo>
                <a:lnTo>
                  <a:pt x="1206241" y="3630271"/>
                </a:lnTo>
                <a:lnTo>
                  <a:pt x="1159366" y="3641376"/>
                </a:lnTo>
                <a:lnTo>
                  <a:pt x="1111629" y="3650756"/>
                </a:lnTo>
                <a:lnTo>
                  <a:pt x="1063156" y="3658391"/>
                </a:lnTo>
                <a:lnTo>
                  <a:pt x="1014072" y="3664260"/>
                </a:lnTo>
                <a:lnTo>
                  <a:pt x="964505" y="3668345"/>
                </a:lnTo>
                <a:lnTo>
                  <a:pt x="914579" y="3670624"/>
                </a:lnTo>
                <a:lnTo>
                  <a:pt x="864422" y="3671079"/>
                </a:lnTo>
                <a:lnTo>
                  <a:pt x="814160" y="3669690"/>
                </a:lnTo>
                <a:lnTo>
                  <a:pt x="763917" y="3666435"/>
                </a:lnTo>
                <a:lnTo>
                  <a:pt x="713822" y="3661297"/>
                </a:lnTo>
                <a:lnTo>
                  <a:pt x="664000" y="3654254"/>
                </a:lnTo>
                <a:lnTo>
                  <a:pt x="614576" y="3645287"/>
                </a:lnTo>
                <a:lnTo>
                  <a:pt x="565677" y="3634376"/>
                </a:lnTo>
                <a:lnTo>
                  <a:pt x="517430" y="3621502"/>
                </a:lnTo>
                <a:lnTo>
                  <a:pt x="469960" y="3606643"/>
                </a:lnTo>
                <a:lnTo>
                  <a:pt x="423393" y="3589781"/>
                </a:lnTo>
                <a:lnTo>
                  <a:pt x="370898" y="3567782"/>
                </a:lnTo>
                <a:lnTo>
                  <a:pt x="321652" y="3543815"/>
                </a:lnTo>
                <a:lnTo>
                  <a:pt x="275707" y="3518011"/>
                </a:lnTo>
                <a:lnTo>
                  <a:pt x="233111" y="3490500"/>
                </a:lnTo>
                <a:lnTo>
                  <a:pt x="193916" y="3461414"/>
                </a:lnTo>
                <a:lnTo>
                  <a:pt x="158170" y="3430882"/>
                </a:lnTo>
                <a:lnTo>
                  <a:pt x="125926" y="3399037"/>
                </a:lnTo>
                <a:lnTo>
                  <a:pt x="97232" y="3366008"/>
                </a:lnTo>
                <a:lnTo>
                  <a:pt x="72138" y="3331927"/>
                </a:lnTo>
                <a:lnTo>
                  <a:pt x="50696" y="3296923"/>
                </a:lnTo>
                <a:lnTo>
                  <a:pt x="32954" y="3261129"/>
                </a:lnTo>
                <a:lnTo>
                  <a:pt x="18963" y="3224675"/>
                </a:lnTo>
                <a:lnTo>
                  <a:pt x="8774" y="3187690"/>
                </a:lnTo>
                <a:lnTo>
                  <a:pt x="0" y="3112657"/>
                </a:lnTo>
                <a:lnTo>
                  <a:pt x="1515" y="3074869"/>
                </a:lnTo>
                <a:lnTo>
                  <a:pt x="7031" y="3037074"/>
                </a:lnTo>
                <a:lnTo>
                  <a:pt x="16600" y="2999404"/>
                </a:lnTo>
                <a:lnTo>
                  <a:pt x="30271" y="2961989"/>
                </a:lnTo>
                <a:lnTo>
                  <a:pt x="48093" y="2924960"/>
                </a:lnTo>
                <a:lnTo>
                  <a:pt x="70118" y="2888447"/>
                </a:lnTo>
                <a:lnTo>
                  <a:pt x="96396" y="2852582"/>
                </a:lnTo>
                <a:lnTo>
                  <a:pt x="126975" y="2817495"/>
                </a:lnTo>
                <a:lnTo>
                  <a:pt x="156003" y="2788775"/>
                </a:lnTo>
                <a:lnTo>
                  <a:pt x="187415" y="2761468"/>
                </a:lnTo>
                <a:lnTo>
                  <a:pt x="221085" y="2735611"/>
                </a:lnTo>
                <a:lnTo>
                  <a:pt x="256890" y="2711239"/>
                </a:lnTo>
                <a:lnTo>
                  <a:pt x="294705" y="2688391"/>
                </a:lnTo>
                <a:lnTo>
                  <a:pt x="334404" y="2667103"/>
                </a:lnTo>
                <a:lnTo>
                  <a:pt x="375862" y="2647412"/>
                </a:lnTo>
                <a:lnTo>
                  <a:pt x="418956" y="2629356"/>
                </a:lnTo>
                <a:lnTo>
                  <a:pt x="463559" y="2612970"/>
                </a:lnTo>
                <a:lnTo>
                  <a:pt x="509547" y="2598292"/>
                </a:lnTo>
                <a:lnTo>
                  <a:pt x="556796" y="2585360"/>
                </a:lnTo>
                <a:lnTo>
                  <a:pt x="605179" y="2574209"/>
                </a:lnTo>
                <a:lnTo>
                  <a:pt x="654573" y="2564877"/>
                </a:lnTo>
                <a:lnTo>
                  <a:pt x="704853" y="2557402"/>
                </a:lnTo>
                <a:lnTo>
                  <a:pt x="755893" y="2551818"/>
                </a:lnTo>
                <a:lnTo>
                  <a:pt x="807570" y="2548165"/>
                </a:lnTo>
                <a:lnTo>
                  <a:pt x="859757" y="2546478"/>
                </a:lnTo>
                <a:lnTo>
                  <a:pt x="912330" y="2546796"/>
                </a:lnTo>
                <a:lnTo>
                  <a:pt x="965164" y="2549153"/>
                </a:lnTo>
                <a:lnTo>
                  <a:pt x="1018134" y="2553589"/>
                </a:lnTo>
                <a:lnTo>
                  <a:pt x="2662276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75028" y="4733290"/>
            <a:ext cx="1361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indent="-431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Các thiết bị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và  </a:t>
            </a:r>
            <a:r>
              <a:rPr sz="1800" spc="-5" dirty="0">
                <a:latin typeface="Times New Roman"/>
                <a:cs typeface="Times New Roman"/>
              </a:rPr>
              <a:t>mạch </a:t>
            </a:r>
            <a:r>
              <a:rPr sz="1800" dirty="0">
                <a:latin typeface="Times New Roman"/>
                <a:cs typeface="Times New Roman"/>
              </a:rPr>
              <a:t>điện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tử?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68516" y="1991741"/>
            <a:ext cx="2160270" cy="3597275"/>
          </a:xfrm>
          <a:custGeom>
            <a:avLst/>
            <a:gdLst/>
            <a:ahLst/>
            <a:cxnLst/>
            <a:rect l="l" t="t" r="r" b="b"/>
            <a:pathLst>
              <a:path w="2160270" h="3597275">
                <a:moveTo>
                  <a:pt x="0" y="0"/>
                </a:moveTo>
                <a:lnTo>
                  <a:pt x="1218818" y="2473579"/>
                </a:lnTo>
                <a:lnTo>
                  <a:pt x="1276514" y="2472095"/>
                </a:lnTo>
                <a:lnTo>
                  <a:pt x="1333481" y="2472996"/>
                </a:lnTo>
                <a:lnTo>
                  <a:pt x="1389596" y="2476211"/>
                </a:lnTo>
                <a:lnTo>
                  <a:pt x="1444735" y="2481672"/>
                </a:lnTo>
                <a:lnTo>
                  <a:pt x="1498773" y="2489310"/>
                </a:lnTo>
                <a:lnTo>
                  <a:pt x="1551588" y="2499058"/>
                </a:lnTo>
                <a:lnTo>
                  <a:pt x="1603055" y="2510846"/>
                </a:lnTo>
                <a:lnTo>
                  <a:pt x="1653051" y="2524605"/>
                </a:lnTo>
                <a:lnTo>
                  <a:pt x="1701451" y="2540269"/>
                </a:lnTo>
                <a:lnTo>
                  <a:pt x="1748132" y="2557766"/>
                </a:lnTo>
                <a:lnTo>
                  <a:pt x="1792970" y="2577030"/>
                </a:lnTo>
                <a:lnTo>
                  <a:pt x="1835842" y="2597992"/>
                </a:lnTo>
                <a:lnTo>
                  <a:pt x="1876623" y="2620582"/>
                </a:lnTo>
                <a:lnTo>
                  <a:pt x="1915189" y="2644733"/>
                </a:lnTo>
                <a:lnTo>
                  <a:pt x="1951417" y="2670376"/>
                </a:lnTo>
                <a:lnTo>
                  <a:pt x="1985184" y="2697442"/>
                </a:lnTo>
                <a:lnTo>
                  <a:pt x="2016364" y="2725862"/>
                </a:lnTo>
                <a:lnTo>
                  <a:pt x="2044835" y="2755569"/>
                </a:lnTo>
                <a:lnTo>
                  <a:pt x="2070472" y="2786494"/>
                </a:lnTo>
                <a:lnTo>
                  <a:pt x="2093152" y="2818567"/>
                </a:lnTo>
                <a:lnTo>
                  <a:pt x="2112750" y="2851721"/>
                </a:lnTo>
                <a:lnTo>
                  <a:pt x="2142209" y="2920996"/>
                </a:lnTo>
                <a:lnTo>
                  <a:pt x="2157857" y="2993771"/>
                </a:lnTo>
                <a:lnTo>
                  <a:pt x="2160167" y="3030734"/>
                </a:lnTo>
                <a:lnTo>
                  <a:pt x="2158758" y="3067230"/>
                </a:lnTo>
                <a:lnTo>
                  <a:pt x="2145207" y="3138504"/>
                </a:lnTo>
                <a:lnTo>
                  <a:pt x="2118060" y="3206958"/>
                </a:lnTo>
                <a:lnTo>
                  <a:pt x="2078175" y="3271956"/>
                </a:lnTo>
                <a:lnTo>
                  <a:pt x="2053722" y="3302961"/>
                </a:lnTo>
                <a:lnTo>
                  <a:pt x="2026406" y="3332865"/>
                </a:lnTo>
                <a:lnTo>
                  <a:pt x="1996334" y="3361587"/>
                </a:lnTo>
                <a:lnTo>
                  <a:pt x="1963612" y="3389049"/>
                </a:lnTo>
                <a:lnTo>
                  <a:pt x="1928347" y="3415170"/>
                </a:lnTo>
                <a:lnTo>
                  <a:pt x="1890647" y="3439873"/>
                </a:lnTo>
                <a:lnTo>
                  <a:pt x="1850618" y="3463077"/>
                </a:lnTo>
                <a:lnTo>
                  <a:pt x="1808368" y="3484703"/>
                </a:lnTo>
                <a:lnTo>
                  <a:pt x="1764004" y="3504672"/>
                </a:lnTo>
                <a:lnTo>
                  <a:pt x="1717632" y="3522905"/>
                </a:lnTo>
                <a:lnTo>
                  <a:pt x="1669360" y="3539321"/>
                </a:lnTo>
                <a:lnTo>
                  <a:pt x="1619295" y="3553843"/>
                </a:lnTo>
                <a:lnTo>
                  <a:pt x="1567544" y="3566389"/>
                </a:lnTo>
                <a:lnTo>
                  <a:pt x="1514214" y="3576882"/>
                </a:lnTo>
                <a:lnTo>
                  <a:pt x="1459411" y="3585241"/>
                </a:lnTo>
                <a:lnTo>
                  <a:pt x="1403244" y="3591388"/>
                </a:lnTo>
                <a:lnTo>
                  <a:pt x="1345818" y="3595243"/>
                </a:lnTo>
                <a:lnTo>
                  <a:pt x="1288123" y="3596730"/>
                </a:lnTo>
                <a:lnTo>
                  <a:pt x="1231156" y="3595833"/>
                </a:lnTo>
                <a:lnTo>
                  <a:pt x="1175041" y="3592621"/>
                </a:lnTo>
                <a:lnTo>
                  <a:pt x="1119902" y="3587162"/>
                </a:lnTo>
                <a:lnTo>
                  <a:pt x="1065864" y="3579525"/>
                </a:lnTo>
                <a:lnTo>
                  <a:pt x="1013049" y="3569779"/>
                </a:lnTo>
                <a:lnTo>
                  <a:pt x="961582" y="3557992"/>
                </a:lnTo>
                <a:lnTo>
                  <a:pt x="911586" y="3544232"/>
                </a:lnTo>
                <a:lnTo>
                  <a:pt x="863186" y="3528569"/>
                </a:lnTo>
                <a:lnTo>
                  <a:pt x="816505" y="3511071"/>
                </a:lnTo>
                <a:lnTo>
                  <a:pt x="771667" y="3491807"/>
                </a:lnTo>
                <a:lnTo>
                  <a:pt x="728795" y="3470844"/>
                </a:lnTo>
                <a:lnTo>
                  <a:pt x="688014" y="3448253"/>
                </a:lnTo>
                <a:lnTo>
                  <a:pt x="649448" y="3424100"/>
                </a:lnTo>
                <a:lnTo>
                  <a:pt x="613220" y="3398456"/>
                </a:lnTo>
                <a:lnTo>
                  <a:pt x="579453" y="3371389"/>
                </a:lnTo>
                <a:lnTo>
                  <a:pt x="548273" y="3342967"/>
                </a:lnTo>
                <a:lnTo>
                  <a:pt x="519802" y="3313258"/>
                </a:lnTo>
                <a:lnTo>
                  <a:pt x="494165" y="3282332"/>
                </a:lnTo>
                <a:lnTo>
                  <a:pt x="471485" y="3250257"/>
                </a:lnTo>
                <a:lnTo>
                  <a:pt x="451887" y="3217102"/>
                </a:lnTo>
                <a:lnTo>
                  <a:pt x="422428" y="3147825"/>
                </a:lnTo>
                <a:lnTo>
                  <a:pt x="406781" y="3075051"/>
                </a:lnTo>
                <a:lnTo>
                  <a:pt x="404467" y="3034863"/>
                </a:lnTo>
                <a:lnTo>
                  <a:pt x="406594" y="2995067"/>
                </a:lnTo>
                <a:lnTo>
                  <a:pt x="413052" y="2955785"/>
                </a:lnTo>
                <a:lnTo>
                  <a:pt x="423728" y="2917143"/>
                </a:lnTo>
                <a:lnTo>
                  <a:pt x="438510" y="2879265"/>
                </a:lnTo>
                <a:lnTo>
                  <a:pt x="457287" y="2842275"/>
                </a:lnTo>
                <a:lnTo>
                  <a:pt x="479946" y="2806298"/>
                </a:lnTo>
                <a:lnTo>
                  <a:pt x="506375" y="2771457"/>
                </a:lnTo>
                <a:lnTo>
                  <a:pt x="536464" y="2737879"/>
                </a:lnTo>
                <a:lnTo>
                  <a:pt x="570100" y="2705685"/>
                </a:lnTo>
                <a:lnTo>
                  <a:pt x="607171" y="2675003"/>
                </a:lnTo>
                <a:lnTo>
                  <a:pt x="647566" y="2645954"/>
                </a:lnTo>
                <a:lnTo>
                  <a:pt x="691172" y="2618665"/>
                </a:lnTo>
                <a:lnTo>
                  <a:pt x="737878" y="2593259"/>
                </a:lnTo>
                <a:lnTo>
                  <a:pt x="787572" y="2569861"/>
                </a:lnTo>
                <a:lnTo>
                  <a:pt x="840142" y="2548595"/>
                </a:lnTo>
                <a:lnTo>
                  <a:pt x="895477" y="2529586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89826" y="4733290"/>
            <a:ext cx="921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95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Nội </a:t>
            </a:r>
            <a:r>
              <a:rPr sz="1800" dirty="0">
                <a:latin typeface="Times New Roman"/>
                <a:cs typeface="Times New Roman"/>
              </a:rPr>
              <a:t>dung  </a:t>
            </a:r>
            <a:r>
              <a:rPr sz="1800" spc="-5" dirty="0">
                <a:latin typeface="Times New Roman"/>
                <a:cs typeface="Times New Roman"/>
              </a:rPr>
              <a:t>môn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học?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78218" y="1877948"/>
            <a:ext cx="2645410" cy="1357630"/>
          </a:xfrm>
          <a:custGeom>
            <a:avLst/>
            <a:gdLst/>
            <a:ahLst/>
            <a:cxnLst/>
            <a:rect l="l" t="t" r="r" b="b"/>
            <a:pathLst>
              <a:path w="2645409" h="1357630">
                <a:moveTo>
                  <a:pt x="0" y="0"/>
                </a:moveTo>
                <a:lnTo>
                  <a:pt x="1159128" y="390271"/>
                </a:lnTo>
                <a:lnTo>
                  <a:pt x="1198706" y="367237"/>
                </a:lnTo>
                <a:lnTo>
                  <a:pt x="1239853" y="346030"/>
                </a:lnTo>
                <a:lnTo>
                  <a:pt x="1282440" y="326646"/>
                </a:lnTo>
                <a:lnTo>
                  <a:pt x="1326338" y="309086"/>
                </a:lnTo>
                <a:lnTo>
                  <a:pt x="1371416" y="293346"/>
                </a:lnTo>
                <a:lnTo>
                  <a:pt x="1417546" y="279427"/>
                </a:lnTo>
                <a:lnTo>
                  <a:pt x="1464596" y="267325"/>
                </a:lnTo>
                <a:lnTo>
                  <a:pt x="1512439" y="257041"/>
                </a:lnTo>
                <a:lnTo>
                  <a:pt x="1560942" y="248571"/>
                </a:lnTo>
                <a:lnTo>
                  <a:pt x="1609978" y="241916"/>
                </a:lnTo>
                <a:lnTo>
                  <a:pt x="1659417" y="237073"/>
                </a:lnTo>
                <a:lnTo>
                  <a:pt x="1709127" y="234041"/>
                </a:lnTo>
                <a:lnTo>
                  <a:pt x="1758981" y="232819"/>
                </a:lnTo>
                <a:lnTo>
                  <a:pt x="1808848" y="233404"/>
                </a:lnTo>
                <a:lnTo>
                  <a:pt x="1858598" y="235797"/>
                </a:lnTo>
                <a:lnTo>
                  <a:pt x="1908102" y="239994"/>
                </a:lnTo>
                <a:lnTo>
                  <a:pt x="1957230" y="245994"/>
                </a:lnTo>
                <a:lnTo>
                  <a:pt x="2005852" y="253797"/>
                </a:lnTo>
                <a:lnTo>
                  <a:pt x="2053838" y="263401"/>
                </a:lnTo>
                <a:lnTo>
                  <a:pt x="2101059" y="274803"/>
                </a:lnTo>
                <a:lnTo>
                  <a:pt x="2147386" y="288004"/>
                </a:lnTo>
                <a:lnTo>
                  <a:pt x="2192687" y="303000"/>
                </a:lnTo>
                <a:lnTo>
                  <a:pt x="2236834" y="319792"/>
                </a:lnTo>
                <a:lnTo>
                  <a:pt x="2279697" y="338376"/>
                </a:lnTo>
                <a:lnTo>
                  <a:pt x="2321146" y="358753"/>
                </a:lnTo>
                <a:lnTo>
                  <a:pt x="2361051" y="380920"/>
                </a:lnTo>
                <a:lnTo>
                  <a:pt x="2399283" y="404875"/>
                </a:lnTo>
                <a:lnTo>
                  <a:pt x="2441168" y="434775"/>
                </a:lnTo>
                <a:lnTo>
                  <a:pt x="2479129" y="466041"/>
                </a:lnTo>
                <a:lnTo>
                  <a:pt x="2513169" y="498538"/>
                </a:lnTo>
                <a:lnTo>
                  <a:pt x="2543292" y="532134"/>
                </a:lnTo>
                <a:lnTo>
                  <a:pt x="2569502" y="566692"/>
                </a:lnTo>
                <a:lnTo>
                  <a:pt x="2591804" y="602078"/>
                </a:lnTo>
                <a:lnTo>
                  <a:pt x="2610200" y="638158"/>
                </a:lnTo>
                <a:lnTo>
                  <a:pt x="2624695" y="674797"/>
                </a:lnTo>
                <a:lnTo>
                  <a:pt x="2635292" y="711861"/>
                </a:lnTo>
                <a:lnTo>
                  <a:pt x="2644809" y="786726"/>
                </a:lnTo>
                <a:lnTo>
                  <a:pt x="2643737" y="824257"/>
                </a:lnTo>
                <a:lnTo>
                  <a:pt x="2629949" y="898845"/>
                </a:lnTo>
                <a:lnTo>
                  <a:pt x="2617241" y="935632"/>
                </a:lnTo>
                <a:lnTo>
                  <a:pt x="2600663" y="971903"/>
                </a:lnTo>
                <a:lnTo>
                  <a:pt x="2580217" y="1007522"/>
                </a:lnTo>
                <a:lnTo>
                  <a:pt x="2555908" y="1042355"/>
                </a:lnTo>
                <a:lnTo>
                  <a:pt x="2527740" y="1076268"/>
                </a:lnTo>
                <a:lnTo>
                  <a:pt x="2495716" y="1109125"/>
                </a:lnTo>
                <a:lnTo>
                  <a:pt x="2459841" y="1140793"/>
                </a:lnTo>
                <a:lnTo>
                  <a:pt x="2420118" y="1171137"/>
                </a:lnTo>
                <a:lnTo>
                  <a:pt x="2376551" y="1200023"/>
                </a:lnTo>
                <a:lnTo>
                  <a:pt x="2336973" y="1223056"/>
                </a:lnTo>
                <a:lnTo>
                  <a:pt x="2295826" y="1244263"/>
                </a:lnTo>
                <a:lnTo>
                  <a:pt x="2253239" y="1263647"/>
                </a:lnTo>
                <a:lnTo>
                  <a:pt x="2209341" y="1281207"/>
                </a:lnTo>
                <a:lnTo>
                  <a:pt x="2164263" y="1296947"/>
                </a:lnTo>
                <a:lnTo>
                  <a:pt x="2118133" y="1310866"/>
                </a:lnTo>
                <a:lnTo>
                  <a:pt x="2071083" y="1322968"/>
                </a:lnTo>
                <a:lnTo>
                  <a:pt x="2023240" y="1333252"/>
                </a:lnTo>
                <a:lnTo>
                  <a:pt x="1974737" y="1341722"/>
                </a:lnTo>
                <a:lnTo>
                  <a:pt x="1925701" y="1348377"/>
                </a:lnTo>
                <a:lnTo>
                  <a:pt x="1876262" y="1353220"/>
                </a:lnTo>
                <a:lnTo>
                  <a:pt x="1826552" y="1356252"/>
                </a:lnTo>
                <a:lnTo>
                  <a:pt x="1776698" y="1357474"/>
                </a:lnTo>
                <a:lnTo>
                  <a:pt x="1726831" y="1356889"/>
                </a:lnTo>
                <a:lnTo>
                  <a:pt x="1677081" y="1354496"/>
                </a:lnTo>
                <a:lnTo>
                  <a:pt x="1627577" y="1350299"/>
                </a:lnTo>
                <a:lnTo>
                  <a:pt x="1578449" y="1344299"/>
                </a:lnTo>
                <a:lnTo>
                  <a:pt x="1529827" y="1336496"/>
                </a:lnTo>
                <a:lnTo>
                  <a:pt x="1481841" y="1326892"/>
                </a:lnTo>
                <a:lnTo>
                  <a:pt x="1434620" y="1315490"/>
                </a:lnTo>
                <a:lnTo>
                  <a:pt x="1388293" y="1302289"/>
                </a:lnTo>
                <a:lnTo>
                  <a:pt x="1342992" y="1287293"/>
                </a:lnTo>
                <a:lnTo>
                  <a:pt x="1298845" y="1270501"/>
                </a:lnTo>
                <a:lnTo>
                  <a:pt x="1255982" y="1251917"/>
                </a:lnTo>
                <a:lnTo>
                  <a:pt x="1214533" y="1231540"/>
                </a:lnTo>
                <a:lnTo>
                  <a:pt x="1174628" y="1209373"/>
                </a:lnTo>
                <a:lnTo>
                  <a:pt x="1136396" y="1185417"/>
                </a:lnTo>
                <a:lnTo>
                  <a:pt x="1091996" y="1153574"/>
                </a:lnTo>
                <a:lnTo>
                  <a:pt x="1051887" y="1120022"/>
                </a:lnTo>
                <a:lnTo>
                  <a:pt x="1016117" y="1084932"/>
                </a:lnTo>
                <a:lnTo>
                  <a:pt x="984730" y="1048472"/>
                </a:lnTo>
                <a:lnTo>
                  <a:pt x="957774" y="1010812"/>
                </a:lnTo>
                <a:lnTo>
                  <a:pt x="935294" y="972123"/>
                </a:lnTo>
                <a:lnTo>
                  <a:pt x="917339" y="932573"/>
                </a:lnTo>
                <a:lnTo>
                  <a:pt x="903954" y="892333"/>
                </a:lnTo>
                <a:lnTo>
                  <a:pt x="895185" y="851572"/>
                </a:lnTo>
                <a:lnTo>
                  <a:pt x="891080" y="810460"/>
                </a:lnTo>
                <a:lnTo>
                  <a:pt x="891684" y="769166"/>
                </a:lnTo>
                <a:lnTo>
                  <a:pt x="897044" y="727860"/>
                </a:lnTo>
                <a:lnTo>
                  <a:pt x="907207" y="686712"/>
                </a:lnTo>
                <a:lnTo>
                  <a:pt x="922219" y="645892"/>
                </a:lnTo>
                <a:lnTo>
                  <a:pt x="942127" y="605568"/>
                </a:lnTo>
                <a:lnTo>
                  <a:pt x="966977" y="565912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302879" y="2379090"/>
            <a:ext cx="10858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Tài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liệu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tham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khảo?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r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862" y="908380"/>
            <a:ext cx="80441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Tín </a:t>
            </a:r>
            <a:r>
              <a:rPr spc="-204" dirty="0"/>
              <a:t>hiệu </a:t>
            </a:r>
            <a:r>
              <a:rPr spc="-315" dirty="0"/>
              <a:t>tương </a:t>
            </a:r>
            <a:r>
              <a:rPr spc="-125" dirty="0"/>
              <a:t>tự </a:t>
            </a:r>
            <a:r>
              <a:rPr spc="-310" dirty="0"/>
              <a:t>(Analog</a:t>
            </a:r>
            <a:r>
              <a:rPr spc="-740" dirty="0"/>
              <a:t> </a:t>
            </a:r>
            <a:r>
              <a:rPr spc="-330" dirty="0"/>
              <a:t>signals)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5002" y="1737715"/>
            <a:ext cx="6468745" cy="93091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spc="-215" dirty="0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có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80" dirty="0">
                <a:solidFill>
                  <a:srgbClr val="404040"/>
                </a:solidFill>
                <a:latin typeface="Arial"/>
                <a:cs typeface="Arial"/>
              </a:rPr>
              <a:t>sự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biến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thiên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cách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liên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tục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theo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thời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gian.</a:t>
            </a:r>
            <a:endParaRPr sz="2000">
              <a:latin typeface="Arial"/>
              <a:cs typeface="Arial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spc="-220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khả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năng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lan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truyền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không</a:t>
            </a:r>
            <a:r>
              <a:rPr sz="2000" spc="-2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khí.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5547" y="3109712"/>
            <a:ext cx="2238375" cy="2246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42232" y="3500628"/>
            <a:ext cx="5292852" cy="17647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2536" y="5437428"/>
            <a:ext cx="26974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Sự </a:t>
            </a:r>
            <a:r>
              <a:rPr sz="1400" dirty="0">
                <a:latin typeface="Times New Roman"/>
                <a:cs typeface="Times New Roman"/>
              </a:rPr>
              <a:t>biến thiên của nhiệt độ trong</a:t>
            </a:r>
            <a:r>
              <a:rPr sz="1400" spc="-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ngày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r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3065" y="5484977"/>
            <a:ext cx="2482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Sóng âm thanh phát ra </a:t>
            </a:r>
            <a:r>
              <a:rPr sz="1600" dirty="0">
                <a:latin typeface="Times New Roman"/>
                <a:cs typeface="Times New Roman"/>
              </a:rPr>
              <a:t>khi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nói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3626" y="908380"/>
            <a:ext cx="38017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Tín </a:t>
            </a:r>
            <a:r>
              <a:rPr spc="-204" dirty="0"/>
              <a:t>hiệu </a:t>
            </a:r>
            <a:r>
              <a:rPr spc="-175" dirty="0"/>
              <a:t>điện</a:t>
            </a:r>
            <a:r>
              <a:rPr spc="-495" dirty="0"/>
              <a:t> </a:t>
            </a:r>
            <a:r>
              <a:rPr spc="-125" dirty="0"/>
              <a:t>tử</a:t>
            </a:r>
          </a:p>
        </p:txBody>
      </p:sp>
      <p:sp>
        <p:nvSpPr>
          <p:cNvPr id="3" name="object 3"/>
          <p:cNvSpPr/>
          <p:nvPr/>
        </p:nvSpPr>
        <p:spPr>
          <a:xfrm>
            <a:off x="1290827" y="4198620"/>
            <a:ext cx="632460" cy="18150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1072" y="6048857"/>
            <a:ext cx="7918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Quang </a:t>
            </a:r>
            <a:r>
              <a:rPr sz="1000" spc="-5" dirty="0">
                <a:latin typeface="Times New Roman"/>
                <a:cs typeface="Times New Roman"/>
              </a:rPr>
              <a:t>điện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trở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426"/>
            <a:ext cx="8185784" cy="22364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464184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23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tự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nhiên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dạng </a:t>
            </a:r>
            <a:r>
              <a:rPr sz="2000" spc="-95" dirty="0">
                <a:solidFill>
                  <a:srgbClr val="297C52"/>
                </a:solidFill>
                <a:latin typeface="Arial"/>
                <a:cs typeface="Arial"/>
              </a:rPr>
              <a:t>ánh </a:t>
            </a:r>
            <a:r>
              <a:rPr sz="2000" spc="-130" dirty="0">
                <a:solidFill>
                  <a:srgbClr val="297C52"/>
                </a:solidFill>
                <a:latin typeface="Arial"/>
                <a:cs typeface="Arial"/>
              </a:rPr>
              <a:t>sáng, </a:t>
            </a:r>
            <a:r>
              <a:rPr sz="2000" spc="-110" dirty="0">
                <a:solidFill>
                  <a:srgbClr val="297C52"/>
                </a:solidFill>
                <a:latin typeface="Arial"/>
                <a:cs typeface="Arial"/>
              </a:rPr>
              <a:t>âm </a:t>
            </a:r>
            <a:r>
              <a:rPr sz="2000" spc="-45" dirty="0">
                <a:solidFill>
                  <a:srgbClr val="297C52"/>
                </a:solidFill>
                <a:latin typeface="Arial"/>
                <a:cs typeface="Arial"/>
              </a:rPr>
              <a:t>thanh, </a:t>
            </a:r>
            <a:r>
              <a:rPr sz="2000" spc="-25" dirty="0">
                <a:solidFill>
                  <a:srgbClr val="297C52"/>
                </a:solidFill>
                <a:latin typeface="Arial"/>
                <a:cs typeface="Arial"/>
              </a:rPr>
              <a:t>nhiệt</a:t>
            </a:r>
            <a:r>
              <a:rPr sz="2000" spc="-365" dirty="0">
                <a:solidFill>
                  <a:srgbClr val="297C52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297C52"/>
                </a:solidFill>
                <a:latin typeface="Arial"/>
                <a:cs typeface="Arial"/>
              </a:rPr>
              <a:t>độ  </a:t>
            </a:r>
            <a:r>
              <a:rPr sz="2000" spc="-110" dirty="0">
                <a:solidFill>
                  <a:srgbClr val="297C52"/>
                </a:solidFill>
                <a:latin typeface="Arial"/>
                <a:cs typeface="Arial"/>
              </a:rPr>
              <a:t>hoặc </a:t>
            </a:r>
            <a:r>
              <a:rPr sz="2000" spc="-90" dirty="0">
                <a:solidFill>
                  <a:srgbClr val="297C52"/>
                </a:solidFill>
                <a:latin typeface="Arial"/>
                <a:cs typeface="Arial"/>
              </a:rPr>
              <a:t>nồng </a:t>
            </a:r>
            <a:r>
              <a:rPr sz="2000" spc="-35" dirty="0">
                <a:solidFill>
                  <a:srgbClr val="297C52"/>
                </a:solidFill>
                <a:latin typeface="Arial"/>
                <a:cs typeface="Arial"/>
              </a:rPr>
              <a:t>độ </a:t>
            </a:r>
            <a:r>
              <a:rPr sz="2000" spc="-95" dirty="0">
                <a:solidFill>
                  <a:srgbClr val="297C52"/>
                </a:solidFill>
                <a:latin typeface="Arial"/>
                <a:cs typeface="Arial"/>
              </a:rPr>
              <a:t>hóa</a:t>
            </a:r>
            <a:r>
              <a:rPr sz="2000" spc="-240" dirty="0">
                <a:solidFill>
                  <a:srgbClr val="297C52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297C52"/>
                </a:solidFill>
                <a:latin typeface="Arial"/>
                <a:cs typeface="Arial"/>
              </a:rPr>
              <a:t>chất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40" dirty="0">
                <a:solidFill>
                  <a:srgbClr val="297C52"/>
                </a:solidFill>
                <a:latin typeface="Arial"/>
                <a:cs typeface="Arial"/>
              </a:rPr>
              <a:t>Tín</a:t>
            </a:r>
            <a:r>
              <a:rPr sz="2000" spc="-100" dirty="0">
                <a:solidFill>
                  <a:srgbClr val="297C52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297C52"/>
                </a:solidFill>
                <a:latin typeface="Arial"/>
                <a:cs typeface="Arial"/>
              </a:rPr>
              <a:t>hiệu</a:t>
            </a:r>
            <a:r>
              <a:rPr sz="2000" spc="-95" dirty="0">
                <a:solidFill>
                  <a:srgbClr val="297C52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297C52"/>
                </a:solidFill>
                <a:latin typeface="Arial"/>
                <a:cs typeface="Arial"/>
              </a:rPr>
              <a:t>trong</a:t>
            </a:r>
            <a:r>
              <a:rPr sz="2000" spc="-120" dirty="0">
                <a:solidFill>
                  <a:srgbClr val="297C5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7C52"/>
                </a:solidFill>
                <a:latin typeface="Arial"/>
                <a:cs typeface="Arial"/>
              </a:rPr>
              <a:t>tự</a:t>
            </a:r>
            <a:r>
              <a:rPr sz="2000" spc="-105" dirty="0">
                <a:solidFill>
                  <a:srgbClr val="297C52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297C52"/>
                </a:solidFill>
                <a:latin typeface="Arial"/>
                <a:cs typeface="Arial"/>
              </a:rPr>
              <a:t>nhiên</a:t>
            </a:r>
            <a:r>
              <a:rPr sz="2000" spc="-110" dirty="0">
                <a:solidFill>
                  <a:srgbClr val="297C52"/>
                </a:solidFill>
                <a:latin typeface="Arial"/>
                <a:cs typeface="Arial"/>
              </a:rPr>
              <a:t>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cần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được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chuyển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sang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tín</a:t>
            </a:r>
            <a:r>
              <a:rPr sz="2000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hiệu</a:t>
            </a:r>
            <a:r>
              <a:rPr sz="200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điện</a:t>
            </a:r>
            <a:r>
              <a:rPr sz="2000" spc="-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tử</a:t>
            </a:r>
            <a:r>
              <a:rPr sz="2000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để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xử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lý.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23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10" dirty="0">
                <a:solidFill>
                  <a:srgbClr val="404040"/>
                </a:solidFill>
                <a:latin typeface="Arial"/>
                <a:cs typeface="Arial"/>
              </a:rPr>
              <a:t>thiết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r>
              <a:rPr sz="2000" spc="-409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gọi là đầu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dò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hoặc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cảm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biến.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ts val="228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Công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việc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liên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quan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đến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chuyển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và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xử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lý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những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tử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này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được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gọi là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tử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tương</a:t>
            </a:r>
            <a:r>
              <a:rPr sz="2000" spc="-3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tự.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76144" y="4177284"/>
            <a:ext cx="2382011" cy="19537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31535" y="4305300"/>
            <a:ext cx="1480565" cy="18295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34428" y="4539996"/>
            <a:ext cx="2232660" cy="122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55111" y="6050381"/>
            <a:ext cx="14147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Times New Roman"/>
                <a:cs typeface="Times New Roman"/>
              </a:rPr>
              <a:t>Module cảm biến âm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thanh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fld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07126" y="6043066"/>
            <a:ext cx="84264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Times New Roman"/>
                <a:cs typeface="Times New Roman"/>
              </a:rPr>
              <a:t>Đầu </a:t>
            </a:r>
            <a:r>
              <a:rPr sz="1000" dirty="0">
                <a:latin typeface="Times New Roman"/>
                <a:cs typeface="Times New Roman"/>
              </a:rPr>
              <a:t>dò </a:t>
            </a:r>
            <a:r>
              <a:rPr sz="1000" spc="-10" dirty="0">
                <a:latin typeface="Times New Roman"/>
                <a:cs typeface="Times New Roman"/>
              </a:rPr>
              <a:t>nhiệt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độ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66786" y="6048857"/>
            <a:ext cx="10293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Times New Roman"/>
                <a:cs typeface="Times New Roman"/>
              </a:rPr>
              <a:t>Đầu </a:t>
            </a:r>
            <a:r>
              <a:rPr sz="1000" dirty="0">
                <a:latin typeface="Times New Roman"/>
                <a:cs typeface="Times New Roman"/>
              </a:rPr>
              <a:t>dò </a:t>
            </a:r>
            <a:r>
              <a:rPr sz="1000" spc="-10" dirty="0">
                <a:latin typeface="Times New Roman"/>
                <a:cs typeface="Times New Roman"/>
              </a:rPr>
              <a:t>nồng </a:t>
            </a:r>
            <a:r>
              <a:rPr sz="1000" dirty="0">
                <a:latin typeface="Times New Roman"/>
                <a:cs typeface="Times New Roman"/>
              </a:rPr>
              <a:t>độ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778" y="908380"/>
            <a:ext cx="85312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Thiết</a:t>
            </a:r>
            <a:r>
              <a:rPr spc="-360" dirty="0"/>
              <a:t> </a:t>
            </a:r>
            <a:r>
              <a:rPr spc="-320" dirty="0"/>
              <a:t>kế</a:t>
            </a:r>
            <a:r>
              <a:rPr spc="-345" dirty="0"/>
              <a:t> </a:t>
            </a:r>
            <a:r>
              <a:rPr spc="-409" dirty="0"/>
              <a:t>các</a:t>
            </a:r>
            <a:r>
              <a:rPr spc="-365" dirty="0"/>
              <a:t> </a:t>
            </a:r>
            <a:r>
              <a:rPr spc="-40" dirty="0"/>
              <a:t>thiết</a:t>
            </a:r>
            <a:r>
              <a:rPr spc="-355" dirty="0"/>
              <a:t> </a:t>
            </a:r>
            <a:r>
              <a:rPr spc="-120" dirty="0"/>
              <a:t>bị</a:t>
            </a:r>
            <a:r>
              <a:rPr spc="-355" dirty="0"/>
              <a:t> </a:t>
            </a:r>
            <a:r>
              <a:rPr spc="15" dirty="0"/>
              <a:t>&amp;</a:t>
            </a:r>
            <a:r>
              <a:rPr spc="-355" dirty="0"/>
              <a:t> </a:t>
            </a:r>
            <a:r>
              <a:rPr spc="-330" dirty="0"/>
              <a:t>mạch</a:t>
            </a:r>
            <a:r>
              <a:rPr spc="-345" dirty="0"/>
              <a:t> </a:t>
            </a:r>
            <a:r>
              <a:rPr spc="-175" dirty="0"/>
              <a:t>điện</a:t>
            </a:r>
            <a:r>
              <a:rPr spc="-360" dirty="0"/>
              <a:t> </a:t>
            </a:r>
            <a:r>
              <a:rPr spc="-125" dirty="0"/>
              <a:t>tử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8304" y="1868170"/>
            <a:ext cx="8239125" cy="26987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04139" marR="356870" indent="-91440">
              <a:lnSpc>
                <a:spcPts val="2210"/>
              </a:lnSpc>
              <a:spcBef>
                <a:spcPts val="335"/>
              </a:spcBef>
              <a:buClr>
                <a:srgbClr val="99CA38"/>
              </a:buClr>
              <a:buSzPct val="110000"/>
              <a:buFont typeface="Wingdings"/>
              <a:buChar char=""/>
              <a:tabLst>
                <a:tab pos="327025" algn="l"/>
              </a:tabLst>
            </a:pP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Thiết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kế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tử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chính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nghệ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thuật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xử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lý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những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tử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có 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mang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sz="2000" spc="20" dirty="0">
                <a:solidFill>
                  <a:srgbClr val="404040"/>
                </a:solidFill>
                <a:latin typeface="Arial"/>
                <a:cs typeface="Arial"/>
              </a:rPr>
              <a:t>tin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hữu</a:t>
            </a:r>
            <a:r>
              <a:rPr sz="2000" spc="-3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ích: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9CA38"/>
              </a:buClr>
              <a:buFont typeface="Wingdings"/>
              <a:buChar char=""/>
            </a:pPr>
            <a:endParaRPr sz="1650">
              <a:latin typeface="Times New Roman"/>
              <a:cs typeface="Times New Roman"/>
            </a:endParaRPr>
          </a:p>
          <a:p>
            <a:pPr marL="396240" marR="5080" lvl="1" indent="-182880">
              <a:lnSpc>
                <a:spcPts val="1730"/>
              </a:lnSpc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600" spc="-105" dirty="0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sz="1600" spc="-70" dirty="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sz="1600" spc="-130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16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thu </a:t>
            </a:r>
            <a:r>
              <a:rPr sz="1600" spc="-95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sz="1600" spc="-130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600" spc="-65" dirty="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sz="1600" spc="-45" dirty="0">
                <a:solidFill>
                  <a:srgbClr val="404040"/>
                </a:solidFill>
                <a:latin typeface="Arial"/>
                <a:cs typeface="Arial"/>
              </a:rPr>
              <a:t>dò </a:t>
            </a:r>
            <a:r>
              <a:rPr sz="1600" spc="-105" dirty="0">
                <a:solidFill>
                  <a:srgbClr val="404040"/>
                </a:solidFill>
                <a:latin typeface="Arial"/>
                <a:cs typeface="Arial"/>
              </a:rPr>
              <a:t>và cảm </a:t>
            </a:r>
            <a:r>
              <a:rPr sz="1600" spc="-50" dirty="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sz="1600" spc="-70" dirty="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sz="1600" spc="-8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600" spc="-114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6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rất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yếu </a:t>
            </a:r>
            <a:r>
              <a:rPr sz="1600" spc="-110" dirty="0">
                <a:solidFill>
                  <a:srgbClr val="404040"/>
                </a:solidFill>
                <a:latin typeface="Arial"/>
                <a:cs typeface="Arial"/>
              </a:rPr>
              <a:t>và 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dễ </a:t>
            </a:r>
            <a:r>
              <a:rPr sz="1600" spc="-25" dirty="0">
                <a:solidFill>
                  <a:srgbClr val="404040"/>
                </a:solidFill>
                <a:latin typeface="Arial"/>
                <a:cs typeface="Arial"/>
              </a:rPr>
              <a:t>bị</a:t>
            </a:r>
            <a:r>
              <a:rPr sz="16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Arial"/>
                <a:cs typeface="Arial"/>
              </a:rPr>
              <a:t>nhiễu.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99CA38"/>
              </a:buClr>
              <a:buFont typeface="Wingdings"/>
              <a:buChar char=""/>
            </a:pPr>
            <a:endParaRPr sz="2350">
              <a:latin typeface="Times New Roman"/>
              <a:cs typeface="Times New Roman"/>
            </a:endParaRPr>
          </a:p>
          <a:p>
            <a:pPr marL="396240" lvl="1" indent="-182880">
              <a:lnSpc>
                <a:spcPct val="100000"/>
              </a:lnSpc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600" spc="-100" dirty="0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1600" spc="-5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600" spc="-9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600" spc="-140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600" spc="-95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1600" spc="-55" dirty="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sz="1600" spc="-45" dirty="0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sz="1600" spc="-50" dirty="0">
                <a:solidFill>
                  <a:srgbClr val="404040"/>
                </a:solidFill>
                <a:latin typeface="Arial"/>
                <a:cs typeface="Arial"/>
              </a:rPr>
              <a:t>bỏ nhiễu </a:t>
            </a:r>
            <a:r>
              <a:rPr sz="1600" spc="-105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600" spc="-80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1600" spc="-45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1600" spc="-55" dirty="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dễ </a:t>
            </a:r>
            <a:r>
              <a:rPr sz="1600" spc="-95" dirty="0">
                <a:solidFill>
                  <a:srgbClr val="404040"/>
                </a:solidFill>
                <a:latin typeface="Arial"/>
                <a:cs typeface="Arial"/>
              </a:rPr>
              <a:t>dàng </a:t>
            </a:r>
            <a:r>
              <a:rPr sz="1600" spc="-65" dirty="0">
                <a:solidFill>
                  <a:srgbClr val="404040"/>
                </a:solidFill>
                <a:latin typeface="Arial"/>
                <a:cs typeface="Arial"/>
              </a:rPr>
              <a:t>đọc </a:t>
            </a:r>
            <a:r>
              <a:rPr sz="1600" spc="-105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600" spc="-110" dirty="0">
                <a:solidFill>
                  <a:srgbClr val="404040"/>
                </a:solidFill>
                <a:latin typeface="Arial"/>
                <a:cs typeface="Arial"/>
              </a:rPr>
              <a:t>xử</a:t>
            </a:r>
            <a:r>
              <a:rPr sz="1600" spc="-2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404040"/>
                </a:solidFill>
                <a:latin typeface="Arial"/>
                <a:cs typeface="Arial"/>
              </a:rPr>
              <a:t>lý.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99CA38"/>
              </a:buClr>
              <a:buFont typeface="Wingdings"/>
              <a:buChar char=""/>
            </a:pPr>
            <a:endParaRPr sz="2550">
              <a:latin typeface="Times New Roman"/>
              <a:cs typeface="Times New Roman"/>
            </a:endParaRPr>
          </a:p>
          <a:p>
            <a:pPr marL="396240" marR="231775" lvl="1" indent="-182880">
              <a:lnSpc>
                <a:spcPts val="1730"/>
              </a:lnSpc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600" spc="-175" dirty="0">
                <a:solidFill>
                  <a:srgbClr val="404040"/>
                </a:solidFill>
                <a:latin typeface="Arial"/>
                <a:cs typeface="Arial"/>
              </a:rPr>
              <a:t>Sau </a:t>
            </a:r>
            <a:r>
              <a:rPr sz="16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600" spc="-60" dirty="0">
                <a:solidFill>
                  <a:srgbClr val="404040"/>
                </a:solidFill>
                <a:latin typeface="Arial"/>
                <a:cs typeface="Arial"/>
              </a:rPr>
              <a:t>ghi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nhận </a:t>
            </a:r>
            <a:r>
              <a:rPr sz="1600" spc="-105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600" spc="-110" dirty="0">
                <a:solidFill>
                  <a:srgbClr val="404040"/>
                </a:solidFill>
                <a:latin typeface="Arial"/>
                <a:cs typeface="Arial"/>
              </a:rPr>
              <a:t>xử </a:t>
            </a:r>
            <a:r>
              <a:rPr sz="1600" spc="-35" dirty="0">
                <a:solidFill>
                  <a:srgbClr val="404040"/>
                </a:solidFill>
                <a:latin typeface="Arial"/>
                <a:cs typeface="Arial"/>
              </a:rPr>
              <a:t>lý </a:t>
            </a:r>
            <a:r>
              <a:rPr sz="1600" spc="-85" dirty="0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1600" spc="-5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6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tử </a:t>
            </a:r>
            <a:r>
              <a:rPr sz="1600" spc="-80" dirty="0">
                <a:solidFill>
                  <a:srgbClr val="404040"/>
                </a:solidFill>
                <a:latin typeface="Arial"/>
                <a:cs typeface="Arial"/>
              </a:rPr>
              <a:t>này,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sz="1600" spc="-45" dirty="0">
                <a:solidFill>
                  <a:srgbClr val="404040"/>
                </a:solidFill>
                <a:latin typeface="Arial"/>
                <a:cs typeface="Arial"/>
              </a:rPr>
              <a:t>thống </a:t>
            </a:r>
            <a:r>
              <a:rPr sz="1600" spc="-140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600" spc="-85" dirty="0">
                <a:solidFill>
                  <a:srgbClr val="404040"/>
                </a:solidFill>
                <a:latin typeface="Arial"/>
                <a:cs typeface="Arial"/>
              </a:rPr>
              <a:t>đưa </a:t>
            </a:r>
            <a:r>
              <a:rPr sz="1600" spc="-55" dirty="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sz="1600" spc="-85" dirty="0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sz="1600" spc="-50" dirty="0">
                <a:solidFill>
                  <a:srgbClr val="404040"/>
                </a:solidFill>
                <a:latin typeface="Arial"/>
                <a:cs typeface="Arial"/>
              </a:rPr>
              <a:t>lệnh</a:t>
            </a:r>
            <a:r>
              <a:rPr sz="1600" spc="-3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70" dirty="0">
                <a:solidFill>
                  <a:srgbClr val="404040"/>
                </a:solidFill>
                <a:latin typeface="Arial"/>
                <a:cs typeface="Arial"/>
              </a:rPr>
              <a:t>phục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vụ  cho </a:t>
            </a:r>
            <a:r>
              <a:rPr sz="1600" spc="-50" dirty="0">
                <a:solidFill>
                  <a:srgbClr val="404040"/>
                </a:solidFill>
                <a:latin typeface="Arial"/>
                <a:cs typeface="Arial"/>
              </a:rPr>
              <a:t>nhiều </a:t>
            </a:r>
            <a:r>
              <a:rPr sz="1600" spc="-80" dirty="0">
                <a:solidFill>
                  <a:srgbClr val="404040"/>
                </a:solidFill>
                <a:latin typeface="Arial"/>
                <a:cs typeface="Arial"/>
              </a:rPr>
              <a:t>mục </a:t>
            </a:r>
            <a:r>
              <a:rPr sz="1600" spc="-70" dirty="0">
                <a:solidFill>
                  <a:srgbClr val="404040"/>
                </a:solidFill>
                <a:latin typeface="Arial"/>
                <a:cs typeface="Arial"/>
              </a:rPr>
              <a:t>đích </a:t>
            </a:r>
            <a:r>
              <a:rPr sz="1600" spc="-100" dirty="0">
                <a:solidFill>
                  <a:srgbClr val="404040"/>
                </a:solidFill>
                <a:latin typeface="Arial"/>
                <a:cs typeface="Arial"/>
              </a:rPr>
              <a:t>khác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nhau như </a:t>
            </a:r>
            <a:r>
              <a:rPr sz="1600" spc="-50" dirty="0">
                <a:solidFill>
                  <a:srgbClr val="404040"/>
                </a:solidFill>
                <a:latin typeface="Arial"/>
                <a:cs typeface="Arial"/>
              </a:rPr>
              <a:t>hiển </a:t>
            </a:r>
            <a:r>
              <a:rPr sz="1600" spc="10" dirty="0">
                <a:solidFill>
                  <a:srgbClr val="404040"/>
                </a:solidFill>
                <a:latin typeface="Arial"/>
                <a:cs typeface="Arial"/>
              </a:rPr>
              <a:t>thị </a:t>
            </a:r>
            <a:r>
              <a:rPr sz="1600" spc="-30" dirty="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sz="1600" spc="-70" dirty="0">
                <a:solidFill>
                  <a:srgbClr val="404040"/>
                </a:solidFill>
                <a:latin typeface="Arial"/>
                <a:cs typeface="Arial"/>
              </a:rPr>
              <a:t>quả, </a:t>
            </a:r>
            <a:r>
              <a:rPr sz="1600" spc="-80" dirty="0">
                <a:solidFill>
                  <a:srgbClr val="404040"/>
                </a:solidFill>
                <a:latin typeface="Arial"/>
                <a:cs typeface="Arial"/>
              </a:rPr>
              <a:t>báo </a:t>
            </a:r>
            <a:r>
              <a:rPr sz="1600" spc="-65" dirty="0">
                <a:solidFill>
                  <a:srgbClr val="404040"/>
                </a:solidFill>
                <a:latin typeface="Arial"/>
                <a:cs typeface="Arial"/>
              </a:rPr>
              <a:t>động, </a:t>
            </a:r>
            <a:r>
              <a:rPr sz="1600" spc="-40" dirty="0">
                <a:solidFill>
                  <a:srgbClr val="404040"/>
                </a:solidFill>
                <a:latin typeface="Arial"/>
                <a:cs typeface="Arial"/>
              </a:rPr>
              <a:t>đóng/mở </a:t>
            </a:r>
            <a:r>
              <a:rPr sz="1600" spc="-130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600" spc="-50" dirty="0">
                <a:solidFill>
                  <a:srgbClr val="404040"/>
                </a:solidFill>
                <a:latin typeface="Arial"/>
                <a:cs typeface="Arial"/>
              </a:rPr>
              <a:t>module</a:t>
            </a:r>
            <a:r>
              <a:rPr sz="1600" spc="-3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90" dirty="0">
                <a:solidFill>
                  <a:srgbClr val="404040"/>
                </a:solidFill>
                <a:latin typeface="Arial"/>
                <a:cs typeface="Arial"/>
              </a:rPr>
              <a:t>khác.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93335" y="3023616"/>
            <a:ext cx="449580" cy="315595"/>
          </a:xfrm>
          <a:custGeom>
            <a:avLst/>
            <a:gdLst/>
            <a:ahLst/>
            <a:cxnLst/>
            <a:rect l="l" t="t" r="r" b="b"/>
            <a:pathLst>
              <a:path w="449579" h="315595">
                <a:moveTo>
                  <a:pt x="449579" y="157734"/>
                </a:moveTo>
                <a:lnTo>
                  <a:pt x="0" y="157734"/>
                </a:lnTo>
                <a:lnTo>
                  <a:pt x="224789" y="315468"/>
                </a:lnTo>
                <a:lnTo>
                  <a:pt x="449579" y="157734"/>
                </a:lnTo>
                <a:close/>
              </a:path>
              <a:path w="449579" h="315595">
                <a:moveTo>
                  <a:pt x="337185" y="0"/>
                </a:moveTo>
                <a:lnTo>
                  <a:pt x="112394" y="0"/>
                </a:lnTo>
                <a:lnTo>
                  <a:pt x="112394" y="157734"/>
                </a:lnTo>
                <a:lnTo>
                  <a:pt x="337185" y="157734"/>
                </a:lnTo>
                <a:lnTo>
                  <a:pt x="337185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93335" y="3023616"/>
            <a:ext cx="449580" cy="315595"/>
          </a:xfrm>
          <a:custGeom>
            <a:avLst/>
            <a:gdLst/>
            <a:ahLst/>
            <a:cxnLst/>
            <a:rect l="l" t="t" r="r" b="b"/>
            <a:pathLst>
              <a:path w="449579" h="315595">
                <a:moveTo>
                  <a:pt x="0" y="157734"/>
                </a:moveTo>
                <a:lnTo>
                  <a:pt x="112394" y="157734"/>
                </a:lnTo>
                <a:lnTo>
                  <a:pt x="112394" y="0"/>
                </a:lnTo>
                <a:lnTo>
                  <a:pt x="337185" y="0"/>
                </a:lnTo>
                <a:lnTo>
                  <a:pt x="337185" y="157734"/>
                </a:lnTo>
                <a:lnTo>
                  <a:pt x="449579" y="157734"/>
                </a:lnTo>
                <a:lnTo>
                  <a:pt x="224789" y="315468"/>
                </a:lnTo>
                <a:lnTo>
                  <a:pt x="0" y="157734"/>
                </a:lnTo>
                <a:close/>
              </a:path>
            </a:pathLst>
          </a:custGeom>
          <a:ln w="15240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93335" y="3802379"/>
            <a:ext cx="449580" cy="315595"/>
          </a:xfrm>
          <a:custGeom>
            <a:avLst/>
            <a:gdLst/>
            <a:ahLst/>
            <a:cxnLst/>
            <a:rect l="l" t="t" r="r" b="b"/>
            <a:pathLst>
              <a:path w="449579" h="315595">
                <a:moveTo>
                  <a:pt x="449579" y="157734"/>
                </a:moveTo>
                <a:lnTo>
                  <a:pt x="0" y="157734"/>
                </a:lnTo>
                <a:lnTo>
                  <a:pt x="224789" y="315468"/>
                </a:lnTo>
                <a:lnTo>
                  <a:pt x="449579" y="157734"/>
                </a:lnTo>
                <a:close/>
              </a:path>
              <a:path w="449579" h="315595">
                <a:moveTo>
                  <a:pt x="337185" y="0"/>
                </a:moveTo>
                <a:lnTo>
                  <a:pt x="112394" y="0"/>
                </a:lnTo>
                <a:lnTo>
                  <a:pt x="112394" y="157734"/>
                </a:lnTo>
                <a:lnTo>
                  <a:pt x="337185" y="157734"/>
                </a:lnTo>
                <a:lnTo>
                  <a:pt x="337185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93335" y="3802379"/>
            <a:ext cx="449580" cy="315595"/>
          </a:xfrm>
          <a:custGeom>
            <a:avLst/>
            <a:gdLst/>
            <a:ahLst/>
            <a:cxnLst/>
            <a:rect l="l" t="t" r="r" b="b"/>
            <a:pathLst>
              <a:path w="449579" h="315595">
                <a:moveTo>
                  <a:pt x="0" y="157734"/>
                </a:moveTo>
                <a:lnTo>
                  <a:pt x="112394" y="157734"/>
                </a:lnTo>
                <a:lnTo>
                  <a:pt x="112394" y="0"/>
                </a:lnTo>
                <a:lnTo>
                  <a:pt x="337185" y="0"/>
                </a:lnTo>
                <a:lnTo>
                  <a:pt x="337185" y="157734"/>
                </a:lnTo>
                <a:lnTo>
                  <a:pt x="449579" y="157734"/>
                </a:lnTo>
                <a:lnTo>
                  <a:pt x="224789" y="315468"/>
                </a:lnTo>
                <a:lnTo>
                  <a:pt x="0" y="157734"/>
                </a:lnTo>
                <a:close/>
              </a:path>
            </a:pathLst>
          </a:custGeom>
          <a:ln w="15240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67755" y="4687823"/>
            <a:ext cx="1526286" cy="16984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6976" y="4678679"/>
            <a:ext cx="1506474" cy="16466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82039" y="4865534"/>
            <a:ext cx="1322832" cy="14545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38983" y="5503164"/>
            <a:ext cx="585470" cy="220979"/>
          </a:xfrm>
          <a:custGeom>
            <a:avLst/>
            <a:gdLst/>
            <a:ahLst/>
            <a:cxnLst/>
            <a:rect l="l" t="t" r="r" b="b"/>
            <a:pathLst>
              <a:path w="585469" h="220979">
                <a:moveTo>
                  <a:pt x="474726" y="0"/>
                </a:moveTo>
                <a:lnTo>
                  <a:pt x="474726" y="55245"/>
                </a:lnTo>
                <a:lnTo>
                  <a:pt x="0" y="55245"/>
                </a:lnTo>
                <a:lnTo>
                  <a:pt x="0" y="165735"/>
                </a:lnTo>
                <a:lnTo>
                  <a:pt x="474726" y="165735"/>
                </a:lnTo>
                <a:lnTo>
                  <a:pt x="474726" y="220980"/>
                </a:lnTo>
                <a:lnTo>
                  <a:pt x="585216" y="110490"/>
                </a:lnTo>
                <a:lnTo>
                  <a:pt x="474726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38983" y="5503164"/>
            <a:ext cx="585470" cy="220979"/>
          </a:xfrm>
          <a:custGeom>
            <a:avLst/>
            <a:gdLst/>
            <a:ahLst/>
            <a:cxnLst/>
            <a:rect l="l" t="t" r="r" b="b"/>
            <a:pathLst>
              <a:path w="585469" h="220979">
                <a:moveTo>
                  <a:pt x="0" y="55245"/>
                </a:moveTo>
                <a:lnTo>
                  <a:pt x="474726" y="55245"/>
                </a:lnTo>
                <a:lnTo>
                  <a:pt x="474726" y="0"/>
                </a:lnTo>
                <a:lnTo>
                  <a:pt x="585216" y="110490"/>
                </a:lnTo>
                <a:lnTo>
                  <a:pt x="474726" y="220980"/>
                </a:lnTo>
                <a:lnTo>
                  <a:pt x="474726" y="165735"/>
                </a:lnTo>
                <a:lnTo>
                  <a:pt x="0" y="165735"/>
                </a:lnTo>
                <a:lnTo>
                  <a:pt x="0" y="55245"/>
                </a:lnTo>
                <a:close/>
              </a:path>
            </a:pathLst>
          </a:custGeom>
          <a:ln w="15240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94147" y="5503164"/>
            <a:ext cx="585470" cy="220979"/>
          </a:xfrm>
          <a:custGeom>
            <a:avLst/>
            <a:gdLst/>
            <a:ahLst/>
            <a:cxnLst/>
            <a:rect l="l" t="t" r="r" b="b"/>
            <a:pathLst>
              <a:path w="585470" h="220979">
                <a:moveTo>
                  <a:pt x="474725" y="0"/>
                </a:moveTo>
                <a:lnTo>
                  <a:pt x="474725" y="55245"/>
                </a:lnTo>
                <a:lnTo>
                  <a:pt x="0" y="55245"/>
                </a:lnTo>
                <a:lnTo>
                  <a:pt x="0" y="165735"/>
                </a:lnTo>
                <a:lnTo>
                  <a:pt x="474725" y="165735"/>
                </a:lnTo>
                <a:lnTo>
                  <a:pt x="474725" y="220980"/>
                </a:lnTo>
                <a:lnTo>
                  <a:pt x="585215" y="110490"/>
                </a:lnTo>
                <a:lnTo>
                  <a:pt x="474725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94147" y="5503164"/>
            <a:ext cx="585470" cy="220979"/>
          </a:xfrm>
          <a:custGeom>
            <a:avLst/>
            <a:gdLst/>
            <a:ahLst/>
            <a:cxnLst/>
            <a:rect l="l" t="t" r="r" b="b"/>
            <a:pathLst>
              <a:path w="585470" h="220979">
                <a:moveTo>
                  <a:pt x="0" y="55245"/>
                </a:moveTo>
                <a:lnTo>
                  <a:pt x="474725" y="55245"/>
                </a:lnTo>
                <a:lnTo>
                  <a:pt x="474725" y="0"/>
                </a:lnTo>
                <a:lnTo>
                  <a:pt x="585215" y="110490"/>
                </a:lnTo>
                <a:lnTo>
                  <a:pt x="474725" y="220980"/>
                </a:lnTo>
                <a:lnTo>
                  <a:pt x="474725" y="165735"/>
                </a:lnTo>
                <a:lnTo>
                  <a:pt x="0" y="165735"/>
                </a:lnTo>
                <a:lnTo>
                  <a:pt x="0" y="55245"/>
                </a:lnTo>
                <a:close/>
              </a:path>
            </a:pathLst>
          </a:custGeom>
          <a:ln w="15240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33943" y="4602479"/>
            <a:ext cx="1355598" cy="17838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94804" y="5507735"/>
            <a:ext cx="585470" cy="220979"/>
          </a:xfrm>
          <a:custGeom>
            <a:avLst/>
            <a:gdLst/>
            <a:ahLst/>
            <a:cxnLst/>
            <a:rect l="l" t="t" r="r" b="b"/>
            <a:pathLst>
              <a:path w="585470" h="220979">
                <a:moveTo>
                  <a:pt x="474725" y="0"/>
                </a:moveTo>
                <a:lnTo>
                  <a:pt x="474725" y="55244"/>
                </a:lnTo>
                <a:lnTo>
                  <a:pt x="0" y="55244"/>
                </a:lnTo>
                <a:lnTo>
                  <a:pt x="0" y="165734"/>
                </a:lnTo>
                <a:lnTo>
                  <a:pt x="474725" y="165734"/>
                </a:lnTo>
                <a:lnTo>
                  <a:pt x="474725" y="220979"/>
                </a:lnTo>
                <a:lnTo>
                  <a:pt x="585216" y="110489"/>
                </a:lnTo>
                <a:lnTo>
                  <a:pt x="474725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94804" y="5507735"/>
            <a:ext cx="585470" cy="220979"/>
          </a:xfrm>
          <a:custGeom>
            <a:avLst/>
            <a:gdLst/>
            <a:ahLst/>
            <a:cxnLst/>
            <a:rect l="l" t="t" r="r" b="b"/>
            <a:pathLst>
              <a:path w="585470" h="220979">
                <a:moveTo>
                  <a:pt x="0" y="55244"/>
                </a:moveTo>
                <a:lnTo>
                  <a:pt x="474725" y="55244"/>
                </a:lnTo>
                <a:lnTo>
                  <a:pt x="474725" y="0"/>
                </a:lnTo>
                <a:lnTo>
                  <a:pt x="585216" y="110489"/>
                </a:lnTo>
                <a:lnTo>
                  <a:pt x="474725" y="220979"/>
                </a:lnTo>
                <a:lnTo>
                  <a:pt x="474725" y="165734"/>
                </a:lnTo>
                <a:lnTo>
                  <a:pt x="0" y="165734"/>
                </a:lnTo>
                <a:lnTo>
                  <a:pt x="0" y="55244"/>
                </a:lnTo>
                <a:close/>
              </a:path>
            </a:pathLst>
          </a:custGeom>
          <a:ln w="15240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908380"/>
            <a:ext cx="83883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Mạch </a:t>
            </a:r>
            <a:r>
              <a:rPr spc="-175" dirty="0"/>
              <a:t>điều </a:t>
            </a:r>
            <a:r>
              <a:rPr spc="-229" dirty="0"/>
              <a:t>khiển </a:t>
            </a:r>
            <a:r>
              <a:rPr spc="-515" dirty="0"/>
              <a:t>sử </a:t>
            </a:r>
            <a:r>
              <a:rPr spc="-275" dirty="0"/>
              <a:t>dụng </a:t>
            </a:r>
            <a:r>
              <a:rPr spc="-360" dirty="0"/>
              <a:t>cảm</a:t>
            </a:r>
            <a:r>
              <a:rPr spc="-675" dirty="0"/>
              <a:t> </a:t>
            </a:r>
            <a:r>
              <a:rPr spc="-204" dirty="0"/>
              <a:t>biến</a:t>
            </a:r>
          </a:p>
        </p:txBody>
      </p:sp>
      <p:sp>
        <p:nvSpPr>
          <p:cNvPr id="3" name="object 3"/>
          <p:cNvSpPr/>
          <p:nvPr/>
        </p:nvSpPr>
        <p:spPr>
          <a:xfrm>
            <a:off x="2046760" y="2008881"/>
            <a:ext cx="4878623" cy="40430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1414" y="908380"/>
            <a:ext cx="41001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Hệ </a:t>
            </a:r>
            <a:r>
              <a:rPr spc="-180" dirty="0"/>
              <a:t>thống </a:t>
            </a:r>
            <a:r>
              <a:rPr spc="-175" dirty="0"/>
              <a:t>điện</a:t>
            </a:r>
            <a:r>
              <a:rPr spc="-535" dirty="0"/>
              <a:t> </a:t>
            </a:r>
            <a:r>
              <a:rPr spc="-125" dirty="0"/>
              <a:t>tử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4354" y="1916937"/>
            <a:ext cx="64350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95"/>
              </a:spcBef>
              <a:buClr>
                <a:srgbClr val="99CA38"/>
              </a:buClr>
              <a:buFont typeface="Wingdings"/>
              <a:buChar char=""/>
              <a:tabLst>
                <a:tab pos="327025" algn="l"/>
              </a:tabLst>
            </a:pPr>
            <a:r>
              <a:rPr sz="2200" spc="-320" dirty="0">
                <a:solidFill>
                  <a:srgbClr val="404040"/>
                </a:solidFill>
                <a:latin typeface="Arial"/>
                <a:cs typeface="Arial"/>
              </a:rPr>
              <a:t>Sơ </a:t>
            </a:r>
            <a:r>
              <a:rPr sz="2200" spc="-40" dirty="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sz="2200" spc="-60" dirty="0">
                <a:solidFill>
                  <a:srgbClr val="404040"/>
                </a:solidFill>
                <a:latin typeface="Arial"/>
                <a:cs typeface="Arial"/>
              </a:rPr>
              <a:t>khối </a:t>
            </a:r>
            <a:r>
              <a:rPr sz="2200" spc="-50" dirty="0">
                <a:solidFill>
                  <a:srgbClr val="404040"/>
                </a:solidFill>
                <a:latin typeface="Arial"/>
                <a:cs typeface="Arial"/>
              </a:rPr>
              <a:t>điển </a:t>
            </a:r>
            <a:r>
              <a:rPr sz="2200" spc="-85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200" spc="-14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200" spc="-10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200" spc="10" dirty="0">
                <a:solidFill>
                  <a:srgbClr val="404040"/>
                </a:solidFill>
                <a:latin typeface="Arial"/>
                <a:cs typeface="Arial"/>
              </a:rPr>
              <a:t>thiết </a:t>
            </a:r>
            <a:r>
              <a:rPr sz="2200" spc="-30" dirty="0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sz="2200" spc="-14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2200" spc="-125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200" spc="-50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200" spc="-4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Arial"/>
                <a:cs typeface="Arial"/>
              </a:rPr>
              <a:t>tử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7255" y="2528316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457200"/>
                </a:moveTo>
                <a:lnTo>
                  <a:pt x="2360" y="410458"/>
                </a:lnTo>
                <a:lnTo>
                  <a:pt x="9289" y="365066"/>
                </a:lnTo>
                <a:lnTo>
                  <a:pt x="20557" y="321253"/>
                </a:lnTo>
                <a:lnTo>
                  <a:pt x="35933" y="279249"/>
                </a:lnTo>
                <a:lnTo>
                  <a:pt x="55187" y="239283"/>
                </a:lnTo>
                <a:lnTo>
                  <a:pt x="78090" y="201587"/>
                </a:lnTo>
                <a:lnTo>
                  <a:pt x="104411" y="166390"/>
                </a:lnTo>
                <a:lnTo>
                  <a:pt x="133921" y="133921"/>
                </a:lnTo>
                <a:lnTo>
                  <a:pt x="166390" y="104411"/>
                </a:lnTo>
                <a:lnTo>
                  <a:pt x="201587" y="78090"/>
                </a:lnTo>
                <a:lnTo>
                  <a:pt x="239283" y="55187"/>
                </a:lnTo>
                <a:lnTo>
                  <a:pt x="279249" y="35933"/>
                </a:lnTo>
                <a:lnTo>
                  <a:pt x="321253" y="20557"/>
                </a:lnTo>
                <a:lnTo>
                  <a:pt x="365066" y="9289"/>
                </a:lnTo>
                <a:lnTo>
                  <a:pt x="410458" y="2360"/>
                </a:lnTo>
                <a:lnTo>
                  <a:pt x="457200" y="0"/>
                </a:lnTo>
                <a:lnTo>
                  <a:pt x="503941" y="2360"/>
                </a:lnTo>
                <a:lnTo>
                  <a:pt x="549333" y="9289"/>
                </a:lnTo>
                <a:lnTo>
                  <a:pt x="593146" y="20557"/>
                </a:lnTo>
                <a:lnTo>
                  <a:pt x="635150" y="35933"/>
                </a:lnTo>
                <a:lnTo>
                  <a:pt x="675116" y="55187"/>
                </a:lnTo>
                <a:lnTo>
                  <a:pt x="712812" y="78090"/>
                </a:lnTo>
                <a:lnTo>
                  <a:pt x="748009" y="104411"/>
                </a:lnTo>
                <a:lnTo>
                  <a:pt x="780478" y="133921"/>
                </a:lnTo>
                <a:lnTo>
                  <a:pt x="809988" y="166390"/>
                </a:lnTo>
                <a:lnTo>
                  <a:pt x="836309" y="201587"/>
                </a:lnTo>
                <a:lnTo>
                  <a:pt x="859212" y="239283"/>
                </a:lnTo>
                <a:lnTo>
                  <a:pt x="878466" y="279249"/>
                </a:lnTo>
                <a:lnTo>
                  <a:pt x="893842" y="321253"/>
                </a:lnTo>
                <a:lnTo>
                  <a:pt x="905110" y="365066"/>
                </a:lnTo>
                <a:lnTo>
                  <a:pt x="912039" y="410458"/>
                </a:lnTo>
                <a:lnTo>
                  <a:pt x="914400" y="457200"/>
                </a:lnTo>
                <a:lnTo>
                  <a:pt x="912039" y="503941"/>
                </a:lnTo>
                <a:lnTo>
                  <a:pt x="905110" y="549333"/>
                </a:lnTo>
                <a:lnTo>
                  <a:pt x="893842" y="593146"/>
                </a:lnTo>
                <a:lnTo>
                  <a:pt x="878466" y="635150"/>
                </a:lnTo>
                <a:lnTo>
                  <a:pt x="859212" y="675116"/>
                </a:lnTo>
                <a:lnTo>
                  <a:pt x="836309" y="712812"/>
                </a:lnTo>
                <a:lnTo>
                  <a:pt x="809988" y="748009"/>
                </a:lnTo>
                <a:lnTo>
                  <a:pt x="780478" y="780478"/>
                </a:lnTo>
                <a:lnTo>
                  <a:pt x="748009" y="809988"/>
                </a:lnTo>
                <a:lnTo>
                  <a:pt x="712812" y="836309"/>
                </a:lnTo>
                <a:lnTo>
                  <a:pt x="675116" y="859212"/>
                </a:lnTo>
                <a:lnTo>
                  <a:pt x="635150" y="878466"/>
                </a:lnTo>
                <a:lnTo>
                  <a:pt x="593146" y="893842"/>
                </a:lnTo>
                <a:lnTo>
                  <a:pt x="549333" y="905110"/>
                </a:lnTo>
                <a:lnTo>
                  <a:pt x="503941" y="912039"/>
                </a:lnTo>
                <a:lnTo>
                  <a:pt x="457200" y="914400"/>
                </a:lnTo>
                <a:lnTo>
                  <a:pt x="410458" y="912039"/>
                </a:lnTo>
                <a:lnTo>
                  <a:pt x="365066" y="905110"/>
                </a:lnTo>
                <a:lnTo>
                  <a:pt x="321253" y="893842"/>
                </a:lnTo>
                <a:lnTo>
                  <a:pt x="279249" y="878466"/>
                </a:lnTo>
                <a:lnTo>
                  <a:pt x="239283" y="859212"/>
                </a:lnTo>
                <a:lnTo>
                  <a:pt x="201587" y="836309"/>
                </a:lnTo>
                <a:lnTo>
                  <a:pt x="166390" y="809988"/>
                </a:lnTo>
                <a:lnTo>
                  <a:pt x="133921" y="780478"/>
                </a:lnTo>
                <a:lnTo>
                  <a:pt x="104411" y="748009"/>
                </a:lnTo>
                <a:lnTo>
                  <a:pt x="78090" y="712812"/>
                </a:lnTo>
                <a:lnTo>
                  <a:pt x="55187" y="675116"/>
                </a:lnTo>
                <a:lnTo>
                  <a:pt x="35933" y="635150"/>
                </a:lnTo>
                <a:lnTo>
                  <a:pt x="20557" y="593146"/>
                </a:lnTo>
                <a:lnTo>
                  <a:pt x="9289" y="549333"/>
                </a:lnTo>
                <a:lnTo>
                  <a:pt x="2360" y="503941"/>
                </a:lnTo>
                <a:lnTo>
                  <a:pt x="0" y="4572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32832" y="2650235"/>
            <a:ext cx="990600" cy="688975"/>
          </a:xfrm>
          <a:custGeom>
            <a:avLst/>
            <a:gdLst/>
            <a:ahLst/>
            <a:cxnLst/>
            <a:rect l="l" t="t" r="r" b="b"/>
            <a:pathLst>
              <a:path w="990600" h="688975">
                <a:moveTo>
                  <a:pt x="0" y="688848"/>
                </a:moveTo>
                <a:lnTo>
                  <a:pt x="990600" y="688848"/>
                </a:lnTo>
                <a:lnTo>
                  <a:pt x="990600" y="0"/>
                </a:lnTo>
                <a:lnTo>
                  <a:pt x="0" y="0"/>
                </a:lnTo>
                <a:lnTo>
                  <a:pt x="0" y="688848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2417" y="2912998"/>
            <a:ext cx="391160" cy="134620"/>
          </a:xfrm>
          <a:custGeom>
            <a:avLst/>
            <a:gdLst/>
            <a:ahLst/>
            <a:cxnLst/>
            <a:rect l="l" t="t" r="r" b="b"/>
            <a:pathLst>
              <a:path w="391160" h="134619">
                <a:moveTo>
                  <a:pt x="333502" y="67183"/>
                </a:moveTo>
                <a:lnTo>
                  <a:pt x="267969" y="105410"/>
                </a:lnTo>
                <a:lnTo>
                  <a:pt x="260984" y="109347"/>
                </a:lnTo>
                <a:lnTo>
                  <a:pt x="258699" y="118237"/>
                </a:lnTo>
                <a:lnTo>
                  <a:pt x="262763" y="125095"/>
                </a:lnTo>
                <a:lnTo>
                  <a:pt x="266700" y="132079"/>
                </a:lnTo>
                <a:lnTo>
                  <a:pt x="275589" y="134365"/>
                </a:lnTo>
                <a:lnTo>
                  <a:pt x="365930" y="81661"/>
                </a:lnTo>
                <a:lnTo>
                  <a:pt x="362076" y="81661"/>
                </a:lnTo>
                <a:lnTo>
                  <a:pt x="362076" y="79628"/>
                </a:lnTo>
                <a:lnTo>
                  <a:pt x="354838" y="79628"/>
                </a:lnTo>
                <a:lnTo>
                  <a:pt x="333502" y="67183"/>
                </a:lnTo>
                <a:close/>
              </a:path>
              <a:path w="391160" h="134619">
                <a:moveTo>
                  <a:pt x="308682" y="52704"/>
                </a:moveTo>
                <a:lnTo>
                  <a:pt x="0" y="52704"/>
                </a:lnTo>
                <a:lnTo>
                  <a:pt x="0" y="81661"/>
                </a:lnTo>
                <a:lnTo>
                  <a:pt x="308682" y="81661"/>
                </a:lnTo>
                <a:lnTo>
                  <a:pt x="333501" y="67183"/>
                </a:lnTo>
                <a:lnTo>
                  <a:pt x="308682" y="52704"/>
                </a:lnTo>
                <a:close/>
              </a:path>
              <a:path w="391160" h="134619">
                <a:moveTo>
                  <a:pt x="365930" y="52704"/>
                </a:moveTo>
                <a:lnTo>
                  <a:pt x="362076" y="52704"/>
                </a:lnTo>
                <a:lnTo>
                  <a:pt x="362076" y="81661"/>
                </a:lnTo>
                <a:lnTo>
                  <a:pt x="365930" y="81661"/>
                </a:lnTo>
                <a:lnTo>
                  <a:pt x="390779" y="67183"/>
                </a:lnTo>
                <a:lnTo>
                  <a:pt x="365930" y="52704"/>
                </a:lnTo>
                <a:close/>
              </a:path>
              <a:path w="391160" h="134619">
                <a:moveTo>
                  <a:pt x="354838" y="54737"/>
                </a:moveTo>
                <a:lnTo>
                  <a:pt x="333502" y="67183"/>
                </a:lnTo>
                <a:lnTo>
                  <a:pt x="354838" y="79628"/>
                </a:lnTo>
                <a:lnTo>
                  <a:pt x="354838" y="54737"/>
                </a:lnTo>
                <a:close/>
              </a:path>
              <a:path w="391160" h="134619">
                <a:moveTo>
                  <a:pt x="362076" y="54737"/>
                </a:moveTo>
                <a:lnTo>
                  <a:pt x="354838" y="54737"/>
                </a:lnTo>
                <a:lnTo>
                  <a:pt x="354838" y="79628"/>
                </a:lnTo>
                <a:lnTo>
                  <a:pt x="362076" y="79628"/>
                </a:lnTo>
                <a:lnTo>
                  <a:pt x="362076" y="54737"/>
                </a:lnTo>
                <a:close/>
              </a:path>
              <a:path w="391160" h="134619">
                <a:moveTo>
                  <a:pt x="275589" y="0"/>
                </a:moveTo>
                <a:lnTo>
                  <a:pt x="266700" y="2286"/>
                </a:lnTo>
                <a:lnTo>
                  <a:pt x="262763" y="9271"/>
                </a:lnTo>
                <a:lnTo>
                  <a:pt x="258699" y="16128"/>
                </a:lnTo>
                <a:lnTo>
                  <a:pt x="260984" y="25018"/>
                </a:lnTo>
                <a:lnTo>
                  <a:pt x="267969" y="28955"/>
                </a:lnTo>
                <a:lnTo>
                  <a:pt x="333502" y="67183"/>
                </a:lnTo>
                <a:lnTo>
                  <a:pt x="354838" y="54737"/>
                </a:lnTo>
                <a:lnTo>
                  <a:pt x="362076" y="54737"/>
                </a:lnTo>
                <a:lnTo>
                  <a:pt x="362076" y="52704"/>
                </a:lnTo>
                <a:lnTo>
                  <a:pt x="365930" y="52704"/>
                </a:lnTo>
                <a:lnTo>
                  <a:pt x="275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63161" y="2912998"/>
            <a:ext cx="391160" cy="134620"/>
          </a:xfrm>
          <a:custGeom>
            <a:avLst/>
            <a:gdLst/>
            <a:ahLst/>
            <a:cxnLst/>
            <a:rect l="l" t="t" r="r" b="b"/>
            <a:pathLst>
              <a:path w="391160" h="134619">
                <a:moveTo>
                  <a:pt x="333502" y="67183"/>
                </a:moveTo>
                <a:lnTo>
                  <a:pt x="267970" y="105410"/>
                </a:lnTo>
                <a:lnTo>
                  <a:pt x="260985" y="109347"/>
                </a:lnTo>
                <a:lnTo>
                  <a:pt x="258699" y="118237"/>
                </a:lnTo>
                <a:lnTo>
                  <a:pt x="262763" y="125095"/>
                </a:lnTo>
                <a:lnTo>
                  <a:pt x="266700" y="132079"/>
                </a:lnTo>
                <a:lnTo>
                  <a:pt x="275589" y="134365"/>
                </a:lnTo>
                <a:lnTo>
                  <a:pt x="365930" y="81661"/>
                </a:lnTo>
                <a:lnTo>
                  <a:pt x="362076" y="81661"/>
                </a:lnTo>
                <a:lnTo>
                  <a:pt x="362076" y="79628"/>
                </a:lnTo>
                <a:lnTo>
                  <a:pt x="354838" y="79628"/>
                </a:lnTo>
                <a:lnTo>
                  <a:pt x="333502" y="67183"/>
                </a:lnTo>
                <a:close/>
              </a:path>
              <a:path w="391160" h="134619">
                <a:moveTo>
                  <a:pt x="308682" y="52704"/>
                </a:moveTo>
                <a:lnTo>
                  <a:pt x="0" y="52704"/>
                </a:lnTo>
                <a:lnTo>
                  <a:pt x="0" y="81661"/>
                </a:lnTo>
                <a:lnTo>
                  <a:pt x="308682" y="81661"/>
                </a:lnTo>
                <a:lnTo>
                  <a:pt x="333501" y="67183"/>
                </a:lnTo>
                <a:lnTo>
                  <a:pt x="308682" y="52704"/>
                </a:lnTo>
                <a:close/>
              </a:path>
              <a:path w="391160" h="134619">
                <a:moveTo>
                  <a:pt x="365930" y="52704"/>
                </a:moveTo>
                <a:lnTo>
                  <a:pt x="362076" y="52704"/>
                </a:lnTo>
                <a:lnTo>
                  <a:pt x="362076" y="81661"/>
                </a:lnTo>
                <a:lnTo>
                  <a:pt x="365930" y="81661"/>
                </a:lnTo>
                <a:lnTo>
                  <a:pt x="390778" y="67183"/>
                </a:lnTo>
                <a:lnTo>
                  <a:pt x="365930" y="52704"/>
                </a:lnTo>
                <a:close/>
              </a:path>
              <a:path w="391160" h="134619">
                <a:moveTo>
                  <a:pt x="354838" y="54737"/>
                </a:moveTo>
                <a:lnTo>
                  <a:pt x="333502" y="67183"/>
                </a:lnTo>
                <a:lnTo>
                  <a:pt x="354838" y="79628"/>
                </a:lnTo>
                <a:lnTo>
                  <a:pt x="354838" y="54737"/>
                </a:lnTo>
                <a:close/>
              </a:path>
              <a:path w="391160" h="134619">
                <a:moveTo>
                  <a:pt x="362076" y="54737"/>
                </a:moveTo>
                <a:lnTo>
                  <a:pt x="354838" y="54737"/>
                </a:lnTo>
                <a:lnTo>
                  <a:pt x="354838" y="79628"/>
                </a:lnTo>
                <a:lnTo>
                  <a:pt x="362076" y="79628"/>
                </a:lnTo>
                <a:lnTo>
                  <a:pt x="362076" y="54737"/>
                </a:lnTo>
                <a:close/>
              </a:path>
              <a:path w="391160" h="134619">
                <a:moveTo>
                  <a:pt x="275589" y="0"/>
                </a:moveTo>
                <a:lnTo>
                  <a:pt x="266700" y="2286"/>
                </a:lnTo>
                <a:lnTo>
                  <a:pt x="262763" y="9271"/>
                </a:lnTo>
                <a:lnTo>
                  <a:pt x="258699" y="16128"/>
                </a:lnTo>
                <a:lnTo>
                  <a:pt x="260985" y="25018"/>
                </a:lnTo>
                <a:lnTo>
                  <a:pt x="267970" y="28955"/>
                </a:lnTo>
                <a:lnTo>
                  <a:pt x="333502" y="67183"/>
                </a:lnTo>
                <a:lnTo>
                  <a:pt x="354838" y="54737"/>
                </a:lnTo>
                <a:lnTo>
                  <a:pt x="362076" y="54737"/>
                </a:lnTo>
                <a:lnTo>
                  <a:pt x="362076" y="52704"/>
                </a:lnTo>
                <a:lnTo>
                  <a:pt x="365930" y="52704"/>
                </a:lnTo>
                <a:lnTo>
                  <a:pt x="275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73929" y="2912998"/>
            <a:ext cx="391160" cy="134620"/>
          </a:xfrm>
          <a:custGeom>
            <a:avLst/>
            <a:gdLst/>
            <a:ahLst/>
            <a:cxnLst/>
            <a:rect l="l" t="t" r="r" b="b"/>
            <a:pathLst>
              <a:path w="391160" h="134619">
                <a:moveTo>
                  <a:pt x="333502" y="67183"/>
                </a:moveTo>
                <a:lnTo>
                  <a:pt x="267970" y="105410"/>
                </a:lnTo>
                <a:lnTo>
                  <a:pt x="260985" y="109347"/>
                </a:lnTo>
                <a:lnTo>
                  <a:pt x="258699" y="118237"/>
                </a:lnTo>
                <a:lnTo>
                  <a:pt x="262763" y="125095"/>
                </a:lnTo>
                <a:lnTo>
                  <a:pt x="266700" y="132079"/>
                </a:lnTo>
                <a:lnTo>
                  <a:pt x="275590" y="134365"/>
                </a:lnTo>
                <a:lnTo>
                  <a:pt x="365930" y="81661"/>
                </a:lnTo>
                <a:lnTo>
                  <a:pt x="362077" y="81661"/>
                </a:lnTo>
                <a:lnTo>
                  <a:pt x="362077" y="79628"/>
                </a:lnTo>
                <a:lnTo>
                  <a:pt x="354838" y="79628"/>
                </a:lnTo>
                <a:lnTo>
                  <a:pt x="333502" y="67183"/>
                </a:lnTo>
                <a:close/>
              </a:path>
              <a:path w="391160" h="134619">
                <a:moveTo>
                  <a:pt x="308682" y="52704"/>
                </a:moveTo>
                <a:lnTo>
                  <a:pt x="0" y="52704"/>
                </a:lnTo>
                <a:lnTo>
                  <a:pt x="0" y="81661"/>
                </a:lnTo>
                <a:lnTo>
                  <a:pt x="308682" y="81661"/>
                </a:lnTo>
                <a:lnTo>
                  <a:pt x="333501" y="67183"/>
                </a:lnTo>
                <a:lnTo>
                  <a:pt x="308682" y="52704"/>
                </a:lnTo>
                <a:close/>
              </a:path>
              <a:path w="391160" h="134619">
                <a:moveTo>
                  <a:pt x="365930" y="52704"/>
                </a:moveTo>
                <a:lnTo>
                  <a:pt x="362077" y="52704"/>
                </a:lnTo>
                <a:lnTo>
                  <a:pt x="362077" y="81661"/>
                </a:lnTo>
                <a:lnTo>
                  <a:pt x="365930" y="81661"/>
                </a:lnTo>
                <a:lnTo>
                  <a:pt x="390779" y="67183"/>
                </a:lnTo>
                <a:lnTo>
                  <a:pt x="365930" y="52704"/>
                </a:lnTo>
                <a:close/>
              </a:path>
              <a:path w="391160" h="134619">
                <a:moveTo>
                  <a:pt x="354838" y="54737"/>
                </a:moveTo>
                <a:lnTo>
                  <a:pt x="333502" y="67183"/>
                </a:lnTo>
                <a:lnTo>
                  <a:pt x="354838" y="79628"/>
                </a:lnTo>
                <a:lnTo>
                  <a:pt x="354838" y="54737"/>
                </a:lnTo>
                <a:close/>
              </a:path>
              <a:path w="391160" h="134619">
                <a:moveTo>
                  <a:pt x="362077" y="54737"/>
                </a:moveTo>
                <a:lnTo>
                  <a:pt x="354838" y="54737"/>
                </a:lnTo>
                <a:lnTo>
                  <a:pt x="354838" y="79628"/>
                </a:lnTo>
                <a:lnTo>
                  <a:pt x="362077" y="79628"/>
                </a:lnTo>
                <a:lnTo>
                  <a:pt x="362077" y="54737"/>
                </a:lnTo>
                <a:close/>
              </a:path>
              <a:path w="391160" h="134619">
                <a:moveTo>
                  <a:pt x="275590" y="0"/>
                </a:moveTo>
                <a:lnTo>
                  <a:pt x="266700" y="2286"/>
                </a:lnTo>
                <a:lnTo>
                  <a:pt x="262763" y="9271"/>
                </a:lnTo>
                <a:lnTo>
                  <a:pt x="258699" y="16128"/>
                </a:lnTo>
                <a:lnTo>
                  <a:pt x="260985" y="25018"/>
                </a:lnTo>
                <a:lnTo>
                  <a:pt x="267970" y="28955"/>
                </a:lnTo>
                <a:lnTo>
                  <a:pt x="333502" y="67183"/>
                </a:lnTo>
                <a:lnTo>
                  <a:pt x="354838" y="54737"/>
                </a:lnTo>
                <a:lnTo>
                  <a:pt x="362077" y="54737"/>
                </a:lnTo>
                <a:lnTo>
                  <a:pt x="362077" y="52704"/>
                </a:lnTo>
                <a:lnTo>
                  <a:pt x="365930" y="52704"/>
                </a:lnTo>
                <a:lnTo>
                  <a:pt x="2755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37909" y="2912998"/>
            <a:ext cx="391160" cy="134620"/>
          </a:xfrm>
          <a:custGeom>
            <a:avLst/>
            <a:gdLst/>
            <a:ahLst/>
            <a:cxnLst/>
            <a:rect l="l" t="t" r="r" b="b"/>
            <a:pathLst>
              <a:path w="391159" h="134619">
                <a:moveTo>
                  <a:pt x="333502" y="67183"/>
                </a:moveTo>
                <a:lnTo>
                  <a:pt x="267969" y="105410"/>
                </a:lnTo>
                <a:lnTo>
                  <a:pt x="260985" y="109347"/>
                </a:lnTo>
                <a:lnTo>
                  <a:pt x="258699" y="118237"/>
                </a:lnTo>
                <a:lnTo>
                  <a:pt x="262763" y="125095"/>
                </a:lnTo>
                <a:lnTo>
                  <a:pt x="266700" y="132079"/>
                </a:lnTo>
                <a:lnTo>
                  <a:pt x="275589" y="134365"/>
                </a:lnTo>
                <a:lnTo>
                  <a:pt x="365930" y="81661"/>
                </a:lnTo>
                <a:lnTo>
                  <a:pt x="362076" y="81661"/>
                </a:lnTo>
                <a:lnTo>
                  <a:pt x="362076" y="79628"/>
                </a:lnTo>
                <a:lnTo>
                  <a:pt x="354838" y="79628"/>
                </a:lnTo>
                <a:lnTo>
                  <a:pt x="333502" y="67183"/>
                </a:lnTo>
                <a:close/>
              </a:path>
              <a:path w="391159" h="134619">
                <a:moveTo>
                  <a:pt x="308682" y="52704"/>
                </a:moveTo>
                <a:lnTo>
                  <a:pt x="0" y="52704"/>
                </a:lnTo>
                <a:lnTo>
                  <a:pt x="0" y="81661"/>
                </a:lnTo>
                <a:lnTo>
                  <a:pt x="308682" y="81661"/>
                </a:lnTo>
                <a:lnTo>
                  <a:pt x="333501" y="67183"/>
                </a:lnTo>
                <a:lnTo>
                  <a:pt x="308682" y="52704"/>
                </a:lnTo>
                <a:close/>
              </a:path>
              <a:path w="391159" h="134619">
                <a:moveTo>
                  <a:pt x="365930" y="52704"/>
                </a:moveTo>
                <a:lnTo>
                  <a:pt x="362076" y="52704"/>
                </a:lnTo>
                <a:lnTo>
                  <a:pt x="362076" y="81661"/>
                </a:lnTo>
                <a:lnTo>
                  <a:pt x="365930" y="81661"/>
                </a:lnTo>
                <a:lnTo>
                  <a:pt x="390779" y="67183"/>
                </a:lnTo>
                <a:lnTo>
                  <a:pt x="365930" y="52704"/>
                </a:lnTo>
                <a:close/>
              </a:path>
              <a:path w="391159" h="134619">
                <a:moveTo>
                  <a:pt x="354838" y="54737"/>
                </a:moveTo>
                <a:lnTo>
                  <a:pt x="333502" y="67183"/>
                </a:lnTo>
                <a:lnTo>
                  <a:pt x="354838" y="79628"/>
                </a:lnTo>
                <a:lnTo>
                  <a:pt x="354838" y="54737"/>
                </a:lnTo>
                <a:close/>
              </a:path>
              <a:path w="391159" h="134619">
                <a:moveTo>
                  <a:pt x="362076" y="54737"/>
                </a:moveTo>
                <a:lnTo>
                  <a:pt x="354838" y="54737"/>
                </a:lnTo>
                <a:lnTo>
                  <a:pt x="354838" y="79628"/>
                </a:lnTo>
                <a:lnTo>
                  <a:pt x="362076" y="79628"/>
                </a:lnTo>
                <a:lnTo>
                  <a:pt x="362076" y="54737"/>
                </a:lnTo>
                <a:close/>
              </a:path>
              <a:path w="391159" h="134619">
                <a:moveTo>
                  <a:pt x="275589" y="0"/>
                </a:moveTo>
                <a:lnTo>
                  <a:pt x="266700" y="2286"/>
                </a:lnTo>
                <a:lnTo>
                  <a:pt x="262763" y="9271"/>
                </a:lnTo>
                <a:lnTo>
                  <a:pt x="258699" y="16128"/>
                </a:lnTo>
                <a:lnTo>
                  <a:pt x="260985" y="25018"/>
                </a:lnTo>
                <a:lnTo>
                  <a:pt x="267969" y="28955"/>
                </a:lnTo>
                <a:lnTo>
                  <a:pt x="333502" y="67183"/>
                </a:lnTo>
                <a:lnTo>
                  <a:pt x="354838" y="54737"/>
                </a:lnTo>
                <a:lnTo>
                  <a:pt x="362076" y="54737"/>
                </a:lnTo>
                <a:lnTo>
                  <a:pt x="362076" y="52704"/>
                </a:lnTo>
                <a:lnTo>
                  <a:pt x="365930" y="52704"/>
                </a:lnTo>
                <a:lnTo>
                  <a:pt x="275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79157" y="2912998"/>
            <a:ext cx="391160" cy="134620"/>
          </a:xfrm>
          <a:custGeom>
            <a:avLst/>
            <a:gdLst/>
            <a:ahLst/>
            <a:cxnLst/>
            <a:rect l="l" t="t" r="r" b="b"/>
            <a:pathLst>
              <a:path w="391159" h="134619">
                <a:moveTo>
                  <a:pt x="333502" y="67183"/>
                </a:moveTo>
                <a:lnTo>
                  <a:pt x="267970" y="105410"/>
                </a:lnTo>
                <a:lnTo>
                  <a:pt x="260985" y="109347"/>
                </a:lnTo>
                <a:lnTo>
                  <a:pt x="258699" y="118237"/>
                </a:lnTo>
                <a:lnTo>
                  <a:pt x="262763" y="125095"/>
                </a:lnTo>
                <a:lnTo>
                  <a:pt x="266700" y="132079"/>
                </a:lnTo>
                <a:lnTo>
                  <a:pt x="275590" y="134365"/>
                </a:lnTo>
                <a:lnTo>
                  <a:pt x="365930" y="81661"/>
                </a:lnTo>
                <a:lnTo>
                  <a:pt x="362076" y="81661"/>
                </a:lnTo>
                <a:lnTo>
                  <a:pt x="362076" y="79628"/>
                </a:lnTo>
                <a:lnTo>
                  <a:pt x="354838" y="79628"/>
                </a:lnTo>
                <a:lnTo>
                  <a:pt x="333502" y="67183"/>
                </a:lnTo>
                <a:close/>
              </a:path>
              <a:path w="391159" h="134619">
                <a:moveTo>
                  <a:pt x="308682" y="52704"/>
                </a:moveTo>
                <a:lnTo>
                  <a:pt x="0" y="52704"/>
                </a:lnTo>
                <a:lnTo>
                  <a:pt x="0" y="81661"/>
                </a:lnTo>
                <a:lnTo>
                  <a:pt x="308682" y="81661"/>
                </a:lnTo>
                <a:lnTo>
                  <a:pt x="333502" y="67183"/>
                </a:lnTo>
                <a:lnTo>
                  <a:pt x="308682" y="52704"/>
                </a:lnTo>
                <a:close/>
              </a:path>
              <a:path w="391159" h="134619">
                <a:moveTo>
                  <a:pt x="365930" y="52704"/>
                </a:moveTo>
                <a:lnTo>
                  <a:pt x="362076" y="52704"/>
                </a:lnTo>
                <a:lnTo>
                  <a:pt x="362076" y="81661"/>
                </a:lnTo>
                <a:lnTo>
                  <a:pt x="365930" y="81661"/>
                </a:lnTo>
                <a:lnTo>
                  <a:pt x="390778" y="67183"/>
                </a:lnTo>
                <a:lnTo>
                  <a:pt x="365930" y="52704"/>
                </a:lnTo>
                <a:close/>
              </a:path>
              <a:path w="391159" h="134619">
                <a:moveTo>
                  <a:pt x="354838" y="54737"/>
                </a:moveTo>
                <a:lnTo>
                  <a:pt x="333502" y="67183"/>
                </a:lnTo>
                <a:lnTo>
                  <a:pt x="354838" y="79628"/>
                </a:lnTo>
                <a:lnTo>
                  <a:pt x="354838" y="54737"/>
                </a:lnTo>
                <a:close/>
              </a:path>
              <a:path w="391159" h="134619">
                <a:moveTo>
                  <a:pt x="362076" y="54737"/>
                </a:moveTo>
                <a:lnTo>
                  <a:pt x="354838" y="54737"/>
                </a:lnTo>
                <a:lnTo>
                  <a:pt x="354838" y="79628"/>
                </a:lnTo>
                <a:lnTo>
                  <a:pt x="362076" y="79628"/>
                </a:lnTo>
                <a:lnTo>
                  <a:pt x="362076" y="54737"/>
                </a:lnTo>
                <a:close/>
              </a:path>
              <a:path w="391159" h="134619">
                <a:moveTo>
                  <a:pt x="275590" y="0"/>
                </a:moveTo>
                <a:lnTo>
                  <a:pt x="266700" y="2286"/>
                </a:lnTo>
                <a:lnTo>
                  <a:pt x="262763" y="9271"/>
                </a:lnTo>
                <a:lnTo>
                  <a:pt x="258699" y="16128"/>
                </a:lnTo>
                <a:lnTo>
                  <a:pt x="260985" y="25018"/>
                </a:lnTo>
                <a:lnTo>
                  <a:pt x="267970" y="28955"/>
                </a:lnTo>
                <a:lnTo>
                  <a:pt x="333502" y="67183"/>
                </a:lnTo>
                <a:lnTo>
                  <a:pt x="354838" y="54737"/>
                </a:lnTo>
                <a:lnTo>
                  <a:pt x="362076" y="54737"/>
                </a:lnTo>
                <a:lnTo>
                  <a:pt x="362076" y="52704"/>
                </a:lnTo>
                <a:lnTo>
                  <a:pt x="365930" y="52704"/>
                </a:lnTo>
                <a:lnTo>
                  <a:pt x="2755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93545" y="2816478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Non-e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tri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l  </a:t>
            </a:r>
            <a:r>
              <a:rPr sz="1200" spc="-5" dirty="0">
                <a:latin typeface="Times New Roman"/>
                <a:cs typeface="Times New Roman"/>
              </a:rPr>
              <a:t>information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73323" y="2650235"/>
            <a:ext cx="989330" cy="6889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177800" marR="124460" indent="179705">
              <a:lnSpc>
                <a:spcPct val="100000"/>
              </a:lnSpc>
              <a:spcBef>
                <a:spcPts val="1100"/>
              </a:spcBef>
            </a:pPr>
            <a:r>
              <a:rPr sz="1200" spc="-10" dirty="0">
                <a:latin typeface="Times New Roman"/>
                <a:cs typeface="Times New Roman"/>
              </a:rPr>
              <a:t>Input  </a:t>
            </a:r>
            <a:r>
              <a:rPr sz="1200" spc="-40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nsdu</a:t>
            </a:r>
            <a:r>
              <a:rPr sz="1200" spc="-5" dirty="0">
                <a:latin typeface="Times New Roman"/>
                <a:cs typeface="Times New Roman"/>
              </a:rPr>
              <a:t>ce</a:t>
            </a:r>
            <a:r>
              <a:rPr sz="1200" dirty="0">
                <a:latin typeface="Times New Roman"/>
                <a:cs typeface="Times New Roman"/>
              </a:rPr>
              <a:t>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23588" y="2650235"/>
            <a:ext cx="449580" cy="6889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vert270" wrap="square" lIns="0" tIns="1244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980"/>
              </a:spcBef>
            </a:pPr>
            <a:r>
              <a:rPr sz="1200" spc="-5" dirty="0">
                <a:latin typeface="Times New Roman"/>
                <a:cs typeface="Times New Roman"/>
              </a:rPr>
              <a:t>Interface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1934" y="2869819"/>
            <a:ext cx="659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marR="5080" indent="-1524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essor/  Filter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28816" y="2663951"/>
            <a:ext cx="449580" cy="6889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vert270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Interface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83780" y="2484120"/>
            <a:ext cx="1169035" cy="104902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1920" marR="248285" indent="1270" algn="ctr">
              <a:lnSpc>
                <a:spcPct val="100000"/>
              </a:lnSpc>
              <a:spcBef>
                <a:spcPts val="960"/>
              </a:spcBef>
            </a:pPr>
            <a:r>
              <a:rPr sz="1200" spc="-5" dirty="0">
                <a:latin typeface="Times New Roman"/>
                <a:cs typeface="Times New Roman"/>
              </a:rPr>
              <a:t>Display </a:t>
            </a:r>
            <a:r>
              <a:rPr sz="1200" dirty="0">
                <a:latin typeface="Times New Roman"/>
                <a:cs typeface="Times New Roman"/>
              </a:rPr>
              <a:t>/  </a:t>
            </a:r>
            <a:r>
              <a:rPr sz="1200" spc="-5" dirty="0">
                <a:latin typeface="Times New Roman"/>
                <a:cs typeface="Times New Roman"/>
              </a:rPr>
              <a:t>Digital 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  </a:t>
            </a:r>
            <a:r>
              <a:rPr sz="1200" spc="-5" dirty="0">
                <a:latin typeface="Times New Roman"/>
                <a:cs typeface="Times New Roman"/>
              </a:rPr>
              <a:t>Actuator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702051" y="3759708"/>
            <a:ext cx="4050792" cy="1559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54882" y="5543499"/>
            <a:ext cx="15792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6FC0"/>
                </a:solidFill>
                <a:latin typeface="Times New Roman"/>
                <a:cs typeface="Times New Roman"/>
              </a:rPr>
              <a:t>Hệ thống âm</a:t>
            </a:r>
            <a:r>
              <a:rPr sz="16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Times New Roman"/>
                <a:cs typeface="Times New Roman"/>
              </a:rPr>
              <a:t>thanh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11490" y="6537969"/>
            <a:ext cx="2311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0086" y="286892"/>
            <a:ext cx="7462520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724025" marR="5080" indent="-1711960">
              <a:lnSpc>
                <a:spcPts val="4900"/>
              </a:lnSpc>
              <a:spcBef>
                <a:spcPts val="980"/>
              </a:spcBef>
            </a:pPr>
            <a:r>
              <a:rPr spc="-825" dirty="0"/>
              <a:t>Sơ </a:t>
            </a:r>
            <a:r>
              <a:rPr spc="-145" dirty="0"/>
              <a:t>đồ </a:t>
            </a:r>
            <a:r>
              <a:rPr spc="-195" dirty="0"/>
              <a:t>khối </a:t>
            </a:r>
            <a:r>
              <a:rPr spc="-180" dirty="0"/>
              <a:t>điển </a:t>
            </a:r>
            <a:r>
              <a:rPr spc="-240" dirty="0"/>
              <a:t>hình </a:t>
            </a:r>
            <a:r>
              <a:rPr spc="-135" dirty="0"/>
              <a:t>trong</a:t>
            </a:r>
            <a:r>
              <a:rPr spc="-575" dirty="0"/>
              <a:t> </a:t>
            </a:r>
            <a:r>
              <a:rPr spc="-80" dirty="0"/>
              <a:t>một  </a:t>
            </a:r>
            <a:r>
              <a:rPr spc="-265" dirty="0"/>
              <a:t>hệ </a:t>
            </a:r>
            <a:r>
              <a:rPr spc="-180" dirty="0"/>
              <a:t>thống </a:t>
            </a:r>
            <a:r>
              <a:rPr spc="-175" dirty="0"/>
              <a:t>điện</a:t>
            </a:r>
            <a:r>
              <a:rPr spc="-620" dirty="0"/>
              <a:t> </a:t>
            </a:r>
            <a:r>
              <a:rPr spc="-150" dirty="0"/>
              <a:t>tử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11490" y="6537969"/>
            <a:ext cx="2311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79596" y="2146554"/>
            <a:ext cx="51542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35" dirty="0">
                <a:solidFill>
                  <a:srgbClr val="A6A6A6"/>
                </a:solidFill>
                <a:latin typeface="Arial"/>
                <a:cs typeface="Arial"/>
              </a:rPr>
              <a:t>Chuyển </a:t>
            </a:r>
            <a:r>
              <a:rPr sz="2000" spc="-20" dirty="0">
                <a:solidFill>
                  <a:srgbClr val="A6A6A6"/>
                </a:solidFill>
                <a:latin typeface="Arial"/>
                <a:cs typeface="Arial"/>
              </a:rPr>
              <a:t>đổi </a:t>
            </a:r>
            <a:r>
              <a:rPr sz="2000" spc="-155" dirty="0">
                <a:solidFill>
                  <a:srgbClr val="A6A6A6"/>
                </a:solidFill>
                <a:latin typeface="Arial"/>
                <a:cs typeface="Arial"/>
              </a:rPr>
              <a:t>các </a:t>
            </a:r>
            <a:r>
              <a:rPr sz="2000" spc="-15" dirty="0">
                <a:solidFill>
                  <a:srgbClr val="A6A6A6"/>
                </a:solidFill>
                <a:latin typeface="Arial"/>
                <a:cs typeface="Arial"/>
              </a:rPr>
              <a:t>tín </a:t>
            </a:r>
            <a:r>
              <a:rPr sz="2000" spc="-60" dirty="0">
                <a:solidFill>
                  <a:srgbClr val="A6A6A6"/>
                </a:solidFill>
                <a:latin typeface="Arial"/>
                <a:cs typeface="Arial"/>
              </a:rPr>
              <a:t>hiệu </a:t>
            </a:r>
            <a:r>
              <a:rPr sz="2000" spc="-10" dirty="0">
                <a:solidFill>
                  <a:srgbClr val="A6A6A6"/>
                </a:solidFill>
                <a:latin typeface="Arial"/>
                <a:cs typeface="Arial"/>
              </a:rPr>
              <a:t>tự </a:t>
            </a:r>
            <a:r>
              <a:rPr sz="2000" spc="-65" dirty="0">
                <a:solidFill>
                  <a:srgbClr val="A6A6A6"/>
                </a:solidFill>
                <a:latin typeface="Arial"/>
                <a:cs typeface="Arial"/>
              </a:rPr>
              <a:t>nhiên </a:t>
            </a:r>
            <a:r>
              <a:rPr sz="2000" spc="-50" dirty="0">
                <a:solidFill>
                  <a:srgbClr val="A6A6A6"/>
                </a:solidFill>
                <a:latin typeface="Arial"/>
                <a:cs typeface="Arial"/>
              </a:rPr>
              <a:t>thành </a:t>
            </a:r>
            <a:r>
              <a:rPr sz="2000" spc="-15" dirty="0">
                <a:solidFill>
                  <a:srgbClr val="A6A6A6"/>
                </a:solidFill>
                <a:latin typeface="Arial"/>
                <a:cs typeface="Arial"/>
              </a:rPr>
              <a:t>tín</a:t>
            </a:r>
            <a:r>
              <a:rPr sz="2000" spc="-9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A6A6A6"/>
                </a:solidFill>
                <a:latin typeface="Arial"/>
                <a:cs typeface="Arial"/>
              </a:rPr>
              <a:t>hiệu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3697" y="2146554"/>
            <a:ext cx="233743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0066CC"/>
              </a:buClr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spc="-204" dirty="0">
                <a:latin typeface="Arial"/>
                <a:cs typeface="Arial"/>
              </a:rPr>
              <a:t>Cảm </a:t>
            </a:r>
            <a:r>
              <a:rPr sz="2000" spc="-5" dirty="0">
                <a:latin typeface="Arial"/>
                <a:cs typeface="Arial"/>
              </a:rPr>
              <a:t>biến/ </a:t>
            </a:r>
            <a:r>
              <a:rPr sz="2000" spc="-145" dirty="0">
                <a:latin typeface="Arial"/>
                <a:cs typeface="Arial"/>
              </a:rPr>
              <a:t>Đầu</a:t>
            </a:r>
            <a:r>
              <a:rPr sz="2000" spc="2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dò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2000" spc="-45" dirty="0">
                <a:solidFill>
                  <a:srgbClr val="A6A6A6"/>
                </a:solidFill>
                <a:latin typeface="Arial"/>
                <a:cs typeface="Arial"/>
              </a:rPr>
              <a:t>điện</a:t>
            </a:r>
            <a:r>
              <a:rPr sz="2000" spc="-10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Arial"/>
                <a:cs typeface="Arial"/>
              </a:rPr>
              <a:t>tử.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3697" y="3183127"/>
            <a:ext cx="7639684" cy="240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0066CC"/>
              </a:buClr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spc="-150" dirty="0">
                <a:latin typeface="Arial"/>
                <a:cs typeface="Arial"/>
              </a:rPr>
              <a:t>Bộ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lọc: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35" dirty="0">
                <a:solidFill>
                  <a:srgbClr val="A6A6A6"/>
                </a:solidFill>
                <a:latin typeface="Arial"/>
                <a:cs typeface="Arial"/>
              </a:rPr>
              <a:t>Các</a:t>
            </a:r>
            <a:r>
              <a:rPr sz="2000" spc="-11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A6A6A6"/>
                </a:solidFill>
                <a:latin typeface="Arial"/>
                <a:cs typeface="Arial"/>
              </a:rPr>
              <a:t>tín</a:t>
            </a:r>
            <a:r>
              <a:rPr sz="2000" spc="-10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A6A6A6"/>
                </a:solidFill>
                <a:latin typeface="Arial"/>
                <a:cs typeface="Arial"/>
              </a:rPr>
              <a:t>hiệu</a:t>
            </a:r>
            <a:r>
              <a:rPr sz="2000" spc="-11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A6A6A6"/>
                </a:solidFill>
                <a:latin typeface="Arial"/>
                <a:cs typeface="Arial"/>
              </a:rPr>
              <a:t>điện</a:t>
            </a:r>
            <a:r>
              <a:rPr sz="2000" spc="-10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Arial"/>
                <a:cs typeface="Arial"/>
              </a:rPr>
              <a:t>tử</a:t>
            </a:r>
            <a:r>
              <a:rPr sz="2000" spc="-1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170" dirty="0">
                <a:solidFill>
                  <a:srgbClr val="A6A6A6"/>
                </a:solidFill>
                <a:latin typeface="Arial"/>
                <a:cs typeface="Arial"/>
              </a:rPr>
              <a:t>sẽ</a:t>
            </a:r>
            <a:r>
              <a:rPr sz="2000" spc="-9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A6A6A6"/>
                </a:solidFill>
                <a:latin typeface="Arial"/>
                <a:cs typeface="Arial"/>
              </a:rPr>
              <a:t>được</a:t>
            </a:r>
            <a:r>
              <a:rPr sz="2000" spc="-1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A6A6A6"/>
                </a:solidFill>
                <a:latin typeface="Arial"/>
                <a:cs typeface="Arial"/>
              </a:rPr>
              <a:t>lọc</a:t>
            </a:r>
            <a:r>
              <a:rPr sz="2000" spc="-114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A6A6A6"/>
                </a:solidFill>
                <a:latin typeface="Arial"/>
                <a:cs typeface="Arial"/>
              </a:rPr>
              <a:t>bỏ</a:t>
            </a:r>
            <a:r>
              <a:rPr sz="2000" spc="-11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A6A6A6"/>
                </a:solidFill>
                <a:latin typeface="Arial"/>
                <a:cs typeface="Arial"/>
              </a:rPr>
              <a:t>nhiễu</a:t>
            </a:r>
            <a:r>
              <a:rPr sz="2000" spc="-1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A6A6A6"/>
                </a:solidFill>
                <a:latin typeface="Arial"/>
                <a:cs typeface="Arial"/>
              </a:rPr>
              <a:t>khi</a:t>
            </a:r>
            <a:r>
              <a:rPr sz="2000" spc="-10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A6A6A6"/>
                </a:solidFill>
                <a:latin typeface="Arial"/>
                <a:cs typeface="Arial"/>
              </a:rPr>
              <a:t>đi</a:t>
            </a:r>
            <a:r>
              <a:rPr sz="2000" spc="-10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A6A6A6"/>
                </a:solidFill>
                <a:latin typeface="Arial"/>
                <a:cs typeface="Arial"/>
              </a:rPr>
              <a:t>qua</a:t>
            </a:r>
            <a:r>
              <a:rPr sz="2000" spc="-12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A6A6A6"/>
                </a:solidFill>
                <a:latin typeface="Arial"/>
                <a:cs typeface="Arial"/>
              </a:rPr>
              <a:t>bộ</a:t>
            </a:r>
            <a:r>
              <a:rPr sz="2000" spc="-114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A6A6A6"/>
                </a:solidFill>
                <a:latin typeface="Arial"/>
                <a:cs typeface="Arial"/>
              </a:rPr>
              <a:t>lọc.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66CC"/>
              </a:buClr>
              <a:buFont typeface="Wingdings"/>
              <a:buChar char=""/>
            </a:pP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0066CC"/>
              </a:buClr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spc="-150" dirty="0">
                <a:latin typeface="Arial"/>
                <a:cs typeface="Arial"/>
              </a:rPr>
              <a:t>Bộ </a:t>
            </a:r>
            <a:r>
              <a:rPr sz="2000" spc="-90" dirty="0">
                <a:latin typeface="Arial"/>
                <a:cs typeface="Arial"/>
              </a:rPr>
              <a:t>khuếch </a:t>
            </a:r>
            <a:r>
              <a:rPr sz="2000" spc="-45" dirty="0">
                <a:latin typeface="Arial"/>
                <a:cs typeface="Arial"/>
              </a:rPr>
              <a:t>đại: </a:t>
            </a:r>
            <a:r>
              <a:rPr sz="2000" spc="-220" dirty="0">
                <a:solidFill>
                  <a:srgbClr val="A6A6A6"/>
                </a:solidFill>
                <a:latin typeface="Arial"/>
                <a:cs typeface="Arial"/>
              </a:rPr>
              <a:t>Có </a:t>
            </a:r>
            <a:r>
              <a:rPr sz="2000" spc="-65" dirty="0">
                <a:solidFill>
                  <a:srgbClr val="A6A6A6"/>
                </a:solidFill>
                <a:latin typeface="Arial"/>
                <a:cs typeface="Arial"/>
              </a:rPr>
              <a:t>tác </a:t>
            </a:r>
            <a:r>
              <a:rPr sz="2000" spc="-85" dirty="0">
                <a:solidFill>
                  <a:srgbClr val="A6A6A6"/>
                </a:solidFill>
                <a:latin typeface="Arial"/>
                <a:cs typeface="Arial"/>
              </a:rPr>
              <a:t>dụng </a:t>
            </a:r>
            <a:r>
              <a:rPr sz="2000" spc="-90" dirty="0">
                <a:solidFill>
                  <a:srgbClr val="A6A6A6"/>
                </a:solidFill>
                <a:latin typeface="Arial"/>
                <a:cs typeface="Arial"/>
              </a:rPr>
              <a:t>khuếch </a:t>
            </a:r>
            <a:r>
              <a:rPr sz="2000" spc="-50" dirty="0">
                <a:solidFill>
                  <a:srgbClr val="A6A6A6"/>
                </a:solidFill>
                <a:latin typeface="Arial"/>
                <a:cs typeface="Arial"/>
              </a:rPr>
              <a:t>đại </a:t>
            </a:r>
            <a:r>
              <a:rPr sz="2000" spc="-15" dirty="0">
                <a:solidFill>
                  <a:srgbClr val="A6A6A6"/>
                </a:solidFill>
                <a:latin typeface="Arial"/>
                <a:cs typeface="Arial"/>
              </a:rPr>
              <a:t>tín </a:t>
            </a:r>
            <a:r>
              <a:rPr sz="2000" spc="-60" dirty="0">
                <a:solidFill>
                  <a:srgbClr val="A6A6A6"/>
                </a:solidFill>
                <a:latin typeface="Arial"/>
                <a:cs typeface="Arial"/>
              </a:rPr>
              <a:t>hiệu </a:t>
            </a:r>
            <a:r>
              <a:rPr sz="2000" spc="-45" dirty="0">
                <a:solidFill>
                  <a:srgbClr val="A6A6A6"/>
                </a:solidFill>
                <a:latin typeface="Arial"/>
                <a:cs typeface="Arial"/>
              </a:rPr>
              <a:t>điện</a:t>
            </a:r>
            <a:r>
              <a:rPr sz="2000" spc="-39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Arial"/>
                <a:cs typeface="Arial"/>
              </a:rPr>
              <a:t>tử.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66CC"/>
              </a:buClr>
              <a:buFont typeface="Wingdings"/>
              <a:buChar char=""/>
            </a:pPr>
            <a:endParaRPr sz="3400">
              <a:latin typeface="Times New Roman"/>
              <a:cs typeface="Times New Roman"/>
            </a:endParaRPr>
          </a:p>
          <a:p>
            <a:pPr marL="299085" marR="5080" indent="-286385" algn="just">
              <a:lnSpc>
                <a:spcPct val="100000"/>
              </a:lnSpc>
              <a:buClr>
                <a:srgbClr val="0066CC"/>
              </a:buClr>
              <a:buFont typeface="Wingdings"/>
              <a:buChar char=""/>
              <a:tabLst>
                <a:tab pos="299720" algn="l"/>
              </a:tabLst>
            </a:pPr>
            <a:r>
              <a:rPr sz="2000" spc="-150" dirty="0">
                <a:latin typeface="Arial"/>
                <a:cs typeface="Arial"/>
              </a:rPr>
              <a:t>Bộ </a:t>
            </a:r>
            <a:r>
              <a:rPr sz="2000" spc="-95" dirty="0">
                <a:latin typeface="Arial"/>
                <a:cs typeface="Arial"/>
              </a:rPr>
              <a:t>chuyển </a:t>
            </a:r>
            <a:r>
              <a:rPr sz="2000" spc="-20" dirty="0">
                <a:latin typeface="Arial"/>
                <a:cs typeface="Arial"/>
              </a:rPr>
              <a:t>đổi </a:t>
            </a:r>
            <a:r>
              <a:rPr sz="2000" spc="-60" dirty="0">
                <a:latin typeface="Arial"/>
                <a:cs typeface="Arial"/>
              </a:rPr>
              <a:t>A/D </a:t>
            </a:r>
            <a:r>
              <a:rPr sz="2000" spc="-130" dirty="0">
                <a:latin typeface="Arial"/>
                <a:cs typeface="Arial"/>
              </a:rPr>
              <a:t>và </a:t>
            </a:r>
            <a:r>
              <a:rPr sz="2000" spc="-60" dirty="0">
                <a:latin typeface="Arial"/>
                <a:cs typeface="Arial"/>
              </a:rPr>
              <a:t>D/A </a:t>
            </a:r>
            <a:r>
              <a:rPr sz="2000" spc="-20" dirty="0">
                <a:latin typeface="Arial"/>
                <a:cs typeface="Arial"/>
              </a:rPr>
              <a:t>: </a:t>
            </a:r>
            <a:r>
              <a:rPr sz="2000" spc="-5" dirty="0">
                <a:solidFill>
                  <a:srgbClr val="A6A6A6"/>
                </a:solidFill>
                <a:latin typeface="Times New Roman"/>
                <a:cs typeface="Times New Roman"/>
              </a:rPr>
              <a:t>Có tác </a:t>
            </a: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dụng chuyển đổi </a:t>
            </a:r>
            <a:r>
              <a:rPr sz="2000" spc="-5" dirty="0">
                <a:solidFill>
                  <a:srgbClr val="A6A6A6"/>
                </a:solidFill>
                <a:latin typeface="Times New Roman"/>
                <a:cs typeface="Times New Roman"/>
              </a:rPr>
              <a:t>các </a:t>
            </a:r>
            <a:r>
              <a:rPr sz="2000" spc="-15" dirty="0">
                <a:solidFill>
                  <a:srgbClr val="A6A6A6"/>
                </a:solidFill>
                <a:latin typeface="Times New Roman"/>
                <a:cs typeface="Times New Roman"/>
              </a:rPr>
              <a:t>tín </a:t>
            </a: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hiệu </a:t>
            </a:r>
            <a:r>
              <a:rPr sz="2000" spc="-5" dirty="0">
                <a:solidFill>
                  <a:srgbClr val="A6A6A6"/>
                </a:solidFill>
                <a:latin typeface="Times New Roman"/>
                <a:cs typeface="Times New Roman"/>
              </a:rPr>
              <a:t>tương  tự sang tín hiệu </a:t>
            </a: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số để dễ </a:t>
            </a:r>
            <a:r>
              <a:rPr sz="2000" spc="-5" dirty="0">
                <a:solidFill>
                  <a:srgbClr val="A6A6A6"/>
                </a:solidFill>
                <a:latin typeface="Times New Roman"/>
                <a:cs typeface="Times New Roman"/>
              </a:rPr>
              <a:t>dàng </a:t>
            </a: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xử </a:t>
            </a:r>
            <a:r>
              <a:rPr sz="2000" spc="-10" dirty="0">
                <a:solidFill>
                  <a:srgbClr val="A6A6A6"/>
                </a:solidFill>
                <a:latin typeface="Times New Roman"/>
                <a:cs typeface="Times New Roman"/>
              </a:rPr>
              <a:t>lý </a:t>
            </a: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và </a:t>
            </a:r>
            <a:r>
              <a:rPr sz="2000" spc="-5" dirty="0">
                <a:solidFill>
                  <a:srgbClr val="A6A6A6"/>
                </a:solidFill>
                <a:latin typeface="Times New Roman"/>
                <a:cs typeface="Times New Roman"/>
              </a:rPr>
              <a:t>chuyển </a:t>
            </a:r>
            <a:r>
              <a:rPr sz="2000" spc="-10" dirty="0">
                <a:solidFill>
                  <a:srgbClr val="A6A6A6"/>
                </a:solidFill>
                <a:latin typeface="Times New Roman"/>
                <a:cs typeface="Times New Roman"/>
              </a:rPr>
              <a:t>tín </a:t>
            </a:r>
            <a:r>
              <a:rPr sz="2000" spc="-5" dirty="0">
                <a:solidFill>
                  <a:srgbClr val="A6A6A6"/>
                </a:solidFill>
                <a:latin typeface="Times New Roman"/>
                <a:cs typeface="Times New Roman"/>
              </a:rPr>
              <a:t>hiệu </a:t>
            </a:r>
            <a:r>
              <a:rPr sz="2000" spc="-10" dirty="0">
                <a:solidFill>
                  <a:srgbClr val="A6A6A6"/>
                </a:solidFill>
                <a:latin typeface="Times New Roman"/>
                <a:cs typeface="Times New Roman"/>
              </a:rPr>
              <a:t>số </a:t>
            </a: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đã </a:t>
            </a:r>
            <a:r>
              <a:rPr sz="2000" spc="-5" dirty="0">
                <a:solidFill>
                  <a:srgbClr val="A6A6A6"/>
                </a:solidFill>
                <a:latin typeface="Times New Roman"/>
                <a:cs typeface="Times New Roman"/>
              </a:rPr>
              <a:t>xử </a:t>
            </a:r>
            <a:r>
              <a:rPr sz="2000" spc="-10" dirty="0">
                <a:solidFill>
                  <a:srgbClr val="A6A6A6"/>
                </a:solidFill>
                <a:latin typeface="Times New Roman"/>
                <a:cs typeface="Times New Roman"/>
              </a:rPr>
              <a:t>lý </a:t>
            </a:r>
            <a:r>
              <a:rPr sz="2000" spc="-5" dirty="0">
                <a:solidFill>
                  <a:srgbClr val="A6A6A6"/>
                </a:solidFill>
                <a:latin typeface="Times New Roman"/>
                <a:cs typeface="Times New Roman"/>
              </a:rPr>
              <a:t>sang  tín </a:t>
            </a: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hiệu tương </a:t>
            </a:r>
            <a:r>
              <a:rPr sz="2000" spc="-5" dirty="0">
                <a:solidFill>
                  <a:srgbClr val="A6A6A6"/>
                </a:solidFill>
                <a:latin typeface="Times New Roman"/>
                <a:cs typeface="Times New Roman"/>
              </a:rPr>
              <a:t>tự </a:t>
            </a: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để hiển thị </a:t>
            </a:r>
            <a:r>
              <a:rPr sz="2000" spc="-5" dirty="0">
                <a:solidFill>
                  <a:srgbClr val="A6A6A6"/>
                </a:solidFill>
                <a:latin typeface="Times New Roman"/>
                <a:cs typeface="Times New Roman"/>
              </a:rPr>
              <a:t>tại các </a:t>
            </a: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thiết bị đầu</a:t>
            </a:r>
            <a:r>
              <a:rPr sz="2000" spc="-125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A6A6A6"/>
                </a:solidFill>
                <a:latin typeface="Times New Roman"/>
                <a:cs typeface="Times New Roman"/>
              </a:rPr>
              <a:t>cuối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8440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Mạch </a:t>
            </a:r>
            <a:r>
              <a:rPr spc="-285" dirty="0"/>
              <a:t>khuếch </a:t>
            </a:r>
            <a:r>
              <a:rPr spc="-200" dirty="0"/>
              <a:t>đại</a:t>
            </a:r>
            <a:r>
              <a:rPr spc="-555" dirty="0"/>
              <a:t> </a:t>
            </a:r>
            <a:r>
              <a:rPr spc="-345" dirty="0"/>
              <a:t>(Op-Amps)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924" y="1970024"/>
            <a:ext cx="78447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0066CC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spc="-215" dirty="0">
                <a:latin typeface="Arial"/>
                <a:cs typeface="Arial"/>
              </a:rPr>
              <a:t>Là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một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thiết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bị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rất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quan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trọng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trong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các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thiết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bị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và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mạch </a:t>
            </a:r>
            <a:r>
              <a:rPr sz="2000" spc="-45" dirty="0">
                <a:latin typeface="Arial"/>
                <a:cs typeface="Arial"/>
              </a:rPr>
              <a:t>điện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tử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với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mục</a:t>
            </a:r>
            <a:endParaRPr sz="20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sz="2000" spc="-85" dirty="0">
                <a:latin typeface="Arial"/>
                <a:cs typeface="Arial"/>
              </a:rPr>
              <a:t>đích </a:t>
            </a:r>
            <a:r>
              <a:rPr sz="2000" spc="-90" dirty="0">
                <a:latin typeface="Arial"/>
                <a:cs typeface="Arial"/>
              </a:rPr>
              <a:t>khuếch </a:t>
            </a:r>
            <a:r>
              <a:rPr sz="2000" spc="-50" dirty="0">
                <a:latin typeface="Arial"/>
                <a:cs typeface="Arial"/>
              </a:rPr>
              <a:t>đại </a:t>
            </a:r>
            <a:r>
              <a:rPr sz="2000" spc="-130" dirty="0">
                <a:latin typeface="Arial"/>
                <a:cs typeface="Arial"/>
              </a:rPr>
              <a:t>và </a:t>
            </a:r>
            <a:r>
              <a:rPr sz="2000" spc="-65" dirty="0">
                <a:latin typeface="Arial"/>
                <a:cs typeface="Arial"/>
              </a:rPr>
              <a:t>lọc </a:t>
            </a:r>
            <a:r>
              <a:rPr sz="2000" spc="-15" dirty="0">
                <a:latin typeface="Arial"/>
                <a:cs typeface="Arial"/>
              </a:rPr>
              <a:t>tín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hiệu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33515" y="2974848"/>
            <a:ext cx="2654808" cy="1837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40051" y="3528988"/>
            <a:ext cx="1163352" cy="1303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88491" y="2950464"/>
            <a:ext cx="2558034" cy="24772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24190" y="6537969"/>
            <a:ext cx="2057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3797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Mục </a:t>
            </a:r>
            <a:r>
              <a:rPr spc="-100" dirty="0"/>
              <a:t>tiêu </a:t>
            </a:r>
            <a:r>
              <a:rPr spc="-350" dirty="0"/>
              <a:t>của </a:t>
            </a:r>
            <a:r>
              <a:rPr spc="-215" dirty="0"/>
              <a:t>môn</a:t>
            </a:r>
            <a:r>
              <a:rPr spc="-815" dirty="0"/>
              <a:t> </a:t>
            </a:r>
            <a:r>
              <a:rPr spc="-270" dirty="0"/>
              <a:t>học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24190" y="6537969"/>
            <a:ext cx="2057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5002" y="1710845"/>
            <a:ext cx="8244205" cy="9055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Mục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80" dirty="0">
                <a:solidFill>
                  <a:srgbClr val="404040"/>
                </a:solidFill>
                <a:latin typeface="Arial"/>
                <a:cs typeface="Arial"/>
              </a:rPr>
              <a:t>tiêu:</a:t>
            </a:r>
            <a:endParaRPr sz="2000">
              <a:latin typeface="Arial"/>
              <a:cs typeface="Arial"/>
            </a:endParaRPr>
          </a:p>
          <a:p>
            <a:pPr marL="468630" lvl="1" indent="-255270">
              <a:lnSpc>
                <a:spcPts val="205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Cung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kiến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thức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bản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chuyên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sâu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sz="1800" spc="5" dirty="0">
                <a:solidFill>
                  <a:srgbClr val="404040"/>
                </a:solidFill>
                <a:latin typeface="Arial"/>
                <a:cs typeface="Arial"/>
              </a:rPr>
              <a:t>thiết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kế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tương</a:t>
            </a:r>
            <a:r>
              <a:rPr sz="1800" spc="-2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tự</a:t>
            </a:r>
            <a:endParaRPr sz="1800">
              <a:latin typeface="Arial"/>
              <a:cs typeface="Arial"/>
            </a:endParaRPr>
          </a:p>
          <a:p>
            <a:pPr marL="396875">
              <a:lnSpc>
                <a:spcPts val="2050"/>
              </a:lnSpc>
            </a:pP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bao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gồm: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tương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tự,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nhiễu, bộ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lọc,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1800" spc="-3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60" dirty="0">
                <a:solidFill>
                  <a:srgbClr val="404040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5002" y="3704239"/>
            <a:ext cx="7955280" cy="17653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31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235" dirty="0">
                <a:solidFill>
                  <a:srgbClr val="404040"/>
                </a:solidFill>
                <a:latin typeface="Arial"/>
                <a:cs typeface="Arial"/>
              </a:rPr>
              <a:t>Yêu</a:t>
            </a: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404040"/>
                </a:solidFill>
                <a:latin typeface="Arial"/>
                <a:cs typeface="Arial"/>
              </a:rPr>
              <a:t>cầu:</a:t>
            </a:r>
            <a:endParaRPr sz="2000">
              <a:latin typeface="Arial"/>
              <a:cs typeface="Arial"/>
            </a:endParaRPr>
          </a:p>
          <a:p>
            <a:pPr marL="468630" lvl="1" indent="-255270">
              <a:lnSpc>
                <a:spcPct val="100000"/>
              </a:lnSpc>
              <a:spcBef>
                <a:spcPts val="190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204" dirty="0">
                <a:solidFill>
                  <a:srgbClr val="404040"/>
                </a:solidFill>
                <a:latin typeface="Arial"/>
                <a:cs typeface="Arial"/>
              </a:rPr>
              <a:t>Lý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thuyết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1800" spc="-3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điện.</a:t>
            </a:r>
            <a:endParaRPr sz="1800">
              <a:latin typeface="Arial"/>
              <a:cs typeface="Arial"/>
            </a:endParaRPr>
          </a:p>
          <a:p>
            <a:pPr marL="625475" lvl="2" indent="-228600">
              <a:lnSpc>
                <a:spcPct val="100000"/>
              </a:lnSpc>
              <a:spcBef>
                <a:spcPts val="430"/>
              </a:spcBef>
              <a:buClr>
                <a:srgbClr val="99CA38"/>
              </a:buClr>
              <a:buFont typeface="Wingdings"/>
              <a:buChar char=""/>
              <a:tabLst>
                <a:tab pos="626110" algn="l"/>
              </a:tabLst>
            </a:pPr>
            <a:r>
              <a:rPr sz="1600" spc="-95" dirty="0">
                <a:solidFill>
                  <a:srgbClr val="404040"/>
                </a:solidFill>
                <a:latin typeface="Arial"/>
                <a:cs typeface="Arial"/>
              </a:rPr>
              <a:t>Kiến </a:t>
            </a:r>
            <a:r>
              <a:rPr sz="1600" spc="-55" dirty="0">
                <a:solidFill>
                  <a:srgbClr val="404040"/>
                </a:solidFill>
                <a:latin typeface="Arial"/>
                <a:cs typeface="Arial"/>
              </a:rPr>
              <a:t>thức </a:t>
            </a:r>
            <a:r>
              <a:rPr sz="1600" spc="-135" dirty="0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sz="1600" spc="-80" dirty="0">
                <a:solidFill>
                  <a:srgbClr val="404040"/>
                </a:solidFill>
                <a:latin typeface="Arial"/>
                <a:cs typeface="Arial"/>
              </a:rPr>
              <a:t>bản </a:t>
            </a:r>
            <a:r>
              <a:rPr sz="1600" spc="-95" dirty="0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sz="1600" spc="-13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thiết </a:t>
            </a:r>
            <a:r>
              <a:rPr sz="1600" spc="-25" dirty="0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thụ </a:t>
            </a:r>
            <a:r>
              <a:rPr sz="1600" spc="-70" dirty="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sz="1600" spc="-45" dirty="0">
                <a:solidFill>
                  <a:srgbClr val="404040"/>
                </a:solidFill>
                <a:latin typeface="Arial"/>
                <a:cs typeface="Arial"/>
              </a:rPr>
              <a:t>(điện </a:t>
            </a:r>
            <a:r>
              <a:rPr sz="1600" spc="-25" dirty="0">
                <a:solidFill>
                  <a:srgbClr val="404040"/>
                </a:solidFill>
                <a:latin typeface="Arial"/>
                <a:cs typeface="Arial"/>
              </a:rPr>
              <a:t>trở, </a:t>
            </a:r>
            <a:r>
              <a:rPr sz="1600" spc="20" dirty="0">
                <a:solidFill>
                  <a:srgbClr val="404040"/>
                </a:solidFill>
                <a:latin typeface="Arial"/>
                <a:cs typeface="Arial"/>
              </a:rPr>
              <a:t>tụ</a:t>
            </a:r>
            <a:r>
              <a:rPr sz="1600" spc="-3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404040"/>
                </a:solidFill>
                <a:latin typeface="Arial"/>
                <a:cs typeface="Arial"/>
              </a:rPr>
              <a:t>điện, </a:t>
            </a:r>
            <a:r>
              <a:rPr sz="1600" spc="-70" dirty="0">
                <a:solidFill>
                  <a:srgbClr val="404040"/>
                </a:solidFill>
                <a:latin typeface="Arial"/>
                <a:cs typeface="Arial"/>
              </a:rPr>
              <a:t>cuộn </a:t>
            </a:r>
            <a:r>
              <a:rPr sz="1600" spc="-175" dirty="0">
                <a:solidFill>
                  <a:srgbClr val="404040"/>
                </a:solidFill>
                <a:latin typeface="Arial"/>
                <a:cs typeface="Arial"/>
              </a:rPr>
              <a:t>cảm…)</a:t>
            </a:r>
            <a:endParaRPr sz="1600">
              <a:latin typeface="Arial"/>
              <a:cs typeface="Arial"/>
            </a:endParaRPr>
          </a:p>
          <a:p>
            <a:pPr marL="625475" lvl="2" indent="-228600">
              <a:lnSpc>
                <a:spcPct val="100000"/>
              </a:lnSpc>
              <a:spcBef>
                <a:spcPts val="405"/>
              </a:spcBef>
              <a:buClr>
                <a:srgbClr val="99CA38"/>
              </a:buClr>
              <a:buFont typeface="Wingdings"/>
              <a:buChar char=""/>
              <a:tabLst>
                <a:tab pos="626110" algn="l"/>
              </a:tabLst>
            </a:pPr>
            <a:r>
              <a:rPr sz="1600" spc="-95" dirty="0">
                <a:solidFill>
                  <a:srgbClr val="404040"/>
                </a:solidFill>
                <a:latin typeface="Arial"/>
                <a:cs typeface="Arial"/>
              </a:rPr>
              <a:t>Kiến </a:t>
            </a:r>
            <a:r>
              <a:rPr sz="1600" spc="-55" dirty="0">
                <a:solidFill>
                  <a:srgbClr val="404040"/>
                </a:solidFill>
                <a:latin typeface="Arial"/>
                <a:cs typeface="Arial"/>
              </a:rPr>
              <a:t>thức </a:t>
            </a:r>
            <a:r>
              <a:rPr sz="1600" spc="-135" dirty="0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sz="1600" spc="-80" dirty="0">
                <a:solidFill>
                  <a:srgbClr val="404040"/>
                </a:solidFill>
                <a:latin typeface="Arial"/>
                <a:cs typeface="Arial"/>
              </a:rPr>
              <a:t>bản </a:t>
            </a:r>
            <a:r>
              <a:rPr sz="1600" spc="-95" dirty="0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600" spc="-45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1600" spc="-9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6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sz="1600" spc="-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404040"/>
                </a:solidFill>
                <a:latin typeface="Arial"/>
                <a:cs typeface="Arial"/>
              </a:rPr>
              <a:t>chiều</a:t>
            </a:r>
            <a:endParaRPr sz="1600">
              <a:latin typeface="Arial"/>
              <a:cs typeface="Arial"/>
            </a:endParaRPr>
          </a:p>
          <a:p>
            <a:pPr marL="625475" lvl="2" indent="-228600">
              <a:lnSpc>
                <a:spcPts val="1825"/>
              </a:lnSpc>
              <a:spcBef>
                <a:spcPts val="409"/>
              </a:spcBef>
              <a:buClr>
                <a:srgbClr val="99CA38"/>
              </a:buClr>
              <a:buFont typeface="Wingdings"/>
              <a:buChar char=""/>
              <a:tabLst>
                <a:tab pos="626110" algn="l"/>
              </a:tabLst>
            </a:pPr>
            <a:r>
              <a:rPr sz="1600" spc="-190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600" spc="-95" dirty="0">
                <a:solidFill>
                  <a:srgbClr val="404040"/>
                </a:solidFill>
                <a:latin typeface="Arial"/>
                <a:cs typeface="Arial"/>
              </a:rPr>
              <a:t>phương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pháp </a:t>
            </a:r>
            <a:r>
              <a:rPr sz="1600" spc="-135" dirty="0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sz="1600" spc="-80" dirty="0">
                <a:solidFill>
                  <a:srgbClr val="404040"/>
                </a:solidFill>
                <a:latin typeface="Arial"/>
                <a:cs typeface="Arial"/>
              </a:rPr>
              <a:t>bản </a:t>
            </a:r>
            <a:r>
              <a:rPr sz="1600" spc="-55" dirty="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sz="1600" spc="-25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1600" spc="-40" dirty="0">
                <a:solidFill>
                  <a:srgbClr val="404040"/>
                </a:solidFill>
                <a:latin typeface="Arial"/>
                <a:cs typeface="Arial"/>
              </a:rPr>
              <a:t>toán </a:t>
            </a:r>
            <a:r>
              <a:rPr sz="1600" spc="-20" dirty="0">
                <a:solidFill>
                  <a:srgbClr val="404040"/>
                </a:solidFill>
                <a:latin typeface="Arial"/>
                <a:cs typeface="Arial"/>
              </a:rPr>
              <a:t>trên </a:t>
            </a:r>
            <a:r>
              <a:rPr sz="1600" spc="-9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6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600" spc="-65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1600" spc="-30" dirty="0">
                <a:solidFill>
                  <a:srgbClr val="404040"/>
                </a:solidFill>
                <a:latin typeface="Arial"/>
                <a:cs typeface="Arial"/>
              </a:rPr>
              <a:t>(thế </a:t>
            </a:r>
            <a:r>
              <a:rPr sz="1600" spc="-15" dirty="0">
                <a:solidFill>
                  <a:srgbClr val="404040"/>
                </a:solidFill>
                <a:latin typeface="Arial"/>
                <a:cs typeface="Arial"/>
              </a:rPr>
              <a:t>nút, </a:t>
            </a:r>
            <a:r>
              <a:rPr sz="1600" spc="-8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600" spc="-40" dirty="0">
                <a:solidFill>
                  <a:srgbClr val="404040"/>
                </a:solidFill>
                <a:latin typeface="Arial"/>
                <a:cs typeface="Arial"/>
              </a:rPr>
              <a:t>mắt</a:t>
            </a:r>
            <a:r>
              <a:rPr sz="1600" spc="-2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55" dirty="0">
                <a:solidFill>
                  <a:srgbClr val="404040"/>
                </a:solidFill>
                <a:latin typeface="Arial"/>
                <a:cs typeface="Arial"/>
              </a:rPr>
              <a:t>lưới,</a:t>
            </a:r>
            <a:endParaRPr sz="1600">
              <a:latin typeface="Arial"/>
              <a:cs typeface="Arial"/>
            </a:endParaRPr>
          </a:p>
          <a:p>
            <a:pPr marL="579755">
              <a:lnSpc>
                <a:spcPts val="1825"/>
              </a:lnSpc>
            </a:pPr>
            <a:r>
              <a:rPr sz="1600" spc="-35" dirty="0">
                <a:solidFill>
                  <a:srgbClr val="404040"/>
                </a:solidFill>
                <a:latin typeface="Arial"/>
                <a:cs typeface="Arial"/>
              </a:rPr>
              <a:t>Norton,</a:t>
            </a:r>
            <a:r>
              <a:rPr sz="1600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120" dirty="0">
                <a:solidFill>
                  <a:srgbClr val="404040"/>
                </a:solidFill>
                <a:latin typeface="Arial"/>
                <a:cs typeface="Arial"/>
              </a:rPr>
              <a:t>Thevenin…)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4146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Nội </a:t>
            </a:r>
            <a:r>
              <a:rPr spc="-275" dirty="0"/>
              <a:t>dung </a:t>
            </a:r>
            <a:r>
              <a:rPr spc="-350" dirty="0"/>
              <a:t>của </a:t>
            </a:r>
            <a:r>
              <a:rPr spc="-215" dirty="0"/>
              <a:t>môn</a:t>
            </a:r>
            <a:r>
              <a:rPr spc="-600" dirty="0"/>
              <a:t> </a:t>
            </a:r>
            <a:r>
              <a:rPr spc="-270" dirty="0"/>
              <a:t>học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24190" y="6537969"/>
            <a:ext cx="2057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5002" y="1710845"/>
            <a:ext cx="6816090" cy="32442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Nội </a:t>
            </a:r>
            <a:r>
              <a:rPr sz="2000" b="1" spc="-165" dirty="0">
                <a:solidFill>
                  <a:srgbClr val="404040"/>
                </a:solidFill>
                <a:latin typeface="Arial"/>
                <a:cs typeface="Arial"/>
              </a:rPr>
              <a:t>dung:</a:t>
            </a:r>
            <a:endParaRPr sz="2000">
              <a:latin typeface="Arial"/>
              <a:cs typeface="Arial"/>
            </a:endParaRPr>
          </a:p>
          <a:p>
            <a:pPr marL="468630" lvl="1" indent="-255270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lượng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tử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cơ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bản.</a:t>
            </a:r>
            <a:endParaRPr sz="1800">
              <a:latin typeface="Arial"/>
              <a:cs typeface="Arial"/>
            </a:endParaRPr>
          </a:p>
          <a:p>
            <a:pPr marL="468630" lvl="1" indent="-255270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1: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Diode.</a:t>
            </a:r>
            <a:endParaRPr sz="1800">
              <a:latin typeface="Arial"/>
              <a:cs typeface="Arial"/>
            </a:endParaRPr>
          </a:p>
          <a:p>
            <a:pPr marL="468630" lvl="1" indent="-255270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2: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Transistor.</a:t>
            </a:r>
            <a:endParaRPr sz="1800">
              <a:latin typeface="Arial"/>
              <a:cs typeface="Arial"/>
            </a:endParaRPr>
          </a:p>
          <a:p>
            <a:pPr marL="468630" lvl="1" indent="-255270">
              <a:lnSpc>
                <a:spcPct val="100000"/>
              </a:lnSpc>
              <a:spcBef>
                <a:spcPts val="390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transitor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tương</a:t>
            </a:r>
            <a:r>
              <a:rPr sz="1800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đương.</a:t>
            </a:r>
            <a:endParaRPr sz="1800">
              <a:latin typeface="Arial"/>
              <a:cs typeface="Arial"/>
            </a:endParaRPr>
          </a:p>
          <a:p>
            <a:pPr marL="468630" lvl="1" indent="-255270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3: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ứng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trường.</a:t>
            </a:r>
            <a:endParaRPr sz="1800">
              <a:latin typeface="Arial"/>
              <a:cs typeface="Arial"/>
            </a:endParaRPr>
          </a:p>
          <a:p>
            <a:pPr marL="468630" lvl="1" indent="-25527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thuật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toán</a:t>
            </a:r>
            <a:r>
              <a:rPr sz="1800" spc="-2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75" dirty="0">
                <a:solidFill>
                  <a:srgbClr val="404040"/>
                </a:solidFill>
                <a:latin typeface="Arial"/>
                <a:cs typeface="Arial"/>
              </a:rPr>
              <a:t>OP-AMP.</a:t>
            </a:r>
            <a:endParaRPr sz="1800">
              <a:latin typeface="Arial"/>
              <a:cs typeface="Arial"/>
            </a:endParaRPr>
          </a:p>
          <a:p>
            <a:pPr marL="468630" lvl="1" indent="-25527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lọc.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99CA38"/>
              </a:buClr>
              <a:buFont typeface="Wingdings"/>
              <a:buChar char=""/>
            </a:pPr>
            <a:endParaRPr sz="2550">
              <a:latin typeface="Times New Roman"/>
              <a:cs typeface="Times New Roman"/>
            </a:endParaRPr>
          </a:p>
          <a:p>
            <a:pPr marL="468630" lvl="1" indent="-255270">
              <a:lnSpc>
                <a:spcPct val="100000"/>
              </a:lnSpc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b="1" spc="-145" dirty="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án </a:t>
            </a:r>
            <a:r>
              <a:rPr sz="1800" b="1" spc="-140" dirty="0">
                <a:solidFill>
                  <a:srgbClr val="404040"/>
                </a:solidFill>
                <a:latin typeface="Arial"/>
                <a:cs typeface="Arial"/>
              </a:rPr>
              <a:t>môn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404040"/>
                </a:solidFill>
                <a:latin typeface="Arial"/>
                <a:cs typeface="Arial"/>
              </a:rPr>
              <a:t>học.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44183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Tài </a:t>
            </a:r>
            <a:r>
              <a:rPr spc="-160" dirty="0"/>
              <a:t>liệu </a:t>
            </a:r>
            <a:r>
              <a:rPr spc="-175" dirty="0"/>
              <a:t>tham</a:t>
            </a:r>
            <a:r>
              <a:rPr spc="-550" dirty="0"/>
              <a:t> </a:t>
            </a:r>
            <a:r>
              <a:rPr spc="-300" dirty="0"/>
              <a:t>khảo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912467"/>
            <a:ext cx="8871585" cy="395414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04139" indent="-91440">
              <a:lnSpc>
                <a:spcPct val="100000"/>
              </a:lnSpc>
              <a:spcBef>
                <a:spcPts val="1019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Thomas </a:t>
            </a:r>
            <a:r>
              <a:rPr sz="2000" spc="-165" dirty="0">
                <a:solidFill>
                  <a:srgbClr val="404040"/>
                </a:solidFill>
                <a:latin typeface="Arial"/>
                <a:cs typeface="Arial"/>
              </a:rPr>
              <a:t>L.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Floyd,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Electronic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Devices,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9th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edition,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Pearson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Education,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Inc.,</a:t>
            </a:r>
            <a:r>
              <a:rPr sz="2000" spc="-1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2007.</a:t>
            </a:r>
            <a:endParaRPr sz="2000">
              <a:latin typeface="Arial"/>
              <a:cs typeface="Arial"/>
            </a:endParaRPr>
          </a:p>
          <a:p>
            <a:pPr marL="240029" indent="-227329">
              <a:lnSpc>
                <a:spcPts val="2160"/>
              </a:lnSpc>
              <a:spcBef>
                <a:spcPts val="925"/>
              </a:spcBef>
              <a:buClr>
                <a:srgbClr val="99CA38"/>
              </a:buClr>
              <a:buFont typeface="Wingdings"/>
              <a:buChar char=""/>
              <a:tabLst>
                <a:tab pos="240665" algn="l"/>
              </a:tabLst>
            </a:pPr>
            <a:r>
              <a:rPr sz="2000" spc="-175" dirty="0">
                <a:solidFill>
                  <a:srgbClr val="404040"/>
                </a:solidFill>
                <a:latin typeface="Arial"/>
                <a:cs typeface="Arial"/>
              </a:rPr>
              <a:t>Jean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–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Pierre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Colinge,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Cynthia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A. Colinge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(2002), </a:t>
            </a:r>
            <a:r>
              <a:rPr sz="2000" i="1" spc="-155" dirty="0">
                <a:solidFill>
                  <a:srgbClr val="404040"/>
                </a:solidFill>
                <a:latin typeface="Arial"/>
                <a:cs typeface="Arial"/>
              </a:rPr>
              <a:t>Physics </a:t>
            </a:r>
            <a:r>
              <a:rPr sz="2000" i="1" spc="-1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2000" i="1" spc="-90" dirty="0">
                <a:solidFill>
                  <a:srgbClr val="404040"/>
                </a:solidFill>
                <a:latin typeface="Arial"/>
                <a:cs typeface="Arial"/>
              </a:rPr>
              <a:t>semiconductor</a:t>
            </a:r>
            <a:r>
              <a:rPr sz="2000" i="1" spc="-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i="1" spc="-120" dirty="0">
                <a:solidFill>
                  <a:srgbClr val="404040"/>
                </a:solidFill>
                <a:latin typeface="Arial"/>
                <a:cs typeface="Arial"/>
              </a:rPr>
              <a:t>devices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160"/>
              </a:lnSpc>
            </a:pP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Kluwer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Academic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Publishers.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91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Phạm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Hồng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Liên,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tử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1,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học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Bách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Khoa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TpHCM,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2010.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92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Nguyễn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Tấn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Phước,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Giáo trình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tử 1,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NXB Hồng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Đức Hà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Nội,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2008.</a:t>
            </a:r>
            <a:endParaRPr sz="2000">
              <a:latin typeface="Arial"/>
              <a:cs typeface="Arial"/>
            </a:endParaRPr>
          </a:p>
          <a:p>
            <a:pPr marL="240029" indent="-227329">
              <a:lnSpc>
                <a:spcPts val="2160"/>
              </a:lnSpc>
              <a:spcBef>
                <a:spcPts val="925"/>
              </a:spcBef>
              <a:buClr>
                <a:srgbClr val="99CA38"/>
              </a:buClr>
              <a:buFont typeface="Wingdings"/>
              <a:buChar char=""/>
              <a:tabLst>
                <a:tab pos="240665" algn="l"/>
              </a:tabLst>
            </a:pPr>
            <a:r>
              <a:rPr sz="2000" spc="-240" dirty="0">
                <a:solidFill>
                  <a:srgbClr val="404040"/>
                </a:solidFill>
                <a:latin typeface="Arial"/>
                <a:cs typeface="Arial"/>
              </a:rPr>
              <a:t>TS. </a:t>
            </a:r>
            <a:r>
              <a:rPr sz="2000" spc="-195" dirty="0">
                <a:solidFill>
                  <a:srgbClr val="404040"/>
                </a:solidFill>
                <a:latin typeface="Arial"/>
                <a:cs typeface="Arial"/>
              </a:rPr>
              <a:t>Lê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Mạnh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(2014). </a:t>
            </a:r>
            <a:r>
              <a:rPr sz="2000" i="1" spc="-110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2000" i="1" spc="-130" dirty="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sz="2000" i="1" spc="-11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i="1" spc="-170" dirty="0">
                <a:solidFill>
                  <a:srgbClr val="404040"/>
                </a:solidFill>
                <a:latin typeface="Arial"/>
                <a:cs typeface="Arial"/>
              </a:rPr>
              <a:t>Tử </a:t>
            </a:r>
            <a:r>
              <a:rPr sz="2000" i="1" spc="-95" dirty="0">
                <a:solidFill>
                  <a:srgbClr val="404040"/>
                </a:solidFill>
                <a:latin typeface="Arial"/>
                <a:cs typeface="Arial"/>
              </a:rPr>
              <a:t>Vi </a:t>
            </a:r>
            <a:r>
              <a:rPr sz="2000" i="1" spc="-7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i="1" spc="-11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i="1" spc="-130" dirty="0">
                <a:solidFill>
                  <a:srgbClr val="404040"/>
                </a:solidFill>
                <a:latin typeface="Arial"/>
                <a:cs typeface="Arial"/>
              </a:rPr>
              <a:t>Tử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sz="2000" spc="-229" dirty="0">
                <a:solidFill>
                  <a:srgbClr val="404040"/>
                </a:solidFill>
                <a:latin typeface="Arial"/>
                <a:cs typeface="Arial"/>
              </a:rPr>
              <a:t>NXB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Học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Quốc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Gia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4" dirty="0">
                <a:solidFill>
                  <a:srgbClr val="404040"/>
                </a:solidFill>
                <a:latin typeface="Arial"/>
                <a:cs typeface="Arial"/>
              </a:rPr>
              <a:t>TP.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160"/>
              </a:lnSpc>
            </a:pP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HCM.</a:t>
            </a:r>
            <a:endParaRPr sz="2000">
              <a:latin typeface="Arial"/>
              <a:cs typeface="Arial"/>
            </a:endParaRPr>
          </a:p>
          <a:p>
            <a:pPr marL="104139" marR="26670" indent="-91440">
              <a:lnSpc>
                <a:spcPct val="80000"/>
              </a:lnSpc>
              <a:spcBef>
                <a:spcPts val="1390"/>
              </a:spcBef>
              <a:buClr>
                <a:srgbClr val="99CA38"/>
              </a:buClr>
              <a:buFont typeface="Wingdings"/>
              <a:buChar char=""/>
              <a:tabLst>
                <a:tab pos="240665" algn="l"/>
              </a:tabLst>
            </a:pP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Trần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Thu </a:t>
            </a:r>
            <a:r>
              <a:rPr sz="2000" spc="-180" dirty="0">
                <a:solidFill>
                  <a:srgbClr val="404040"/>
                </a:solidFill>
                <a:latin typeface="Arial"/>
                <a:cs typeface="Arial"/>
              </a:rPr>
              <a:t>Hà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-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Trương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Thị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Bích 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Ngà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-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Nguyễn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Thị 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Lưỡng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(2013)</a:t>
            </a:r>
            <a:r>
              <a:rPr sz="2000" i="1" spc="-80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sz="2000" i="1" spc="-114" dirty="0">
                <a:solidFill>
                  <a:srgbClr val="404040"/>
                </a:solidFill>
                <a:latin typeface="Arial"/>
                <a:cs typeface="Arial"/>
              </a:rPr>
              <a:t>Giáo </a:t>
            </a:r>
            <a:r>
              <a:rPr sz="2000" i="1" spc="-30" dirty="0">
                <a:solidFill>
                  <a:srgbClr val="404040"/>
                </a:solidFill>
                <a:latin typeface="Arial"/>
                <a:cs typeface="Arial"/>
              </a:rPr>
              <a:t>trình </a:t>
            </a:r>
            <a:r>
              <a:rPr sz="2000" i="1" spc="-6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i="1" spc="15" dirty="0">
                <a:solidFill>
                  <a:srgbClr val="404040"/>
                </a:solidFill>
                <a:latin typeface="Arial"/>
                <a:cs typeface="Arial"/>
              </a:rPr>
              <a:t>tử</a:t>
            </a:r>
            <a:r>
              <a:rPr sz="2000" i="1" spc="-20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i="1" spc="-125" dirty="0">
                <a:solidFill>
                  <a:srgbClr val="404040"/>
                </a:solidFill>
                <a:latin typeface="Arial"/>
                <a:cs typeface="Arial"/>
              </a:rPr>
              <a:t>cơ  </a:t>
            </a:r>
            <a:r>
              <a:rPr sz="2000" i="1" spc="-80" dirty="0">
                <a:solidFill>
                  <a:srgbClr val="404040"/>
                </a:solidFill>
                <a:latin typeface="Arial"/>
                <a:cs typeface="Arial"/>
              </a:rPr>
              <a:t>bản, </a:t>
            </a:r>
            <a:r>
              <a:rPr sz="2000" spc="-229" dirty="0">
                <a:solidFill>
                  <a:srgbClr val="404040"/>
                </a:solidFill>
                <a:latin typeface="Arial"/>
                <a:cs typeface="Arial"/>
              </a:rPr>
              <a:t>NXB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học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Quốc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gia</a:t>
            </a:r>
            <a:r>
              <a:rPr sz="2000" spc="-3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Tp.HCM.</a:t>
            </a:r>
            <a:endParaRPr sz="2000">
              <a:latin typeface="Arial"/>
              <a:cs typeface="Arial"/>
            </a:endParaRPr>
          </a:p>
          <a:p>
            <a:pPr marL="240029" indent="-227329">
              <a:lnSpc>
                <a:spcPts val="2160"/>
              </a:lnSpc>
              <a:spcBef>
                <a:spcPts val="925"/>
              </a:spcBef>
              <a:buClr>
                <a:srgbClr val="99CA38"/>
              </a:buClr>
              <a:buFont typeface="Wingdings"/>
              <a:buChar char=""/>
              <a:tabLst>
                <a:tab pos="240665" algn="l"/>
              </a:tabLst>
            </a:pPr>
            <a:r>
              <a:rPr sz="2000" spc="-200" dirty="0">
                <a:solidFill>
                  <a:srgbClr val="404040"/>
                </a:solidFill>
                <a:latin typeface="Arial"/>
                <a:cs typeface="Arial"/>
              </a:rPr>
              <a:t>Cao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Văn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Hưng, </a:t>
            </a:r>
            <a:r>
              <a:rPr sz="2000" spc="-195" dirty="0">
                <a:solidFill>
                  <a:srgbClr val="404040"/>
                </a:solidFill>
                <a:latin typeface="Arial"/>
                <a:cs typeface="Arial"/>
              </a:rPr>
              <a:t>Lê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Văn </a:t>
            </a:r>
            <a:r>
              <a:rPr sz="2000" spc="-165" dirty="0">
                <a:solidFill>
                  <a:srgbClr val="404040"/>
                </a:solidFill>
                <a:latin typeface="Arial"/>
                <a:cs typeface="Arial"/>
              </a:rPr>
              <a:t>La,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Phan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Đình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Duy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(2014), </a:t>
            </a:r>
            <a:r>
              <a:rPr sz="2000" i="1" spc="-110" dirty="0">
                <a:solidFill>
                  <a:srgbClr val="404040"/>
                </a:solidFill>
                <a:latin typeface="Arial"/>
                <a:cs typeface="Arial"/>
              </a:rPr>
              <a:t>Tài </a:t>
            </a:r>
            <a:r>
              <a:rPr sz="2000" i="1" spc="-55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2000" i="1" spc="-85" dirty="0">
                <a:solidFill>
                  <a:srgbClr val="404040"/>
                </a:solidFill>
                <a:latin typeface="Arial"/>
                <a:cs typeface="Arial"/>
              </a:rPr>
              <a:t>hướng dẫn </a:t>
            </a:r>
            <a:r>
              <a:rPr sz="2000" i="1" spc="-55" dirty="0">
                <a:solidFill>
                  <a:srgbClr val="404040"/>
                </a:solidFill>
                <a:latin typeface="Arial"/>
                <a:cs typeface="Arial"/>
              </a:rPr>
              <a:t>thực </a:t>
            </a:r>
            <a:r>
              <a:rPr sz="2000" i="1" spc="-85" dirty="0">
                <a:solidFill>
                  <a:srgbClr val="404040"/>
                </a:solidFill>
                <a:latin typeface="Arial"/>
                <a:cs typeface="Arial"/>
              </a:rPr>
              <a:t>hành</a:t>
            </a:r>
            <a:r>
              <a:rPr sz="2000" i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i="1" spc="-110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160"/>
              </a:lnSpc>
            </a:pPr>
            <a:r>
              <a:rPr sz="2000" i="1" spc="-114" dirty="0">
                <a:solidFill>
                  <a:srgbClr val="404040"/>
                </a:solidFill>
                <a:latin typeface="Arial"/>
                <a:cs typeface="Arial"/>
              </a:rPr>
              <a:t>– </a:t>
            </a:r>
            <a:r>
              <a:rPr sz="2000" i="1" spc="-11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i="1" spc="15" dirty="0">
                <a:solidFill>
                  <a:srgbClr val="404040"/>
                </a:solidFill>
                <a:latin typeface="Arial"/>
                <a:cs typeface="Arial"/>
              </a:rPr>
              <a:t>tử </a:t>
            </a:r>
            <a:r>
              <a:rPr sz="2000" i="1" spc="-125" dirty="0">
                <a:solidFill>
                  <a:srgbClr val="404040"/>
                </a:solidFill>
                <a:latin typeface="Arial"/>
                <a:cs typeface="Arial"/>
              </a:rPr>
              <a:t>cở </a:t>
            </a:r>
            <a:r>
              <a:rPr sz="2000" i="1" spc="-80" dirty="0">
                <a:solidFill>
                  <a:srgbClr val="404040"/>
                </a:solidFill>
                <a:latin typeface="Arial"/>
                <a:cs typeface="Arial"/>
              </a:rPr>
              <a:t>bản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sz="2000" spc="-229" dirty="0">
                <a:solidFill>
                  <a:srgbClr val="404040"/>
                </a:solidFill>
                <a:latin typeface="Arial"/>
                <a:cs typeface="Arial"/>
              </a:rPr>
              <a:t>NXB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học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Quốc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gia </a:t>
            </a:r>
            <a:r>
              <a:rPr sz="2000" spc="-204" dirty="0">
                <a:solidFill>
                  <a:srgbClr val="404040"/>
                </a:solidFill>
                <a:latin typeface="Arial"/>
                <a:cs typeface="Arial"/>
              </a:rPr>
              <a:t>TP.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HCM.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2393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50" dirty="0"/>
              <a:t> </a:t>
            </a:r>
            <a:r>
              <a:rPr spc="-145" dirty="0"/>
              <a:t>(i)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721072"/>
            <a:ext cx="3683000" cy="369633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330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60" dirty="0">
                <a:solidFill>
                  <a:srgbClr val="BEBEBE"/>
                </a:solidFill>
                <a:latin typeface="Arial"/>
                <a:cs typeface="Arial"/>
              </a:rPr>
              <a:t>Chương</a:t>
            </a:r>
            <a:r>
              <a:rPr sz="2000" spc="-135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BEBEBE"/>
                </a:solidFill>
                <a:latin typeface="Arial"/>
                <a:cs typeface="Arial"/>
              </a:rPr>
              <a:t>0: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204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25" dirty="0">
                <a:solidFill>
                  <a:srgbClr val="BEBEBE"/>
                </a:solidFill>
                <a:latin typeface="Arial"/>
                <a:cs typeface="Arial"/>
              </a:rPr>
              <a:t>Tổng </a:t>
            </a:r>
            <a:r>
              <a:rPr sz="1800" spc="-80" dirty="0">
                <a:solidFill>
                  <a:srgbClr val="BEBEBE"/>
                </a:solidFill>
                <a:latin typeface="Arial"/>
                <a:cs typeface="Arial"/>
              </a:rPr>
              <a:t>quan </a:t>
            </a:r>
            <a:r>
              <a:rPr sz="1800" spc="-100" dirty="0">
                <a:solidFill>
                  <a:srgbClr val="BEBEBE"/>
                </a:solidFill>
                <a:latin typeface="Arial"/>
                <a:cs typeface="Arial"/>
              </a:rPr>
              <a:t>về </a:t>
            </a:r>
            <a:r>
              <a:rPr sz="1800" spc="-60" dirty="0">
                <a:solidFill>
                  <a:srgbClr val="BEBEBE"/>
                </a:solidFill>
                <a:latin typeface="Arial"/>
                <a:cs typeface="Arial"/>
              </a:rPr>
              <a:t>môn</a:t>
            </a:r>
            <a:r>
              <a:rPr sz="1800" spc="-4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BEBEBE"/>
                </a:solidFill>
                <a:latin typeface="Arial"/>
                <a:cs typeface="Arial"/>
              </a:rPr>
              <a:t>học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55" dirty="0">
                <a:solidFill>
                  <a:srgbClr val="BEBEBE"/>
                </a:solidFill>
                <a:latin typeface="Arial"/>
                <a:cs typeface="Arial"/>
              </a:rPr>
              <a:t>Mục </a:t>
            </a:r>
            <a:r>
              <a:rPr sz="1800" spc="-15" dirty="0">
                <a:solidFill>
                  <a:srgbClr val="BEBEBE"/>
                </a:solidFill>
                <a:latin typeface="Arial"/>
                <a:cs typeface="Arial"/>
              </a:rPr>
              <a:t>tiêu </a:t>
            </a:r>
            <a:r>
              <a:rPr sz="1800" spc="-114" dirty="0">
                <a:solidFill>
                  <a:srgbClr val="BEBEBE"/>
                </a:solidFill>
                <a:latin typeface="Arial"/>
                <a:cs typeface="Arial"/>
              </a:rPr>
              <a:t>và </a:t>
            </a:r>
            <a:r>
              <a:rPr sz="1800" spc="-35" dirty="0">
                <a:solidFill>
                  <a:srgbClr val="BEBEBE"/>
                </a:solidFill>
                <a:latin typeface="Arial"/>
                <a:cs typeface="Arial"/>
              </a:rPr>
              <a:t>nội </a:t>
            </a:r>
            <a:r>
              <a:rPr sz="1800" spc="-85" dirty="0">
                <a:solidFill>
                  <a:srgbClr val="BEBEBE"/>
                </a:solidFill>
                <a:latin typeface="Arial"/>
                <a:cs typeface="Arial"/>
              </a:rPr>
              <a:t>dung </a:t>
            </a:r>
            <a:r>
              <a:rPr sz="1800" spc="-60" dirty="0">
                <a:solidFill>
                  <a:srgbClr val="BEBEBE"/>
                </a:solidFill>
                <a:latin typeface="Arial"/>
                <a:cs typeface="Arial"/>
              </a:rPr>
              <a:t>môn</a:t>
            </a:r>
            <a:r>
              <a:rPr sz="1800" spc="-22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BEBEBE"/>
                </a:solidFill>
                <a:latin typeface="Arial"/>
                <a:cs typeface="Arial"/>
              </a:rPr>
              <a:t>học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90" dirty="0">
                <a:solidFill>
                  <a:srgbClr val="BEBEBE"/>
                </a:solidFill>
                <a:latin typeface="Arial"/>
                <a:cs typeface="Arial"/>
              </a:rPr>
              <a:t>Kế </a:t>
            </a:r>
            <a:r>
              <a:rPr sz="1800" spc="-95" dirty="0">
                <a:solidFill>
                  <a:srgbClr val="BEBEBE"/>
                </a:solidFill>
                <a:latin typeface="Arial"/>
                <a:cs typeface="Arial"/>
              </a:rPr>
              <a:t>hoạch </a:t>
            </a:r>
            <a:r>
              <a:rPr sz="1800" spc="-100" dirty="0">
                <a:solidFill>
                  <a:srgbClr val="BEBEBE"/>
                </a:solidFill>
                <a:latin typeface="Arial"/>
                <a:cs typeface="Arial"/>
              </a:rPr>
              <a:t>giảng</a:t>
            </a:r>
            <a:r>
              <a:rPr sz="1800" spc="-28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BEBEBE"/>
                </a:solidFill>
                <a:latin typeface="Arial"/>
                <a:cs typeface="Arial"/>
              </a:rPr>
              <a:t>dạy</a:t>
            </a:r>
            <a:endParaRPr sz="18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1350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1: </a:t>
            </a: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Ôn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tập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kiến thức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cơ</a:t>
            </a:r>
            <a:r>
              <a:rPr sz="1800" spc="-2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bản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19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Dòng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–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Năng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lượng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9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Công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suất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trở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Tụ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3670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45" dirty="0"/>
              <a:t> </a:t>
            </a:r>
            <a:r>
              <a:rPr spc="-125" dirty="0"/>
              <a:t>(ii)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701410"/>
            <a:ext cx="5698490" cy="37528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409"/>
              </a:spcBef>
              <a:buClr>
                <a:srgbClr val="99CA38"/>
              </a:buClr>
              <a:buFont typeface="Wingdings"/>
              <a:buChar char=""/>
              <a:tabLst>
                <a:tab pos="311785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65" dirty="0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sz="2400" spc="-6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bán dẫn</a:t>
            </a:r>
            <a:r>
              <a:rPr sz="2000" spc="-2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229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bán</a:t>
            </a:r>
            <a:r>
              <a:rPr sz="1800" spc="-1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dẫn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P-N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9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2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Nguyên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lý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hoạt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tính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210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r>
              <a:rPr sz="1800" spc="-25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42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600" spc="-135" dirty="0">
                <a:solidFill>
                  <a:srgbClr val="404040"/>
                </a:solidFill>
                <a:latin typeface="Arial"/>
                <a:cs typeface="Arial"/>
              </a:rPr>
              <a:t>Ứng</a:t>
            </a:r>
            <a:r>
              <a:rPr sz="16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endParaRPr sz="16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467995" indent="-254635">
              <a:lnSpc>
                <a:spcPct val="100000"/>
              </a:lnSpc>
              <a:spcBef>
                <a:spcPts val="1710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Tham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khảo: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book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‘Electronic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Devices’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4952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29" dirty="0"/>
              <a:t> </a:t>
            </a:r>
            <a:r>
              <a:rPr spc="-114" dirty="0"/>
              <a:t>(iii)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701410"/>
            <a:ext cx="5698490" cy="378015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409"/>
              </a:spcBef>
              <a:buClr>
                <a:srgbClr val="99CA38"/>
              </a:buClr>
              <a:buFont typeface="Wingdings"/>
              <a:buChar char=""/>
              <a:tabLst>
                <a:tab pos="311785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65" dirty="0">
                <a:solidFill>
                  <a:srgbClr val="404040"/>
                </a:solidFill>
                <a:latin typeface="Arial"/>
                <a:cs typeface="Arial"/>
              </a:rPr>
              <a:t>3</a:t>
            </a:r>
            <a:r>
              <a:rPr sz="2400" spc="-6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bán dẫn</a:t>
            </a:r>
            <a:r>
              <a:rPr sz="2000" spc="-2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229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Cấu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tạo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Nguyên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lý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hoạt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tính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Transistor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Phân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260" dirty="0">
                <a:solidFill>
                  <a:srgbClr val="404040"/>
                </a:solidFill>
                <a:latin typeface="Arial"/>
                <a:cs typeface="Arial"/>
              </a:rPr>
              <a:t>Sơ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trạng</a:t>
            </a:r>
            <a:r>
              <a:rPr sz="1800" spc="-2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thái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</a:t>
            </a:r>
            <a:r>
              <a:rPr sz="1800" spc="-1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áp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nhỏ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467995" indent="-254635">
              <a:lnSpc>
                <a:spcPct val="100000"/>
              </a:lnSpc>
              <a:spcBef>
                <a:spcPts val="1710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Tham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khảo: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4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book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‘Electronic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Devices’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5016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40" dirty="0"/>
              <a:t> </a:t>
            </a:r>
            <a:r>
              <a:rPr spc="-195" dirty="0"/>
              <a:t>(iv)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701410"/>
            <a:ext cx="9134475" cy="42862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409"/>
              </a:spcBef>
              <a:buClr>
                <a:srgbClr val="99CA38"/>
              </a:buClr>
              <a:buFont typeface="Wingdings"/>
              <a:buChar char=""/>
              <a:tabLst>
                <a:tab pos="311785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65" dirty="0">
                <a:solidFill>
                  <a:srgbClr val="404040"/>
                </a:solidFill>
                <a:latin typeface="Arial"/>
                <a:cs typeface="Arial"/>
              </a:rPr>
              <a:t>4</a:t>
            </a:r>
            <a:r>
              <a:rPr sz="2400" spc="-6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dùng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tương</a:t>
            </a:r>
            <a:r>
              <a:rPr sz="2000" spc="-20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đương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229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căn</a:t>
            </a: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bản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35" dirty="0">
                <a:solidFill>
                  <a:srgbClr val="404040"/>
                </a:solidFill>
                <a:latin typeface="Arial"/>
                <a:cs typeface="Arial"/>
              </a:rPr>
              <a:t>CE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467995" indent="-254635">
              <a:lnSpc>
                <a:spcPct val="100000"/>
              </a:lnSpc>
              <a:spcBef>
                <a:spcPts val="1710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Tham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khảo: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12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book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‘Electronic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Devices’</a:t>
            </a:r>
            <a:endParaRPr sz="1800">
              <a:latin typeface="Arial"/>
              <a:cs typeface="Arial"/>
            </a:endParaRPr>
          </a:p>
          <a:p>
            <a:pPr marL="311150" indent="-298450">
              <a:lnSpc>
                <a:spcPct val="100000"/>
              </a:lnSpc>
              <a:spcBef>
                <a:spcPts val="1270"/>
              </a:spcBef>
              <a:buClr>
                <a:srgbClr val="99CA38"/>
              </a:buClr>
              <a:buFont typeface="Wingdings"/>
              <a:buChar char=""/>
              <a:tabLst>
                <a:tab pos="311785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105" dirty="0">
                <a:solidFill>
                  <a:srgbClr val="404040"/>
                </a:solidFill>
                <a:latin typeface="Arial"/>
                <a:cs typeface="Arial"/>
              </a:rPr>
              <a:t>4 </a:t>
            </a:r>
            <a:r>
              <a:rPr sz="2100" spc="15" dirty="0">
                <a:solidFill>
                  <a:srgbClr val="404040"/>
                </a:solidFill>
                <a:latin typeface="Arial"/>
                <a:cs typeface="Arial"/>
              </a:rPr>
              <a:t>(tt)</a:t>
            </a:r>
            <a:r>
              <a:rPr sz="2400" spc="1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dùng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tương</a:t>
            </a:r>
            <a:r>
              <a:rPr sz="2000" spc="-2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đương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219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85" dirty="0">
                <a:solidFill>
                  <a:srgbClr val="404040"/>
                </a:solidFill>
                <a:latin typeface="Arial"/>
                <a:cs typeface="Arial"/>
              </a:rPr>
              <a:t>CB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45" dirty="0">
                <a:solidFill>
                  <a:srgbClr val="404040"/>
                </a:solidFill>
                <a:latin typeface="Arial"/>
                <a:cs typeface="Arial"/>
              </a:rPr>
              <a:t>CC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50">
              <a:latin typeface="Times New Roman"/>
              <a:cs typeface="Times New Roman"/>
            </a:endParaRPr>
          </a:p>
          <a:p>
            <a:pPr marL="467995" indent="-254635">
              <a:lnSpc>
                <a:spcPct val="100000"/>
              </a:lnSpc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Tham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khảo: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6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book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‘Electronic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Devices’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3733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40" dirty="0"/>
              <a:t> (v)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701410"/>
            <a:ext cx="5698490" cy="46094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409"/>
              </a:spcBef>
              <a:buClr>
                <a:srgbClr val="99CA38"/>
              </a:buClr>
              <a:buFont typeface="Wingdings"/>
              <a:buChar char=""/>
              <a:tabLst>
                <a:tab pos="311785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65" dirty="0">
                <a:solidFill>
                  <a:srgbClr val="404040"/>
                </a:solidFill>
                <a:latin typeface="Arial"/>
                <a:cs typeface="Arial"/>
              </a:rPr>
              <a:t>5</a:t>
            </a:r>
            <a:r>
              <a:rPr sz="2400" spc="-6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trường</a:t>
            </a:r>
            <a:r>
              <a:rPr sz="2000" spc="-2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00" dirty="0">
                <a:solidFill>
                  <a:srgbClr val="404040"/>
                </a:solidFill>
                <a:latin typeface="Arial"/>
                <a:cs typeface="Arial"/>
              </a:rPr>
              <a:t>FET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229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tạo,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tính</a:t>
            </a:r>
            <a:r>
              <a:rPr sz="1800" spc="-3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90" dirty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Phân cực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90" dirty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tạo,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spc="-235" dirty="0">
                <a:solidFill>
                  <a:srgbClr val="404040"/>
                </a:solidFill>
                <a:latin typeface="Arial"/>
                <a:cs typeface="Arial"/>
              </a:rPr>
              <a:t>MOSFET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kênh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liên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tục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tạo,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spc="-235" dirty="0">
                <a:solidFill>
                  <a:srgbClr val="404040"/>
                </a:solidFill>
                <a:latin typeface="Arial"/>
                <a:cs typeface="Arial"/>
              </a:rPr>
              <a:t>MOSFET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kênh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gián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đoạn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467995" indent="-254635">
              <a:lnSpc>
                <a:spcPct val="100000"/>
              </a:lnSpc>
              <a:spcBef>
                <a:spcPts val="1705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Tham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khảo: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8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book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‘Electronic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Devices’</a:t>
            </a:r>
            <a:endParaRPr sz="1800">
              <a:latin typeface="Arial"/>
              <a:cs typeface="Arial"/>
            </a:endParaRPr>
          </a:p>
          <a:p>
            <a:pPr marL="311150" indent="-298450">
              <a:lnSpc>
                <a:spcPct val="100000"/>
              </a:lnSpc>
              <a:spcBef>
                <a:spcPts val="1275"/>
              </a:spcBef>
              <a:buClr>
                <a:srgbClr val="99CA38"/>
              </a:buClr>
              <a:buFont typeface="Wingdings"/>
              <a:buChar char=""/>
              <a:tabLst>
                <a:tab pos="311785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105" dirty="0">
                <a:solidFill>
                  <a:srgbClr val="404040"/>
                </a:solidFill>
                <a:latin typeface="Arial"/>
                <a:cs typeface="Arial"/>
              </a:rPr>
              <a:t>5 </a:t>
            </a:r>
            <a:r>
              <a:rPr sz="2100" spc="15" dirty="0">
                <a:solidFill>
                  <a:srgbClr val="404040"/>
                </a:solidFill>
                <a:latin typeface="Arial"/>
                <a:cs typeface="Arial"/>
              </a:rPr>
              <a:t>(tt)</a:t>
            </a:r>
            <a:r>
              <a:rPr sz="2400" spc="1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trường</a:t>
            </a:r>
            <a:r>
              <a:rPr sz="2000" spc="-2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05" dirty="0">
                <a:solidFill>
                  <a:srgbClr val="404040"/>
                </a:solidFill>
                <a:latin typeface="Arial"/>
                <a:cs typeface="Arial"/>
              </a:rPr>
              <a:t>FET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21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210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kỹ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thuật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tương</a:t>
            </a:r>
            <a:r>
              <a:rPr sz="1800" spc="-3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đương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60" dirty="0">
                <a:solidFill>
                  <a:srgbClr val="404040"/>
                </a:solidFill>
                <a:latin typeface="Arial"/>
                <a:cs typeface="Arial"/>
              </a:rPr>
              <a:t>CS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Times New Roman"/>
              <a:cs typeface="Times New Roman"/>
            </a:endParaRPr>
          </a:p>
          <a:p>
            <a:pPr marL="467995" indent="-254635">
              <a:lnSpc>
                <a:spcPct val="100000"/>
              </a:lnSpc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Tham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khảo: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8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book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‘Electronic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Devices’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5016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40" dirty="0"/>
              <a:t> </a:t>
            </a:r>
            <a:r>
              <a:rPr spc="-195" dirty="0"/>
              <a:t>(vi)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701410"/>
            <a:ext cx="6221730" cy="21640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409"/>
              </a:spcBef>
              <a:buClr>
                <a:srgbClr val="99CA38"/>
              </a:buClr>
              <a:buFont typeface="Wingdings"/>
              <a:buChar char=""/>
              <a:tabLst>
                <a:tab pos="311785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65" dirty="0">
                <a:solidFill>
                  <a:srgbClr val="404040"/>
                </a:solidFill>
                <a:latin typeface="Arial"/>
                <a:cs typeface="Arial"/>
              </a:rPr>
              <a:t>6</a:t>
            </a:r>
            <a:r>
              <a:rPr sz="2400" spc="-6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thuật</a:t>
            </a:r>
            <a:r>
              <a:rPr sz="2000" spc="-2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toán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229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tạo,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bão hòa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tuyến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467995" indent="-254635">
              <a:lnSpc>
                <a:spcPct val="100000"/>
              </a:lnSpc>
              <a:spcBef>
                <a:spcPts val="1710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Tham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khảo: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12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-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14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book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‘Electronic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Devices’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6292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29" dirty="0"/>
              <a:t> </a:t>
            </a:r>
            <a:r>
              <a:rPr spc="-170" dirty="0"/>
              <a:t>(vii)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695"/>
              </a:spcBef>
              <a:buClr>
                <a:srgbClr val="99CA38"/>
              </a:buClr>
              <a:buSzPct val="95238"/>
              <a:buFont typeface="Wingdings"/>
              <a:buChar char=""/>
              <a:tabLst>
                <a:tab pos="251460" algn="l"/>
              </a:tabLst>
            </a:pPr>
            <a:r>
              <a:rPr sz="2100" spc="-175" dirty="0"/>
              <a:t>Chương </a:t>
            </a:r>
            <a:r>
              <a:rPr sz="2100" spc="-105" dirty="0"/>
              <a:t>6 </a:t>
            </a:r>
            <a:r>
              <a:rPr sz="2100" spc="15" dirty="0"/>
              <a:t>(tt)</a:t>
            </a:r>
            <a:r>
              <a:rPr sz="2400" spc="15" dirty="0"/>
              <a:t>: </a:t>
            </a:r>
            <a:r>
              <a:rPr spc="-80" dirty="0"/>
              <a:t>Mạch </a:t>
            </a:r>
            <a:r>
              <a:rPr spc="-90" dirty="0"/>
              <a:t>khuếch </a:t>
            </a:r>
            <a:r>
              <a:rPr spc="-50" dirty="0"/>
              <a:t>đại </a:t>
            </a:r>
            <a:r>
              <a:rPr spc="-10" dirty="0"/>
              <a:t>thuật</a:t>
            </a:r>
            <a:r>
              <a:rPr spc="-345" dirty="0"/>
              <a:t> </a:t>
            </a:r>
            <a:r>
              <a:rPr spc="-40" dirty="0"/>
              <a:t>toán</a:t>
            </a:r>
            <a:endParaRPr sz="2400"/>
          </a:p>
          <a:p>
            <a:pPr marL="396240" lvl="1" indent="-182880">
              <a:lnSpc>
                <a:spcPct val="100000"/>
              </a:lnSpc>
              <a:spcBef>
                <a:spcPts val="45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18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25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400" spc="-170" dirty="0">
                <a:solidFill>
                  <a:srgbClr val="404040"/>
                </a:solidFill>
                <a:latin typeface="Arial"/>
                <a:cs typeface="Arial"/>
              </a:rPr>
              <a:t>KĐ</a:t>
            </a:r>
            <a:r>
              <a:rPr sz="14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Arial"/>
                <a:cs typeface="Arial"/>
              </a:rPr>
              <a:t>đảo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400" spc="-170" dirty="0">
                <a:solidFill>
                  <a:srgbClr val="404040"/>
                </a:solidFill>
                <a:latin typeface="Arial"/>
                <a:cs typeface="Arial"/>
              </a:rPr>
              <a:t>KĐ </a:t>
            </a:r>
            <a:r>
              <a:rPr sz="1400" spc="-65" dirty="0">
                <a:solidFill>
                  <a:srgbClr val="404040"/>
                </a:solidFill>
                <a:latin typeface="Arial"/>
                <a:cs typeface="Arial"/>
              </a:rPr>
              <a:t>không</a:t>
            </a:r>
            <a:r>
              <a:rPr sz="1400" spc="-2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Arial"/>
                <a:cs typeface="Arial"/>
              </a:rPr>
              <a:t>đảo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14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404040"/>
                </a:solidFill>
                <a:latin typeface="Arial"/>
                <a:cs typeface="Arial"/>
              </a:rPr>
              <a:t>lặp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05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400" spc="-25" dirty="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lệch</a:t>
            </a:r>
            <a:r>
              <a:rPr sz="1400" spc="-1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75" dirty="0">
                <a:solidFill>
                  <a:srgbClr val="404040"/>
                </a:solidFill>
                <a:latin typeface="Arial"/>
                <a:cs typeface="Arial"/>
              </a:rPr>
              <a:t>pha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90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4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467995" indent="-254635">
              <a:lnSpc>
                <a:spcPct val="100000"/>
              </a:lnSpc>
              <a:spcBef>
                <a:spcPts val="1275"/>
              </a:spcBef>
              <a:buClr>
                <a:srgbClr val="99CA38"/>
              </a:buClr>
              <a:buFont typeface="Wingdings"/>
              <a:buChar char=""/>
              <a:tabLst>
                <a:tab pos="468630" algn="l"/>
              </a:tabLst>
            </a:pPr>
            <a:r>
              <a:rPr sz="1800" spc="-125" dirty="0"/>
              <a:t>Tham </a:t>
            </a:r>
            <a:r>
              <a:rPr sz="1800" spc="-70" dirty="0"/>
              <a:t>khảo: </a:t>
            </a:r>
            <a:r>
              <a:rPr sz="1800" spc="-150" dirty="0"/>
              <a:t>Chương </a:t>
            </a:r>
            <a:r>
              <a:rPr sz="1800" spc="-95" dirty="0"/>
              <a:t>12 </a:t>
            </a:r>
            <a:r>
              <a:rPr sz="1800" spc="-50" dirty="0"/>
              <a:t>- </a:t>
            </a:r>
            <a:r>
              <a:rPr sz="1800" spc="-95" dirty="0"/>
              <a:t>14 </a:t>
            </a:r>
            <a:r>
              <a:rPr sz="1800" spc="-114" dirty="0"/>
              <a:t>của </a:t>
            </a:r>
            <a:r>
              <a:rPr sz="1800" spc="-5" dirty="0"/>
              <a:t>text </a:t>
            </a:r>
            <a:r>
              <a:rPr sz="1800" spc="-65" dirty="0"/>
              <a:t>book </a:t>
            </a:r>
            <a:r>
              <a:rPr sz="1800" spc="-60" dirty="0"/>
              <a:t>‘Electronic</a:t>
            </a:r>
            <a:r>
              <a:rPr sz="1800" spc="-114" dirty="0"/>
              <a:t> </a:t>
            </a:r>
            <a:r>
              <a:rPr sz="1800" spc="-100" dirty="0"/>
              <a:t>Devices’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7575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45" dirty="0"/>
              <a:t> </a:t>
            </a:r>
            <a:r>
              <a:rPr spc="-150" dirty="0"/>
              <a:t>(viii)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664798"/>
            <a:ext cx="6169660" cy="30543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695"/>
              </a:spcBef>
              <a:buClr>
                <a:srgbClr val="99CA38"/>
              </a:buClr>
              <a:buSzPct val="95238"/>
              <a:buFont typeface="Wingdings"/>
              <a:buChar char=""/>
              <a:tabLst>
                <a:tab pos="251460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105" dirty="0">
                <a:solidFill>
                  <a:srgbClr val="404040"/>
                </a:solidFill>
                <a:latin typeface="Arial"/>
                <a:cs typeface="Arial"/>
              </a:rPr>
              <a:t>6 </a:t>
            </a:r>
            <a:r>
              <a:rPr sz="2100" spc="15" dirty="0">
                <a:solidFill>
                  <a:srgbClr val="404040"/>
                </a:solidFill>
                <a:latin typeface="Arial"/>
                <a:cs typeface="Arial"/>
              </a:rPr>
              <a:t>(tt)</a:t>
            </a:r>
            <a:r>
              <a:rPr sz="2400" spc="1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thuật</a:t>
            </a:r>
            <a:r>
              <a:rPr sz="2000" spc="-3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toán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45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18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459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14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85" dirty="0">
                <a:solidFill>
                  <a:srgbClr val="404040"/>
                </a:solidFill>
                <a:latin typeface="Arial"/>
                <a:cs typeface="Arial"/>
              </a:rPr>
              <a:t>cộng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43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14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trừ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434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400" spc="-30" dirty="0">
                <a:solidFill>
                  <a:srgbClr val="404040"/>
                </a:solidFill>
                <a:latin typeface="Arial"/>
                <a:cs typeface="Arial"/>
              </a:rPr>
              <a:t>vi</a:t>
            </a:r>
            <a:r>
              <a:rPr sz="14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404040"/>
                </a:solidFill>
                <a:latin typeface="Arial"/>
                <a:cs typeface="Arial"/>
              </a:rPr>
              <a:t>phân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43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400" spc="-40" dirty="0">
                <a:solidFill>
                  <a:srgbClr val="404040"/>
                </a:solidFill>
                <a:latin typeface="Arial"/>
                <a:cs typeface="Arial"/>
              </a:rPr>
              <a:t>tích</a:t>
            </a:r>
            <a:r>
              <a:rPr sz="14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404040"/>
                </a:solidFill>
                <a:latin typeface="Arial"/>
                <a:cs typeface="Arial"/>
              </a:rPr>
              <a:t>phân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434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400" spc="-100" dirty="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sz="1400" spc="-90" dirty="0">
                <a:solidFill>
                  <a:srgbClr val="404040"/>
                </a:solidFill>
                <a:latin typeface="Arial"/>
                <a:cs typeface="Arial"/>
              </a:rPr>
              <a:t>sánh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43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90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4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417830" indent="-204470">
              <a:lnSpc>
                <a:spcPct val="100000"/>
              </a:lnSpc>
              <a:spcBef>
                <a:spcPts val="1065"/>
              </a:spcBef>
              <a:buClr>
                <a:srgbClr val="99CA38"/>
              </a:buClr>
              <a:buSzPct val="94444"/>
              <a:buFont typeface="Wingdings"/>
              <a:buChar char=""/>
              <a:tabLst>
                <a:tab pos="418465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Tham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khảo: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12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-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14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book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‘Electronic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Devices’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50" dirty="0"/>
              <a:t> </a:t>
            </a:r>
            <a:r>
              <a:rPr spc="-220" dirty="0"/>
              <a:t>(ix)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664798"/>
            <a:ext cx="6116320" cy="25177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695"/>
              </a:spcBef>
              <a:buClr>
                <a:srgbClr val="99CA38"/>
              </a:buClr>
              <a:buSzPct val="95238"/>
              <a:buFont typeface="Wingdings"/>
              <a:buChar char=""/>
              <a:tabLst>
                <a:tab pos="251460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105" dirty="0">
                <a:solidFill>
                  <a:srgbClr val="404040"/>
                </a:solidFill>
                <a:latin typeface="Arial"/>
                <a:cs typeface="Arial"/>
              </a:rPr>
              <a:t>6 </a:t>
            </a:r>
            <a:r>
              <a:rPr sz="2100" spc="15" dirty="0">
                <a:solidFill>
                  <a:srgbClr val="404040"/>
                </a:solidFill>
                <a:latin typeface="Arial"/>
                <a:cs typeface="Arial"/>
              </a:rPr>
              <a:t>(tt)</a:t>
            </a:r>
            <a:r>
              <a:rPr sz="2400" spc="1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thuật</a:t>
            </a:r>
            <a:r>
              <a:rPr sz="2000" spc="-3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toán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45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18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459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400" spc="-70" dirty="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sz="1400" spc="-35" dirty="0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sz="1400" spc="-20" dirty="0">
                <a:solidFill>
                  <a:srgbClr val="404040"/>
                </a:solidFill>
                <a:latin typeface="Arial"/>
                <a:cs typeface="Arial"/>
              </a:rPr>
              <a:t>thái</a:t>
            </a:r>
            <a:r>
              <a:rPr sz="14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bền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43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400" spc="-70" dirty="0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sz="1400" spc="-55" dirty="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sz="1400" spc="-25" dirty="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sz="1400" spc="-90" dirty="0">
                <a:solidFill>
                  <a:srgbClr val="404040"/>
                </a:solidFill>
                <a:latin typeface="Arial"/>
                <a:cs typeface="Arial"/>
              </a:rPr>
              <a:t>sóng</a:t>
            </a:r>
            <a:r>
              <a:rPr sz="1400" spc="-1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404040"/>
                </a:solidFill>
                <a:latin typeface="Arial"/>
                <a:cs typeface="Arial"/>
              </a:rPr>
              <a:t>sin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434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6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400" spc="-65" dirty="0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sz="1400" spc="-55" dirty="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sz="1400" spc="-25" dirty="0">
                <a:solidFill>
                  <a:srgbClr val="404040"/>
                </a:solidFill>
                <a:latin typeface="Arial"/>
                <a:cs typeface="Arial"/>
              </a:rPr>
              <a:t>tạo</a:t>
            </a:r>
            <a:r>
              <a:rPr sz="1400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404040"/>
                </a:solidFill>
                <a:latin typeface="Arial"/>
                <a:cs typeface="Arial"/>
              </a:rPr>
              <a:t>xung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43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90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4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417830" indent="-204470">
              <a:lnSpc>
                <a:spcPct val="100000"/>
              </a:lnSpc>
              <a:spcBef>
                <a:spcPts val="1060"/>
              </a:spcBef>
              <a:buClr>
                <a:srgbClr val="99CA38"/>
              </a:buClr>
              <a:buSzPct val="94444"/>
              <a:buFont typeface="Wingdings"/>
              <a:buChar char=""/>
              <a:tabLst>
                <a:tab pos="418465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Tham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khảo: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12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-14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book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‘Electronic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Devices’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3594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40" dirty="0"/>
              <a:t> </a:t>
            </a:r>
            <a:r>
              <a:rPr spc="-275" dirty="0"/>
              <a:t>(x)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654627"/>
            <a:ext cx="3697604" cy="2967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775"/>
              </a:spcBef>
              <a:buClr>
                <a:srgbClr val="99CA38"/>
              </a:buClr>
              <a:buSzPct val="95238"/>
              <a:buFont typeface="Wingdings"/>
              <a:buChar char=""/>
              <a:tabLst>
                <a:tab pos="251460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65" dirty="0">
                <a:solidFill>
                  <a:srgbClr val="404040"/>
                </a:solidFill>
                <a:latin typeface="Arial"/>
                <a:cs typeface="Arial"/>
              </a:rPr>
              <a:t>7</a:t>
            </a:r>
            <a:r>
              <a:rPr sz="2400" spc="-6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lọc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509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Khái niệm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phân loại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lọc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Đáp ứng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tần số của mạch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lọc</a:t>
            </a:r>
            <a:endParaRPr sz="18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thụ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động dùng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RC</a:t>
            </a:r>
            <a:endParaRPr sz="18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57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Mạch lọc hạ</a:t>
            </a:r>
            <a:r>
              <a:rPr sz="14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Mạch lọc thượng</a:t>
            </a:r>
            <a:r>
              <a:rPr sz="1400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Mạch lọc dãi</a:t>
            </a:r>
            <a:r>
              <a:rPr sz="14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Mạch lọc dãi</a:t>
            </a:r>
            <a:r>
              <a:rPr sz="14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triệt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5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4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Kế </a:t>
            </a:r>
            <a:r>
              <a:rPr spc="-300" dirty="0"/>
              <a:t>hoạch </a:t>
            </a:r>
            <a:r>
              <a:rPr spc="-330" dirty="0"/>
              <a:t>giảng </a:t>
            </a:r>
            <a:r>
              <a:rPr spc="-325" dirty="0"/>
              <a:t>dạy</a:t>
            </a:r>
            <a:r>
              <a:rPr spc="-250" dirty="0"/>
              <a:t> </a:t>
            </a:r>
            <a:r>
              <a:rPr spc="-220" dirty="0"/>
              <a:t>(xi)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402" y="1662764"/>
            <a:ext cx="3173730" cy="16732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715"/>
              </a:spcBef>
              <a:buClr>
                <a:srgbClr val="99CA38"/>
              </a:buClr>
              <a:buSzPct val="95238"/>
              <a:buFont typeface="Wingdings"/>
              <a:buChar char=""/>
              <a:tabLst>
                <a:tab pos="251460" algn="l"/>
              </a:tabLst>
            </a:pPr>
            <a:r>
              <a:rPr sz="2100" spc="-175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2100" spc="-65" dirty="0">
                <a:solidFill>
                  <a:srgbClr val="404040"/>
                </a:solidFill>
                <a:latin typeface="Arial"/>
                <a:cs typeface="Arial"/>
              </a:rPr>
              <a:t>7</a:t>
            </a:r>
            <a:r>
              <a:rPr sz="2400" spc="-6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lọc</a:t>
            </a:r>
            <a:r>
              <a:rPr sz="2000" spc="-1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25" dirty="0">
                <a:solidFill>
                  <a:srgbClr val="404040"/>
                </a:solidFill>
                <a:latin typeface="Arial"/>
                <a:cs typeface="Arial"/>
              </a:rPr>
              <a:t>(tt)</a:t>
            </a:r>
            <a:endParaRPr sz="2000">
              <a:latin typeface="Arial"/>
              <a:cs typeface="Arial"/>
            </a:endParaRPr>
          </a:p>
          <a:p>
            <a:pPr marL="396240" lvl="1" indent="-182880">
              <a:lnSpc>
                <a:spcPct val="100000"/>
              </a:lnSpc>
              <a:spcBef>
                <a:spcPts val="455"/>
              </a:spcBef>
              <a:buClr>
                <a:srgbClr val="99CA38"/>
              </a:buClr>
              <a:buFont typeface="Wingdings"/>
              <a:buChar char=""/>
              <a:tabLst>
                <a:tab pos="396875" algn="l"/>
              </a:tabLst>
            </a:pP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thụ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động dùng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LC</a:t>
            </a:r>
            <a:endParaRPr sz="18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2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Mạch lọc hạ</a:t>
            </a:r>
            <a:r>
              <a:rPr sz="1400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Mạch lọc thượng</a:t>
            </a:r>
            <a:r>
              <a:rPr sz="14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400">
              <a:latin typeface="Arial"/>
              <a:cs typeface="Arial"/>
            </a:endParaRPr>
          </a:p>
          <a:p>
            <a:pPr marL="579120" lvl="2" indent="-182880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579755" algn="l"/>
              </a:tabLst>
            </a:pP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4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1570" y="3930500"/>
            <a:ext cx="5561330" cy="216979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885"/>
              </a:spcBef>
              <a:buClr>
                <a:srgbClr val="99CA38"/>
              </a:buClr>
              <a:buFont typeface="Wingdings"/>
              <a:buChar char=""/>
              <a:tabLst>
                <a:tab pos="195580" algn="l"/>
              </a:tabLst>
            </a:pP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endParaRPr sz="1800">
              <a:latin typeface="Arial"/>
              <a:cs typeface="Arial"/>
            </a:endParaRPr>
          </a:p>
          <a:p>
            <a:pPr marL="377825" lvl="1" indent="-182245">
              <a:lnSpc>
                <a:spcPct val="100000"/>
              </a:lnSpc>
              <a:spcBef>
                <a:spcPts val="620"/>
              </a:spcBef>
              <a:buClr>
                <a:srgbClr val="99CA38"/>
              </a:buClr>
              <a:buFont typeface="Wingdings"/>
              <a:buChar char=""/>
              <a:tabLst>
                <a:tab pos="378460" algn="l"/>
              </a:tabLst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Mạch lọc hạ</a:t>
            </a:r>
            <a:r>
              <a:rPr sz="14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400">
              <a:latin typeface="Arial"/>
              <a:cs typeface="Arial"/>
            </a:endParaRPr>
          </a:p>
          <a:p>
            <a:pPr marL="377825" lvl="1" indent="-182245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378460" algn="l"/>
              </a:tabLst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Mạch lọc thượng</a:t>
            </a:r>
            <a:r>
              <a:rPr sz="1400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400">
              <a:latin typeface="Arial"/>
              <a:cs typeface="Arial"/>
            </a:endParaRPr>
          </a:p>
          <a:p>
            <a:pPr marL="377825" lvl="1" indent="-182245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378460" algn="l"/>
              </a:tabLst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Mạch lọc dãi</a:t>
            </a:r>
            <a:r>
              <a:rPr sz="14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400">
              <a:latin typeface="Arial"/>
              <a:cs typeface="Arial"/>
            </a:endParaRPr>
          </a:p>
          <a:p>
            <a:pPr marL="377825" lvl="1" indent="-182245">
              <a:lnSpc>
                <a:spcPct val="10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378460" algn="l"/>
              </a:tabLst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Mạch lọc dãi</a:t>
            </a:r>
            <a:r>
              <a:rPr sz="14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triệt</a:t>
            </a:r>
            <a:endParaRPr sz="1400">
              <a:latin typeface="Arial"/>
              <a:cs typeface="Arial"/>
            </a:endParaRPr>
          </a:p>
          <a:p>
            <a:pPr marL="377825" lvl="1" indent="-182245">
              <a:lnSpc>
                <a:spcPct val="100000"/>
              </a:lnSpc>
              <a:spcBef>
                <a:spcPts val="645"/>
              </a:spcBef>
              <a:buClr>
                <a:srgbClr val="99CA38"/>
              </a:buClr>
              <a:buFont typeface="Wingdings"/>
              <a:buChar char=""/>
              <a:tabLst>
                <a:tab pos="378460" algn="l"/>
              </a:tabLst>
            </a:pP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sz="14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1400">
              <a:latin typeface="Arial"/>
              <a:cs typeface="Arial"/>
            </a:endParaRPr>
          </a:p>
          <a:p>
            <a:pPr marL="216535" indent="-203835">
              <a:lnSpc>
                <a:spcPct val="100000"/>
              </a:lnSpc>
              <a:spcBef>
                <a:spcPts val="310"/>
              </a:spcBef>
              <a:buClr>
                <a:srgbClr val="99CA38"/>
              </a:buClr>
              <a:buSzPct val="94444"/>
              <a:buFont typeface="Wingdings"/>
              <a:buChar char=""/>
              <a:tabLst>
                <a:tab pos="21717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Tham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khảo: 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Chương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15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book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‘Electronic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Devices’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48990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Kiểm </a:t>
            </a:r>
            <a:r>
              <a:rPr spc="-75" dirty="0"/>
              <a:t>tra </a:t>
            </a:r>
            <a:r>
              <a:rPr spc="-375" dirty="0"/>
              <a:t>và </a:t>
            </a:r>
            <a:r>
              <a:rPr spc="-250" dirty="0"/>
              <a:t>đánh</a:t>
            </a:r>
            <a:r>
              <a:rPr spc="-630" dirty="0"/>
              <a:t> </a:t>
            </a:r>
            <a:r>
              <a:rPr spc="-315" dirty="0"/>
              <a:t>giá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402" y="1735903"/>
            <a:ext cx="3185160" cy="23939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275"/>
              </a:spcBef>
              <a:buClr>
                <a:srgbClr val="99CA38"/>
              </a:buClr>
              <a:buFont typeface="Wingdings"/>
              <a:buChar char=""/>
              <a:tabLst>
                <a:tab pos="327025" algn="l"/>
              </a:tabLst>
            </a:pPr>
            <a:r>
              <a:rPr sz="2200" spc="-105" dirty="0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sz="2200" spc="-110" dirty="0">
                <a:solidFill>
                  <a:srgbClr val="404040"/>
                </a:solidFill>
                <a:latin typeface="Arial"/>
                <a:cs typeface="Arial"/>
              </a:rPr>
              <a:t>quá </a:t>
            </a:r>
            <a:r>
              <a:rPr sz="2200" spc="-25" dirty="0">
                <a:solidFill>
                  <a:srgbClr val="404040"/>
                </a:solidFill>
                <a:latin typeface="Arial"/>
                <a:cs typeface="Arial"/>
              </a:rPr>
              <a:t>trình:</a:t>
            </a:r>
            <a:r>
              <a:rPr sz="2200" spc="-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2200" spc="-204" dirty="0">
                <a:solidFill>
                  <a:srgbClr val="404040"/>
                </a:solidFill>
                <a:latin typeface="Arial"/>
                <a:cs typeface="Arial"/>
              </a:rPr>
              <a:t>25</a:t>
            </a:r>
            <a:r>
              <a:rPr sz="2200" spc="-204" dirty="0">
                <a:solidFill>
                  <a:srgbClr val="404040"/>
                </a:solidFill>
                <a:latin typeface="Arial"/>
                <a:cs typeface="Arial"/>
              </a:rPr>
              <a:t>%</a:t>
            </a:r>
            <a:endParaRPr sz="2200" dirty="0">
              <a:latin typeface="Arial"/>
              <a:cs typeface="Arial"/>
            </a:endParaRPr>
          </a:p>
          <a:p>
            <a:pPr marL="471170" lvl="1" indent="-257810">
              <a:lnSpc>
                <a:spcPct val="100000"/>
              </a:lnSpc>
              <a:spcBef>
                <a:spcPts val="165"/>
              </a:spcBef>
              <a:buClr>
                <a:srgbClr val="99CA38"/>
              </a:buClr>
              <a:buFont typeface="Wingdings"/>
              <a:buChar char=""/>
              <a:tabLst>
                <a:tab pos="471805" algn="l"/>
              </a:tabLst>
            </a:pP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danh: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2000" spc="-180" dirty="0">
                <a:solidFill>
                  <a:srgbClr val="404040"/>
                </a:solidFill>
                <a:latin typeface="Arial"/>
                <a:cs typeface="Arial"/>
              </a:rPr>
              <a:t>5</a:t>
            </a:r>
            <a:r>
              <a:rPr sz="2000" spc="-180" dirty="0">
                <a:solidFill>
                  <a:srgbClr val="404040"/>
                </a:solidFill>
                <a:latin typeface="Arial"/>
                <a:cs typeface="Arial"/>
              </a:rPr>
              <a:t>%</a:t>
            </a:r>
            <a:endParaRPr sz="2000" dirty="0">
              <a:latin typeface="Arial"/>
              <a:cs typeface="Arial"/>
            </a:endParaRPr>
          </a:p>
          <a:p>
            <a:pPr marL="471170" lvl="1" indent="-257810">
              <a:lnSpc>
                <a:spcPct val="100000"/>
              </a:lnSpc>
              <a:spcBef>
                <a:spcPts val="360"/>
              </a:spcBef>
              <a:buClr>
                <a:srgbClr val="99CA38"/>
              </a:buClr>
              <a:buFont typeface="Wingdings"/>
              <a:buChar char=""/>
              <a:tabLst>
                <a:tab pos="471805" algn="l"/>
              </a:tabLst>
            </a:pP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Bài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tập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trên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lớp:</a:t>
            </a:r>
            <a:r>
              <a:rPr sz="2000" spc="-2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25" dirty="0">
                <a:solidFill>
                  <a:srgbClr val="404040"/>
                </a:solidFill>
                <a:latin typeface="Arial"/>
                <a:cs typeface="Arial"/>
              </a:rPr>
              <a:t>5%</a:t>
            </a:r>
            <a:endParaRPr sz="2000" dirty="0">
              <a:latin typeface="Arial"/>
              <a:cs typeface="Arial"/>
            </a:endParaRPr>
          </a:p>
          <a:p>
            <a:pPr marL="471170" lvl="1" indent="-257810">
              <a:lnSpc>
                <a:spcPct val="100000"/>
              </a:lnSpc>
              <a:spcBef>
                <a:spcPts val="360"/>
              </a:spcBef>
              <a:buClr>
                <a:srgbClr val="99CA38"/>
              </a:buClr>
              <a:buFont typeface="Wingdings"/>
              <a:buChar char=""/>
              <a:tabLst>
                <a:tab pos="471805" algn="l"/>
              </a:tabLst>
            </a:pP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án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môn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học:</a:t>
            </a:r>
            <a:r>
              <a:rPr sz="2000" spc="-1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80" dirty="0">
                <a:solidFill>
                  <a:srgbClr val="404040"/>
                </a:solidFill>
                <a:latin typeface="Arial"/>
                <a:cs typeface="Arial"/>
              </a:rPr>
              <a:t>15%</a:t>
            </a:r>
            <a:endParaRPr sz="2000" dirty="0">
              <a:latin typeface="Arial"/>
              <a:cs typeface="Arial"/>
            </a:endParaRPr>
          </a:p>
          <a:p>
            <a:pPr marL="326390" indent="-313690">
              <a:lnSpc>
                <a:spcPct val="100000"/>
              </a:lnSpc>
              <a:spcBef>
                <a:spcPts val="1330"/>
              </a:spcBef>
              <a:buClr>
                <a:srgbClr val="99CA38"/>
              </a:buClr>
              <a:buFont typeface="Wingdings"/>
              <a:buChar char=""/>
              <a:tabLst>
                <a:tab pos="327025" algn="l"/>
              </a:tabLst>
            </a:pPr>
            <a:r>
              <a:rPr lang="en-US" sz="2200" spc="-114" dirty="0" err="1">
                <a:solidFill>
                  <a:srgbClr val="404040"/>
                </a:solidFill>
                <a:latin typeface="Arial"/>
                <a:cs typeface="Arial"/>
              </a:rPr>
              <a:t>Thực</a:t>
            </a:r>
            <a:r>
              <a:rPr lang="en-US" sz="22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2200" spc="-114">
                <a:solidFill>
                  <a:srgbClr val="404040"/>
                </a:solidFill>
                <a:latin typeface="Arial"/>
                <a:cs typeface="Arial"/>
              </a:rPr>
              <a:t>hành</a:t>
            </a:r>
            <a:r>
              <a:rPr sz="2200" spc="-80">
                <a:solidFill>
                  <a:srgbClr val="404040"/>
                </a:solidFill>
                <a:latin typeface="Arial"/>
                <a:cs typeface="Arial"/>
              </a:rPr>
              <a:t>:</a:t>
            </a:r>
            <a:r>
              <a:rPr sz="2200" spc="-2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200" spc="-204" dirty="0">
                <a:solidFill>
                  <a:srgbClr val="404040"/>
                </a:solidFill>
                <a:latin typeface="Arial"/>
                <a:cs typeface="Arial"/>
              </a:rPr>
              <a:t>20%</a:t>
            </a:r>
            <a:endParaRPr sz="2200" dirty="0">
              <a:latin typeface="Arial"/>
              <a:cs typeface="Arial"/>
            </a:endParaRPr>
          </a:p>
          <a:p>
            <a:pPr marL="326390" indent="-313690">
              <a:lnSpc>
                <a:spcPct val="100000"/>
              </a:lnSpc>
              <a:spcBef>
                <a:spcPts val="1140"/>
              </a:spcBef>
              <a:buClr>
                <a:srgbClr val="99CA38"/>
              </a:buClr>
              <a:buFont typeface="Wingdings"/>
              <a:buChar char=""/>
              <a:tabLst>
                <a:tab pos="327025" algn="l"/>
              </a:tabLst>
            </a:pPr>
            <a:r>
              <a:rPr sz="2200" spc="-114" dirty="0">
                <a:solidFill>
                  <a:srgbClr val="404040"/>
                </a:solidFill>
                <a:latin typeface="Arial"/>
                <a:cs typeface="Arial"/>
              </a:rPr>
              <a:t>Thi </a:t>
            </a:r>
            <a:r>
              <a:rPr sz="2200" spc="-50" dirty="0">
                <a:solidFill>
                  <a:srgbClr val="404040"/>
                </a:solidFill>
                <a:latin typeface="Arial"/>
                <a:cs typeface="Arial"/>
              </a:rPr>
              <a:t>lý </a:t>
            </a:r>
            <a:r>
              <a:rPr sz="2200" spc="-25" dirty="0">
                <a:solidFill>
                  <a:srgbClr val="404040"/>
                </a:solidFill>
                <a:latin typeface="Arial"/>
                <a:cs typeface="Arial"/>
              </a:rPr>
              <a:t>thuyết </a:t>
            </a:r>
            <a:r>
              <a:rPr sz="2200" spc="-75" dirty="0">
                <a:solidFill>
                  <a:srgbClr val="404040"/>
                </a:solidFill>
                <a:latin typeface="Arial"/>
                <a:cs typeface="Arial"/>
              </a:rPr>
              <a:t>cuối </a:t>
            </a:r>
            <a:r>
              <a:rPr sz="2200" spc="-80" dirty="0">
                <a:solidFill>
                  <a:srgbClr val="404040"/>
                </a:solidFill>
                <a:latin typeface="Arial"/>
                <a:cs typeface="Arial"/>
              </a:rPr>
              <a:t>kì:</a:t>
            </a:r>
            <a:r>
              <a:rPr sz="2200" spc="-3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200" spc="-204" dirty="0">
                <a:solidFill>
                  <a:srgbClr val="404040"/>
                </a:solidFill>
                <a:latin typeface="Arial"/>
                <a:cs typeface="Arial"/>
              </a:rPr>
              <a:t>50%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12312" y="1968629"/>
            <a:ext cx="1469787" cy="2082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98363" y="4343750"/>
            <a:ext cx="1875175" cy="1919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9443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Nhắc </a:t>
            </a:r>
            <a:r>
              <a:rPr spc="-180" dirty="0"/>
              <a:t>lại </a:t>
            </a:r>
            <a:r>
              <a:rPr spc="-430" dirty="0"/>
              <a:t>các </a:t>
            </a:r>
            <a:r>
              <a:rPr spc="-229" dirty="0"/>
              <a:t>kiến </a:t>
            </a:r>
            <a:r>
              <a:rPr spc="-225" dirty="0"/>
              <a:t>thức </a:t>
            </a:r>
            <a:r>
              <a:rPr spc="-495" dirty="0"/>
              <a:t>cơ</a:t>
            </a:r>
            <a:r>
              <a:rPr spc="-675" dirty="0"/>
              <a:t> </a:t>
            </a:r>
            <a:r>
              <a:rPr spc="-290" dirty="0"/>
              <a:t>bản</a:t>
            </a:r>
          </a:p>
        </p:txBody>
      </p:sp>
      <p:sp>
        <p:nvSpPr>
          <p:cNvPr id="3" name="object 3"/>
          <p:cNvSpPr/>
          <p:nvPr/>
        </p:nvSpPr>
        <p:spPr>
          <a:xfrm>
            <a:off x="1956816" y="1844039"/>
            <a:ext cx="6040374" cy="4024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21532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Điện</a:t>
            </a:r>
            <a:r>
              <a:rPr spc="-425" dirty="0"/>
              <a:t> </a:t>
            </a:r>
            <a:r>
              <a:rPr spc="-185" dirty="0"/>
              <a:t>tích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402" y="1749628"/>
            <a:ext cx="8353425" cy="40614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4139" marR="131445" indent="-91440" algn="just">
              <a:lnSpc>
                <a:spcPct val="901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bản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hạt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hạ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nguyên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tử, 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đặc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trưng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cho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tương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tác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từ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giữa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chúng.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tích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tạo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ra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trường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từ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và 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cũng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chịu </a:t>
            </a:r>
            <a:r>
              <a:rPr sz="2000" spc="-180" dirty="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ảnh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hưởng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trường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2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từ.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Đơn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vị: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Coulomb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(C)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95" dirty="0">
                <a:solidFill>
                  <a:srgbClr val="404040"/>
                </a:solidFill>
                <a:latin typeface="Arial"/>
                <a:cs typeface="Arial"/>
              </a:rPr>
              <a:t>Kí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hiệu: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10" dirty="0">
                <a:solidFill>
                  <a:srgbClr val="404040"/>
                </a:solidFill>
                <a:latin typeface="Arial"/>
                <a:cs typeface="Arial"/>
              </a:rPr>
              <a:t>Q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thức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tính: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Q=I.t</a:t>
            </a:r>
            <a:endParaRPr sz="2000">
              <a:latin typeface="Arial"/>
              <a:cs typeface="Arial"/>
            </a:endParaRPr>
          </a:p>
          <a:p>
            <a:pPr marL="448309" lvl="1" indent="-234950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"/>
              <a:tabLst>
                <a:tab pos="448945" algn="l"/>
              </a:tabLst>
            </a:pP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I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endParaRPr sz="1800">
              <a:latin typeface="Arial"/>
              <a:cs typeface="Arial"/>
            </a:endParaRPr>
          </a:p>
          <a:p>
            <a:pPr marL="448309" lvl="1" indent="-23495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"/>
              <a:tabLst>
                <a:tab pos="448945" algn="l"/>
              </a:tabLst>
            </a:pPr>
            <a:r>
              <a:rPr sz="1800" spc="100" dirty="0">
                <a:solidFill>
                  <a:srgbClr val="404040"/>
                </a:solidFill>
                <a:latin typeface="Arial"/>
                <a:cs typeface="Arial"/>
              </a:rPr>
              <a:t>t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thời</a:t>
            </a:r>
            <a:r>
              <a:rPr sz="1800" spc="-3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gian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60"/>
              </a:lnSpc>
              <a:spcBef>
                <a:spcPts val="1620"/>
              </a:spcBef>
            </a:pP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Ví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dụ: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lượng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tương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đương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độ</a:t>
            </a:r>
            <a:r>
              <a:rPr sz="2000" spc="-4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8A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chạy 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gian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3</a:t>
            </a:r>
            <a:r>
              <a:rPr sz="2000" spc="-3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phút?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000" spc="-210" dirty="0">
                <a:solidFill>
                  <a:srgbClr val="404040"/>
                </a:solidFill>
                <a:latin typeface="Arial"/>
                <a:cs typeface="Arial"/>
              </a:rPr>
              <a:t>ĐS: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1440</a:t>
            </a:r>
            <a:r>
              <a:rPr sz="2000" spc="-3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(C)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81571" y="2798064"/>
            <a:ext cx="1834133" cy="13738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50311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Dòng </a:t>
            </a:r>
            <a:r>
              <a:rPr spc="-175" dirty="0"/>
              <a:t>điện </a:t>
            </a:r>
            <a:r>
              <a:rPr spc="-80" dirty="0"/>
              <a:t>một</a:t>
            </a:r>
            <a:r>
              <a:rPr spc="-595" dirty="0"/>
              <a:t> </a:t>
            </a:r>
            <a:r>
              <a:rPr spc="-245" dirty="0"/>
              <a:t>chiều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402" y="1749628"/>
            <a:ext cx="8009890" cy="17843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4139" marR="5080" indent="-91440">
              <a:lnSpc>
                <a:spcPct val="901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19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dời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hướng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hạt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mang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môi 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trường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điện.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Theo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quy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ước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chung,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ngược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chiều</a:t>
            </a:r>
            <a:r>
              <a:rPr sz="2000" spc="-4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dịch 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</a:t>
            </a:r>
            <a:r>
              <a:rPr sz="2000" spc="-1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electron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Đơn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vị: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Ampère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95" dirty="0">
                <a:solidFill>
                  <a:srgbClr val="404040"/>
                </a:solidFill>
                <a:latin typeface="Arial"/>
                <a:cs typeface="Arial"/>
              </a:rPr>
              <a:t>Kí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hiệu: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0245" y="3873500"/>
            <a:ext cx="17081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25" dirty="0">
                <a:solidFill>
                  <a:srgbClr val="404040"/>
                </a:solidFill>
                <a:latin typeface="Arial"/>
                <a:cs typeface="Arial"/>
              </a:rPr>
              <a:t>tb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29533" y="3919473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>
                <a:moveTo>
                  <a:pt x="0" y="0"/>
                </a:moveTo>
                <a:lnTo>
                  <a:pt x="245364" y="0"/>
                </a:lnTo>
              </a:path>
            </a:pathLst>
          </a:custGeom>
          <a:ln w="1676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0402" y="3725671"/>
            <a:ext cx="26536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0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  <a:tab pos="2214880" algn="l"/>
              </a:tabLst>
            </a:pP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thức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tính: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I	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=</a:t>
            </a:r>
            <a:r>
              <a:rPr sz="2000" spc="-1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175" spc="240" baseline="45977" dirty="0">
                <a:solidFill>
                  <a:srgbClr val="404040"/>
                </a:solidFill>
                <a:latin typeface="Trebuchet MS"/>
                <a:cs typeface="Trebuchet MS"/>
              </a:rPr>
              <a:t>∆𝑄</a:t>
            </a:r>
            <a:endParaRPr sz="2175" baseline="45977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1726" y="3922267"/>
            <a:ext cx="21907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20" dirty="0">
                <a:solidFill>
                  <a:srgbClr val="404040"/>
                </a:solidFill>
                <a:latin typeface="Trebuchet MS"/>
                <a:cs typeface="Trebuchet MS"/>
              </a:rPr>
              <a:t>∆</a:t>
            </a:r>
            <a:r>
              <a:rPr sz="1450" spc="-165" dirty="0">
                <a:solidFill>
                  <a:srgbClr val="404040"/>
                </a:solidFill>
                <a:latin typeface="Trebuchet MS"/>
                <a:cs typeface="Trebuchet MS"/>
              </a:rPr>
              <a:t>𝑡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570" y="4062222"/>
            <a:ext cx="4362450" cy="12395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470"/>
              </a:spcBef>
              <a:buClr>
                <a:srgbClr val="99CA38"/>
              </a:buClr>
              <a:buFont typeface="Wingdings"/>
              <a:buChar char=""/>
              <a:tabLst>
                <a:tab pos="247650" algn="l"/>
              </a:tabLst>
            </a:pP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800" spc="-7" baseline="-20833" dirty="0">
                <a:solidFill>
                  <a:srgbClr val="404040"/>
                </a:solidFill>
                <a:latin typeface="Arial"/>
                <a:cs typeface="Arial"/>
              </a:rPr>
              <a:t>tb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trung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bình</a:t>
            </a:r>
            <a:endParaRPr sz="1800">
              <a:latin typeface="Arial"/>
              <a:cs typeface="Arial"/>
            </a:endParaRPr>
          </a:p>
          <a:p>
            <a:pPr marL="247015" indent="-234315">
              <a:lnSpc>
                <a:spcPts val="205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"/>
              <a:tabLst>
                <a:tab pos="247650" algn="l"/>
              </a:tabLst>
            </a:pPr>
            <a:r>
              <a:rPr sz="1800" spc="170" dirty="0">
                <a:solidFill>
                  <a:srgbClr val="404040"/>
                </a:solidFill>
                <a:latin typeface="Trebuchet MS"/>
                <a:cs typeface="Trebuchet MS"/>
              </a:rPr>
              <a:t>∆𝑄</a:t>
            </a:r>
            <a:r>
              <a:rPr sz="1800" spc="-3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lượng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đi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qua bề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mặt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dây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dẫn</a:t>
            </a:r>
            <a:endParaRPr sz="1800">
              <a:latin typeface="Arial"/>
              <a:cs typeface="Arial"/>
            </a:endParaRPr>
          </a:p>
          <a:p>
            <a:pPr marL="247015">
              <a:lnSpc>
                <a:spcPts val="2050"/>
              </a:lnSpc>
            </a:pP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khoảng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gian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sz="1800" spc="-3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∆𝑡</a:t>
            </a:r>
            <a:endParaRPr sz="1800">
              <a:latin typeface="Trebuchet MS"/>
              <a:cs typeface="Trebuchet MS"/>
            </a:endParaRPr>
          </a:p>
          <a:p>
            <a:pPr marL="247015" indent="-23431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"/>
              <a:tabLst>
                <a:tab pos="247650" algn="l"/>
              </a:tabLst>
            </a:pP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∆𝑡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khoảng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gian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được</a:t>
            </a:r>
            <a:r>
              <a:rPr sz="1800" spc="-2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xét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87796" y="2753867"/>
            <a:ext cx="3176016" cy="23500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2698" y="5607507"/>
            <a:ext cx="5304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Ví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dụ: </a:t>
            </a:r>
            <a:r>
              <a:rPr sz="2000" spc="-200" dirty="0">
                <a:solidFill>
                  <a:srgbClr val="404040"/>
                </a:solidFill>
                <a:latin typeface="Arial"/>
                <a:cs typeface="Arial"/>
              </a:rPr>
              <a:t>Xác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vẽ</a:t>
            </a:r>
            <a:r>
              <a:rPr sz="2000" spc="-3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trên?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20675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Điện</a:t>
            </a:r>
            <a:r>
              <a:rPr spc="-430" dirty="0"/>
              <a:t> </a:t>
            </a:r>
            <a:r>
              <a:rPr spc="-114" dirty="0"/>
              <a:t>thế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402" y="1749628"/>
            <a:ext cx="8086090" cy="33108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4139" marR="5080" indent="-91440">
              <a:lnSpc>
                <a:spcPct val="901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lượng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chỉ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sức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ép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mạng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tác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lên</a:t>
            </a:r>
            <a:r>
              <a:rPr sz="2000" spc="-3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vật 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điện.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Nói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khác,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đây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lượng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nói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lên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mức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độ 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mạnh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yếu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</a:t>
            </a:r>
            <a:r>
              <a:rPr sz="2000" spc="-1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điện.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độ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chênh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lệch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giữa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điểm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trên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Đơn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vị: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Volt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95" dirty="0">
                <a:solidFill>
                  <a:srgbClr val="404040"/>
                </a:solidFill>
                <a:latin typeface="Arial"/>
                <a:cs typeface="Arial"/>
              </a:rPr>
              <a:t>Kí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hiệu: </a:t>
            </a:r>
            <a:r>
              <a:rPr sz="2000" spc="-200" dirty="0">
                <a:solidFill>
                  <a:srgbClr val="404040"/>
                </a:solidFill>
                <a:latin typeface="Arial"/>
                <a:cs typeface="Arial"/>
              </a:rPr>
              <a:t>V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(điện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áp)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sz="1950" spc="-202" baseline="-21367" dirty="0">
                <a:solidFill>
                  <a:srgbClr val="404040"/>
                </a:solidFill>
                <a:latin typeface="Arial"/>
                <a:cs typeface="Arial"/>
              </a:rPr>
              <a:t>AB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(hiệu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2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thế)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thức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tính: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sz="1950" spc="-202" baseline="-21367" dirty="0">
                <a:solidFill>
                  <a:srgbClr val="404040"/>
                </a:solidFill>
                <a:latin typeface="Arial"/>
                <a:cs typeface="Arial"/>
              </a:rPr>
              <a:t>AB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950" spc="-225" baseline="-21367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-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950" spc="-254" baseline="-21367" dirty="0">
                <a:solidFill>
                  <a:srgbClr val="404040"/>
                </a:solidFill>
                <a:latin typeface="Arial"/>
                <a:cs typeface="Arial"/>
              </a:rPr>
              <a:t>B</a:t>
            </a:r>
            <a:endParaRPr sz="1950" baseline="-21367">
              <a:latin typeface="Arial"/>
              <a:cs typeface="Arial"/>
            </a:endParaRPr>
          </a:p>
          <a:p>
            <a:pPr marL="448309" lvl="1" indent="-234950">
              <a:lnSpc>
                <a:spcPct val="100000"/>
              </a:lnSpc>
              <a:spcBef>
                <a:spcPts val="215"/>
              </a:spcBef>
              <a:buClr>
                <a:srgbClr val="99CA38"/>
              </a:buClr>
              <a:buFont typeface="Wingdings"/>
              <a:buChar char=""/>
              <a:tabLst>
                <a:tab pos="448945" algn="l"/>
              </a:tabLst>
            </a:pP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sz="1800" spc="-202" baseline="-20833" dirty="0">
                <a:solidFill>
                  <a:srgbClr val="404040"/>
                </a:solidFill>
                <a:latin typeface="Arial"/>
                <a:cs typeface="Arial"/>
              </a:rPr>
              <a:t>AB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A,</a:t>
            </a:r>
            <a:r>
              <a:rPr sz="1800" spc="-2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25" dirty="0">
                <a:solidFill>
                  <a:srgbClr val="404040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  <a:p>
            <a:pPr marL="448309" lvl="1" indent="-234950">
              <a:lnSpc>
                <a:spcPct val="100000"/>
              </a:lnSpc>
              <a:spcBef>
                <a:spcPts val="359"/>
              </a:spcBef>
              <a:buClr>
                <a:srgbClr val="99CA38"/>
              </a:buClr>
              <a:buFont typeface="Wingdings"/>
              <a:buChar char=""/>
              <a:tabLst>
                <a:tab pos="448945" algn="l"/>
              </a:tabLst>
            </a:pP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sz="1800" spc="-17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254" baseline="-20833" dirty="0">
                <a:solidFill>
                  <a:srgbClr val="404040"/>
                </a:solidFill>
                <a:latin typeface="Arial"/>
                <a:cs typeface="Arial"/>
              </a:rPr>
              <a:t>B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A,</a:t>
            </a:r>
            <a:r>
              <a:rPr sz="1800" spc="-3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25" dirty="0">
                <a:solidFill>
                  <a:srgbClr val="404040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06561" y="4151735"/>
            <a:ext cx="4209301" cy="1361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24022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Công</a:t>
            </a:r>
            <a:r>
              <a:rPr spc="-425" dirty="0"/>
              <a:t> </a:t>
            </a:r>
            <a:r>
              <a:rPr spc="-260" dirty="0"/>
              <a:t>suất</a:t>
            </a:r>
          </a:p>
        </p:txBody>
      </p:sp>
      <p:sp>
        <p:nvSpPr>
          <p:cNvPr id="3" name="object 3"/>
          <p:cNvSpPr/>
          <p:nvPr/>
        </p:nvSpPr>
        <p:spPr>
          <a:xfrm>
            <a:off x="5896355" y="2572511"/>
            <a:ext cx="3213354" cy="21785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0402" y="1749628"/>
            <a:ext cx="8278495" cy="44938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4139" marR="5080" indent="-91440">
              <a:lnSpc>
                <a:spcPct val="901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240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2000" b="1" spc="-140" dirty="0">
                <a:solidFill>
                  <a:srgbClr val="404040"/>
                </a:solidFill>
                <a:latin typeface="Arial"/>
                <a:cs typeface="Arial"/>
              </a:rPr>
              <a:t>suất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sinh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đơn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vị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gian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giây. 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Nói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cách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khác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nó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bằng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tích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giữa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hai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đoạn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và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cường 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chạy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qua</a:t>
            </a:r>
            <a:r>
              <a:rPr sz="2000" spc="-3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nó.</a:t>
            </a:r>
            <a:endParaRPr sz="20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"/>
              <a:tabLst>
                <a:tab pos="240665" algn="l"/>
              </a:tabLst>
            </a:pP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Đơn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vị: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Watt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95" dirty="0">
                <a:solidFill>
                  <a:srgbClr val="404040"/>
                </a:solidFill>
                <a:latin typeface="Arial"/>
                <a:cs typeface="Arial"/>
              </a:rPr>
              <a:t>Kí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hiệu: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00" dirty="0">
                <a:solidFill>
                  <a:srgbClr val="404040"/>
                </a:solidFill>
                <a:latin typeface="Arial"/>
                <a:cs typeface="Arial"/>
              </a:rPr>
              <a:t>P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thức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tính: </a:t>
            </a:r>
            <a:r>
              <a:rPr sz="2000" spc="-190" dirty="0">
                <a:solidFill>
                  <a:srgbClr val="404040"/>
                </a:solidFill>
                <a:latin typeface="Arial"/>
                <a:cs typeface="Arial"/>
              </a:rPr>
              <a:t>P</a:t>
            </a:r>
            <a:r>
              <a:rPr sz="1950" spc="-284" baseline="-21367" dirty="0">
                <a:solidFill>
                  <a:srgbClr val="404040"/>
                </a:solidFill>
                <a:latin typeface="Arial"/>
                <a:cs typeface="Arial"/>
              </a:rPr>
              <a:t>AB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sz="1950" spc="-209" baseline="-21367" dirty="0">
                <a:solidFill>
                  <a:srgbClr val="404040"/>
                </a:solidFill>
                <a:latin typeface="Arial"/>
                <a:cs typeface="Arial"/>
              </a:rPr>
              <a:t>AB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r>
              <a:rPr sz="2000" spc="-1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  <a:p>
            <a:pPr marL="448309" lvl="1" indent="-234950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"/>
              <a:tabLst>
                <a:tab pos="448945" algn="l"/>
              </a:tabLst>
            </a:pPr>
            <a:r>
              <a:rPr sz="1800" spc="-180" dirty="0">
                <a:solidFill>
                  <a:srgbClr val="404040"/>
                </a:solidFill>
                <a:latin typeface="Arial"/>
                <a:cs typeface="Arial"/>
              </a:rPr>
              <a:t>P</a:t>
            </a:r>
            <a:r>
              <a:rPr sz="1800" spc="-270" baseline="-20833" dirty="0">
                <a:solidFill>
                  <a:srgbClr val="404040"/>
                </a:solidFill>
                <a:latin typeface="Arial"/>
                <a:cs typeface="Arial"/>
              </a:rPr>
              <a:t>AB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suất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đoạn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95" dirty="0">
                <a:solidFill>
                  <a:srgbClr val="404040"/>
                </a:solidFill>
                <a:latin typeface="Arial"/>
                <a:cs typeface="Arial"/>
              </a:rPr>
              <a:t>AB</a:t>
            </a:r>
            <a:endParaRPr sz="1800">
              <a:latin typeface="Arial"/>
              <a:cs typeface="Arial"/>
            </a:endParaRPr>
          </a:p>
          <a:p>
            <a:pPr marL="448309" lvl="1" indent="-234950">
              <a:lnSpc>
                <a:spcPct val="100000"/>
              </a:lnSpc>
              <a:spcBef>
                <a:spcPts val="400"/>
              </a:spcBef>
              <a:buClr>
                <a:srgbClr val="99CA38"/>
              </a:buClr>
              <a:buFont typeface="Wingdings"/>
              <a:buChar char=""/>
              <a:tabLst>
                <a:tab pos="448945" algn="l"/>
              </a:tabLst>
            </a:pP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sz="1800" spc="-202" baseline="-20833" dirty="0">
                <a:solidFill>
                  <a:srgbClr val="404040"/>
                </a:solidFill>
                <a:latin typeface="Arial"/>
                <a:cs typeface="Arial"/>
              </a:rPr>
              <a:t>AB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A,</a:t>
            </a:r>
            <a:r>
              <a:rPr sz="1800" spc="-2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25" dirty="0">
                <a:solidFill>
                  <a:srgbClr val="404040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  <a:p>
            <a:pPr marL="448309" lvl="1" indent="-234950">
              <a:lnSpc>
                <a:spcPct val="100000"/>
              </a:lnSpc>
              <a:spcBef>
                <a:spcPts val="370"/>
              </a:spcBef>
              <a:buClr>
                <a:srgbClr val="99CA38"/>
              </a:buClr>
              <a:buFont typeface="Wingdings"/>
              <a:buChar char=""/>
              <a:tabLst>
                <a:tab pos="448945" algn="l"/>
              </a:tabLst>
            </a:pP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I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đi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A,</a:t>
            </a:r>
            <a:r>
              <a:rPr sz="1800" spc="-3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25" dirty="0">
                <a:solidFill>
                  <a:srgbClr val="404040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Times New Roman"/>
              <a:cs typeface="Times New Roman"/>
            </a:endParaRPr>
          </a:p>
          <a:p>
            <a:pPr marL="94615" marR="1323340">
              <a:lnSpc>
                <a:spcPct val="100499"/>
              </a:lnSpc>
              <a:spcBef>
                <a:spcPts val="5"/>
              </a:spcBef>
            </a:pP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Ví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dụ: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suất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đoạn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AB.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Biết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sz="1950" spc="-202" baseline="-21367" dirty="0">
                <a:solidFill>
                  <a:srgbClr val="404040"/>
                </a:solidFill>
                <a:latin typeface="Arial"/>
                <a:cs typeface="Arial"/>
              </a:rPr>
              <a:t>AB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5V,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950" spc="-150" baseline="-21367" dirty="0">
                <a:solidFill>
                  <a:srgbClr val="404040"/>
                </a:solidFill>
                <a:latin typeface="Arial"/>
                <a:cs typeface="Arial"/>
              </a:rPr>
              <a:t>AB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10mA.  </a:t>
            </a:r>
            <a:r>
              <a:rPr sz="2000" spc="-210" dirty="0">
                <a:solidFill>
                  <a:srgbClr val="404040"/>
                </a:solidFill>
                <a:latin typeface="Arial"/>
                <a:cs typeface="Arial"/>
              </a:rPr>
              <a:t>ĐS: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0.05W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3303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Linh </a:t>
            </a:r>
            <a:r>
              <a:rPr spc="-229" dirty="0"/>
              <a:t>kiện </a:t>
            </a:r>
            <a:r>
              <a:rPr spc="-175" dirty="0"/>
              <a:t>điện </a:t>
            </a:r>
            <a:r>
              <a:rPr spc="-125" dirty="0"/>
              <a:t>tử </a:t>
            </a:r>
            <a:r>
              <a:rPr spc="-75" dirty="0"/>
              <a:t>thụ</a:t>
            </a:r>
            <a:r>
              <a:rPr spc="-960" dirty="0"/>
              <a:t> </a:t>
            </a:r>
            <a:r>
              <a:rPr spc="-245" dirty="0"/>
              <a:t>động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402" y="1719372"/>
            <a:ext cx="2093595" cy="31813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34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trở</a:t>
            </a:r>
            <a:endParaRPr sz="20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215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Đơn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vị: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Ohm</a:t>
            </a:r>
            <a:r>
              <a:rPr sz="1800" spc="-1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(</a:t>
            </a:r>
            <a:r>
              <a:rPr sz="1800" spc="-40" dirty="0">
                <a:solidFill>
                  <a:srgbClr val="404040"/>
                </a:solidFill>
                <a:latin typeface="Symbol"/>
                <a:cs typeface="Symbol"/>
              </a:rPr>
              <a:t>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70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180" dirty="0">
                <a:solidFill>
                  <a:srgbClr val="404040"/>
                </a:solidFill>
                <a:latin typeface="Arial"/>
                <a:cs typeface="Arial"/>
              </a:rPr>
              <a:t>Kí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hiệu:</a:t>
            </a:r>
            <a:r>
              <a:rPr sz="180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25" dirty="0">
                <a:solidFill>
                  <a:srgbClr val="404040"/>
                </a:solidFill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1350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245" dirty="0">
                <a:solidFill>
                  <a:srgbClr val="404040"/>
                </a:solidFill>
                <a:latin typeface="Arial"/>
                <a:cs typeface="Arial"/>
              </a:rPr>
              <a:t>Tụ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endParaRPr sz="20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190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Đơn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vị: </a:t>
            </a: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Farad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(F)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180" dirty="0">
                <a:solidFill>
                  <a:srgbClr val="404040"/>
                </a:solidFill>
                <a:latin typeface="Arial"/>
                <a:cs typeface="Arial"/>
              </a:rPr>
              <a:t>Kí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hiệu:</a:t>
            </a:r>
            <a:r>
              <a:rPr sz="180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45" dirty="0">
                <a:solidFill>
                  <a:srgbClr val="40404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1350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210" dirty="0">
                <a:solidFill>
                  <a:srgbClr val="404040"/>
                </a:solidFill>
                <a:latin typeface="Arial"/>
                <a:cs typeface="Arial"/>
              </a:rPr>
              <a:t>Cuộn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90" dirty="0">
                <a:solidFill>
                  <a:srgbClr val="404040"/>
                </a:solidFill>
                <a:latin typeface="Arial"/>
                <a:cs typeface="Arial"/>
              </a:rPr>
              <a:t>cảm</a:t>
            </a:r>
            <a:endParaRPr sz="20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Đơn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vị: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Henry</a:t>
            </a: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(H)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180" dirty="0">
                <a:solidFill>
                  <a:srgbClr val="404040"/>
                </a:solidFill>
                <a:latin typeface="Arial"/>
                <a:cs typeface="Arial"/>
              </a:rPr>
              <a:t>Kí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hiệu:</a:t>
            </a:r>
            <a:r>
              <a:rPr sz="180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45" dirty="0">
                <a:solidFill>
                  <a:srgbClr val="404040"/>
                </a:solidFill>
                <a:latin typeface="Arial"/>
                <a:cs typeface="Arial"/>
              </a:rPr>
              <a:t>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50791" y="1990344"/>
            <a:ext cx="4810506" cy="39037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44283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Phân </a:t>
            </a:r>
            <a:r>
              <a:rPr spc="-185" dirty="0"/>
              <a:t>tích </a:t>
            </a:r>
            <a:r>
              <a:rPr spc="-330" dirty="0"/>
              <a:t>mạch </a:t>
            </a:r>
            <a:r>
              <a:rPr spc="-175" dirty="0"/>
              <a:t>điện </a:t>
            </a:r>
            <a:r>
              <a:rPr spc="-80" dirty="0"/>
              <a:t>một</a:t>
            </a:r>
            <a:r>
              <a:rPr spc="-625" dirty="0"/>
              <a:t> </a:t>
            </a:r>
            <a:r>
              <a:rPr spc="-245" dirty="0"/>
              <a:t>chiều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402" y="2202942"/>
            <a:ext cx="8420100" cy="31013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b="1" spc="-175" dirty="0">
                <a:solidFill>
                  <a:srgbClr val="404040"/>
                </a:solidFill>
                <a:latin typeface="Arial"/>
                <a:cs typeface="Arial"/>
              </a:rPr>
              <a:t>Phân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2000" b="1" spc="-18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quá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trình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tính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toán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để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tìm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ra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giá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Arial"/>
                <a:cs typeface="Arial"/>
              </a:rPr>
              <a:t>trị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thế,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cường 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bất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kì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trong</a:t>
            </a:r>
            <a:r>
              <a:rPr sz="2000" spc="-4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điện.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99CA38"/>
              </a:buClr>
              <a:buFont typeface="Wingdings"/>
              <a:buChar char="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9CA38"/>
              </a:buClr>
              <a:buFont typeface="Wingdings"/>
              <a:buChar char=""/>
            </a:pPr>
            <a:endParaRPr sz="2050">
              <a:latin typeface="Times New Roman"/>
              <a:cs typeface="Times New Roman"/>
            </a:endParaRPr>
          </a:p>
          <a:p>
            <a:pPr marL="104139" indent="-91440">
              <a:lnSpc>
                <a:spcPct val="100000"/>
              </a:lnSpc>
              <a:spcBef>
                <a:spcPts val="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23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kiến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thức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ghi</a:t>
            </a:r>
            <a:r>
              <a:rPr sz="2000" spc="-3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nhớ:</a:t>
            </a:r>
            <a:endParaRPr sz="20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luật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Ohm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song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song,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nối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90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luật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Kirchhoff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(Kirchhoff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1,</a:t>
            </a:r>
            <a:r>
              <a:rPr sz="1800" spc="-1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2)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Quy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tắc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chia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dòng,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chia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lý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Thevenin,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Norton.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67628" y="2979420"/>
            <a:ext cx="2790444" cy="26807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660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Phân </a:t>
            </a:r>
            <a:r>
              <a:rPr spc="-185" dirty="0"/>
              <a:t>tích </a:t>
            </a:r>
            <a:r>
              <a:rPr spc="-330" dirty="0"/>
              <a:t>mạch </a:t>
            </a:r>
            <a:r>
              <a:rPr spc="-175" dirty="0"/>
              <a:t>điện </a:t>
            </a:r>
            <a:r>
              <a:rPr spc="-355" dirty="0"/>
              <a:t>xoay</a:t>
            </a:r>
            <a:r>
              <a:rPr spc="-615" dirty="0"/>
              <a:t> </a:t>
            </a:r>
            <a:r>
              <a:rPr spc="-245" dirty="0"/>
              <a:t>chiều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402" y="2202942"/>
            <a:ext cx="8209280" cy="3375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ts val="228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180" dirty="0">
                <a:solidFill>
                  <a:srgbClr val="404040"/>
                </a:solidFill>
                <a:latin typeface="Arial"/>
                <a:cs typeface="Arial"/>
              </a:rPr>
              <a:t>Tương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tự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như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chiều,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tuy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nhiên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các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phần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tử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như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25" dirty="0">
                <a:solidFill>
                  <a:srgbClr val="404040"/>
                </a:solidFill>
                <a:latin typeface="Arial"/>
                <a:cs typeface="Arial"/>
              </a:rPr>
              <a:t>tụ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và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160"/>
              </a:lnSpc>
            </a:pP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cuộn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cảm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mang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thêm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pha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cũng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nhiều</a:t>
            </a:r>
            <a:r>
              <a:rPr sz="2000" spc="-409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vào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xoay</a:t>
            </a:r>
            <a:r>
              <a:rPr sz="2000" spc="-2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chiều.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23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kiến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thức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ghi</a:t>
            </a:r>
            <a:r>
              <a:rPr sz="2000" spc="-3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nhớ:</a:t>
            </a:r>
            <a:endParaRPr sz="20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luật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Ohm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song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song, mạch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nối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luật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Kirchhoff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(Kirchhoff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1,</a:t>
            </a:r>
            <a:r>
              <a:rPr sz="1800" spc="-20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2)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Quy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tắc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chia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dòng,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chia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endParaRPr sz="1800">
              <a:latin typeface="Arial"/>
              <a:cs typeface="Arial"/>
            </a:endParaRPr>
          </a:p>
          <a:p>
            <a:pPr marL="467995" lvl="1" indent="-25463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"/>
              <a:tabLst>
                <a:tab pos="468630" algn="l"/>
              </a:tabLst>
            </a:pP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lý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Thevenin,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Norton.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93179" y="3383279"/>
            <a:ext cx="3048000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335152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Bài </a:t>
            </a:r>
            <a:r>
              <a:rPr spc="-155" dirty="0"/>
              <a:t>tập </a:t>
            </a:r>
            <a:r>
              <a:rPr spc="-195" dirty="0"/>
              <a:t>ôn</a:t>
            </a:r>
            <a:r>
              <a:rPr spc="-555" dirty="0"/>
              <a:t> </a:t>
            </a:r>
            <a:r>
              <a:rPr spc="-155" dirty="0"/>
              <a:t>tập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2883" y="2183404"/>
            <a:ext cx="2477135" cy="147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latin typeface="Times New Roman"/>
                <a:cs typeface="Times New Roman"/>
              </a:rPr>
              <a:t>Cho mạch </a:t>
            </a:r>
            <a:r>
              <a:rPr sz="1300" spc="-5" dirty="0">
                <a:latin typeface="Times New Roman"/>
                <a:cs typeface="Times New Roman"/>
              </a:rPr>
              <a:t>điện như </a:t>
            </a:r>
            <a:r>
              <a:rPr sz="1300" dirty="0">
                <a:latin typeface="Times New Roman"/>
                <a:cs typeface="Times New Roman"/>
              </a:rPr>
              <a:t>hình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vẽ</a:t>
            </a:r>
            <a:endParaRPr sz="1300">
              <a:latin typeface="Times New Roman"/>
              <a:cs typeface="Times New Roman"/>
            </a:endParaRPr>
          </a:p>
          <a:p>
            <a:pPr marL="53340" marR="5080" indent="-41275">
              <a:lnSpc>
                <a:spcPct val="207600"/>
              </a:lnSpc>
              <a:spcBef>
                <a:spcPts val="95"/>
              </a:spcBef>
            </a:pPr>
            <a:r>
              <a:rPr sz="1950" b="1" spc="-7" baseline="4273" dirty="0">
                <a:latin typeface="Times New Roman"/>
                <a:cs typeface="Times New Roman"/>
              </a:rPr>
              <a:t>a</a:t>
            </a:r>
            <a:r>
              <a:rPr sz="1950" spc="-7" baseline="4273" dirty="0">
                <a:latin typeface="Times New Roman"/>
                <a:cs typeface="Times New Roman"/>
              </a:rPr>
              <a:t>. R</a:t>
            </a:r>
            <a:r>
              <a:rPr sz="850" spc="-5" dirty="0">
                <a:latin typeface="Times New Roman"/>
                <a:cs typeface="Times New Roman"/>
              </a:rPr>
              <a:t>1</a:t>
            </a:r>
            <a:r>
              <a:rPr sz="1950" spc="-7" baseline="4273" dirty="0">
                <a:latin typeface="Times New Roman"/>
                <a:cs typeface="Times New Roman"/>
              </a:rPr>
              <a:t>=R</a:t>
            </a:r>
            <a:r>
              <a:rPr sz="850" spc="-5" dirty="0">
                <a:latin typeface="Times New Roman"/>
                <a:cs typeface="Times New Roman"/>
              </a:rPr>
              <a:t>2</a:t>
            </a:r>
            <a:r>
              <a:rPr sz="1950" spc="-7" baseline="4273" dirty="0">
                <a:latin typeface="Times New Roman"/>
                <a:cs typeface="Times New Roman"/>
              </a:rPr>
              <a:t>=R</a:t>
            </a:r>
            <a:r>
              <a:rPr sz="850" spc="-5" dirty="0">
                <a:latin typeface="Times New Roman"/>
                <a:cs typeface="Times New Roman"/>
              </a:rPr>
              <a:t>3</a:t>
            </a:r>
            <a:r>
              <a:rPr sz="1950" spc="-7" baseline="4273" dirty="0">
                <a:latin typeface="Times New Roman"/>
                <a:cs typeface="Times New Roman"/>
              </a:rPr>
              <a:t>=R</a:t>
            </a:r>
            <a:r>
              <a:rPr sz="850" spc="-5" dirty="0">
                <a:latin typeface="Times New Roman"/>
                <a:cs typeface="Times New Roman"/>
              </a:rPr>
              <a:t>4</a:t>
            </a:r>
            <a:r>
              <a:rPr sz="1950" spc="-7" baseline="4273" dirty="0">
                <a:latin typeface="Times New Roman"/>
                <a:cs typeface="Times New Roman"/>
              </a:rPr>
              <a:t>=2(Ω),</a:t>
            </a:r>
            <a:r>
              <a:rPr sz="1950" spc="-104" baseline="4273" dirty="0">
                <a:latin typeface="Times New Roman"/>
                <a:cs typeface="Times New Roman"/>
              </a:rPr>
              <a:t> </a:t>
            </a:r>
            <a:r>
              <a:rPr sz="1950" spc="-7" baseline="4273" dirty="0">
                <a:latin typeface="Times New Roman"/>
                <a:cs typeface="Times New Roman"/>
              </a:rPr>
              <a:t>R</a:t>
            </a:r>
            <a:r>
              <a:rPr sz="850" spc="-5" dirty="0">
                <a:latin typeface="Times New Roman"/>
                <a:cs typeface="Times New Roman"/>
              </a:rPr>
              <a:t>5</a:t>
            </a:r>
            <a:r>
              <a:rPr sz="1950" spc="-7" baseline="4273" dirty="0">
                <a:latin typeface="Times New Roman"/>
                <a:cs typeface="Times New Roman"/>
              </a:rPr>
              <a:t>=R</a:t>
            </a:r>
            <a:r>
              <a:rPr sz="850" spc="-5" dirty="0">
                <a:latin typeface="Times New Roman"/>
                <a:cs typeface="Times New Roman"/>
              </a:rPr>
              <a:t>7</a:t>
            </a:r>
            <a:r>
              <a:rPr sz="1950" spc="-7" baseline="4273" dirty="0">
                <a:latin typeface="Times New Roman"/>
                <a:cs typeface="Times New Roman"/>
              </a:rPr>
              <a:t>=1(Ω),  R</a:t>
            </a:r>
            <a:r>
              <a:rPr sz="850" spc="-5" dirty="0">
                <a:latin typeface="Times New Roman"/>
                <a:cs typeface="Times New Roman"/>
              </a:rPr>
              <a:t>6</a:t>
            </a:r>
            <a:r>
              <a:rPr sz="1950" spc="-7" baseline="4273" dirty="0">
                <a:latin typeface="Times New Roman"/>
                <a:cs typeface="Times New Roman"/>
              </a:rPr>
              <a:t>=3(Ω),U</a:t>
            </a:r>
            <a:r>
              <a:rPr sz="850" spc="-5" dirty="0">
                <a:latin typeface="Times New Roman"/>
                <a:cs typeface="Times New Roman"/>
              </a:rPr>
              <a:t>AB</a:t>
            </a:r>
            <a:r>
              <a:rPr sz="1950" spc="-7" baseline="4273" dirty="0">
                <a:latin typeface="Times New Roman"/>
                <a:cs typeface="Times New Roman"/>
              </a:rPr>
              <a:t>=10(V).</a:t>
            </a:r>
            <a:endParaRPr sz="1950" baseline="427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50" b="1" spc="-15" baseline="4273" dirty="0">
                <a:latin typeface="Times New Roman"/>
                <a:cs typeface="Times New Roman"/>
              </a:rPr>
              <a:t>Tính</a:t>
            </a:r>
            <a:r>
              <a:rPr sz="1950" spc="-15" baseline="4273" dirty="0">
                <a:latin typeface="Times New Roman"/>
                <a:cs typeface="Times New Roman"/>
              </a:rPr>
              <a:t>: </a:t>
            </a:r>
            <a:r>
              <a:rPr sz="1950" spc="-7" baseline="4273" dirty="0">
                <a:latin typeface="Times New Roman"/>
                <a:cs typeface="Times New Roman"/>
              </a:rPr>
              <a:t>R</a:t>
            </a:r>
            <a:r>
              <a:rPr sz="850" spc="-5" dirty="0">
                <a:latin typeface="Times New Roman"/>
                <a:cs typeface="Times New Roman"/>
              </a:rPr>
              <a:t>AB</a:t>
            </a:r>
            <a:r>
              <a:rPr sz="1950" spc="-7" baseline="4273" dirty="0">
                <a:latin typeface="Times New Roman"/>
                <a:cs typeface="Times New Roman"/>
              </a:rPr>
              <a:t>, I, I</a:t>
            </a:r>
            <a:r>
              <a:rPr sz="850" spc="-5" dirty="0">
                <a:latin typeface="Times New Roman"/>
                <a:cs typeface="Times New Roman"/>
              </a:rPr>
              <a:t>R3</a:t>
            </a:r>
            <a:r>
              <a:rPr sz="1950" spc="-7" baseline="4273" dirty="0">
                <a:latin typeface="Times New Roman"/>
                <a:cs typeface="Times New Roman"/>
              </a:rPr>
              <a:t>,</a:t>
            </a:r>
            <a:r>
              <a:rPr sz="1950" spc="-89" baseline="4273" dirty="0">
                <a:latin typeface="Times New Roman"/>
                <a:cs typeface="Times New Roman"/>
              </a:rPr>
              <a:t> </a:t>
            </a:r>
            <a:r>
              <a:rPr sz="1950" spc="-7" baseline="4273" dirty="0">
                <a:latin typeface="Times New Roman"/>
                <a:cs typeface="Times New Roman"/>
              </a:rPr>
              <a:t>U</a:t>
            </a:r>
            <a:r>
              <a:rPr sz="850" spc="-5" dirty="0">
                <a:latin typeface="Times New Roman"/>
                <a:cs typeface="Times New Roman"/>
              </a:rPr>
              <a:t>R6</a:t>
            </a:r>
            <a:r>
              <a:rPr sz="1950" spc="-7" baseline="4273" dirty="0">
                <a:latin typeface="Times New Roman"/>
                <a:cs typeface="Times New Roman"/>
              </a:rPr>
              <a:t>.</a:t>
            </a:r>
            <a:endParaRPr sz="1950" baseline="427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2883" y="4253106"/>
            <a:ext cx="2272665" cy="1045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b="1" spc="-15" baseline="4273" dirty="0">
                <a:latin typeface="Times New Roman"/>
                <a:cs typeface="Times New Roman"/>
              </a:rPr>
              <a:t>b</a:t>
            </a:r>
            <a:r>
              <a:rPr sz="1950" spc="-15" baseline="4273" dirty="0">
                <a:latin typeface="Times New Roman"/>
                <a:cs typeface="Times New Roman"/>
              </a:rPr>
              <a:t>. </a:t>
            </a:r>
            <a:r>
              <a:rPr sz="1950" spc="-7" baseline="4273" dirty="0">
                <a:latin typeface="Times New Roman"/>
                <a:cs typeface="Times New Roman"/>
              </a:rPr>
              <a:t>R</a:t>
            </a:r>
            <a:r>
              <a:rPr sz="850" spc="-5" dirty="0">
                <a:latin typeface="Times New Roman"/>
                <a:cs typeface="Times New Roman"/>
              </a:rPr>
              <a:t>1</a:t>
            </a:r>
            <a:r>
              <a:rPr sz="1950" spc="-7" baseline="4273" dirty="0">
                <a:latin typeface="Times New Roman"/>
                <a:cs typeface="Times New Roman"/>
              </a:rPr>
              <a:t>=R</a:t>
            </a:r>
            <a:r>
              <a:rPr sz="850" spc="-5" dirty="0">
                <a:latin typeface="Times New Roman"/>
                <a:cs typeface="Times New Roman"/>
              </a:rPr>
              <a:t>7</a:t>
            </a:r>
            <a:r>
              <a:rPr sz="1950" spc="-7" baseline="4273" dirty="0">
                <a:latin typeface="Times New Roman"/>
                <a:cs typeface="Times New Roman"/>
              </a:rPr>
              <a:t>= 2(Ω),</a:t>
            </a:r>
            <a:r>
              <a:rPr sz="1950" spc="-75" baseline="4273" dirty="0">
                <a:latin typeface="Times New Roman"/>
                <a:cs typeface="Times New Roman"/>
              </a:rPr>
              <a:t> </a:t>
            </a:r>
            <a:r>
              <a:rPr sz="1950" spc="-7" baseline="4273" dirty="0">
                <a:latin typeface="Times New Roman"/>
                <a:cs typeface="Times New Roman"/>
              </a:rPr>
              <a:t>R</a:t>
            </a:r>
            <a:r>
              <a:rPr sz="850" spc="-5" dirty="0">
                <a:latin typeface="Times New Roman"/>
                <a:cs typeface="Times New Roman"/>
              </a:rPr>
              <a:t>2</a:t>
            </a:r>
            <a:r>
              <a:rPr sz="1950" spc="-7" baseline="4273" dirty="0">
                <a:latin typeface="Times New Roman"/>
                <a:cs typeface="Times New Roman"/>
              </a:rPr>
              <a:t>=R</a:t>
            </a:r>
            <a:r>
              <a:rPr sz="850" spc="-5" dirty="0">
                <a:latin typeface="Times New Roman"/>
                <a:cs typeface="Times New Roman"/>
              </a:rPr>
              <a:t>3</a:t>
            </a:r>
            <a:r>
              <a:rPr sz="1950" spc="-7" baseline="4273" dirty="0">
                <a:latin typeface="Times New Roman"/>
                <a:cs typeface="Times New Roman"/>
              </a:rPr>
              <a:t>=R</a:t>
            </a:r>
            <a:r>
              <a:rPr sz="850" spc="-5" dirty="0">
                <a:latin typeface="Times New Roman"/>
                <a:cs typeface="Times New Roman"/>
              </a:rPr>
              <a:t>6</a:t>
            </a:r>
            <a:r>
              <a:rPr sz="1950" spc="-7" baseline="4273" dirty="0">
                <a:latin typeface="Times New Roman"/>
                <a:cs typeface="Times New Roman"/>
              </a:rPr>
              <a:t>=1(Ω),</a:t>
            </a:r>
            <a:endParaRPr sz="1950" baseline="427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50" spc="-7" baseline="4273" dirty="0">
                <a:latin typeface="Times New Roman"/>
                <a:cs typeface="Times New Roman"/>
              </a:rPr>
              <a:t>R</a:t>
            </a:r>
            <a:r>
              <a:rPr sz="850" spc="-5" dirty="0">
                <a:latin typeface="Times New Roman"/>
                <a:cs typeface="Times New Roman"/>
              </a:rPr>
              <a:t>4</a:t>
            </a:r>
            <a:r>
              <a:rPr sz="1950" spc="-7" baseline="4273" dirty="0">
                <a:latin typeface="Times New Roman"/>
                <a:cs typeface="Times New Roman"/>
              </a:rPr>
              <a:t>=R</a:t>
            </a:r>
            <a:r>
              <a:rPr sz="850" spc="-5" dirty="0">
                <a:latin typeface="Times New Roman"/>
                <a:cs typeface="Times New Roman"/>
              </a:rPr>
              <a:t>5</a:t>
            </a:r>
            <a:r>
              <a:rPr sz="1950" spc="-7" baseline="4273" dirty="0">
                <a:latin typeface="Times New Roman"/>
                <a:cs typeface="Times New Roman"/>
              </a:rPr>
              <a:t>=3(Ω), U</a:t>
            </a:r>
            <a:r>
              <a:rPr sz="850" spc="-5" dirty="0">
                <a:latin typeface="Times New Roman"/>
                <a:cs typeface="Times New Roman"/>
              </a:rPr>
              <a:t>AB</a:t>
            </a:r>
            <a:r>
              <a:rPr sz="1950" spc="-7" baseline="4273" dirty="0">
                <a:latin typeface="Times New Roman"/>
                <a:cs typeface="Times New Roman"/>
              </a:rPr>
              <a:t>=</a:t>
            </a:r>
            <a:r>
              <a:rPr sz="1950" spc="-22" baseline="4273" dirty="0">
                <a:latin typeface="Times New Roman"/>
                <a:cs typeface="Times New Roman"/>
              </a:rPr>
              <a:t> </a:t>
            </a:r>
            <a:r>
              <a:rPr sz="1950" spc="-7" baseline="4273" dirty="0">
                <a:latin typeface="Times New Roman"/>
                <a:cs typeface="Times New Roman"/>
              </a:rPr>
              <a:t>12(V).</a:t>
            </a:r>
            <a:endParaRPr sz="1950" baseline="427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50" b="1" spc="-15" baseline="4273" dirty="0">
                <a:latin typeface="Times New Roman"/>
                <a:cs typeface="Times New Roman"/>
              </a:rPr>
              <a:t>Tính</a:t>
            </a:r>
            <a:r>
              <a:rPr sz="1950" spc="-15" baseline="4273" dirty="0">
                <a:latin typeface="Times New Roman"/>
                <a:cs typeface="Times New Roman"/>
              </a:rPr>
              <a:t>: </a:t>
            </a:r>
            <a:r>
              <a:rPr sz="1950" spc="-7" baseline="4273" dirty="0">
                <a:latin typeface="Times New Roman"/>
                <a:cs typeface="Times New Roman"/>
              </a:rPr>
              <a:t>R</a:t>
            </a:r>
            <a:r>
              <a:rPr sz="850" spc="-5" dirty="0">
                <a:latin typeface="Times New Roman"/>
                <a:cs typeface="Times New Roman"/>
              </a:rPr>
              <a:t>AB</a:t>
            </a:r>
            <a:r>
              <a:rPr sz="1950" spc="-7" baseline="4273" dirty="0">
                <a:latin typeface="Times New Roman"/>
                <a:cs typeface="Times New Roman"/>
              </a:rPr>
              <a:t>, I, I</a:t>
            </a:r>
            <a:r>
              <a:rPr sz="850" spc="-5" dirty="0">
                <a:latin typeface="Times New Roman"/>
                <a:cs typeface="Times New Roman"/>
              </a:rPr>
              <a:t>R4, </a:t>
            </a:r>
            <a:r>
              <a:rPr sz="1950" spc="-7" baseline="4273" dirty="0">
                <a:latin typeface="Times New Roman"/>
                <a:cs typeface="Times New Roman"/>
              </a:rPr>
              <a:t>U</a:t>
            </a:r>
            <a:r>
              <a:rPr sz="850" spc="-5" dirty="0">
                <a:latin typeface="Times New Roman"/>
                <a:cs typeface="Times New Roman"/>
              </a:rPr>
              <a:t>R3,</a:t>
            </a:r>
            <a:r>
              <a:rPr sz="850" spc="5" dirty="0">
                <a:latin typeface="Times New Roman"/>
                <a:cs typeface="Times New Roman"/>
              </a:rPr>
              <a:t> </a:t>
            </a:r>
            <a:r>
              <a:rPr sz="1950" spc="-15" baseline="4273" dirty="0">
                <a:latin typeface="Times New Roman"/>
                <a:cs typeface="Times New Roman"/>
              </a:rPr>
              <a:t>P.</a:t>
            </a:r>
            <a:endParaRPr sz="1950" baseline="427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28826" y="2798842"/>
            <a:ext cx="48895" cy="67310"/>
          </a:xfrm>
          <a:custGeom>
            <a:avLst/>
            <a:gdLst/>
            <a:ahLst/>
            <a:cxnLst/>
            <a:rect l="l" t="t" r="r" b="b"/>
            <a:pathLst>
              <a:path w="48895" h="67310">
                <a:moveTo>
                  <a:pt x="0" y="33485"/>
                </a:moveTo>
                <a:lnTo>
                  <a:pt x="1908" y="20440"/>
                </a:lnTo>
                <a:lnTo>
                  <a:pt x="7114" y="9798"/>
                </a:lnTo>
                <a:lnTo>
                  <a:pt x="14833" y="2627"/>
                </a:lnTo>
                <a:lnTo>
                  <a:pt x="24283" y="0"/>
                </a:lnTo>
                <a:lnTo>
                  <a:pt x="33733" y="2627"/>
                </a:lnTo>
                <a:lnTo>
                  <a:pt x="41452" y="9798"/>
                </a:lnTo>
                <a:lnTo>
                  <a:pt x="46657" y="20440"/>
                </a:lnTo>
                <a:lnTo>
                  <a:pt x="48566" y="33485"/>
                </a:lnTo>
                <a:lnTo>
                  <a:pt x="46657" y="46529"/>
                </a:lnTo>
                <a:lnTo>
                  <a:pt x="41452" y="57172"/>
                </a:lnTo>
                <a:lnTo>
                  <a:pt x="33733" y="64342"/>
                </a:lnTo>
                <a:lnTo>
                  <a:pt x="24283" y="66970"/>
                </a:lnTo>
                <a:lnTo>
                  <a:pt x="14833" y="64342"/>
                </a:lnTo>
                <a:lnTo>
                  <a:pt x="7114" y="57172"/>
                </a:lnTo>
                <a:lnTo>
                  <a:pt x="1908" y="46529"/>
                </a:lnTo>
                <a:lnTo>
                  <a:pt x="0" y="33485"/>
                </a:lnTo>
                <a:close/>
              </a:path>
            </a:pathLst>
          </a:custGeom>
          <a:ln w="91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87694" y="2788187"/>
            <a:ext cx="47625" cy="67310"/>
          </a:xfrm>
          <a:custGeom>
            <a:avLst/>
            <a:gdLst/>
            <a:ahLst/>
            <a:cxnLst/>
            <a:rect l="l" t="t" r="r" b="b"/>
            <a:pathLst>
              <a:path w="47625" h="67310">
                <a:moveTo>
                  <a:pt x="0" y="33485"/>
                </a:moveTo>
                <a:lnTo>
                  <a:pt x="1843" y="20440"/>
                </a:lnTo>
                <a:lnTo>
                  <a:pt x="6877" y="9798"/>
                </a:lnTo>
                <a:lnTo>
                  <a:pt x="14352" y="2627"/>
                </a:lnTo>
                <a:lnTo>
                  <a:pt x="23524" y="0"/>
                </a:lnTo>
                <a:lnTo>
                  <a:pt x="32695" y="2627"/>
                </a:lnTo>
                <a:lnTo>
                  <a:pt x="40171" y="9798"/>
                </a:lnTo>
                <a:lnTo>
                  <a:pt x="45204" y="20440"/>
                </a:lnTo>
                <a:lnTo>
                  <a:pt x="47048" y="33485"/>
                </a:lnTo>
                <a:lnTo>
                  <a:pt x="45204" y="46529"/>
                </a:lnTo>
                <a:lnTo>
                  <a:pt x="40171" y="57172"/>
                </a:lnTo>
                <a:lnTo>
                  <a:pt x="32695" y="64342"/>
                </a:lnTo>
                <a:lnTo>
                  <a:pt x="23524" y="66970"/>
                </a:lnTo>
                <a:lnTo>
                  <a:pt x="14352" y="64342"/>
                </a:lnTo>
                <a:lnTo>
                  <a:pt x="6877" y="57172"/>
                </a:lnTo>
                <a:lnTo>
                  <a:pt x="1843" y="46529"/>
                </a:lnTo>
                <a:lnTo>
                  <a:pt x="0" y="33485"/>
                </a:lnTo>
                <a:close/>
              </a:path>
            </a:pathLst>
          </a:custGeom>
          <a:ln w="91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80096" y="4180875"/>
            <a:ext cx="349070" cy="2617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2238" y="4180875"/>
            <a:ext cx="250420" cy="2389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12136" y="4212838"/>
            <a:ext cx="147216" cy="1796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56149" y="4212838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68127" y="4533994"/>
            <a:ext cx="247384" cy="1841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78751" y="4533994"/>
            <a:ext cx="204889" cy="1856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25800" y="4533994"/>
            <a:ext cx="189712" cy="1856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54535" y="4527398"/>
            <a:ext cx="83321" cy="9005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60530" y="4491376"/>
            <a:ext cx="174535" cy="21613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67681" y="4574328"/>
            <a:ext cx="105367" cy="9360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88366" y="4543126"/>
            <a:ext cx="135075" cy="1872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96114" y="4509641"/>
            <a:ext cx="417367" cy="32724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08256" y="4509641"/>
            <a:ext cx="250420" cy="24353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28154" y="4546170"/>
            <a:ext cx="147216" cy="17960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372167" y="4546170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616353" y="4881024"/>
            <a:ext cx="373353" cy="26179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26976" y="4881024"/>
            <a:ext cx="250420" cy="2389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746875" y="4912988"/>
            <a:ext cx="147216" cy="17960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90888" y="4912988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89879" y="4893201"/>
            <a:ext cx="362730" cy="32724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02021" y="4893201"/>
            <a:ext cx="250420" cy="24353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21919" y="4929730"/>
            <a:ext cx="147216" cy="17960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65932" y="4929730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76556" y="4533994"/>
            <a:ext cx="415849" cy="32724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87180" y="4533994"/>
            <a:ext cx="250420" cy="24353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07078" y="4570523"/>
            <a:ext cx="147216" cy="1796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51092" y="4570523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211127" y="4180875"/>
            <a:ext cx="394601" cy="32876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21751" y="4180875"/>
            <a:ext cx="250420" cy="24200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41649" y="4215882"/>
            <a:ext cx="147216" cy="17960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385662" y="4215882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08433" y="4511163"/>
            <a:ext cx="417367" cy="32724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520574" y="4511163"/>
            <a:ext cx="250420" cy="24353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40472" y="4547692"/>
            <a:ext cx="147216" cy="17960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84485" y="4547692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463065" y="5141297"/>
            <a:ext cx="256540" cy="1270"/>
          </a:xfrm>
          <a:custGeom>
            <a:avLst/>
            <a:gdLst/>
            <a:ahLst/>
            <a:cxnLst/>
            <a:rect l="l" t="t" r="r" b="b"/>
            <a:pathLst>
              <a:path w="256540" h="1270">
                <a:moveTo>
                  <a:pt x="0" y="0"/>
                </a:moveTo>
                <a:lnTo>
                  <a:pt x="255985" y="786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453959" y="4441148"/>
            <a:ext cx="256540" cy="1270"/>
          </a:xfrm>
          <a:custGeom>
            <a:avLst/>
            <a:gdLst/>
            <a:ahLst/>
            <a:cxnLst/>
            <a:rect l="l" t="t" r="r" b="b"/>
            <a:pathLst>
              <a:path w="256540" h="1270">
                <a:moveTo>
                  <a:pt x="0" y="0"/>
                </a:moveTo>
                <a:lnTo>
                  <a:pt x="255985" y="786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121583" y="4451803"/>
            <a:ext cx="85725" cy="1270"/>
          </a:xfrm>
          <a:custGeom>
            <a:avLst/>
            <a:gdLst/>
            <a:ahLst/>
            <a:cxnLst/>
            <a:rect l="l" t="t" r="r" b="b"/>
            <a:pathLst>
              <a:path w="85725" h="1270">
                <a:moveTo>
                  <a:pt x="-7610" y="393"/>
                </a:moveTo>
                <a:lnTo>
                  <a:pt x="92980" y="393"/>
                </a:lnTo>
              </a:path>
            </a:pathLst>
          </a:custGeom>
          <a:ln w="1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21583" y="5130643"/>
            <a:ext cx="85725" cy="1270"/>
          </a:xfrm>
          <a:custGeom>
            <a:avLst/>
            <a:gdLst/>
            <a:ahLst/>
            <a:cxnLst/>
            <a:rect l="l" t="t" r="r" b="b"/>
            <a:pathLst>
              <a:path w="85725" h="1270">
                <a:moveTo>
                  <a:pt x="-7610" y="393"/>
                </a:moveTo>
                <a:lnTo>
                  <a:pt x="92980" y="393"/>
                </a:lnTo>
              </a:path>
            </a:pathLst>
          </a:custGeom>
          <a:ln w="1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969976" y="4451803"/>
            <a:ext cx="85725" cy="1270"/>
          </a:xfrm>
          <a:custGeom>
            <a:avLst/>
            <a:gdLst/>
            <a:ahLst/>
            <a:cxnLst/>
            <a:rect l="l" t="t" r="r" b="b"/>
            <a:pathLst>
              <a:path w="85725" h="1270">
                <a:moveTo>
                  <a:pt x="-7610" y="393"/>
                </a:moveTo>
                <a:lnTo>
                  <a:pt x="92980" y="393"/>
                </a:lnTo>
              </a:path>
            </a:pathLst>
          </a:custGeom>
          <a:ln w="1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969976" y="5141297"/>
            <a:ext cx="85725" cy="1270"/>
          </a:xfrm>
          <a:custGeom>
            <a:avLst/>
            <a:gdLst/>
            <a:ahLst/>
            <a:cxnLst/>
            <a:rect l="l" t="t" r="r" b="b"/>
            <a:pathLst>
              <a:path w="85725" h="1270">
                <a:moveTo>
                  <a:pt x="-7610" y="393"/>
                </a:moveTo>
                <a:lnTo>
                  <a:pt x="92980" y="393"/>
                </a:lnTo>
              </a:path>
            </a:pathLst>
          </a:custGeom>
          <a:ln w="1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78406" y="4771436"/>
            <a:ext cx="256540" cy="1270"/>
          </a:xfrm>
          <a:custGeom>
            <a:avLst/>
            <a:gdLst/>
            <a:ahLst/>
            <a:cxnLst/>
            <a:rect l="l" t="t" r="r" b="b"/>
            <a:pathLst>
              <a:path w="256540" h="1270">
                <a:moveTo>
                  <a:pt x="0" y="0"/>
                </a:moveTo>
                <a:lnTo>
                  <a:pt x="255985" y="786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338450" y="4771436"/>
            <a:ext cx="256540" cy="1270"/>
          </a:xfrm>
          <a:custGeom>
            <a:avLst/>
            <a:gdLst/>
            <a:ahLst/>
            <a:cxnLst/>
            <a:rect l="l" t="t" r="r" b="b"/>
            <a:pathLst>
              <a:path w="256539" h="1270">
                <a:moveTo>
                  <a:pt x="0" y="0"/>
                </a:moveTo>
                <a:lnTo>
                  <a:pt x="255985" y="786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689366" y="4739473"/>
            <a:ext cx="48895" cy="59690"/>
          </a:xfrm>
          <a:custGeom>
            <a:avLst/>
            <a:gdLst/>
            <a:ahLst/>
            <a:cxnLst/>
            <a:rect l="l" t="t" r="r" b="b"/>
            <a:pathLst>
              <a:path w="48895" h="59689">
                <a:moveTo>
                  <a:pt x="24283" y="0"/>
                </a:moveTo>
                <a:lnTo>
                  <a:pt x="14833" y="2331"/>
                </a:lnTo>
                <a:lnTo>
                  <a:pt x="7114" y="8690"/>
                </a:lnTo>
                <a:lnTo>
                  <a:pt x="1908" y="18123"/>
                </a:lnTo>
                <a:lnTo>
                  <a:pt x="0" y="29680"/>
                </a:lnTo>
                <a:lnTo>
                  <a:pt x="1908" y="41231"/>
                </a:lnTo>
                <a:lnTo>
                  <a:pt x="7114" y="50665"/>
                </a:lnTo>
                <a:lnTo>
                  <a:pt x="14833" y="57027"/>
                </a:lnTo>
                <a:lnTo>
                  <a:pt x="24283" y="59360"/>
                </a:lnTo>
                <a:lnTo>
                  <a:pt x="33733" y="57027"/>
                </a:lnTo>
                <a:lnTo>
                  <a:pt x="41452" y="50665"/>
                </a:lnTo>
                <a:lnTo>
                  <a:pt x="46657" y="41231"/>
                </a:lnTo>
                <a:lnTo>
                  <a:pt x="48566" y="29680"/>
                </a:lnTo>
                <a:lnTo>
                  <a:pt x="46657" y="18123"/>
                </a:lnTo>
                <a:lnTo>
                  <a:pt x="41452" y="8690"/>
                </a:lnTo>
                <a:lnTo>
                  <a:pt x="33733" y="2331"/>
                </a:lnTo>
                <a:lnTo>
                  <a:pt x="242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689366" y="4739473"/>
            <a:ext cx="48895" cy="59690"/>
          </a:xfrm>
          <a:custGeom>
            <a:avLst/>
            <a:gdLst/>
            <a:ahLst/>
            <a:cxnLst/>
            <a:rect l="l" t="t" r="r" b="b"/>
            <a:pathLst>
              <a:path w="48895" h="59689">
                <a:moveTo>
                  <a:pt x="0" y="29680"/>
                </a:moveTo>
                <a:lnTo>
                  <a:pt x="1908" y="18123"/>
                </a:lnTo>
                <a:lnTo>
                  <a:pt x="7114" y="8690"/>
                </a:lnTo>
                <a:lnTo>
                  <a:pt x="14833" y="2331"/>
                </a:lnTo>
                <a:lnTo>
                  <a:pt x="24283" y="0"/>
                </a:lnTo>
                <a:lnTo>
                  <a:pt x="33733" y="2331"/>
                </a:lnTo>
                <a:lnTo>
                  <a:pt x="41452" y="8690"/>
                </a:lnTo>
                <a:lnTo>
                  <a:pt x="46657" y="18123"/>
                </a:lnTo>
                <a:lnTo>
                  <a:pt x="48566" y="29680"/>
                </a:lnTo>
                <a:lnTo>
                  <a:pt x="46657" y="41231"/>
                </a:lnTo>
                <a:lnTo>
                  <a:pt x="41452" y="50665"/>
                </a:lnTo>
                <a:lnTo>
                  <a:pt x="33733" y="57027"/>
                </a:lnTo>
                <a:lnTo>
                  <a:pt x="24283" y="59360"/>
                </a:lnTo>
                <a:lnTo>
                  <a:pt x="14833" y="57027"/>
                </a:lnTo>
                <a:lnTo>
                  <a:pt x="7114" y="50665"/>
                </a:lnTo>
                <a:lnTo>
                  <a:pt x="1908" y="41231"/>
                </a:lnTo>
                <a:lnTo>
                  <a:pt x="0" y="29680"/>
                </a:lnTo>
                <a:close/>
              </a:path>
            </a:pathLst>
          </a:custGeom>
          <a:ln w="91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309614" y="4739472"/>
            <a:ext cx="48895" cy="59690"/>
          </a:xfrm>
          <a:custGeom>
            <a:avLst/>
            <a:gdLst/>
            <a:ahLst/>
            <a:cxnLst/>
            <a:rect l="l" t="t" r="r" b="b"/>
            <a:pathLst>
              <a:path w="48895" h="59689">
                <a:moveTo>
                  <a:pt x="24283" y="0"/>
                </a:moveTo>
                <a:lnTo>
                  <a:pt x="14833" y="2331"/>
                </a:lnTo>
                <a:lnTo>
                  <a:pt x="7114" y="8690"/>
                </a:lnTo>
                <a:lnTo>
                  <a:pt x="1908" y="18123"/>
                </a:lnTo>
                <a:lnTo>
                  <a:pt x="0" y="29680"/>
                </a:lnTo>
                <a:lnTo>
                  <a:pt x="1908" y="41231"/>
                </a:lnTo>
                <a:lnTo>
                  <a:pt x="7114" y="50665"/>
                </a:lnTo>
                <a:lnTo>
                  <a:pt x="14833" y="57027"/>
                </a:lnTo>
                <a:lnTo>
                  <a:pt x="24283" y="59360"/>
                </a:lnTo>
                <a:lnTo>
                  <a:pt x="33733" y="57027"/>
                </a:lnTo>
                <a:lnTo>
                  <a:pt x="41452" y="50665"/>
                </a:lnTo>
                <a:lnTo>
                  <a:pt x="46657" y="41231"/>
                </a:lnTo>
                <a:lnTo>
                  <a:pt x="48566" y="29680"/>
                </a:lnTo>
                <a:lnTo>
                  <a:pt x="46657" y="18123"/>
                </a:lnTo>
                <a:lnTo>
                  <a:pt x="41452" y="8690"/>
                </a:lnTo>
                <a:lnTo>
                  <a:pt x="33733" y="2331"/>
                </a:lnTo>
                <a:lnTo>
                  <a:pt x="242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309614" y="4739472"/>
            <a:ext cx="48895" cy="59690"/>
          </a:xfrm>
          <a:custGeom>
            <a:avLst/>
            <a:gdLst/>
            <a:ahLst/>
            <a:cxnLst/>
            <a:rect l="l" t="t" r="r" b="b"/>
            <a:pathLst>
              <a:path w="48895" h="59689">
                <a:moveTo>
                  <a:pt x="0" y="29680"/>
                </a:moveTo>
                <a:lnTo>
                  <a:pt x="1908" y="18123"/>
                </a:lnTo>
                <a:lnTo>
                  <a:pt x="7114" y="8690"/>
                </a:lnTo>
                <a:lnTo>
                  <a:pt x="14833" y="2331"/>
                </a:lnTo>
                <a:lnTo>
                  <a:pt x="24283" y="0"/>
                </a:lnTo>
                <a:lnTo>
                  <a:pt x="33733" y="2331"/>
                </a:lnTo>
                <a:lnTo>
                  <a:pt x="41452" y="8690"/>
                </a:lnTo>
                <a:lnTo>
                  <a:pt x="46657" y="18123"/>
                </a:lnTo>
                <a:lnTo>
                  <a:pt x="48566" y="29680"/>
                </a:lnTo>
                <a:lnTo>
                  <a:pt x="46657" y="41231"/>
                </a:lnTo>
                <a:lnTo>
                  <a:pt x="41452" y="50665"/>
                </a:lnTo>
                <a:lnTo>
                  <a:pt x="33733" y="57027"/>
                </a:lnTo>
                <a:lnTo>
                  <a:pt x="24283" y="59360"/>
                </a:lnTo>
                <a:lnTo>
                  <a:pt x="14833" y="57027"/>
                </a:lnTo>
                <a:lnTo>
                  <a:pt x="7114" y="50665"/>
                </a:lnTo>
                <a:lnTo>
                  <a:pt x="1908" y="41231"/>
                </a:lnTo>
                <a:lnTo>
                  <a:pt x="0" y="29680"/>
                </a:lnTo>
                <a:close/>
              </a:path>
            </a:pathLst>
          </a:custGeom>
          <a:ln w="91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928835" y="4723161"/>
            <a:ext cx="170614" cy="7610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93755" y="4771436"/>
            <a:ext cx="532130" cy="0"/>
          </a:xfrm>
          <a:custGeom>
            <a:avLst/>
            <a:gdLst/>
            <a:ahLst/>
            <a:cxnLst/>
            <a:rect l="l" t="t" r="r" b="b"/>
            <a:pathLst>
              <a:path w="532129">
                <a:moveTo>
                  <a:pt x="0" y="0"/>
                </a:moveTo>
                <a:lnTo>
                  <a:pt x="531826" y="0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854468" y="4771436"/>
            <a:ext cx="574675" cy="0"/>
          </a:xfrm>
          <a:custGeom>
            <a:avLst/>
            <a:gdLst/>
            <a:ahLst/>
            <a:cxnLst/>
            <a:rect l="l" t="t" r="r" b="b"/>
            <a:pathLst>
              <a:path w="574675">
                <a:moveTo>
                  <a:pt x="0" y="0"/>
                </a:moveTo>
                <a:lnTo>
                  <a:pt x="574449" y="0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596459" y="4719685"/>
            <a:ext cx="255270" cy="114300"/>
          </a:xfrm>
          <a:custGeom>
            <a:avLst/>
            <a:gdLst/>
            <a:ahLst/>
            <a:cxnLst/>
            <a:rect l="l" t="t" r="r" b="b"/>
            <a:pathLst>
              <a:path w="255270" h="114300">
                <a:moveTo>
                  <a:pt x="0" y="57863"/>
                </a:moveTo>
                <a:lnTo>
                  <a:pt x="21247" y="0"/>
                </a:lnTo>
                <a:lnTo>
                  <a:pt x="63869" y="114154"/>
                </a:lnTo>
                <a:lnTo>
                  <a:pt x="106491" y="0"/>
                </a:lnTo>
                <a:lnTo>
                  <a:pt x="149113" y="114154"/>
                </a:lnTo>
                <a:lnTo>
                  <a:pt x="192494" y="0"/>
                </a:lnTo>
                <a:lnTo>
                  <a:pt x="235116" y="114154"/>
                </a:lnTo>
                <a:lnTo>
                  <a:pt x="254973" y="57863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205056" y="4390920"/>
            <a:ext cx="255270" cy="114300"/>
          </a:xfrm>
          <a:custGeom>
            <a:avLst/>
            <a:gdLst/>
            <a:ahLst/>
            <a:cxnLst/>
            <a:rect l="l" t="t" r="r" b="b"/>
            <a:pathLst>
              <a:path w="255270" h="114300">
                <a:moveTo>
                  <a:pt x="0" y="57863"/>
                </a:moveTo>
                <a:lnTo>
                  <a:pt x="21247" y="0"/>
                </a:lnTo>
                <a:lnTo>
                  <a:pt x="63869" y="114154"/>
                </a:lnTo>
                <a:lnTo>
                  <a:pt x="106491" y="0"/>
                </a:lnTo>
                <a:lnTo>
                  <a:pt x="149113" y="114154"/>
                </a:lnTo>
                <a:lnTo>
                  <a:pt x="192494" y="0"/>
                </a:lnTo>
                <a:lnTo>
                  <a:pt x="235116" y="114154"/>
                </a:lnTo>
                <a:lnTo>
                  <a:pt x="254973" y="57863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711968" y="4390920"/>
            <a:ext cx="255270" cy="114300"/>
          </a:xfrm>
          <a:custGeom>
            <a:avLst/>
            <a:gdLst/>
            <a:ahLst/>
            <a:cxnLst/>
            <a:rect l="l" t="t" r="r" b="b"/>
            <a:pathLst>
              <a:path w="255270" h="114300">
                <a:moveTo>
                  <a:pt x="0" y="57863"/>
                </a:moveTo>
                <a:lnTo>
                  <a:pt x="21247" y="0"/>
                </a:lnTo>
                <a:lnTo>
                  <a:pt x="63869" y="114154"/>
                </a:lnTo>
                <a:lnTo>
                  <a:pt x="106491" y="0"/>
                </a:lnTo>
                <a:lnTo>
                  <a:pt x="149113" y="114154"/>
                </a:lnTo>
                <a:lnTo>
                  <a:pt x="192494" y="0"/>
                </a:lnTo>
                <a:lnTo>
                  <a:pt x="235116" y="114154"/>
                </a:lnTo>
                <a:lnTo>
                  <a:pt x="254973" y="57863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435747" y="4719685"/>
            <a:ext cx="255270" cy="114300"/>
          </a:xfrm>
          <a:custGeom>
            <a:avLst/>
            <a:gdLst/>
            <a:ahLst/>
            <a:cxnLst/>
            <a:rect l="l" t="t" r="r" b="b"/>
            <a:pathLst>
              <a:path w="255270" h="114300">
                <a:moveTo>
                  <a:pt x="0" y="57863"/>
                </a:moveTo>
                <a:lnTo>
                  <a:pt x="21247" y="0"/>
                </a:lnTo>
                <a:lnTo>
                  <a:pt x="63869" y="114154"/>
                </a:lnTo>
                <a:lnTo>
                  <a:pt x="106491" y="0"/>
                </a:lnTo>
                <a:lnTo>
                  <a:pt x="149113" y="114154"/>
                </a:lnTo>
                <a:lnTo>
                  <a:pt x="192494" y="0"/>
                </a:lnTo>
                <a:lnTo>
                  <a:pt x="235116" y="114154"/>
                </a:lnTo>
                <a:lnTo>
                  <a:pt x="254973" y="57863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218879" y="4719685"/>
            <a:ext cx="256540" cy="114300"/>
          </a:xfrm>
          <a:custGeom>
            <a:avLst/>
            <a:gdLst/>
            <a:ahLst/>
            <a:cxnLst/>
            <a:rect l="l" t="t" r="r" b="b"/>
            <a:pathLst>
              <a:path w="256540" h="114300">
                <a:moveTo>
                  <a:pt x="0" y="57863"/>
                </a:moveTo>
                <a:lnTo>
                  <a:pt x="21374" y="0"/>
                </a:lnTo>
                <a:lnTo>
                  <a:pt x="64249" y="114154"/>
                </a:lnTo>
                <a:lnTo>
                  <a:pt x="107124" y="0"/>
                </a:lnTo>
                <a:lnTo>
                  <a:pt x="149999" y="114154"/>
                </a:lnTo>
                <a:lnTo>
                  <a:pt x="193633" y="0"/>
                </a:lnTo>
                <a:lnTo>
                  <a:pt x="236508" y="114154"/>
                </a:lnTo>
                <a:lnTo>
                  <a:pt x="256491" y="57863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205056" y="5089547"/>
            <a:ext cx="255270" cy="116205"/>
          </a:xfrm>
          <a:custGeom>
            <a:avLst/>
            <a:gdLst/>
            <a:ahLst/>
            <a:cxnLst/>
            <a:rect l="l" t="t" r="r" b="b"/>
            <a:pathLst>
              <a:path w="255270" h="116204">
                <a:moveTo>
                  <a:pt x="0" y="58637"/>
                </a:moveTo>
                <a:lnTo>
                  <a:pt x="21247" y="0"/>
                </a:lnTo>
                <a:lnTo>
                  <a:pt x="63869" y="115676"/>
                </a:lnTo>
                <a:lnTo>
                  <a:pt x="106491" y="0"/>
                </a:lnTo>
                <a:lnTo>
                  <a:pt x="149113" y="115676"/>
                </a:lnTo>
                <a:lnTo>
                  <a:pt x="192494" y="0"/>
                </a:lnTo>
                <a:lnTo>
                  <a:pt x="235116" y="115676"/>
                </a:lnTo>
                <a:lnTo>
                  <a:pt x="254973" y="58637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721074" y="5089547"/>
            <a:ext cx="255270" cy="116205"/>
          </a:xfrm>
          <a:custGeom>
            <a:avLst/>
            <a:gdLst/>
            <a:ahLst/>
            <a:cxnLst/>
            <a:rect l="l" t="t" r="r" b="b"/>
            <a:pathLst>
              <a:path w="255270" h="116204">
                <a:moveTo>
                  <a:pt x="0" y="58637"/>
                </a:moveTo>
                <a:lnTo>
                  <a:pt x="21247" y="0"/>
                </a:lnTo>
                <a:lnTo>
                  <a:pt x="63869" y="115676"/>
                </a:lnTo>
                <a:lnTo>
                  <a:pt x="106491" y="0"/>
                </a:lnTo>
                <a:lnTo>
                  <a:pt x="149113" y="115676"/>
                </a:lnTo>
                <a:lnTo>
                  <a:pt x="192494" y="0"/>
                </a:lnTo>
                <a:lnTo>
                  <a:pt x="235116" y="115676"/>
                </a:lnTo>
                <a:lnTo>
                  <a:pt x="254973" y="58637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121583" y="4451803"/>
            <a:ext cx="1270" cy="675640"/>
          </a:xfrm>
          <a:custGeom>
            <a:avLst/>
            <a:gdLst/>
            <a:ahLst/>
            <a:cxnLst/>
            <a:rect l="l" t="t" r="r" b="b"/>
            <a:pathLst>
              <a:path w="1270" h="675639">
                <a:moveTo>
                  <a:pt x="0" y="0"/>
                </a:moveTo>
                <a:lnTo>
                  <a:pt x="758" y="675605"/>
                </a:lnTo>
              </a:path>
            </a:pathLst>
          </a:custGeom>
          <a:ln w="151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062556" y="4462457"/>
            <a:ext cx="1270" cy="675640"/>
          </a:xfrm>
          <a:custGeom>
            <a:avLst/>
            <a:gdLst/>
            <a:ahLst/>
            <a:cxnLst/>
            <a:rect l="l" t="t" r="r" b="b"/>
            <a:pathLst>
              <a:path w="1270" h="675639">
                <a:moveTo>
                  <a:pt x="0" y="0"/>
                </a:moveTo>
                <a:lnTo>
                  <a:pt x="758" y="675605"/>
                </a:lnTo>
              </a:path>
            </a:pathLst>
          </a:custGeom>
          <a:ln w="151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409769" y="2599451"/>
            <a:ext cx="300517" cy="22830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68972" y="2597929"/>
            <a:ext cx="204889" cy="22983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516021" y="2597929"/>
            <a:ext cx="194265" cy="22983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685392" y="2576143"/>
            <a:ext cx="87033" cy="9013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692401" y="2540091"/>
            <a:ext cx="148734" cy="22983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842715" y="2582500"/>
            <a:ext cx="105355" cy="95263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863410" y="2550745"/>
            <a:ext cx="139628" cy="23135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231021" y="2550745"/>
            <a:ext cx="424955" cy="39421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241645" y="2550745"/>
            <a:ext cx="250420" cy="24353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361543" y="2587275"/>
            <a:ext cx="147216" cy="17960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405556" y="2587275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631530" y="2803408"/>
            <a:ext cx="424955" cy="39421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640636" y="2801886"/>
            <a:ext cx="250420" cy="24200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760534" y="2836893"/>
            <a:ext cx="147216" cy="17960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804548" y="2836893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136760" y="2803408"/>
            <a:ext cx="424955" cy="39421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148901" y="2801886"/>
            <a:ext cx="250420" cy="242008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268800" y="2836893"/>
            <a:ext cx="147216" cy="17960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312813" y="2836893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718038" y="2298083"/>
            <a:ext cx="424955" cy="39421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730180" y="2296561"/>
            <a:ext cx="250420" cy="242008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850078" y="2331568"/>
            <a:ext cx="147216" cy="17960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894092" y="2331568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136760" y="2288950"/>
            <a:ext cx="424955" cy="39269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148901" y="2288950"/>
            <a:ext cx="250420" cy="24353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268800" y="2325480"/>
            <a:ext cx="147216" cy="1796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312813" y="2325480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661720" y="2541613"/>
            <a:ext cx="424955" cy="39269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673862" y="2540091"/>
            <a:ext cx="250420" cy="24353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793760" y="2576620"/>
            <a:ext cx="147216" cy="17960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837773" y="2576620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091065" y="2530958"/>
            <a:ext cx="424955" cy="39421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103207" y="2530958"/>
            <a:ext cx="250420" cy="242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223105" y="2565966"/>
            <a:ext cx="147216" cy="17960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267118" y="2565966"/>
            <a:ext cx="142663" cy="1796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461547" y="3083467"/>
            <a:ext cx="260985" cy="635"/>
          </a:xfrm>
          <a:custGeom>
            <a:avLst/>
            <a:gdLst/>
            <a:ahLst/>
            <a:cxnLst/>
            <a:rect l="l" t="t" r="r" b="b"/>
            <a:pathLst>
              <a:path w="260984" h="635">
                <a:moveTo>
                  <a:pt x="0" y="0"/>
                </a:moveTo>
                <a:lnTo>
                  <a:pt x="260538" y="634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470654" y="2578143"/>
            <a:ext cx="260985" cy="1270"/>
          </a:xfrm>
          <a:custGeom>
            <a:avLst/>
            <a:gdLst/>
            <a:ahLst/>
            <a:cxnLst/>
            <a:rect l="l" t="t" r="r" b="b"/>
            <a:pathLst>
              <a:path w="260984" h="1269">
                <a:moveTo>
                  <a:pt x="0" y="0"/>
                </a:moveTo>
                <a:lnTo>
                  <a:pt x="260664" y="887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121583" y="2578142"/>
            <a:ext cx="119380" cy="0"/>
          </a:xfrm>
          <a:custGeom>
            <a:avLst/>
            <a:gdLst/>
            <a:ahLst/>
            <a:cxnLst/>
            <a:rect l="l" t="t" r="r" b="b"/>
            <a:pathLst>
              <a:path w="119379">
                <a:moveTo>
                  <a:pt x="0" y="0"/>
                </a:moveTo>
                <a:lnTo>
                  <a:pt x="118886" y="0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132207" y="3072813"/>
            <a:ext cx="86995" cy="1270"/>
          </a:xfrm>
          <a:custGeom>
            <a:avLst/>
            <a:gdLst/>
            <a:ahLst/>
            <a:cxnLst/>
            <a:rect l="l" t="t" r="r" b="b"/>
            <a:pathLst>
              <a:path w="86995" h="1269">
                <a:moveTo>
                  <a:pt x="-7610" y="443"/>
                </a:moveTo>
                <a:lnTo>
                  <a:pt x="94498" y="443"/>
                </a:lnTo>
              </a:path>
            </a:pathLst>
          </a:custGeom>
          <a:ln w="16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121583" y="2578142"/>
            <a:ext cx="635" cy="494030"/>
          </a:xfrm>
          <a:custGeom>
            <a:avLst/>
            <a:gdLst/>
            <a:ahLst/>
            <a:cxnLst/>
            <a:rect l="l" t="t" r="r" b="b"/>
            <a:pathLst>
              <a:path w="635" h="494030">
                <a:moveTo>
                  <a:pt x="0" y="0"/>
                </a:moveTo>
                <a:lnTo>
                  <a:pt x="632" y="493909"/>
                </a:lnTo>
              </a:path>
            </a:pathLst>
          </a:custGeom>
          <a:ln w="151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937941" y="2830805"/>
            <a:ext cx="173355" cy="635"/>
          </a:xfrm>
          <a:custGeom>
            <a:avLst/>
            <a:gdLst/>
            <a:ahLst/>
            <a:cxnLst/>
            <a:rect l="l" t="t" r="r" b="b"/>
            <a:pathLst>
              <a:path w="173354" h="635">
                <a:moveTo>
                  <a:pt x="0" y="0"/>
                </a:moveTo>
                <a:lnTo>
                  <a:pt x="173270" y="634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965423" y="2578143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5">
                <a:moveTo>
                  <a:pt x="0" y="0"/>
                </a:moveTo>
                <a:lnTo>
                  <a:pt x="132166" y="0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954800" y="3083467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>
                <a:moveTo>
                  <a:pt x="0" y="0"/>
                </a:moveTo>
                <a:lnTo>
                  <a:pt x="128372" y="0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091392" y="2587275"/>
            <a:ext cx="635" cy="494030"/>
          </a:xfrm>
          <a:custGeom>
            <a:avLst/>
            <a:gdLst/>
            <a:ahLst/>
            <a:cxnLst/>
            <a:rect l="l" t="t" r="r" b="b"/>
            <a:pathLst>
              <a:path w="634" h="494030">
                <a:moveTo>
                  <a:pt x="0" y="0"/>
                </a:moveTo>
                <a:lnTo>
                  <a:pt x="632" y="493909"/>
                </a:lnTo>
              </a:path>
            </a:pathLst>
          </a:custGeom>
          <a:ln w="151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091392" y="2830805"/>
            <a:ext cx="173355" cy="635"/>
          </a:xfrm>
          <a:custGeom>
            <a:avLst/>
            <a:gdLst/>
            <a:ahLst/>
            <a:cxnLst/>
            <a:rect l="l" t="t" r="r" b="b"/>
            <a:pathLst>
              <a:path w="173354" h="635">
                <a:moveTo>
                  <a:pt x="0" y="0"/>
                </a:moveTo>
                <a:lnTo>
                  <a:pt x="173270" y="634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507242" y="2830805"/>
            <a:ext cx="260985" cy="1270"/>
          </a:xfrm>
          <a:custGeom>
            <a:avLst/>
            <a:gdLst/>
            <a:ahLst/>
            <a:cxnLst/>
            <a:rect l="l" t="t" r="r" b="b"/>
            <a:pathLst>
              <a:path w="260984" h="1269">
                <a:moveTo>
                  <a:pt x="0" y="0"/>
                </a:moveTo>
                <a:lnTo>
                  <a:pt x="260664" y="887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911977" y="2821672"/>
            <a:ext cx="260985" cy="1270"/>
          </a:xfrm>
          <a:custGeom>
            <a:avLst/>
            <a:gdLst/>
            <a:ahLst/>
            <a:cxnLst/>
            <a:rect l="l" t="t" r="r" b="b"/>
            <a:pathLst>
              <a:path w="260985" h="1269">
                <a:moveTo>
                  <a:pt x="0" y="0"/>
                </a:moveTo>
                <a:lnTo>
                  <a:pt x="260664" y="887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24959" y="2792753"/>
            <a:ext cx="292735" cy="76200"/>
          </a:xfrm>
          <a:custGeom>
            <a:avLst/>
            <a:gdLst/>
            <a:ahLst/>
            <a:cxnLst/>
            <a:rect l="l" t="t" r="r" b="b"/>
            <a:pathLst>
              <a:path w="292735" h="76200">
                <a:moveTo>
                  <a:pt x="216272" y="0"/>
                </a:moveTo>
                <a:lnTo>
                  <a:pt x="216272" y="76103"/>
                </a:lnTo>
                <a:lnTo>
                  <a:pt x="276980" y="45661"/>
                </a:lnTo>
                <a:lnTo>
                  <a:pt x="228919" y="45661"/>
                </a:lnTo>
                <a:lnTo>
                  <a:pt x="228919" y="30441"/>
                </a:lnTo>
                <a:lnTo>
                  <a:pt x="276980" y="30441"/>
                </a:lnTo>
                <a:lnTo>
                  <a:pt x="216272" y="0"/>
                </a:lnTo>
                <a:close/>
              </a:path>
              <a:path w="292735" h="76200">
                <a:moveTo>
                  <a:pt x="216272" y="30441"/>
                </a:moveTo>
                <a:lnTo>
                  <a:pt x="0" y="30441"/>
                </a:lnTo>
                <a:lnTo>
                  <a:pt x="0" y="45661"/>
                </a:lnTo>
                <a:lnTo>
                  <a:pt x="216272" y="45661"/>
                </a:lnTo>
                <a:lnTo>
                  <a:pt x="216272" y="30441"/>
                </a:lnTo>
                <a:close/>
              </a:path>
              <a:path w="292735" h="76200">
                <a:moveTo>
                  <a:pt x="276980" y="30441"/>
                </a:moveTo>
                <a:lnTo>
                  <a:pt x="228919" y="30441"/>
                </a:lnTo>
                <a:lnTo>
                  <a:pt x="228919" y="45661"/>
                </a:lnTo>
                <a:lnTo>
                  <a:pt x="276980" y="45661"/>
                </a:lnTo>
                <a:lnTo>
                  <a:pt x="292157" y="38051"/>
                </a:lnTo>
                <a:lnTo>
                  <a:pt x="276980" y="304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176038" y="2772970"/>
            <a:ext cx="241351" cy="106538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707233" y="2782102"/>
            <a:ext cx="241351" cy="10806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238427" y="2524873"/>
            <a:ext cx="241351" cy="10806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721055" y="2524873"/>
            <a:ext cx="242869" cy="108060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721055" y="3039331"/>
            <a:ext cx="242869" cy="106538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218697" y="3030198"/>
            <a:ext cx="242869" cy="106538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7261356" y="2791234"/>
            <a:ext cx="242869" cy="108060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22" name="object 1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335152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Bài </a:t>
            </a:r>
            <a:r>
              <a:rPr spc="-155" dirty="0"/>
              <a:t>tập </a:t>
            </a:r>
            <a:r>
              <a:rPr spc="-195" dirty="0"/>
              <a:t>ôn</a:t>
            </a:r>
            <a:r>
              <a:rPr spc="-555" dirty="0"/>
              <a:t> </a:t>
            </a:r>
            <a:r>
              <a:rPr spc="-155" dirty="0"/>
              <a:t>tập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1979" y="1775630"/>
            <a:ext cx="1619885" cy="25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" dirty="0">
                <a:latin typeface="Times New Roman"/>
                <a:cs typeface="Times New Roman"/>
              </a:rPr>
              <a:t>Tìm các dòng İ, </a:t>
            </a:r>
            <a:r>
              <a:rPr sz="1500" spc="5" dirty="0">
                <a:latin typeface="Times New Roman"/>
                <a:cs typeface="Times New Roman"/>
              </a:rPr>
              <a:t>İ</a:t>
            </a:r>
            <a:r>
              <a:rPr sz="1425" spc="7" baseline="-5847" dirty="0">
                <a:latin typeface="Times New Roman"/>
                <a:cs typeface="Times New Roman"/>
              </a:rPr>
              <a:t>1</a:t>
            </a:r>
            <a:r>
              <a:rPr sz="1500" spc="5" dirty="0">
                <a:latin typeface="Times New Roman"/>
                <a:cs typeface="Times New Roman"/>
              </a:rPr>
              <a:t>,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İ</a:t>
            </a:r>
            <a:r>
              <a:rPr sz="1425" spc="7" baseline="-5847" dirty="0">
                <a:latin typeface="Times New Roman"/>
                <a:cs typeface="Times New Roman"/>
              </a:rPr>
              <a:t>2</a:t>
            </a:r>
            <a:endParaRPr sz="1425" baseline="-5847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16685" y="2974437"/>
            <a:ext cx="713336" cy="465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20191" y="2974437"/>
            <a:ext cx="287437" cy="318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00813" y="2974437"/>
            <a:ext cx="348781" cy="3215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42780" y="2974437"/>
            <a:ext cx="278674" cy="3180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64008" y="2707343"/>
            <a:ext cx="571370" cy="4656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962255" y="2705586"/>
            <a:ext cx="289190" cy="3567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60404" y="2765331"/>
            <a:ext cx="215578" cy="2618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00716" y="2705586"/>
            <a:ext cx="278674" cy="3338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75006" y="3512227"/>
            <a:ext cx="1492885" cy="283210"/>
          </a:xfrm>
          <a:custGeom>
            <a:avLst/>
            <a:gdLst/>
            <a:ahLst/>
            <a:cxnLst/>
            <a:rect l="l" t="t" r="r" b="b"/>
            <a:pathLst>
              <a:path w="1492884" h="283210">
                <a:moveTo>
                  <a:pt x="0" y="42388"/>
                </a:moveTo>
                <a:lnTo>
                  <a:pt x="0" y="282592"/>
                </a:lnTo>
                <a:lnTo>
                  <a:pt x="1492517" y="282592"/>
                </a:lnTo>
                <a:lnTo>
                  <a:pt x="1492517" y="0"/>
                </a:lnTo>
              </a:path>
            </a:pathLst>
          </a:custGeom>
          <a:ln w="141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32375" y="3476909"/>
            <a:ext cx="70455" cy="706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0927" y="2494880"/>
            <a:ext cx="338455" cy="311150"/>
          </a:xfrm>
          <a:custGeom>
            <a:avLst/>
            <a:gdLst/>
            <a:ahLst/>
            <a:cxnLst/>
            <a:rect l="l" t="t" r="r" b="b"/>
            <a:pathLst>
              <a:path w="338454" h="311150">
                <a:moveTo>
                  <a:pt x="0" y="310861"/>
                </a:moveTo>
                <a:lnTo>
                  <a:pt x="0" y="0"/>
                </a:lnTo>
                <a:lnTo>
                  <a:pt x="337931" y="0"/>
                </a:lnTo>
              </a:path>
            </a:pathLst>
          </a:custGeom>
          <a:ln w="141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05771" y="2494880"/>
            <a:ext cx="633730" cy="240665"/>
          </a:xfrm>
          <a:custGeom>
            <a:avLst/>
            <a:gdLst/>
            <a:ahLst/>
            <a:cxnLst/>
            <a:rect l="l" t="t" r="r" b="b"/>
            <a:pathLst>
              <a:path w="633729" h="240664">
                <a:moveTo>
                  <a:pt x="0" y="0"/>
                </a:moveTo>
                <a:lnTo>
                  <a:pt x="633657" y="0"/>
                </a:lnTo>
                <a:lnTo>
                  <a:pt x="633657" y="240208"/>
                </a:lnTo>
              </a:path>
            </a:pathLst>
          </a:custGeom>
          <a:ln w="141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04121" y="2699771"/>
            <a:ext cx="70455" cy="706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15544" y="3370921"/>
            <a:ext cx="662305" cy="141605"/>
          </a:xfrm>
          <a:custGeom>
            <a:avLst/>
            <a:gdLst/>
            <a:ahLst/>
            <a:cxnLst/>
            <a:rect l="l" t="t" r="r" b="b"/>
            <a:pathLst>
              <a:path w="662304" h="141604">
                <a:moveTo>
                  <a:pt x="661815" y="0"/>
                </a:moveTo>
                <a:lnTo>
                  <a:pt x="661815" y="141306"/>
                </a:lnTo>
                <a:lnTo>
                  <a:pt x="0" y="141306"/>
                </a:lnTo>
                <a:lnTo>
                  <a:pt x="0" y="14140"/>
                </a:lnTo>
              </a:path>
            </a:pathLst>
          </a:custGeom>
          <a:ln w="14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15544" y="2735089"/>
            <a:ext cx="662305" cy="141605"/>
          </a:xfrm>
          <a:custGeom>
            <a:avLst/>
            <a:gdLst/>
            <a:ahLst/>
            <a:cxnLst/>
            <a:rect l="l" t="t" r="r" b="b"/>
            <a:pathLst>
              <a:path w="662304" h="141605">
                <a:moveTo>
                  <a:pt x="0" y="141290"/>
                </a:moveTo>
                <a:lnTo>
                  <a:pt x="0" y="0"/>
                </a:lnTo>
                <a:lnTo>
                  <a:pt x="661815" y="0"/>
                </a:lnTo>
                <a:lnTo>
                  <a:pt x="661815" y="127166"/>
                </a:lnTo>
              </a:path>
            </a:pathLst>
          </a:custGeom>
          <a:ln w="14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13966" y="2961315"/>
            <a:ext cx="86360" cy="99060"/>
          </a:xfrm>
          <a:custGeom>
            <a:avLst/>
            <a:gdLst/>
            <a:ahLst/>
            <a:cxnLst/>
            <a:rect l="l" t="t" r="r" b="b"/>
            <a:pathLst>
              <a:path w="86359" h="99060">
                <a:moveTo>
                  <a:pt x="0" y="98664"/>
                </a:moveTo>
                <a:lnTo>
                  <a:pt x="35126" y="93636"/>
                </a:lnTo>
                <a:lnTo>
                  <a:pt x="62979" y="82119"/>
                </a:lnTo>
                <a:lnTo>
                  <a:pt x="80808" y="65795"/>
                </a:lnTo>
                <a:lnTo>
                  <a:pt x="85863" y="46347"/>
                </a:lnTo>
                <a:lnTo>
                  <a:pt x="77969" y="28962"/>
                </a:lnTo>
                <a:lnTo>
                  <a:pt x="59798" y="14629"/>
                </a:lnTo>
                <a:lnTo>
                  <a:pt x="33581" y="4567"/>
                </a:lnTo>
                <a:lnTo>
                  <a:pt x="1546" y="0"/>
                </a:lnTo>
              </a:path>
            </a:pathLst>
          </a:custGeom>
          <a:ln w="141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13966" y="3074342"/>
            <a:ext cx="86360" cy="99060"/>
          </a:xfrm>
          <a:custGeom>
            <a:avLst/>
            <a:gdLst/>
            <a:ahLst/>
            <a:cxnLst/>
            <a:rect l="l" t="t" r="r" b="b"/>
            <a:pathLst>
              <a:path w="86359" h="99060">
                <a:moveTo>
                  <a:pt x="0" y="98680"/>
                </a:moveTo>
                <a:lnTo>
                  <a:pt x="35126" y="93652"/>
                </a:lnTo>
                <a:lnTo>
                  <a:pt x="62979" y="82135"/>
                </a:lnTo>
                <a:lnTo>
                  <a:pt x="80808" y="65811"/>
                </a:lnTo>
                <a:lnTo>
                  <a:pt x="85863" y="46363"/>
                </a:lnTo>
                <a:lnTo>
                  <a:pt x="77969" y="28978"/>
                </a:lnTo>
                <a:lnTo>
                  <a:pt x="59798" y="14642"/>
                </a:lnTo>
                <a:lnTo>
                  <a:pt x="33581" y="4576"/>
                </a:lnTo>
                <a:lnTo>
                  <a:pt x="1546" y="0"/>
                </a:lnTo>
              </a:path>
            </a:pathLst>
          </a:custGeom>
          <a:ln w="14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313966" y="3187384"/>
            <a:ext cx="86360" cy="99060"/>
          </a:xfrm>
          <a:custGeom>
            <a:avLst/>
            <a:gdLst/>
            <a:ahLst/>
            <a:cxnLst/>
            <a:rect l="l" t="t" r="r" b="b"/>
            <a:pathLst>
              <a:path w="86359" h="99060">
                <a:moveTo>
                  <a:pt x="0" y="98680"/>
                </a:moveTo>
                <a:lnTo>
                  <a:pt x="35126" y="93649"/>
                </a:lnTo>
                <a:lnTo>
                  <a:pt x="62979" y="82129"/>
                </a:lnTo>
                <a:lnTo>
                  <a:pt x="80808" y="65804"/>
                </a:lnTo>
                <a:lnTo>
                  <a:pt x="85863" y="46363"/>
                </a:lnTo>
                <a:lnTo>
                  <a:pt x="77969" y="28978"/>
                </a:lnTo>
                <a:lnTo>
                  <a:pt x="59798" y="14642"/>
                </a:lnTo>
                <a:lnTo>
                  <a:pt x="33581" y="4576"/>
                </a:lnTo>
                <a:lnTo>
                  <a:pt x="1546" y="0"/>
                </a:lnTo>
              </a:path>
            </a:pathLst>
          </a:custGeom>
          <a:ln w="14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15544" y="2876379"/>
            <a:ext cx="0" cy="85090"/>
          </a:xfrm>
          <a:custGeom>
            <a:avLst/>
            <a:gdLst/>
            <a:ahLst/>
            <a:cxnLst/>
            <a:rect l="l" t="t" r="r" b="b"/>
            <a:pathLst>
              <a:path h="85089">
                <a:moveTo>
                  <a:pt x="0" y="84793"/>
                </a:moveTo>
                <a:lnTo>
                  <a:pt x="0" y="0"/>
                </a:lnTo>
              </a:path>
            </a:pathLst>
          </a:custGeom>
          <a:ln w="14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315544" y="3300283"/>
            <a:ext cx="0" cy="85090"/>
          </a:xfrm>
          <a:custGeom>
            <a:avLst/>
            <a:gdLst/>
            <a:ahLst/>
            <a:cxnLst/>
            <a:rect l="l" t="t" r="r" b="b"/>
            <a:pathLst>
              <a:path h="85089">
                <a:moveTo>
                  <a:pt x="0" y="0"/>
                </a:moveTo>
                <a:lnTo>
                  <a:pt x="0" y="84777"/>
                </a:lnTo>
              </a:path>
            </a:pathLst>
          </a:custGeom>
          <a:ln w="14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49107" y="2947033"/>
            <a:ext cx="56515" cy="339725"/>
          </a:xfrm>
          <a:custGeom>
            <a:avLst/>
            <a:gdLst/>
            <a:ahLst/>
            <a:cxnLst/>
            <a:rect l="l" t="t" r="r" b="b"/>
            <a:pathLst>
              <a:path w="56515" h="339725">
                <a:moveTo>
                  <a:pt x="28253" y="339110"/>
                </a:moveTo>
                <a:lnTo>
                  <a:pt x="0" y="310861"/>
                </a:lnTo>
                <a:lnTo>
                  <a:pt x="56348" y="254332"/>
                </a:lnTo>
                <a:lnTo>
                  <a:pt x="0" y="197819"/>
                </a:lnTo>
                <a:lnTo>
                  <a:pt x="56348" y="141306"/>
                </a:lnTo>
                <a:lnTo>
                  <a:pt x="0" y="84777"/>
                </a:lnTo>
                <a:lnTo>
                  <a:pt x="56348" y="28264"/>
                </a:lnTo>
                <a:lnTo>
                  <a:pt x="28253" y="0"/>
                </a:lnTo>
              </a:path>
            </a:pathLst>
          </a:custGeom>
          <a:ln w="140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77360" y="3286143"/>
            <a:ext cx="0" cy="85090"/>
          </a:xfrm>
          <a:custGeom>
            <a:avLst/>
            <a:gdLst/>
            <a:ahLst/>
            <a:cxnLst/>
            <a:rect l="l" t="t" r="r" b="b"/>
            <a:pathLst>
              <a:path h="85089">
                <a:moveTo>
                  <a:pt x="0" y="0"/>
                </a:moveTo>
                <a:lnTo>
                  <a:pt x="0" y="84777"/>
                </a:lnTo>
              </a:path>
            </a:pathLst>
          </a:custGeom>
          <a:ln w="14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77360" y="2862255"/>
            <a:ext cx="0" cy="85090"/>
          </a:xfrm>
          <a:custGeom>
            <a:avLst/>
            <a:gdLst/>
            <a:ahLst/>
            <a:cxnLst/>
            <a:rect l="l" t="t" r="r" b="b"/>
            <a:pathLst>
              <a:path h="85089">
                <a:moveTo>
                  <a:pt x="0" y="84777"/>
                </a:moveTo>
                <a:lnTo>
                  <a:pt x="0" y="0"/>
                </a:lnTo>
              </a:path>
            </a:pathLst>
          </a:custGeom>
          <a:ln w="14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83349" y="2466631"/>
            <a:ext cx="338455" cy="56515"/>
          </a:xfrm>
          <a:custGeom>
            <a:avLst/>
            <a:gdLst/>
            <a:ahLst/>
            <a:cxnLst/>
            <a:rect l="l" t="t" r="r" b="b"/>
            <a:pathLst>
              <a:path w="338454" h="56514">
                <a:moveTo>
                  <a:pt x="337931" y="28248"/>
                </a:moveTo>
                <a:lnTo>
                  <a:pt x="309773" y="56513"/>
                </a:lnTo>
                <a:lnTo>
                  <a:pt x="253456" y="0"/>
                </a:lnTo>
                <a:lnTo>
                  <a:pt x="197124" y="56513"/>
                </a:lnTo>
                <a:lnTo>
                  <a:pt x="140807" y="0"/>
                </a:lnTo>
                <a:lnTo>
                  <a:pt x="84474" y="56513"/>
                </a:lnTo>
                <a:lnTo>
                  <a:pt x="28158" y="0"/>
                </a:lnTo>
                <a:lnTo>
                  <a:pt x="0" y="28248"/>
                </a:lnTo>
              </a:path>
            </a:pathLst>
          </a:custGeom>
          <a:ln w="141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21280" y="2494880"/>
            <a:ext cx="85090" cy="0"/>
          </a:xfrm>
          <a:custGeom>
            <a:avLst/>
            <a:gdLst/>
            <a:ahLst/>
            <a:cxnLst/>
            <a:rect l="l" t="t" r="r" b="b"/>
            <a:pathLst>
              <a:path w="85090">
                <a:moveTo>
                  <a:pt x="0" y="0"/>
                </a:moveTo>
                <a:lnTo>
                  <a:pt x="84490" y="0"/>
                </a:lnTo>
              </a:path>
            </a:pathLst>
          </a:custGeom>
          <a:ln w="141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498858" y="2494880"/>
            <a:ext cx="85090" cy="0"/>
          </a:xfrm>
          <a:custGeom>
            <a:avLst/>
            <a:gdLst/>
            <a:ahLst/>
            <a:cxnLst/>
            <a:rect l="l" t="t" r="r" b="b"/>
            <a:pathLst>
              <a:path w="85090">
                <a:moveTo>
                  <a:pt x="84490" y="0"/>
                </a:moveTo>
                <a:lnTo>
                  <a:pt x="0" y="0"/>
                </a:lnTo>
              </a:path>
            </a:pathLst>
          </a:custGeom>
          <a:ln w="141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879312" y="2904644"/>
            <a:ext cx="549275" cy="551180"/>
          </a:xfrm>
          <a:custGeom>
            <a:avLst/>
            <a:gdLst/>
            <a:ahLst/>
            <a:cxnLst/>
            <a:rect l="l" t="t" r="r" b="b"/>
            <a:pathLst>
              <a:path w="549275" h="551179">
                <a:moveTo>
                  <a:pt x="549150" y="275535"/>
                </a:moveTo>
                <a:lnTo>
                  <a:pt x="544726" y="325061"/>
                </a:lnTo>
                <a:lnTo>
                  <a:pt x="531971" y="371676"/>
                </a:lnTo>
                <a:lnTo>
                  <a:pt x="511661" y="414600"/>
                </a:lnTo>
                <a:lnTo>
                  <a:pt x="484571" y="453057"/>
                </a:lnTo>
                <a:lnTo>
                  <a:pt x="451477" y="486266"/>
                </a:lnTo>
                <a:lnTo>
                  <a:pt x="413154" y="513450"/>
                </a:lnTo>
                <a:lnTo>
                  <a:pt x="370379" y="533831"/>
                </a:lnTo>
                <a:lnTo>
                  <a:pt x="323928" y="546631"/>
                </a:lnTo>
                <a:lnTo>
                  <a:pt x="274575" y="551070"/>
                </a:lnTo>
                <a:lnTo>
                  <a:pt x="225218" y="546631"/>
                </a:lnTo>
                <a:lnTo>
                  <a:pt x="178764" y="533831"/>
                </a:lnTo>
                <a:lnTo>
                  <a:pt x="135988" y="513450"/>
                </a:lnTo>
                <a:lnTo>
                  <a:pt x="97666" y="486266"/>
                </a:lnTo>
                <a:lnTo>
                  <a:pt x="64574" y="453057"/>
                </a:lnTo>
                <a:lnTo>
                  <a:pt x="37485" y="414600"/>
                </a:lnTo>
                <a:lnTo>
                  <a:pt x="17177" y="371676"/>
                </a:lnTo>
                <a:lnTo>
                  <a:pt x="4423" y="325061"/>
                </a:lnTo>
                <a:lnTo>
                  <a:pt x="0" y="275535"/>
                </a:lnTo>
                <a:lnTo>
                  <a:pt x="4423" y="226008"/>
                </a:lnTo>
                <a:lnTo>
                  <a:pt x="17177" y="179394"/>
                </a:lnTo>
                <a:lnTo>
                  <a:pt x="37485" y="136469"/>
                </a:lnTo>
                <a:lnTo>
                  <a:pt x="64574" y="98013"/>
                </a:lnTo>
                <a:lnTo>
                  <a:pt x="97666" y="64804"/>
                </a:lnTo>
                <a:lnTo>
                  <a:pt x="135988" y="37619"/>
                </a:lnTo>
                <a:lnTo>
                  <a:pt x="178764" y="17238"/>
                </a:lnTo>
                <a:lnTo>
                  <a:pt x="225218" y="4439"/>
                </a:lnTo>
                <a:lnTo>
                  <a:pt x="274575" y="0"/>
                </a:lnTo>
                <a:lnTo>
                  <a:pt x="323928" y="4439"/>
                </a:lnTo>
                <a:lnTo>
                  <a:pt x="370379" y="17238"/>
                </a:lnTo>
                <a:lnTo>
                  <a:pt x="413154" y="37619"/>
                </a:lnTo>
                <a:lnTo>
                  <a:pt x="451477" y="64804"/>
                </a:lnTo>
                <a:lnTo>
                  <a:pt x="484571" y="98013"/>
                </a:lnTo>
                <a:lnTo>
                  <a:pt x="511661" y="136469"/>
                </a:lnTo>
                <a:lnTo>
                  <a:pt x="531971" y="179394"/>
                </a:lnTo>
                <a:lnTo>
                  <a:pt x="544726" y="226008"/>
                </a:lnTo>
                <a:lnTo>
                  <a:pt x="549150" y="275535"/>
                </a:lnTo>
                <a:close/>
              </a:path>
            </a:pathLst>
          </a:custGeom>
          <a:ln w="14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90515" y="3045951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0" y="0"/>
                </a:moveTo>
                <a:lnTo>
                  <a:pt x="154886" y="0"/>
                </a:lnTo>
              </a:path>
            </a:pathLst>
          </a:custGeom>
          <a:ln w="141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75006" y="2975297"/>
            <a:ext cx="0" cy="141605"/>
          </a:xfrm>
          <a:custGeom>
            <a:avLst/>
            <a:gdLst/>
            <a:ahLst/>
            <a:cxnLst/>
            <a:rect l="l" t="t" r="r" b="b"/>
            <a:pathLst>
              <a:path h="141605">
                <a:moveTo>
                  <a:pt x="0" y="0"/>
                </a:moveTo>
                <a:lnTo>
                  <a:pt x="0" y="141290"/>
                </a:lnTo>
              </a:path>
            </a:pathLst>
          </a:custGeom>
          <a:ln w="14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90515" y="3342672"/>
            <a:ext cx="140970" cy="0"/>
          </a:xfrm>
          <a:custGeom>
            <a:avLst/>
            <a:gdLst/>
            <a:ahLst/>
            <a:cxnLst/>
            <a:rect l="l" t="t" r="r" b="b"/>
            <a:pathLst>
              <a:path w="140970">
                <a:moveTo>
                  <a:pt x="0" y="0"/>
                </a:moveTo>
                <a:lnTo>
                  <a:pt x="140807" y="0"/>
                </a:lnTo>
              </a:path>
            </a:pathLst>
          </a:custGeom>
          <a:ln w="141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75006" y="3469839"/>
            <a:ext cx="0" cy="85090"/>
          </a:xfrm>
          <a:custGeom>
            <a:avLst/>
            <a:gdLst/>
            <a:ahLst/>
            <a:cxnLst/>
            <a:rect l="l" t="t" r="r" b="b"/>
            <a:pathLst>
              <a:path h="85089">
                <a:moveTo>
                  <a:pt x="0" y="0"/>
                </a:moveTo>
                <a:lnTo>
                  <a:pt x="0" y="84777"/>
                </a:lnTo>
              </a:path>
            </a:pathLst>
          </a:custGeom>
          <a:ln w="14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60927" y="2805742"/>
            <a:ext cx="0" cy="85090"/>
          </a:xfrm>
          <a:custGeom>
            <a:avLst/>
            <a:gdLst/>
            <a:ahLst/>
            <a:cxnLst/>
            <a:rect l="l" t="t" r="r" b="b"/>
            <a:pathLst>
              <a:path h="85089">
                <a:moveTo>
                  <a:pt x="0" y="84777"/>
                </a:moveTo>
                <a:lnTo>
                  <a:pt x="0" y="0"/>
                </a:lnTo>
              </a:path>
            </a:pathLst>
          </a:custGeom>
          <a:ln w="14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51453" y="2201271"/>
            <a:ext cx="913141" cy="4674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56711" y="2199513"/>
            <a:ext cx="375071" cy="3162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624967" y="2199513"/>
            <a:ext cx="348781" cy="31980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66934" y="2199513"/>
            <a:ext cx="278674" cy="3162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747654" y="3011338"/>
            <a:ext cx="911388" cy="4674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52912" y="3009581"/>
            <a:ext cx="424146" cy="31629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970244" y="3009581"/>
            <a:ext cx="348781" cy="31980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112210" y="3009581"/>
            <a:ext cx="278674" cy="3162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082617" y="2992009"/>
            <a:ext cx="913141" cy="4674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87875" y="2992009"/>
            <a:ext cx="462705" cy="34792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324486" y="2992009"/>
            <a:ext cx="410124" cy="3777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492742" y="2992009"/>
            <a:ext cx="333007" cy="37076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634708" y="2992009"/>
            <a:ext cx="217331" cy="23897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660999" y="2992009"/>
            <a:ext cx="282179" cy="37076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727600" y="2992009"/>
            <a:ext cx="268158" cy="34792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267423" y="2452550"/>
            <a:ext cx="142550" cy="8785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264693" y="2777631"/>
            <a:ext cx="87633" cy="14294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928954" y="2768845"/>
            <a:ext cx="87633" cy="14294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975502" y="2716129"/>
            <a:ext cx="569617" cy="46741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975502" y="2714372"/>
            <a:ext cx="289190" cy="35495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073651" y="2772360"/>
            <a:ext cx="215578" cy="26182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113962" y="2714372"/>
            <a:ext cx="278674" cy="3321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165768" y="2173156"/>
            <a:ext cx="571370" cy="46741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164015" y="2173156"/>
            <a:ext cx="289190" cy="35495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237627" y="2173156"/>
            <a:ext cx="278674" cy="3321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44167" y="2484120"/>
            <a:ext cx="1986612" cy="303580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3140455" y="3883997"/>
            <a:ext cx="6410960" cy="44450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200"/>
              </a:spcBef>
            </a:pPr>
            <a:r>
              <a:rPr sz="1400" spc="-5" dirty="0">
                <a:latin typeface="Times New Roman"/>
                <a:cs typeface="Times New Roman"/>
              </a:rPr>
              <a:t>Cho </a:t>
            </a:r>
            <a:r>
              <a:rPr sz="1400" spc="-10" dirty="0">
                <a:latin typeface="Times New Roman"/>
                <a:cs typeface="Times New Roman"/>
              </a:rPr>
              <a:t>mạch </a:t>
            </a:r>
            <a:r>
              <a:rPr sz="1400" spc="-5" dirty="0">
                <a:latin typeface="Times New Roman"/>
                <a:cs typeface="Times New Roman"/>
              </a:rPr>
              <a:t>như hình với Ė = 50</a:t>
            </a:r>
            <a:r>
              <a:rPr sz="1400" spc="-5" dirty="0">
                <a:latin typeface="Symbol"/>
                <a:cs typeface="Symbol"/>
              </a:rPr>
              <a:t></a:t>
            </a:r>
            <a:r>
              <a:rPr sz="1400" spc="-5" dirty="0">
                <a:latin typeface="Times New Roman"/>
                <a:cs typeface="Times New Roman"/>
              </a:rPr>
              <a:t>0</a:t>
            </a:r>
            <a:r>
              <a:rPr sz="1350" spc="-7" baseline="30864" dirty="0">
                <a:latin typeface="Times New Roman"/>
                <a:cs typeface="Times New Roman"/>
              </a:rPr>
              <a:t>0 </a:t>
            </a:r>
            <a:r>
              <a:rPr sz="1400" spc="-5" dirty="0">
                <a:latin typeface="Times New Roman"/>
                <a:cs typeface="Times New Roman"/>
              </a:rPr>
              <a:t>(hiệu dụng). </a:t>
            </a:r>
            <a:r>
              <a:rPr sz="1400" spc="-10" dirty="0">
                <a:latin typeface="Times New Roman"/>
                <a:cs typeface="Times New Roman"/>
              </a:rPr>
              <a:t>Xác </a:t>
            </a:r>
            <a:r>
              <a:rPr sz="1400" spc="-5" dirty="0">
                <a:latin typeface="Times New Roman"/>
                <a:cs typeface="Times New Roman"/>
              </a:rPr>
              <a:t>định công </a:t>
            </a:r>
            <a:r>
              <a:rPr sz="1400" spc="-10" dirty="0">
                <a:latin typeface="Times New Roman"/>
                <a:cs typeface="Times New Roman"/>
              </a:rPr>
              <a:t>suất </a:t>
            </a:r>
            <a:r>
              <a:rPr sz="1400" spc="-5" dirty="0">
                <a:latin typeface="Times New Roman"/>
                <a:cs typeface="Times New Roman"/>
              </a:rPr>
              <a:t>phát ra bởi nguồn </a:t>
            </a:r>
            <a:r>
              <a:rPr sz="1400" dirty="0">
                <a:latin typeface="Times New Roman"/>
                <a:cs typeface="Times New Roman"/>
              </a:rPr>
              <a:t>và  </a:t>
            </a:r>
            <a:r>
              <a:rPr sz="1400" spc="-5" dirty="0">
                <a:latin typeface="Times New Roman"/>
                <a:cs typeface="Times New Roman"/>
              </a:rPr>
              <a:t>công suất tiêu tán trên điện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trở.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679899" y="4915219"/>
            <a:ext cx="0" cy="384175"/>
          </a:xfrm>
          <a:custGeom>
            <a:avLst/>
            <a:gdLst/>
            <a:ahLst/>
            <a:cxnLst/>
            <a:rect l="l" t="t" r="r" b="b"/>
            <a:pathLst>
              <a:path h="384175">
                <a:moveTo>
                  <a:pt x="0" y="384128"/>
                </a:moveTo>
                <a:lnTo>
                  <a:pt x="0" y="0"/>
                </a:lnTo>
              </a:path>
            </a:pathLst>
          </a:custGeom>
          <a:ln w="13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646971" y="4882108"/>
            <a:ext cx="65855" cy="6620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257447" y="4928461"/>
            <a:ext cx="421640" cy="278765"/>
          </a:xfrm>
          <a:custGeom>
            <a:avLst/>
            <a:gdLst/>
            <a:ahLst/>
            <a:cxnLst/>
            <a:rect l="l" t="t" r="r" b="b"/>
            <a:pathLst>
              <a:path w="421639" h="278764">
                <a:moveTo>
                  <a:pt x="0" y="278164"/>
                </a:moveTo>
                <a:lnTo>
                  <a:pt x="0" y="0"/>
                </a:lnTo>
                <a:lnTo>
                  <a:pt x="421466" y="0"/>
                </a:lnTo>
              </a:path>
            </a:pathLst>
          </a:custGeom>
          <a:ln w="13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153069" y="4915219"/>
            <a:ext cx="1317625" cy="132715"/>
          </a:xfrm>
          <a:custGeom>
            <a:avLst/>
            <a:gdLst/>
            <a:ahLst/>
            <a:cxnLst/>
            <a:rect l="l" t="t" r="r" b="b"/>
            <a:pathLst>
              <a:path w="1317625" h="132714">
                <a:moveTo>
                  <a:pt x="1317162" y="132461"/>
                </a:moveTo>
                <a:lnTo>
                  <a:pt x="1317162" y="0"/>
                </a:lnTo>
                <a:lnTo>
                  <a:pt x="526829" y="0"/>
                </a:lnTo>
                <a:lnTo>
                  <a:pt x="526829" y="13241"/>
                </a:lnTo>
                <a:lnTo>
                  <a:pt x="0" y="13241"/>
                </a:lnTo>
              </a:path>
            </a:pathLst>
          </a:custGeom>
          <a:ln w="132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470231" y="5524531"/>
            <a:ext cx="0" cy="225425"/>
          </a:xfrm>
          <a:custGeom>
            <a:avLst/>
            <a:gdLst/>
            <a:ahLst/>
            <a:cxnLst/>
            <a:rect l="l" t="t" r="r" b="b"/>
            <a:pathLst>
              <a:path h="225425">
                <a:moveTo>
                  <a:pt x="0" y="225183"/>
                </a:moveTo>
                <a:lnTo>
                  <a:pt x="0" y="0"/>
                </a:lnTo>
              </a:path>
            </a:pathLst>
          </a:custGeom>
          <a:ln w="13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679899" y="5776197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3612"/>
                </a:lnTo>
              </a:path>
            </a:pathLst>
          </a:custGeom>
          <a:ln w="13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646971" y="6206705"/>
            <a:ext cx="65855" cy="6621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270620" y="5908659"/>
            <a:ext cx="2199640" cy="331470"/>
          </a:xfrm>
          <a:custGeom>
            <a:avLst/>
            <a:gdLst/>
            <a:ahLst/>
            <a:cxnLst/>
            <a:rect l="l" t="t" r="r" b="b"/>
            <a:pathLst>
              <a:path w="2199640" h="331470">
                <a:moveTo>
                  <a:pt x="0" y="0"/>
                </a:moveTo>
                <a:lnTo>
                  <a:pt x="0" y="331151"/>
                </a:lnTo>
                <a:lnTo>
                  <a:pt x="2199611" y="331151"/>
                </a:lnTo>
                <a:lnTo>
                  <a:pt x="2199611" y="79479"/>
                </a:lnTo>
              </a:path>
            </a:pathLst>
          </a:custGeom>
          <a:ln w="13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757947" y="4901977"/>
            <a:ext cx="316230" cy="53340"/>
          </a:xfrm>
          <a:custGeom>
            <a:avLst/>
            <a:gdLst/>
            <a:ahLst/>
            <a:cxnLst/>
            <a:rect l="l" t="t" r="r" b="b"/>
            <a:pathLst>
              <a:path w="316229" h="53339">
                <a:moveTo>
                  <a:pt x="316103" y="26483"/>
                </a:moveTo>
                <a:lnTo>
                  <a:pt x="289759" y="52981"/>
                </a:lnTo>
                <a:lnTo>
                  <a:pt x="237070" y="0"/>
                </a:lnTo>
                <a:lnTo>
                  <a:pt x="184381" y="52981"/>
                </a:lnTo>
                <a:lnTo>
                  <a:pt x="131707" y="0"/>
                </a:lnTo>
                <a:lnTo>
                  <a:pt x="79018" y="52981"/>
                </a:lnTo>
                <a:lnTo>
                  <a:pt x="26329" y="0"/>
                </a:lnTo>
                <a:lnTo>
                  <a:pt x="0" y="26483"/>
                </a:lnTo>
              </a:path>
            </a:pathLst>
          </a:custGeom>
          <a:ln w="13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074050" y="4928461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>
                <a:moveTo>
                  <a:pt x="0" y="0"/>
                </a:moveTo>
                <a:lnTo>
                  <a:pt x="79018" y="0"/>
                </a:lnTo>
              </a:path>
            </a:pathLst>
          </a:custGeom>
          <a:ln w="132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678914" y="4928461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>
                <a:moveTo>
                  <a:pt x="79033" y="0"/>
                </a:moveTo>
                <a:lnTo>
                  <a:pt x="0" y="0"/>
                </a:lnTo>
              </a:path>
            </a:pathLst>
          </a:custGeom>
          <a:ln w="132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364824" y="5829179"/>
            <a:ext cx="210820" cy="0"/>
          </a:xfrm>
          <a:custGeom>
            <a:avLst/>
            <a:gdLst/>
            <a:ahLst/>
            <a:cxnLst/>
            <a:rect l="l" t="t" r="r" b="b"/>
            <a:pathLst>
              <a:path w="210820">
                <a:moveTo>
                  <a:pt x="210666" y="0"/>
                </a:moveTo>
                <a:lnTo>
                  <a:pt x="0" y="0"/>
                </a:lnTo>
              </a:path>
            </a:pathLst>
          </a:custGeom>
          <a:ln w="132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364824" y="5908659"/>
            <a:ext cx="210820" cy="0"/>
          </a:xfrm>
          <a:custGeom>
            <a:avLst/>
            <a:gdLst/>
            <a:ahLst/>
            <a:cxnLst/>
            <a:rect l="l" t="t" r="r" b="b"/>
            <a:pathLst>
              <a:path w="210820">
                <a:moveTo>
                  <a:pt x="210666" y="0"/>
                </a:moveTo>
                <a:lnTo>
                  <a:pt x="0" y="0"/>
                </a:lnTo>
              </a:path>
            </a:pathLst>
          </a:custGeom>
          <a:ln w="132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470231" y="5749714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79465"/>
                </a:moveTo>
                <a:lnTo>
                  <a:pt x="0" y="0"/>
                </a:lnTo>
              </a:path>
            </a:pathLst>
          </a:custGeom>
          <a:ln w="13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470231" y="5908659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0"/>
                </a:moveTo>
                <a:lnTo>
                  <a:pt x="0" y="79479"/>
                </a:lnTo>
              </a:path>
            </a:pathLst>
          </a:custGeom>
          <a:ln w="13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671809" y="5299347"/>
            <a:ext cx="93646" cy="47685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443768" y="5127145"/>
            <a:ext cx="53340" cy="318135"/>
          </a:xfrm>
          <a:custGeom>
            <a:avLst/>
            <a:gdLst/>
            <a:ahLst/>
            <a:cxnLst/>
            <a:rect l="l" t="t" r="r" b="b"/>
            <a:pathLst>
              <a:path w="53340" h="318135">
                <a:moveTo>
                  <a:pt x="26462" y="0"/>
                </a:moveTo>
                <a:lnTo>
                  <a:pt x="52777" y="26498"/>
                </a:lnTo>
                <a:lnTo>
                  <a:pt x="0" y="79479"/>
                </a:lnTo>
                <a:lnTo>
                  <a:pt x="52777" y="132461"/>
                </a:lnTo>
                <a:lnTo>
                  <a:pt x="0" y="185443"/>
                </a:lnTo>
                <a:lnTo>
                  <a:pt x="52777" y="238439"/>
                </a:lnTo>
                <a:lnTo>
                  <a:pt x="0" y="291421"/>
                </a:lnTo>
                <a:lnTo>
                  <a:pt x="26462" y="317904"/>
                </a:lnTo>
              </a:path>
            </a:pathLst>
          </a:custGeom>
          <a:ln w="13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470231" y="5047681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79465"/>
                </a:moveTo>
                <a:lnTo>
                  <a:pt x="0" y="0"/>
                </a:lnTo>
              </a:path>
            </a:pathLst>
          </a:custGeom>
          <a:ln w="13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470231" y="5445050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0"/>
                </a:moveTo>
                <a:lnTo>
                  <a:pt x="0" y="79479"/>
                </a:lnTo>
              </a:path>
            </a:pathLst>
          </a:custGeom>
          <a:ln w="13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994021" y="5299347"/>
            <a:ext cx="513715" cy="516890"/>
          </a:xfrm>
          <a:custGeom>
            <a:avLst/>
            <a:gdLst/>
            <a:ahLst/>
            <a:cxnLst/>
            <a:rect l="l" t="t" r="r" b="b"/>
            <a:pathLst>
              <a:path w="513714" h="516889">
                <a:moveTo>
                  <a:pt x="513669" y="258294"/>
                </a:moveTo>
                <a:lnTo>
                  <a:pt x="509531" y="304722"/>
                </a:lnTo>
                <a:lnTo>
                  <a:pt x="497600" y="348420"/>
                </a:lnTo>
                <a:lnTo>
                  <a:pt x="478603" y="388659"/>
                </a:lnTo>
                <a:lnTo>
                  <a:pt x="453265" y="424709"/>
                </a:lnTo>
                <a:lnTo>
                  <a:pt x="422310" y="455841"/>
                </a:lnTo>
                <a:lnTo>
                  <a:pt x="386464" y="481324"/>
                </a:lnTo>
                <a:lnTo>
                  <a:pt x="346452" y="500429"/>
                </a:lnTo>
                <a:lnTo>
                  <a:pt x="303000" y="512428"/>
                </a:lnTo>
                <a:lnTo>
                  <a:pt x="256833" y="516589"/>
                </a:lnTo>
                <a:lnTo>
                  <a:pt x="210665" y="512428"/>
                </a:lnTo>
                <a:lnTo>
                  <a:pt x="167214" y="500429"/>
                </a:lnTo>
                <a:lnTo>
                  <a:pt x="127202" y="481324"/>
                </a:lnTo>
                <a:lnTo>
                  <a:pt x="91357" y="455841"/>
                </a:lnTo>
                <a:lnTo>
                  <a:pt x="60402" y="424709"/>
                </a:lnTo>
                <a:lnTo>
                  <a:pt x="35064" y="388659"/>
                </a:lnTo>
                <a:lnTo>
                  <a:pt x="16067" y="348420"/>
                </a:lnTo>
                <a:lnTo>
                  <a:pt x="4137" y="304722"/>
                </a:lnTo>
                <a:lnTo>
                  <a:pt x="0" y="258294"/>
                </a:lnTo>
                <a:lnTo>
                  <a:pt x="4137" y="211867"/>
                </a:lnTo>
                <a:lnTo>
                  <a:pt x="16067" y="168168"/>
                </a:lnTo>
                <a:lnTo>
                  <a:pt x="35064" y="127930"/>
                </a:lnTo>
                <a:lnTo>
                  <a:pt x="60402" y="91880"/>
                </a:lnTo>
                <a:lnTo>
                  <a:pt x="91357" y="60748"/>
                </a:lnTo>
                <a:lnTo>
                  <a:pt x="127202" y="35265"/>
                </a:lnTo>
                <a:lnTo>
                  <a:pt x="167214" y="16160"/>
                </a:lnTo>
                <a:lnTo>
                  <a:pt x="210665" y="4161"/>
                </a:lnTo>
                <a:lnTo>
                  <a:pt x="256833" y="0"/>
                </a:lnTo>
                <a:lnTo>
                  <a:pt x="303000" y="4161"/>
                </a:lnTo>
                <a:lnTo>
                  <a:pt x="346452" y="16160"/>
                </a:lnTo>
                <a:lnTo>
                  <a:pt x="386464" y="35265"/>
                </a:lnTo>
                <a:lnTo>
                  <a:pt x="422310" y="60748"/>
                </a:lnTo>
                <a:lnTo>
                  <a:pt x="453265" y="91880"/>
                </a:lnTo>
                <a:lnTo>
                  <a:pt x="478603" y="127930"/>
                </a:lnTo>
                <a:lnTo>
                  <a:pt x="497600" y="168168"/>
                </a:lnTo>
                <a:lnTo>
                  <a:pt x="509531" y="211867"/>
                </a:lnTo>
                <a:lnTo>
                  <a:pt x="513669" y="258294"/>
                </a:lnTo>
                <a:close/>
              </a:path>
            </a:pathLst>
          </a:custGeom>
          <a:ln w="1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91586" y="5431809"/>
            <a:ext cx="145415" cy="0"/>
          </a:xfrm>
          <a:custGeom>
            <a:avLst/>
            <a:gdLst/>
            <a:ahLst/>
            <a:cxnLst/>
            <a:rect l="l" t="t" r="r" b="b"/>
            <a:pathLst>
              <a:path w="145414">
                <a:moveTo>
                  <a:pt x="0" y="0"/>
                </a:moveTo>
                <a:lnTo>
                  <a:pt x="144879" y="0"/>
                </a:lnTo>
              </a:path>
            </a:pathLst>
          </a:custGeom>
          <a:ln w="132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270620" y="5365586"/>
            <a:ext cx="0" cy="132715"/>
          </a:xfrm>
          <a:custGeom>
            <a:avLst/>
            <a:gdLst/>
            <a:ahLst/>
            <a:cxnLst/>
            <a:rect l="l" t="t" r="r" b="b"/>
            <a:pathLst>
              <a:path h="132714">
                <a:moveTo>
                  <a:pt x="0" y="0"/>
                </a:moveTo>
                <a:lnTo>
                  <a:pt x="0" y="132446"/>
                </a:lnTo>
              </a:path>
            </a:pathLst>
          </a:custGeom>
          <a:ln w="13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191586" y="5709974"/>
            <a:ext cx="132080" cy="0"/>
          </a:xfrm>
          <a:custGeom>
            <a:avLst/>
            <a:gdLst/>
            <a:ahLst/>
            <a:cxnLst/>
            <a:rect l="l" t="t" r="r" b="b"/>
            <a:pathLst>
              <a:path w="132079">
                <a:moveTo>
                  <a:pt x="0" y="0"/>
                </a:moveTo>
                <a:lnTo>
                  <a:pt x="131707" y="0"/>
                </a:lnTo>
              </a:path>
            </a:pathLst>
          </a:custGeom>
          <a:ln w="132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270620" y="5829179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0"/>
                </a:moveTo>
                <a:lnTo>
                  <a:pt x="0" y="79479"/>
                </a:lnTo>
              </a:path>
            </a:pathLst>
          </a:custGeom>
          <a:ln w="13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257447" y="5206625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79479"/>
                </a:moveTo>
                <a:lnTo>
                  <a:pt x="0" y="0"/>
                </a:lnTo>
              </a:path>
            </a:pathLst>
          </a:custGeom>
          <a:ln w="13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474963" y="5125334"/>
            <a:ext cx="668422" cy="43857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476601" y="5123691"/>
            <a:ext cx="268679" cy="29731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551963" y="5123691"/>
            <a:ext cx="326019" cy="30059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684664" y="5123691"/>
            <a:ext cx="260488" cy="297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555239" y="5733101"/>
            <a:ext cx="668422" cy="43857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560154" y="5733101"/>
            <a:ext cx="240828" cy="29731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614218" y="5733101"/>
            <a:ext cx="314551" cy="29731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735451" y="5733101"/>
            <a:ext cx="326019" cy="30059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868153" y="5733101"/>
            <a:ext cx="260488" cy="297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706605" y="5375011"/>
            <a:ext cx="670060" cy="43857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709881" y="5373368"/>
            <a:ext cx="396466" cy="29731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913029" y="5373368"/>
            <a:ext cx="326019" cy="30059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045731" y="5373368"/>
            <a:ext cx="260488" cy="297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689227" y="4660514"/>
            <a:ext cx="670060" cy="43857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694142" y="4660514"/>
            <a:ext cx="268679" cy="29731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769504" y="4660514"/>
            <a:ext cx="326019" cy="30059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902205" y="4660514"/>
            <a:ext cx="260488" cy="297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340915" y="5393080"/>
            <a:ext cx="856825" cy="43857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345830" y="5393080"/>
            <a:ext cx="350593" cy="32688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485085" y="5393080"/>
            <a:ext cx="383359" cy="3548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642361" y="5393080"/>
            <a:ext cx="311274" cy="34823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775062" y="5393080"/>
            <a:ext cx="203147" cy="22503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799636" y="5393080"/>
            <a:ext cx="263764" cy="34823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861891" y="5393080"/>
            <a:ext cx="260488" cy="32688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535228" y="6396721"/>
            <a:ext cx="1739863" cy="266103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293756" y="6396721"/>
            <a:ext cx="322743" cy="26774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15" name="object 1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335152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Bài </a:t>
            </a:r>
            <a:r>
              <a:rPr spc="-155" dirty="0"/>
              <a:t>tập </a:t>
            </a:r>
            <a:r>
              <a:rPr spc="-195" dirty="0"/>
              <a:t>ôn</a:t>
            </a:r>
            <a:r>
              <a:rPr spc="-555" dirty="0"/>
              <a:t> </a:t>
            </a:r>
            <a:r>
              <a:rPr spc="-155" dirty="0"/>
              <a:t>tập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5195" y="1822166"/>
            <a:ext cx="257048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5" dirty="0">
                <a:latin typeface="Times New Roman"/>
                <a:cs typeface="Times New Roman"/>
              </a:rPr>
              <a:t>Cho mạch như hình. </a:t>
            </a:r>
            <a:r>
              <a:rPr sz="1550" dirty="0">
                <a:latin typeface="Times New Roman"/>
                <a:cs typeface="Times New Roman"/>
              </a:rPr>
              <a:t>Tìm </a:t>
            </a:r>
            <a:r>
              <a:rPr sz="1550" spc="-5" dirty="0">
                <a:latin typeface="Times New Roman"/>
                <a:cs typeface="Times New Roman"/>
              </a:rPr>
              <a:t>dòng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82620" y="3805528"/>
            <a:ext cx="86316" cy="863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62302" y="3650440"/>
            <a:ext cx="86356" cy="2413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44546" y="2288981"/>
            <a:ext cx="1742218" cy="6032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54574" y="2323507"/>
            <a:ext cx="86360" cy="17780"/>
          </a:xfrm>
          <a:custGeom>
            <a:avLst/>
            <a:gdLst/>
            <a:ahLst/>
            <a:cxnLst/>
            <a:rect l="l" t="t" r="r" b="b"/>
            <a:pathLst>
              <a:path w="86359" h="17780">
                <a:moveTo>
                  <a:pt x="82382" y="0"/>
                </a:moveTo>
                <a:lnTo>
                  <a:pt x="3864" y="0"/>
                </a:lnTo>
                <a:lnTo>
                  <a:pt x="0" y="3971"/>
                </a:lnTo>
                <a:lnTo>
                  <a:pt x="0" y="13443"/>
                </a:lnTo>
                <a:lnTo>
                  <a:pt x="3864" y="17262"/>
                </a:lnTo>
                <a:lnTo>
                  <a:pt x="82382" y="17262"/>
                </a:lnTo>
                <a:lnTo>
                  <a:pt x="86246" y="13443"/>
                </a:lnTo>
                <a:lnTo>
                  <a:pt x="86246" y="3971"/>
                </a:lnTo>
                <a:lnTo>
                  <a:pt x="82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63196" y="2323507"/>
            <a:ext cx="0" cy="568960"/>
          </a:xfrm>
          <a:custGeom>
            <a:avLst/>
            <a:gdLst/>
            <a:ahLst/>
            <a:cxnLst/>
            <a:rect l="l" t="t" r="r" b="b"/>
            <a:pathLst>
              <a:path h="568960">
                <a:moveTo>
                  <a:pt x="0" y="0"/>
                </a:moveTo>
                <a:lnTo>
                  <a:pt x="0" y="568714"/>
                </a:lnTo>
              </a:path>
            </a:pathLst>
          </a:custGeom>
          <a:ln w="172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63196" y="3650440"/>
            <a:ext cx="0" cy="207010"/>
          </a:xfrm>
          <a:custGeom>
            <a:avLst/>
            <a:gdLst/>
            <a:ahLst/>
            <a:cxnLst/>
            <a:rect l="l" t="t" r="r" b="b"/>
            <a:pathLst>
              <a:path h="207010">
                <a:moveTo>
                  <a:pt x="0" y="0"/>
                </a:moveTo>
                <a:lnTo>
                  <a:pt x="0" y="206784"/>
                </a:lnTo>
              </a:path>
            </a:pathLst>
          </a:custGeom>
          <a:ln w="172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54574" y="3848609"/>
            <a:ext cx="2432685" cy="0"/>
          </a:xfrm>
          <a:custGeom>
            <a:avLst/>
            <a:gdLst/>
            <a:ahLst/>
            <a:cxnLst/>
            <a:rect l="l" t="t" r="r" b="b"/>
            <a:pathLst>
              <a:path w="2432684">
                <a:moveTo>
                  <a:pt x="0" y="0"/>
                </a:moveTo>
                <a:lnTo>
                  <a:pt x="2432190" y="0"/>
                </a:lnTo>
              </a:path>
            </a:pathLst>
          </a:custGeom>
          <a:ln w="172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78135" y="3426410"/>
            <a:ext cx="0" cy="431165"/>
          </a:xfrm>
          <a:custGeom>
            <a:avLst/>
            <a:gdLst/>
            <a:ahLst/>
            <a:cxnLst/>
            <a:rect l="l" t="t" r="r" b="b"/>
            <a:pathLst>
              <a:path h="431164">
                <a:moveTo>
                  <a:pt x="0" y="0"/>
                </a:moveTo>
                <a:lnTo>
                  <a:pt x="0" y="430814"/>
                </a:lnTo>
              </a:path>
            </a:pathLst>
          </a:custGeom>
          <a:ln w="17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78682" y="2285468"/>
            <a:ext cx="1414379" cy="15372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31476" y="2908612"/>
            <a:ext cx="93345" cy="433070"/>
          </a:xfrm>
          <a:custGeom>
            <a:avLst/>
            <a:gdLst/>
            <a:ahLst/>
            <a:cxnLst/>
            <a:rect l="l" t="t" r="r" b="b"/>
            <a:pathLst>
              <a:path w="93345" h="433070">
                <a:moveTo>
                  <a:pt x="68897" y="319630"/>
                </a:moveTo>
                <a:lnTo>
                  <a:pt x="0" y="388558"/>
                </a:lnTo>
                <a:lnTo>
                  <a:pt x="40473" y="429117"/>
                </a:lnTo>
                <a:lnTo>
                  <a:pt x="43986" y="432478"/>
                </a:lnTo>
                <a:lnTo>
                  <a:pt x="49331" y="432478"/>
                </a:lnTo>
                <a:lnTo>
                  <a:pt x="56051" y="425756"/>
                </a:lnTo>
                <a:lnTo>
                  <a:pt x="56051" y="420302"/>
                </a:lnTo>
                <a:lnTo>
                  <a:pt x="30384" y="394653"/>
                </a:lnTo>
                <a:lnTo>
                  <a:pt x="18174" y="394653"/>
                </a:lnTo>
                <a:lnTo>
                  <a:pt x="18174" y="382462"/>
                </a:lnTo>
                <a:lnTo>
                  <a:pt x="30385" y="382462"/>
                </a:lnTo>
                <a:lnTo>
                  <a:pt x="87212" y="325725"/>
                </a:lnTo>
                <a:lnTo>
                  <a:pt x="74990" y="325725"/>
                </a:lnTo>
                <a:lnTo>
                  <a:pt x="68897" y="319630"/>
                </a:lnTo>
                <a:close/>
              </a:path>
              <a:path w="93345" h="433070">
                <a:moveTo>
                  <a:pt x="18174" y="382462"/>
                </a:moveTo>
                <a:lnTo>
                  <a:pt x="18174" y="394653"/>
                </a:lnTo>
                <a:lnTo>
                  <a:pt x="24279" y="388558"/>
                </a:lnTo>
                <a:lnTo>
                  <a:pt x="18174" y="382462"/>
                </a:lnTo>
                <a:close/>
              </a:path>
              <a:path w="93345" h="433070">
                <a:moveTo>
                  <a:pt x="24279" y="388558"/>
                </a:moveTo>
                <a:lnTo>
                  <a:pt x="18174" y="394653"/>
                </a:lnTo>
                <a:lnTo>
                  <a:pt x="30384" y="394653"/>
                </a:lnTo>
                <a:lnTo>
                  <a:pt x="24279" y="388558"/>
                </a:lnTo>
                <a:close/>
              </a:path>
              <a:path w="93345" h="433070">
                <a:moveTo>
                  <a:pt x="30385" y="382462"/>
                </a:moveTo>
                <a:lnTo>
                  <a:pt x="18174" y="382462"/>
                </a:lnTo>
                <a:lnTo>
                  <a:pt x="24279" y="388558"/>
                </a:lnTo>
                <a:lnTo>
                  <a:pt x="30385" y="382462"/>
                </a:lnTo>
                <a:close/>
              </a:path>
              <a:path w="93345" h="433070">
                <a:moveTo>
                  <a:pt x="74990" y="313535"/>
                </a:moveTo>
                <a:lnTo>
                  <a:pt x="68897" y="319630"/>
                </a:lnTo>
                <a:lnTo>
                  <a:pt x="74990" y="325725"/>
                </a:lnTo>
                <a:lnTo>
                  <a:pt x="74990" y="313535"/>
                </a:lnTo>
                <a:close/>
              </a:path>
              <a:path w="93345" h="433070">
                <a:moveTo>
                  <a:pt x="87212" y="313535"/>
                </a:moveTo>
                <a:lnTo>
                  <a:pt x="74990" y="313535"/>
                </a:lnTo>
                <a:lnTo>
                  <a:pt x="74990" y="325725"/>
                </a:lnTo>
                <a:lnTo>
                  <a:pt x="87212" y="325725"/>
                </a:lnTo>
                <a:lnTo>
                  <a:pt x="93317" y="319630"/>
                </a:lnTo>
                <a:lnTo>
                  <a:pt x="87212" y="313535"/>
                </a:lnTo>
                <a:close/>
              </a:path>
              <a:path w="93345" h="433070">
                <a:moveTo>
                  <a:pt x="68897" y="181775"/>
                </a:moveTo>
                <a:lnTo>
                  <a:pt x="0" y="250702"/>
                </a:lnTo>
                <a:lnTo>
                  <a:pt x="68897" y="319630"/>
                </a:lnTo>
                <a:lnTo>
                  <a:pt x="74990" y="313535"/>
                </a:lnTo>
                <a:lnTo>
                  <a:pt x="87212" y="313535"/>
                </a:lnTo>
                <a:lnTo>
                  <a:pt x="30385" y="256798"/>
                </a:lnTo>
                <a:lnTo>
                  <a:pt x="18174" y="256798"/>
                </a:lnTo>
                <a:lnTo>
                  <a:pt x="18174" y="244607"/>
                </a:lnTo>
                <a:lnTo>
                  <a:pt x="30385" y="244607"/>
                </a:lnTo>
                <a:lnTo>
                  <a:pt x="87212" y="187870"/>
                </a:lnTo>
                <a:lnTo>
                  <a:pt x="74990" y="187870"/>
                </a:lnTo>
                <a:lnTo>
                  <a:pt x="68897" y="181775"/>
                </a:lnTo>
                <a:close/>
              </a:path>
              <a:path w="93345" h="433070">
                <a:moveTo>
                  <a:pt x="18174" y="244607"/>
                </a:moveTo>
                <a:lnTo>
                  <a:pt x="18174" y="256798"/>
                </a:lnTo>
                <a:lnTo>
                  <a:pt x="24279" y="250702"/>
                </a:lnTo>
                <a:lnTo>
                  <a:pt x="18174" y="244607"/>
                </a:lnTo>
                <a:close/>
              </a:path>
              <a:path w="93345" h="433070">
                <a:moveTo>
                  <a:pt x="24279" y="250702"/>
                </a:moveTo>
                <a:lnTo>
                  <a:pt x="18174" y="256798"/>
                </a:lnTo>
                <a:lnTo>
                  <a:pt x="30385" y="256798"/>
                </a:lnTo>
                <a:lnTo>
                  <a:pt x="24279" y="250702"/>
                </a:lnTo>
                <a:close/>
              </a:path>
              <a:path w="93345" h="433070">
                <a:moveTo>
                  <a:pt x="30385" y="244607"/>
                </a:moveTo>
                <a:lnTo>
                  <a:pt x="18174" y="244607"/>
                </a:lnTo>
                <a:lnTo>
                  <a:pt x="24279" y="250702"/>
                </a:lnTo>
                <a:lnTo>
                  <a:pt x="30385" y="244607"/>
                </a:lnTo>
                <a:close/>
              </a:path>
              <a:path w="93345" h="433070">
                <a:moveTo>
                  <a:pt x="74990" y="175679"/>
                </a:moveTo>
                <a:lnTo>
                  <a:pt x="68897" y="181775"/>
                </a:lnTo>
                <a:lnTo>
                  <a:pt x="74990" y="187870"/>
                </a:lnTo>
                <a:lnTo>
                  <a:pt x="74990" y="175679"/>
                </a:lnTo>
                <a:close/>
              </a:path>
              <a:path w="93345" h="433070">
                <a:moveTo>
                  <a:pt x="87212" y="175679"/>
                </a:moveTo>
                <a:lnTo>
                  <a:pt x="74990" y="175679"/>
                </a:lnTo>
                <a:lnTo>
                  <a:pt x="74990" y="187870"/>
                </a:lnTo>
                <a:lnTo>
                  <a:pt x="87212" y="187870"/>
                </a:lnTo>
                <a:lnTo>
                  <a:pt x="93317" y="181775"/>
                </a:lnTo>
                <a:lnTo>
                  <a:pt x="87212" y="175679"/>
                </a:lnTo>
                <a:close/>
              </a:path>
              <a:path w="93345" h="433070">
                <a:moveTo>
                  <a:pt x="68899" y="43917"/>
                </a:moveTo>
                <a:lnTo>
                  <a:pt x="0" y="112847"/>
                </a:lnTo>
                <a:lnTo>
                  <a:pt x="68897" y="181775"/>
                </a:lnTo>
                <a:lnTo>
                  <a:pt x="74990" y="175679"/>
                </a:lnTo>
                <a:lnTo>
                  <a:pt x="87212" y="175679"/>
                </a:lnTo>
                <a:lnTo>
                  <a:pt x="30385" y="118942"/>
                </a:lnTo>
                <a:lnTo>
                  <a:pt x="18174" y="118942"/>
                </a:lnTo>
                <a:lnTo>
                  <a:pt x="18174" y="106752"/>
                </a:lnTo>
                <a:lnTo>
                  <a:pt x="30385" y="106752"/>
                </a:lnTo>
                <a:lnTo>
                  <a:pt x="87228" y="50000"/>
                </a:lnTo>
                <a:lnTo>
                  <a:pt x="74990" y="50000"/>
                </a:lnTo>
                <a:lnTo>
                  <a:pt x="68899" y="43917"/>
                </a:lnTo>
                <a:close/>
              </a:path>
              <a:path w="93345" h="433070">
                <a:moveTo>
                  <a:pt x="18174" y="106752"/>
                </a:moveTo>
                <a:lnTo>
                  <a:pt x="18174" y="118942"/>
                </a:lnTo>
                <a:lnTo>
                  <a:pt x="24279" y="112847"/>
                </a:lnTo>
                <a:lnTo>
                  <a:pt x="18174" y="106752"/>
                </a:lnTo>
                <a:close/>
              </a:path>
              <a:path w="93345" h="433070">
                <a:moveTo>
                  <a:pt x="24279" y="112847"/>
                </a:moveTo>
                <a:lnTo>
                  <a:pt x="18174" y="118942"/>
                </a:lnTo>
                <a:lnTo>
                  <a:pt x="30385" y="118942"/>
                </a:lnTo>
                <a:lnTo>
                  <a:pt x="24279" y="112847"/>
                </a:lnTo>
                <a:close/>
              </a:path>
              <a:path w="93345" h="433070">
                <a:moveTo>
                  <a:pt x="30385" y="106752"/>
                </a:moveTo>
                <a:lnTo>
                  <a:pt x="18174" y="106752"/>
                </a:lnTo>
                <a:lnTo>
                  <a:pt x="24279" y="112847"/>
                </a:lnTo>
                <a:lnTo>
                  <a:pt x="30385" y="106752"/>
                </a:lnTo>
                <a:close/>
              </a:path>
              <a:path w="93345" h="433070">
                <a:moveTo>
                  <a:pt x="74990" y="37824"/>
                </a:moveTo>
                <a:lnTo>
                  <a:pt x="68899" y="43917"/>
                </a:lnTo>
                <a:lnTo>
                  <a:pt x="74990" y="50000"/>
                </a:lnTo>
                <a:lnTo>
                  <a:pt x="74990" y="37824"/>
                </a:lnTo>
                <a:close/>
              </a:path>
              <a:path w="93345" h="433070">
                <a:moveTo>
                  <a:pt x="87213" y="37824"/>
                </a:moveTo>
                <a:lnTo>
                  <a:pt x="74990" y="37824"/>
                </a:lnTo>
                <a:lnTo>
                  <a:pt x="74990" y="50000"/>
                </a:lnTo>
                <a:lnTo>
                  <a:pt x="87228" y="50000"/>
                </a:lnTo>
                <a:lnTo>
                  <a:pt x="93317" y="43919"/>
                </a:lnTo>
                <a:lnTo>
                  <a:pt x="87213" y="37824"/>
                </a:lnTo>
                <a:close/>
              </a:path>
              <a:path w="93345" h="433070">
                <a:moveTo>
                  <a:pt x="49331" y="0"/>
                </a:moveTo>
                <a:lnTo>
                  <a:pt x="43986" y="0"/>
                </a:lnTo>
                <a:lnTo>
                  <a:pt x="40473" y="3360"/>
                </a:lnTo>
                <a:lnTo>
                  <a:pt x="37113" y="6721"/>
                </a:lnTo>
                <a:lnTo>
                  <a:pt x="37113" y="12175"/>
                </a:lnTo>
                <a:lnTo>
                  <a:pt x="68899" y="43917"/>
                </a:lnTo>
                <a:lnTo>
                  <a:pt x="74990" y="37824"/>
                </a:lnTo>
                <a:lnTo>
                  <a:pt x="87213" y="37824"/>
                </a:lnTo>
                <a:lnTo>
                  <a:pt x="493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69506" y="3323019"/>
            <a:ext cx="17780" cy="120650"/>
          </a:xfrm>
          <a:custGeom>
            <a:avLst/>
            <a:gdLst/>
            <a:ahLst/>
            <a:cxnLst/>
            <a:rect l="l" t="t" r="r" b="b"/>
            <a:pathLst>
              <a:path w="17779" h="120650">
                <a:moveTo>
                  <a:pt x="13440" y="0"/>
                </a:moveTo>
                <a:lnTo>
                  <a:pt x="3818" y="0"/>
                </a:lnTo>
                <a:lnTo>
                  <a:pt x="0" y="3864"/>
                </a:lnTo>
                <a:lnTo>
                  <a:pt x="0" y="116773"/>
                </a:lnTo>
                <a:lnTo>
                  <a:pt x="3818" y="120623"/>
                </a:lnTo>
                <a:lnTo>
                  <a:pt x="13440" y="120623"/>
                </a:lnTo>
                <a:lnTo>
                  <a:pt x="17258" y="116773"/>
                </a:lnTo>
                <a:lnTo>
                  <a:pt x="17258" y="3864"/>
                </a:lnTo>
                <a:lnTo>
                  <a:pt x="134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69506" y="2806046"/>
            <a:ext cx="17780" cy="120650"/>
          </a:xfrm>
          <a:custGeom>
            <a:avLst/>
            <a:gdLst/>
            <a:ahLst/>
            <a:cxnLst/>
            <a:rect l="l" t="t" r="r" b="b"/>
            <a:pathLst>
              <a:path w="17779" h="120650">
                <a:moveTo>
                  <a:pt x="13440" y="0"/>
                </a:moveTo>
                <a:lnTo>
                  <a:pt x="3818" y="0"/>
                </a:lnTo>
                <a:lnTo>
                  <a:pt x="0" y="3864"/>
                </a:lnTo>
                <a:lnTo>
                  <a:pt x="0" y="116773"/>
                </a:lnTo>
                <a:lnTo>
                  <a:pt x="3818" y="120638"/>
                </a:lnTo>
                <a:lnTo>
                  <a:pt x="13440" y="120638"/>
                </a:lnTo>
                <a:lnTo>
                  <a:pt x="17258" y="116773"/>
                </a:lnTo>
                <a:lnTo>
                  <a:pt x="17258" y="3864"/>
                </a:lnTo>
                <a:lnTo>
                  <a:pt x="134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186389" y="2874974"/>
            <a:ext cx="586321" cy="79269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727906" y="2299430"/>
            <a:ext cx="137160" cy="60960"/>
          </a:xfrm>
          <a:custGeom>
            <a:avLst/>
            <a:gdLst/>
            <a:ahLst/>
            <a:cxnLst/>
            <a:rect l="l" t="t" r="r" b="b"/>
            <a:pathLst>
              <a:path w="137159" h="60960">
                <a:moveTo>
                  <a:pt x="45548" y="0"/>
                </a:moveTo>
                <a:lnTo>
                  <a:pt x="45548" y="60886"/>
                </a:lnTo>
                <a:lnTo>
                  <a:pt x="113870" y="38054"/>
                </a:lnTo>
                <a:lnTo>
                  <a:pt x="60730" y="38054"/>
                </a:lnTo>
                <a:lnTo>
                  <a:pt x="60730" y="22832"/>
                </a:lnTo>
                <a:lnTo>
                  <a:pt x="113870" y="22832"/>
                </a:lnTo>
                <a:lnTo>
                  <a:pt x="45548" y="0"/>
                </a:lnTo>
                <a:close/>
              </a:path>
              <a:path w="137159" h="60960">
                <a:moveTo>
                  <a:pt x="45548" y="22832"/>
                </a:moveTo>
                <a:lnTo>
                  <a:pt x="0" y="22832"/>
                </a:lnTo>
                <a:lnTo>
                  <a:pt x="0" y="38054"/>
                </a:lnTo>
                <a:lnTo>
                  <a:pt x="45548" y="38054"/>
                </a:lnTo>
                <a:lnTo>
                  <a:pt x="45548" y="22832"/>
                </a:lnTo>
                <a:close/>
              </a:path>
              <a:path w="137159" h="60960">
                <a:moveTo>
                  <a:pt x="113870" y="22832"/>
                </a:moveTo>
                <a:lnTo>
                  <a:pt x="60730" y="22832"/>
                </a:lnTo>
                <a:lnTo>
                  <a:pt x="60730" y="38054"/>
                </a:lnTo>
                <a:lnTo>
                  <a:pt x="113870" y="38054"/>
                </a:lnTo>
                <a:lnTo>
                  <a:pt x="136644" y="30443"/>
                </a:lnTo>
                <a:lnTo>
                  <a:pt x="113870" y="228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82357" y="2090650"/>
            <a:ext cx="409934" cy="37627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82357" y="2090650"/>
            <a:ext cx="163973" cy="3141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82357" y="2090650"/>
            <a:ext cx="245960" cy="31411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137839" y="3003947"/>
            <a:ext cx="546578" cy="2721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190676" y="3003948"/>
            <a:ext cx="298796" cy="2721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274485" y="3003948"/>
            <a:ext cx="362563" cy="2721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422061" y="3003948"/>
            <a:ext cx="262358" cy="2721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11854" y="2582004"/>
            <a:ext cx="546578" cy="2721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19142" y="2582004"/>
            <a:ext cx="389892" cy="27216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94047" y="2582004"/>
            <a:ext cx="362563" cy="2721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441623" y="2582004"/>
            <a:ext cx="216809" cy="27216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84113" y="2079630"/>
            <a:ext cx="546578" cy="2721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91401" y="2079630"/>
            <a:ext cx="389892" cy="27216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066305" y="2079630"/>
            <a:ext cx="362563" cy="2721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13882" y="2079630"/>
            <a:ext cx="216809" cy="27216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55341" y="3164688"/>
            <a:ext cx="409934" cy="37627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55341" y="3164688"/>
            <a:ext cx="409934" cy="31417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99479" y="3201220"/>
            <a:ext cx="165795" cy="24293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20757" y="3334561"/>
            <a:ext cx="409934" cy="3781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020758" y="3334561"/>
            <a:ext cx="409934" cy="31417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64896" y="3371093"/>
            <a:ext cx="165795" cy="24293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942653" y="3129982"/>
            <a:ext cx="409934" cy="37627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942654" y="3129982"/>
            <a:ext cx="326125" cy="31417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095696" y="3166514"/>
            <a:ext cx="193124" cy="24293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4390" y="2334767"/>
            <a:ext cx="2107829" cy="322021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965195" y="4121897"/>
            <a:ext cx="3731260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5" dirty="0">
                <a:latin typeface="Times New Roman"/>
                <a:cs typeface="Times New Roman"/>
              </a:rPr>
              <a:t>Tìm </a:t>
            </a:r>
            <a:r>
              <a:rPr sz="1650" dirty="0">
                <a:latin typeface="Times New Roman"/>
                <a:cs typeface="Times New Roman"/>
              </a:rPr>
              <a:t>mạch tương </a:t>
            </a:r>
            <a:r>
              <a:rPr sz="1650" spc="5" dirty="0">
                <a:latin typeface="Times New Roman"/>
                <a:cs typeface="Times New Roman"/>
              </a:rPr>
              <a:t>đương </a:t>
            </a:r>
            <a:r>
              <a:rPr sz="1650" dirty="0">
                <a:latin typeface="Times New Roman"/>
                <a:cs typeface="Times New Roman"/>
              </a:rPr>
              <a:t>Thevenin </a:t>
            </a:r>
            <a:r>
              <a:rPr sz="1650" spc="10" dirty="0">
                <a:latin typeface="Times New Roman"/>
                <a:cs typeface="Times New Roman"/>
              </a:rPr>
              <a:t>của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mạch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77996" y="4828208"/>
            <a:ext cx="85163" cy="35801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77997" y="5782953"/>
            <a:ext cx="85163" cy="32403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962115" y="5919360"/>
            <a:ext cx="85156" cy="18762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910813" y="4828208"/>
            <a:ext cx="170459" cy="27275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814409" y="5817066"/>
            <a:ext cx="85156" cy="28992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814409" y="4828208"/>
            <a:ext cx="85156" cy="39211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385330" y="5834115"/>
            <a:ext cx="0" cy="238760"/>
          </a:xfrm>
          <a:custGeom>
            <a:avLst/>
            <a:gdLst/>
            <a:ahLst/>
            <a:cxnLst/>
            <a:rect l="l" t="t" r="r" b="b"/>
            <a:pathLst>
              <a:path h="238760">
                <a:moveTo>
                  <a:pt x="0" y="0"/>
                </a:moveTo>
                <a:lnTo>
                  <a:pt x="0" y="238690"/>
                </a:lnTo>
              </a:path>
            </a:pathLst>
          </a:custGeom>
          <a:ln w="170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649417" y="6064281"/>
            <a:ext cx="2744470" cy="0"/>
          </a:xfrm>
          <a:custGeom>
            <a:avLst/>
            <a:gdLst/>
            <a:ahLst/>
            <a:cxnLst/>
            <a:rect l="l" t="t" r="r" b="b"/>
            <a:pathLst>
              <a:path w="2744470">
                <a:moveTo>
                  <a:pt x="0" y="0"/>
                </a:moveTo>
                <a:lnTo>
                  <a:pt x="2744450" y="0"/>
                </a:lnTo>
              </a:path>
            </a:pathLst>
          </a:custGeom>
          <a:ln w="17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342660" y="4824635"/>
            <a:ext cx="1585229" cy="124817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064196" y="4824635"/>
            <a:ext cx="1585503" cy="102652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945057" y="5714772"/>
            <a:ext cx="102214" cy="22163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945057" y="5083913"/>
            <a:ext cx="102214" cy="20466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810710" y="5304733"/>
            <a:ext cx="92710" cy="427990"/>
          </a:xfrm>
          <a:custGeom>
            <a:avLst/>
            <a:gdLst/>
            <a:ahLst/>
            <a:cxnLst/>
            <a:rect l="l" t="t" r="r" b="b"/>
            <a:pathLst>
              <a:path w="92709" h="427989">
                <a:moveTo>
                  <a:pt x="68312" y="316254"/>
                </a:moveTo>
                <a:lnTo>
                  <a:pt x="0" y="384450"/>
                </a:lnTo>
                <a:lnTo>
                  <a:pt x="43521" y="427905"/>
                </a:lnTo>
                <a:lnTo>
                  <a:pt x="48961" y="427905"/>
                </a:lnTo>
                <a:lnTo>
                  <a:pt x="55610" y="421243"/>
                </a:lnTo>
                <a:lnTo>
                  <a:pt x="55610" y="415853"/>
                </a:lnTo>
                <a:lnTo>
                  <a:pt x="30201" y="390476"/>
                </a:lnTo>
                <a:lnTo>
                  <a:pt x="18133" y="390476"/>
                </a:lnTo>
                <a:lnTo>
                  <a:pt x="18133" y="378424"/>
                </a:lnTo>
                <a:lnTo>
                  <a:pt x="30182" y="378424"/>
                </a:lnTo>
                <a:lnTo>
                  <a:pt x="86307" y="322280"/>
                </a:lnTo>
                <a:lnTo>
                  <a:pt x="74349" y="322280"/>
                </a:lnTo>
                <a:lnTo>
                  <a:pt x="68312" y="316254"/>
                </a:lnTo>
                <a:close/>
              </a:path>
              <a:path w="92709" h="427989">
                <a:moveTo>
                  <a:pt x="18133" y="378424"/>
                </a:moveTo>
                <a:lnTo>
                  <a:pt x="18133" y="390476"/>
                </a:lnTo>
                <a:lnTo>
                  <a:pt x="24162" y="384445"/>
                </a:lnTo>
                <a:lnTo>
                  <a:pt x="18133" y="378424"/>
                </a:lnTo>
                <a:close/>
              </a:path>
              <a:path w="92709" h="427989">
                <a:moveTo>
                  <a:pt x="24162" y="384445"/>
                </a:moveTo>
                <a:lnTo>
                  <a:pt x="18133" y="390476"/>
                </a:lnTo>
                <a:lnTo>
                  <a:pt x="30201" y="390476"/>
                </a:lnTo>
                <a:lnTo>
                  <a:pt x="24162" y="384445"/>
                </a:lnTo>
                <a:close/>
              </a:path>
              <a:path w="92709" h="427989">
                <a:moveTo>
                  <a:pt x="30182" y="378424"/>
                </a:moveTo>
                <a:lnTo>
                  <a:pt x="18133" y="378424"/>
                </a:lnTo>
                <a:lnTo>
                  <a:pt x="24162" y="384445"/>
                </a:lnTo>
                <a:lnTo>
                  <a:pt x="30182" y="378424"/>
                </a:lnTo>
                <a:close/>
              </a:path>
              <a:path w="92709" h="427989">
                <a:moveTo>
                  <a:pt x="74349" y="310228"/>
                </a:moveTo>
                <a:lnTo>
                  <a:pt x="68312" y="316254"/>
                </a:lnTo>
                <a:lnTo>
                  <a:pt x="74349" y="322280"/>
                </a:lnTo>
                <a:lnTo>
                  <a:pt x="74349" y="310228"/>
                </a:lnTo>
                <a:close/>
              </a:path>
              <a:path w="92709" h="427989">
                <a:moveTo>
                  <a:pt x="86307" y="310228"/>
                </a:moveTo>
                <a:lnTo>
                  <a:pt x="74349" y="310228"/>
                </a:lnTo>
                <a:lnTo>
                  <a:pt x="74349" y="322280"/>
                </a:lnTo>
                <a:lnTo>
                  <a:pt x="86307" y="322280"/>
                </a:lnTo>
                <a:lnTo>
                  <a:pt x="92331" y="316254"/>
                </a:lnTo>
                <a:lnTo>
                  <a:pt x="86307" y="310228"/>
                </a:lnTo>
                <a:close/>
              </a:path>
              <a:path w="92709" h="427989">
                <a:moveTo>
                  <a:pt x="68306" y="179854"/>
                </a:moveTo>
                <a:lnTo>
                  <a:pt x="0" y="248058"/>
                </a:lnTo>
                <a:lnTo>
                  <a:pt x="68312" y="316254"/>
                </a:lnTo>
                <a:lnTo>
                  <a:pt x="74349" y="310228"/>
                </a:lnTo>
                <a:lnTo>
                  <a:pt x="86307" y="310228"/>
                </a:lnTo>
                <a:lnTo>
                  <a:pt x="30182" y="254084"/>
                </a:lnTo>
                <a:lnTo>
                  <a:pt x="18133" y="254084"/>
                </a:lnTo>
                <a:lnTo>
                  <a:pt x="18133" y="242032"/>
                </a:lnTo>
                <a:lnTo>
                  <a:pt x="30182" y="242032"/>
                </a:lnTo>
                <a:lnTo>
                  <a:pt x="86307" y="185888"/>
                </a:lnTo>
                <a:lnTo>
                  <a:pt x="74349" y="185888"/>
                </a:lnTo>
                <a:lnTo>
                  <a:pt x="68306" y="179854"/>
                </a:lnTo>
                <a:close/>
              </a:path>
              <a:path w="92709" h="427989">
                <a:moveTo>
                  <a:pt x="18133" y="242032"/>
                </a:moveTo>
                <a:lnTo>
                  <a:pt x="18133" y="254084"/>
                </a:lnTo>
                <a:lnTo>
                  <a:pt x="24158" y="248058"/>
                </a:lnTo>
                <a:lnTo>
                  <a:pt x="18133" y="242032"/>
                </a:lnTo>
                <a:close/>
              </a:path>
              <a:path w="92709" h="427989">
                <a:moveTo>
                  <a:pt x="24158" y="248058"/>
                </a:moveTo>
                <a:lnTo>
                  <a:pt x="18133" y="254084"/>
                </a:lnTo>
                <a:lnTo>
                  <a:pt x="30182" y="254084"/>
                </a:lnTo>
                <a:lnTo>
                  <a:pt x="24158" y="248058"/>
                </a:lnTo>
                <a:close/>
              </a:path>
              <a:path w="92709" h="427989">
                <a:moveTo>
                  <a:pt x="30182" y="242032"/>
                </a:moveTo>
                <a:lnTo>
                  <a:pt x="18133" y="242032"/>
                </a:lnTo>
                <a:lnTo>
                  <a:pt x="24158" y="248058"/>
                </a:lnTo>
                <a:lnTo>
                  <a:pt x="30182" y="242032"/>
                </a:lnTo>
                <a:close/>
              </a:path>
              <a:path w="92709" h="427989">
                <a:moveTo>
                  <a:pt x="74349" y="173821"/>
                </a:moveTo>
                <a:lnTo>
                  <a:pt x="68306" y="179854"/>
                </a:lnTo>
                <a:lnTo>
                  <a:pt x="74349" y="185888"/>
                </a:lnTo>
                <a:lnTo>
                  <a:pt x="74349" y="173821"/>
                </a:lnTo>
                <a:close/>
              </a:path>
              <a:path w="92709" h="427989">
                <a:moveTo>
                  <a:pt x="86293" y="173821"/>
                </a:moveTo>
                <a:lnTo>
                  <a:pt x="74349" y="173821"/>
                </a:lnTo>
                <a:lnTo>
                  <a:pt x="74349" y="185888"/>
                </a:lnTo>
                <a:lnTo>
                  <a:pt x="86307" y="185888"/>
                </a:lnTo>
                <a:lnTo>
                  <a:pt x="92324" y="179854"/>
                </a:lnTo>
                <a:lnTo>
                  <a:pt x="86293" y="173821"/>
                </a:lnTo>
                <a:close/>
              </a:path>
              <a:path w="92709" h="427989">
                <a:moveTo>
                  <a:pt x="68313" y="43453"/>
                </a:moveTo>
                <a:lnTo>
                  <a:pt x="0" y="111651"/>
                </a:lnTo>
                <a:lnTo>
                  <a:pt x="68306" y="179854"/>
                </a:lnTo>
                <a:lnTo>
                  <a:pt x="74349" y="173821"/>
                </a:lnTo>
                <a:lnTo>
                  <a:pt x="86293" y="173821"/>
                </a:lnTo>
                <a:lnTo>
                  <a:pt x="30179" y="117677"/>
                </a:lnTo>
                <a:lnTo>
                  <a:pt x="18133" y="117677"/>
                </a:lnTo>
                <a:lnTo>
                  <a:pt x="18133" y="105625"/>
                </a:lnTo>
                <a:lnTo>
                  <a:pt x="30182" y="105625"/>
                </a:lnTo>
                <a:lnTo>
                  <a:pt x="86307" y="49481"/>
                </a:lnTo>
                <a:lnTo>
                  <a:pt x="74349" y="49481"/>
                </a:lnTo>
                <a:lnTo>
                  <a:pt x="68313" y="43453"/>
                </a:lnTo>
                <a:close/>
              </a:path>
              <a:path w="92709" h="427989">
                <a:moveTo>
                  <a:pt x="18133" y="105625"/>
                </a:moveTo>
                <a:lnTo>
                  <a:pt x="18133" y="117677"/>
                </a:lnTo>
                <a:lnTo>
                  <a:pt x="24156" y="111651"/>
                </a:lnTo>
                <a:lnTo>
                  <a:pt x="18133" y="105625"/>
                </a:lnTo>
                <a:close/>
              </a:path>
              <a:path w="92709" h="427989">
                <a:moveTo>
                  <a:pt x="24157" y="111651"/>
                </a:moveTo>
                <a:lnTo>
                  <a:pt x="18133" y="117677"/>
                </a:lnTo>
                <a:lnTo>
                  <a:pt x="30179" y="117677"/>
                </a:lnTo>
                <a:lnTo>
                  <a:pt x="24157" y="111651"/>
                </a:lnTo>
                <a:close/>
              </a:path>
              <a:path w="92709" h="427989">
                <a:moveTo>
                  <a:pt x="30182" y="105625"/>
                </a:moveTo>
                <a:lnTo>
                  <a:pt x="18133" y="105625"/>
                </a:lnTo>
                <a:lnTo>
                  <a:pt x="24157" y="111651"/>
                </a:lnTo>
                <a:lnTo>
                  <a:pt x="30182" y="105625"/>
                </a:lnTo>
                <a:close/>
              </a:path>
              <a:path w="92709" h="427989">
                <a:moveTo>
                  <a:pt x="74349" y="37429"/>
                </a:moveTo>
                <a:lnTo>
                  <a:pt x="68313" y="43453"/>
                </a:lnTo>
                <a:lnTo>
                  <a:pt x="74349" y="49481"/>
                </a:lnTo>
                <a:lnTo>
                  <a:pt x="74349" y="37429"/>
                </a:lnTo>
                <a:close/>
              </a:path>
              <a:path w="92709" h="427989">
                <a:moveTo>
                  <a:pt x="86317" y="37429"/>
                </a:moveTo>
                <a:lnTo>
                  <a:pt x="74349" y="37429"/>
                </a:lnTo>
                <a:lnTo>
                  <a:pt x="74349" y="49481"/>
                </a:lnTo>
                <a:lnTo>
                  <a:pt x="86307" y="49481"/>
                </a:lnTo>
                <a:lnTo>
                  <a:pt x="92330" y="43453"/>
                </a:lnTo>
                <a:lnTo>
                  <a:pt x="86317" y="37429"/>
                </a:lnTo>
                <a:close/>
              </a:path>
              <a:path w="92709" h="427989">
                <a:moveTo>
                  <a:pt x="48961" y="0"/>
                </a:moveTo>
                <a:lnTo>
                  <a:pt x="43521" y="0"/>
                </a:lnTo>
                <a:lnTo>
                  <a:pt x="36872" y="6662"/>
                </a:lnTo>
                <a:lnTo>
                  <a:pt x="36872" y="12052"/>
                </a:lnTo>
                <a:lnTo>
                  <a:pt x="68313" y="43453"/>
                </a:lnTo>
                <a:lnTo>
                  <a:pt x="74349" y="37429"/>
                </a:lnTo>
                <a:lnTo>
                  <a:pt x="86317" y="37429"/>
                </a:lnTo>
                <a:lnTo>
                  <a:pt x="489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848338" y="5714757"/>
            <a:ext cx="17145" cy="119380"/>
          </a:xfrm>
          <a:custGeom>
            <a:avLst/>
            <a:gdLst/>
            <a:ahLst/>
            <a:cxnLst/>
            <a:rect l="l" t="t" r="r" b="b"/>
            <a:pathLst>
              <a:path w="17145" h="119379">
                <a:moveTo>
                  <a:pt x="13298" y="0"/>
                </a:moveTo>
                <a:lnTo>
                  <a:pt x="3929" y="0"/>
                </a:lnTo>
                <a:lnTo>
                  <a:pt x="0" y="3815"/>
                </a:lnTo>
                <a:lnTo>
                  <a:pt x="0" y="115527"/>
                </a:lnTo>
                <a:lnTo>
                  <a:pt x="3929" y="119358"/>
                </a:lnTo>
                <a:lnTo>
                  <a:pt x="13298" y="119358"/>
                </a:lnTo>
                <a:lnTo>
                  <a:pt x="17076" y="115527"/>
                </a:lnTo>
                <a:lnTo>
                  <a:pt x="17076" y="3815"/>
                </a:lnTo>
                <a:lnTo>
                  <a:pt x="132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848338" y="5203271"/>
            <a:ext cx="17145" cy="119380"/>
          </a:xfrm>
          <a:custGeom>
            <a:avLst/>
            <a:gdLst/>
            <a:ahLst/>
            <a:cxnLst/>
            <a:rect l="l" t="t" r="r" b="b"/>
            <a:pathLst>
              <a:path w="17145" h="119379">
                <a:moveTo>
                  <a:pt x="13298" y="0"/>
                </a:moveTo>
                <a:lnTo>
                  <a:pt x="3929" y="0"/>
                </a:lnTo>
                <a:lnTo>
                  <a:pt x="0" y="3815"/>
                </a:lnTo>
                <a:lnTo>
                  <a:pt x="0" y="115527"/>
                </a:lnTo>
                <a:lnTo>
                  <a:pt x="3929" y="119343"/>
                </a:lnTo>
                <a:lnTo>
                  <a:pt x="13298" y="119343"/>
                </a:lnTo>
                <a:lnTo>
                  <a:pt x="17076" y="115527"/>
                </a:lnTo>
                <a:lnTo>
                  <a:pt x="17076" y="3815"/>
                </a:lnTo>
                <a:lnTo>
                  <a:pt x="132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009630" y="5400216"/>
            <a:ext cx="406346" cy="372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009630" y="5400216"/>
            <a:ext cx="406346" cy="31143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51632" y="5436430"/>
            <a:ext cx="164344" cy="24082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666753" y="5365813"/>
            <a:ext cx="406346" cy="372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666752" y="5365813"/>
            <a:ext cx="406346" cy="31143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908754" y="5402027"/>
            <a:ext cx="164344" cy="24082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172685" y="5354949"/>
            <a:ext cx="541795" cy="26798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25059" y="5354949"/>
            <a:ext cx="296181" cy="26798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308134" y="5354949"/>
            <a:ext cx="359391" cy="26798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454419" y="5354949"/>
            <a:ext cx="260061" cy="26798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357412" y="5367624"/>
            <a:ext cx="541795" cy="2697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364636" y="5367624"/>
            <a:ext cx="386481" cy="26979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538011" y="5367624"/>
            <a:ext cx="359391" cy="2697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684296" y="5367624"/>
            <a:ext cx="214912" cy="26979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318970" y="4607139"/>
            <a:ext cx="541795" cy="2697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371344" y="4607139"/>
            <a:ext cx="296181" cy="269791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454419" y="4607139"/>
            <a:ext cx="359391" cy="2697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600704" y="4607139"/>
            <a:ext cx="260061" cy="2697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131664" y="4607139"/>
            <a:ext cx="541795" cy="2697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184038" y="4607139"/>
            <a:ext cx="296181" cy="269791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267113" y="4607139"/>
            <a:ext cx="359391" cy="2697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413398" y="4607139"/>
            <a:ext cx="260061" cy="2697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086514" y="5115940"/>
            <a:ext cx="406346" cy="3748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086514" y="5115940"/>
            <a:ext cx="232972" cy="31143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113604" y="5115940"/>
            <a:ext cx="287151" cy="31143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086514" y="5659141"/>
            <a:ext cx="406346" cy="3748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086514" y="5659141"/>
            <a:ext cx="223942" cy="31143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104574" y="5659141"/>
            <a:ext cx="287151" cy="311439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8755" y="2982544"/>
            <a:ext cx="8049259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035925" algn="l"/>
              </a:tabLst>
            </a:pPr>
            <a:r>
              <a:rPr sz="8000" u="sng" spc="-1989" dirty="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0" u="sng" spc="-590" dirty="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Thank</a:t>
            </a:r>
            <a:r>
              <a:rPr sz="8000" u="sng" spc="-615" dirty="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 </a:t>
            </a:r>
            <a:r>
              <a:rPr sz="8000" u="sng" spc="-200" dirty="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you!	</a:t>
            </a:r>
            <a:endParaRPr sz="8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2701</Words>
  <Application>Microsoft Office PowerPoint</Application>
  <PresentationFormat>A4 Paper (210x297 mm)</PresentationFormat>
  <Paragraphs>402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Symbol</vt:lpstr>
      <vt:lpstr>Times New Roman</vt:lpstr>
      <vt:lpstr>Trebuchet MS</vt:lpstr>
      <vt:lpstr>Wingdings</vt:lpstr>
      <vt:lpstr>Office Theme</vt:lpstr>
      <vt:lpstr>CÁC THIẾT BỊ VÀ  MẠCH ĐIỆN TỬ</vt:lpstr>
      <vt:lpstr>Giáo trình</vt:lpstr>
      <vt:lpstr>Tài liệu tham khảo</vt:lpstr>
      <vt:lpstr>Tổng quan về môn học</vt:lpstr>
      <vt:lpstr>Tín hiệu tương tự (Analog signals)</vt:lpstr>
      <vt:lpstr>Tín hiệu điện tử</vt:lpstr>
      <vt:lpstr>Thiết kế các thiết bị &amp; mạch điện tử</vt:lpstr>
      <vt:lpstr>Mạch điều khiển sử dụng cảm biến</vt:lpstr>
      <vt:lpstr>Hệ thống điện tử</vt:lpstr>
      <vt:lpstr>Sơ đồ khối điển hình trong một  hệ thống điện tử</vt:lpstr>
      <vt:lpstr>Mạch khuếch đại (Op-Amps)</vt:lpstr>
      <vt:lpstr>Mục tiêu của môn học</vt:lpstr>
      <vt:lpstr>Nội dung của môn học</vt:lpstr>
      <vt:lpstr>Tài liệu tham khảo</vt:lpstr>
      <vt:lpstr>Kế hoạch giảng dạy (i)</vt:lpstr>
      <vt:lpstr>Kế hoạch giảng dạy (ii)</vt:lpstr>
      <vt:lpstr>Kế hoạch giảng dạy (iii)</vt:lpstr>
      <vt:lpstr>Kế hoạch giảng dạy (iv)</vt:lpstr>
      <vt:lpstr>Kế hoạch giảng dạy (v)</vt:lpstr>
      <vt:lpstr>Kế hoạch giảng dạy (vi)</vt:lpstr>
      <vt:lpstr>Kế hoạch giảng dạy (vii)</vt:lpstr>
      <vt:lpstr>Kế hoạch giảng dạy (viii)</vt:lpstr>
      <vt:lpstr>Kế hoạch giảng dạy (ix)</vt:lpstr>
      <vt:lpstr>Kế hoạch giảng dạy (x)</vt:lpstr>
      <vt:lpstr>Kế hoạch giảng dạy (xi)</vt:lpstr>
      <vt:lpstr>Kiểm tra và đánh giá</vt:lpstr>
      <vt:lpstr>Nhắc lại các kiến thức cơ bản</vt:lpstr>
      <vt:lpstr>Điện tích</vt:lpstr>
      <vt:lpstr>Dòng điện một chiều</vt:lpstr>
      <vt:lpstr>Điện thế</vt:lpstr>
      <vt:lpstr>Công suất</vt:lpstr>
      <vt:lpstr>Linh kiện điện tử thụ động</vt:lpstr>
      <vt:lpstr>Phân tích mạch điện một chiều</vt:lpstr>
      <vt:lpstr>Phân tích mạch điện xoay chiều</vt:lpstr>
      <vt:lpstr>Bài tập ôn tập</vt:lpstr>
      <vt:lpstr>Bài tập ôn tập</vt:lpstr>
      <vt:lpstr>Bài tập ôn tập</vt:lpstr>
      <vt:lpstr> 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Trịnh Lê Huy</cp:lastModifiedBy>
  <cp:revision>1</cp:revision>
  <dcterms:created xsi:type="dcterms:W3CDTF">2019-03-22T05:53:08Z</dcterms:created>
  <dcterms:modified xsi:type="dcterms:W3CDTF">2023-02-28T01:43:23Z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