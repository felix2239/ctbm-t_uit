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x="9906000" cy="6858000"/>
  <p:notesSz cx="9906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2950" y="2125980"/>
            <a:ext cx="84201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581" y="6400800"/>
            <a:ext cx="9903460" cy="457200"/>
          </a:xfrm>
          <a:custGeom>
            <a:avLst/>
            <a:gdLst/>
            <a:ahLst/>
            <a:cxnLst/>
            <a:rect l="l" t="t" r="r" b="b"/>
            <a:pathLst>
              <a:path w="9903460" h="457200">
                <a:moveTo>
                  <a:pt x="0" y="457200"/>
                </a:moveTo>
                <a:lnTo>
                  <a:pt x="9903460" y="457200"/>
                </a:lnTo>
                <a:lnTo>
                  <a:pt x="990346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12" y="6334315"/>
            <a:ext cx="9903460" cy="64135"/>
          </a:xfrm>
          <a:custGeom>
            <a:avLst/>
            <a:gdLst/>
            <a:ahLst/>
            <a:cxnLst/>
            <a:rect l="l" t="t" r="r" b="b"/>
            <a:pathLst>
              <a:path w="9903460" h="64135">
                <a:moveTo>
                  <a:pt x="0" y="64008"/>
                </a:moveTo>
                <a:lnTo>
                  <a:pt x="9903460" y="64008"/>
                </a:lnTo>
                <a:lnTo>
                  <a:pt x="9903460" y="0"/>
                </a:lnTo>
                <a:lnTo>
                  <a:pt x="0" y="0"/>
                </a:lnTo>
                <a:lnTo>
                  <a:pt x="0" y="64008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400800"/>
            <a:ext cx="9906000" cy="457200"/>
          </a:xfrm>
          <a:custGeom>
            <a:avLst/>
            <a:gdLst/>
            <a:ahLst/>
            <a:cxnLst/>
            <a:rect l="l" t="t" r="r" b="b"/>
            <a:pathLst>
              <a:path w="9906000" h="457200">
                <a:moveTo>
                  <a:pt x="0" y="457200"/>
                </a:moveTo>
                <a:lnTo>
                  <a:pt x="9906000" y="457200"/>
                </a:lnTo>
                <a:lnTo>
                  <a:pt x="99060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6334318"/>
            <a:ext cx="9906000" cy="66040"/>
          </a:xfrm>
          <a:custGeom>
            <a:avLst/>
            <a:gdLst/>
            <a:ahLst/>
            <a:cxnLst/>
            <a:rect l="l" t="t" r="r" b="b"/>
            <a:pathLst>
              <a:path w="9906000" h="66039">
                <a:moveTo>
                  <a:pt x="0" y="65999"/>
                </a:moveTo>
                <a:lnTo>
                  <a:pt x="9906000" y="65999"/>
                </a:lnTo>
                <a:lnTo>
                  <a:pt x="9906000" y="0"/>
                </a:lnTo>
                <a:lnTo>
                  <a:pt x="0" y="0"/>
                </a:lnTo>
                <a:lnTo>
                  <a:pt x="0" y="65999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969746" y="1737867"/>
            <a:ext cx="8098790" cy="0"/>
          </a:xfrm>
          <a:custGeom>
            <a:avLst/>
            <a:gdLst/>
            <a:ahLst/>
            <a:cxnLst/>
            <a:rect l="l" t="t" r="r" b="b"/>
            <a:pathLst>
              <a:path w="8098790" h="0">
                <a:moveTo>
                  <a:pt x="0" y="0"/>
                </a:moveTo>
                <a:lnTo>
                  <a:pt x="809818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65497" y="70485"/>
            <a:ext cx="1266189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8839" y="1736787"/>
            <a:ext cx="8198484" cy="2449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4.png"/><Relationship Id="rId46" Type="http://schemas.openxmlformats.org/officeDocument/2006/relationships/image" Target="../media/image45.png"/><Relationship Id="rId47" Type="http://schemas.openxmlformats.org/officeDocument/2006/relationships/image" Target="../media/image46.png"/><Relationship Id="rId48" Type="http://schemas.openxmlformats.org/officeDocument/2006/relationships/image" Target="../media/image47.png"/><Relationship Id="rId49" Type="http://schemas.openxmlformats.org/officeDocument/2006/relationships/image" Target="../media/image48.png"/><Relationship Id="rId50" Type="http://schemas.openxmlformats.org/officeDocument/2006/relationships/image" Target="../media/image49.png"/><Relationship Id="rId51" Type="http://schemas.openxmlformats.org/officeDocument/2006/relationships/image" Target="../media/image50.png"/><Relationship Id="rId52" Type="http://schemas.openxmlformats.org/officeDocument/2006/relationships/image" Target="../media/image51.png"/><Relationship Id="rId53" Type="http://schemas.openxmlformats.org/officeDocument/2006/relationships/image" Target="../media/image52.png"/><Relationship Id="rId54" Type="http://schemas.openxmlformats.org/officeDocument/2006/relationships/image" Target="../media/image53.png"/><Relationship Id="rId55" Type="http://schemas.openxmlformats.org/officeDocument/2006/relationships/image" Target="../media/image54.png"/><Relationship Id="rId56" Type="http://schemas.openxmlformats.org/officeDocument/2006/relationships/image" Target="../media/image55.png"/><Relationship Id="rId57" Type="http://schemas.openxmlformats.org/officeDocument/2006/relationships/image" Target="../media/image56.png"/><Relationship Id="rId58" Type="http://schemas.openxmlformats.org/officeDocument/2006/relationships/image" Target="../media/image57.png"/><Relationship Id="rId59" Type="http://schemas.openxmlformats.org/officeDocument/2006/relationships/image" Target="../media/image58.png"/><Relationship Id="rId60" Type="http://schemas.openxmlformats.org/officeDocument/2006/relationships/image" Target="../media/image59.png"/><Relationship Id="rId61" Type="http://schemas.openxmlformats.org/officeDocument/2006/relationships/image" Target="../media/image60.png"/><Relationship Id="rId62" Type="http://schemas.openxmlformats.org/officeDocument/2006/relationships/image" Target="../media/image61.png"/><Relationship Id="rId63" Type="http://schemas.openxmlformats.org/officeDocument/2006/relationships/image" Target="../media/image62.png"/><Relationship Id="rId64" Type="http://schemas.openxmlformats.org/officeDocument/2006/relationships/image" Target="../media/image63.png"/><Relationship Id="rId65" Type="http://schemas.openxmlformats.org/officeDocument/2006/relationships/image" Target="../media/image64.png"/><Relationship Id="rId66" Type="http://schemas.openxmlformats.org/officeDocument/2006/relationships/image" Target="../media/image65.png"/><Relationship Id="rId67" Type="http://schemas.openxmlformats.org/officeDocument/2006/relationships/image" Target="../media/image66.png"/><Relationship Id="rId68" Type="http://schemas.openxmlformats.org/officeDocument/2006/relationships/image" Target="../media/image67.png"/><Relationship Id="rId69" Type="http://schemas.openxmlformats.org/officeDocument/2006/relationships/image" Target="../media/image68.png"/><Relationship Id="rId70" Type="http://schemas.openxmlformats.org/officeDocument/2006/relationships/image" Target="../media/image69.png"/><Relationship Id="rId71" Type="http://schemas.openxmlformats.org/officeDocument/2006/relationships/image" Target="../media/image70.png"/><Relationship Id="rId72" Type="http://schemas.openxmlformats.org/officeDocument/2006/relationships/image" Target="../media/image71.png"/><Relationship Id="rId73" Type="http://schemas.openxmlformats.org/officeDocument/2006/relationships/image" Target="../media/image72.png"/><Relationship Id="rId74" Type="http://schemas.openxmlformats.org/officeDocument/2006/relationships/image" Target="../media/image73.png"/><Relationship Id="rId75" Type="http://schemas.openxmlformats.org/officeDocument/2006/relationships/image" Target="../media/image74.png"/><Relationship Id="rId76" Type="http://schemas.openxmlformats.org/officeDocument/2006/relationships/image" Target="../media/image75.png"/><Relationship Id="rId77" Type="http://schemas.openxmlformats.org/officeDocument/2006/relationships/image" Target="../media/image76.png"/><Relationship Id="rId78" Type="http://schemas.openxmlformats.org/officeDocument/2006/relationships/image" Target="../media/image77.png"/><Relationship Id="rId79" Type="http://schemas.openxmlformats.org/officeDocument/2006/relationships/image" Target="../media/image78.png"/><Relationship Id="rId80" Type="http://schemas.openxmlformats.org/officeDocument/2006/relationships/image" Target="../media/image79.png"/><Relationship Id="rId81" Type="http://schemas.openxmlformats.org/officeDocument/2006/relationships/image" Target="../media/image80.png"/><Relationship Id="rId82" Type="http://schemas.openxmlformats.org/officeDocument/2006/relationships/image" Target="../media/image81.png"/><Relationship Id="rId83" Type="http://schemas.openxmlformats.org/officeDocument/2006/relationships/image" Target="../media/image82.png"/><Relationship Id="rId84" Type="http://schemas.openxmlformats.org/officeDocument/2006/relationships/image" Target="../media/image83.png"/><Relationship Id="rId85" Type="http://schemas.openxmlformats.org/officeDocument/2006/relationships/image" Target="../media/image84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png"/><Relationship Id="rId3" Type="http://schemas.openxmlformats.org/officeDocument/2006/relationships/image" Target="../media/image87.jpg"/><Relationship Id="rId4" Type="http://schemas.openxmlformats.org/officeDocument/2006/relationships/image" Target="../media/image88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9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0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1.png"/><Relationship Id="rId3" Type="http://schemas.openxmlformats.org/officeDocument/2006/relationships/image" Target="../media/image92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3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4.jpg"/><Relationship Id="rId3" Type="http://schemas.openxmlformats.org/officeDocument/2006/relationships/image" Target="../media/image95.jpg"/><Relationship Id="rId4" Type="http://schemas.openxmlformats.org/officeDocument/2006/relationships/image" Target="../media/image96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7.jpg"/><Relationship Id="rId3" Type="http://schemas.openxmlformats.org/officeDocument/2006/relationships/image" Target="../media/image98.jpg"/><Relationship Id="rId4" Type="http://schemas.openxmlformats.org/officeDocument/2006/relationships/image" Target="../media/image99.jpg"/><Relationship Id="rId5" Type="http://schemas.openxmlformats.org/officeDocument/2006/relationships/image" Target="../media/image100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1.jpg"/><Relationship Id="rId3" Type="http://schemas.openxmlformats.org/officeDocument/2006/relationships/image" Target="../media/image102.jpg"/><Relationship Id="rId4" Type="http://schemas.openxmlformats.org/officeDocument/2006/relationships/image" Target="../media/image103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4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5.jpg"/><Relationship Id="rId3" Type="http://schemas.openxmlformats.org/officeDocument/2006/relationships/image" Target="../media/image106.jpg"/><Relationship Id="rId4" Type="http://schemas.openxmlformats.org/officeDocument/2006/relationships/image" Target="../media/image107.jpg"/><Relationship Id="rId5" Type="http://schemas.openxmlformats.org/officeDocument/2006/relationships/image" Target="../media/image108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9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0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1.jpg"/><Relationship Id="rId3" Type="http://schemas.openxmlformats.org/officeDocument/2006/relationships/image" Target="../media/image112.jpg"/><Relationship Id="rId4" Type="http://schemas.openxmlformats.org/officeDocument/2006/relationships/image" Target="../media/image113.jpg"/><Relationship Id="rId5" Type="http://schemas.openxmlformats.org/officeDocument/2006/relationships/image" Target="../media/image114.jpg"/><Relationship Id="rId6" Type="http://schemas.openxmlformats.org/officeDocument/2006/relationships/image" Target="../media/image115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6.jpg"/><Relationship Id="rId3" Type="http://schemas.openxmlformats.org/officeDocument/2006/relationships/image" Target="../media/image117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8.png"/><Relationship Id="rId3" Type="http://schemas.openxmlformats.org/officeDocument/2006/relationships/image" Target="../media/image119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0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1.jpg"/><Relationship Id="rId3" Type="http://schemas.openxmlformats.org/officeDocument/2006/relationships/image" Target="../media/image122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3.png"/><Relationship Id="rId3" Type="http://schemas.openxmlformats.org/officeDocument/2006/relationships/image" Target="../media/image124.jpg"/><Relationship Id="rId4" Type="http://schemas.openxmlformats.org/officeDocument/2006/relationships/image" Target="../media/image125.png"/><Relationship Id="rId5" Type="http://schemas.openxmlformats.org/officeDocument/2006/relationships/image" Target="../media/image126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7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8.png"/><Relationship Id="rId3" Type="http://schemas.openxmlformats.org/officeDocument/2006/relationships/image" Target="../media/image129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0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1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2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5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6.png"/><Relationship Id="rId3" Type="http://schemas.openxmlformats.org/officeDocument/2006/relationships/image" Target="../media/image137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8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9.png"/><Relationship Id="rId3" Type="http://schemas.openxmlformats.org/officeDocument/2006/relationships/image" Target="../media/image140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1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2.jpg"/><Relationship Id="rId3" Type="http://schemas.openxmlformats.org/officeDocument/2006/relationships/image" Target="../media/image143.jpg"/><Relationship Id="rId4" Type="http://schemas.openxmlformats.org/officeDocument/2006/relationships/image" Target="../media/image144.jp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5.jpg"/><Relationship Id="rId3" Type="http://schemas.openxmlformats.org/officeDocument/2006/relationships/image" Target="../media/image146.png"/><Relationship Id="rId4" Type="http://schemas.openxmlformats.org/officeDocument/2006/relationships/image" Target="../media/image147.jp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8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9.jpg"/><Relationship Id="rId3" Type="http://schemas.openxmlformats.org/officeDocument/2006/relationships/image" Target="../media/image150.png"/><Relationship Id="rId4" Type="http://schemas.openxmlformats.org/officeDocument/2006/relationships/image" Target="../media/image151.png"/><Relationship Id="rId5" Type="http://schemas.openxmlformats.org/officeDocument/2006/relationships/image" Target="../media/image152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3.png"/><Relationship Id="rId3" Type="http://schemas.openxmlformats.org/officeDocument/2006/relationships/image" Target="../media/image154.png"/><Relationship Id="rId4" Type="http://schemas.openxmlformats.org/officeDocument/2006/relationships/image" Target="../media/image155.png"/><Relationship Id="rId5" Type="http://schemas.openxmlformats.org/officeDocument/2006/relationships/image" Target="../media/image156.jp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7.png"/><Relationship Id="rId3" Type="http://schemas.openxmlformats.org/officeDocument/2006/relationships/image" Target="../media/image158.pn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9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" y="0"/>
            <a:ext cx="3291204" cy="6858000"/>
          </a:xfrm>
          <a:custGeom>
            <a:avLst/>
            <a:gdLst/>
            <a:ahLst/>
            <a:cxnLst/>
            <a:rect l="l" t="t" r="r" b="b"/>
            <a:pathLst>
              <a:path w="3291204" h="6858000">
                <a:moveTo>
                  <a:pt x="0" y="6858000"/>
                </a:moveTo>
                <a:lnTo>
                  <a:pt x="3291204" y="6858000"/>
                </a:lnTo>
                <a:lnTo>
                  <a:pt x="329120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308572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52006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79831" y="2141220"/>
            <a:ext cx="2386584" cy="10119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965960" y="2141220"/>
            <a:ext cx="722376" cy="10119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087879" y="2141220"/>
            <a:ext cx="848868" cy="10119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336292" y="2141220"/>
            <a:ext cx="720851" cy="101193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567684" y="510540"/>
            <a:ext cx="944880" cy="13411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20084" y="510540"/>
            <a:ext cx="6141720" cy="134111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970020" y="1168908"/>
            <a:ext cx="5428487" cy="134112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606028" y="1168908"/>
            <a:ext cx="944879" cy="134112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4084701" y="670305"/>
            <a:ext cx="5223510" cy="1415415"/>
          </a:xfrm>
          <a:prstGeom prst="rect"/>
        </p:spPr>
        <p:txBody>
          <a:bodyPr wrap="square" lIns="0" tIns="95885" rIns="0" bIns="0" rtlCol="0" vert="horz">
            <a:spAutoFit/>
          </a:bodyPr>
          <a:lstStyle/>
          <a:p>
            <a:pPr marL="262255" marR="5080" indent="-250190">
              <a:lnSpc>
                <a:spcPts val="5180"/>
              </a:lnSpc>
              <a:spcBef>
                <a:spcPts val="755"/>
              </a:spcBef>
            </a:pPr>
            <a:r>
              <a:rPr dirty="0" sz="4800" spc="-5">
                <a:solidFill>
                  <a:srgbClr val="404040"/>
                </a:solidFill>
              </a:rPr>
              <a:t>CÁC </a:t>
            </a:r>
            <a:r>
              <a:rPr dirty="0" sz="4800">
                <a:solidFill>
                  <a:srgbClr val="404040"/>
                </a:solidFill>
              </a:rPr>
              <a:t>THIẾT BỊ</a:t>
            </a:r>
            <a:r>
              <a:rPr dirty="0" sz="4800" spc="-375">
                <a:solidFill>
                  <a:srgbClr val="404040"/>
                </a:solidFill>
              </a:rPr>
              <a:t> </a:t>
            </a:r>
            <a:r>
              <a:rPr dirty="0" sz="4800" spc="-5">
                <a:solidFill>
                  <a:srgbClr val="404040"/>
                </a:solidFill>
              </a:rPr>
              <a:t>VÀ  </a:t>
            </a:r>
            <a:r>
              <a:rPr dirty="0" sz="4800">
                <a:solidFill>
                  <a:srgbClr val="404040"/>
                </a:solidFill>
              </a:rPr>
              <a:t>MẠCH </a:t>
            </a:r>
            <a:r>
              <a:rPr dirty="0" sz="4800" spc="-5">
                <a:solidFill>
                  <a:srgbClr val="404040"/>
                </a:solidFill>
              </a:rPr>
              <a:t>ĐIỆN</a:t>
            </a:r>
            <a:r>
              <a:rPr dirty="0" sz="4800" spc="-170">
                <a:solidFill>
                  <a:srgbClr val="404040"/>
                </a:solidFill>
              </a:rPr>
              <a:t> </a:t>
            </a:r>
            <a:r>
              <a:rPr dirty="0" sz="4800">
                <a:solidFill>
                  <a:srgbClr val="404040"/>
                </a:solidFill>
              </a:rPr>
              <a:t>TỬ</a:t>
            </a:r>
            <a:endParaRPr sz="4800"/>
          </a:p>
        </p:txBody>
      </p:sp>
      <p:sp>
        <p:nvSpPr>
          <p:cNvPr id="13" name="object 13"/>
          <p:cNvSpPr/>
          <p:nvPr/>
        </p:nvSpPr>
        <p:spPr>
          <a:xfrm>
            <a:off x="318515" y="2868167"/>
            <a:ext cx="1286256" cy="51358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296924" y="2868167"/>
            <a:ext cx="748284" cy="51358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737360" y="2868167"/>
            <a:ext cx="356615" cy="51358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786127" y="2868167"/>
            <a:ext cx="687324" cy="51358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165604" y="2868167"/>
            <a:ext cx="358139" cy="51358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18515" y="3115055"/>
            <a:ext cx="992124" cy="51358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002791" y="3115055"/>
            <a:ext cx="358140" cy="51358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053083" y="3115055"/>
            <a:ext cx="637031" cy="513588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382267" y="3115055"/>
            <a:ext cx="359663" cy="513588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52043" y="3570732"/>
            <a:ext cx="409956" cy="39776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29412" y="3558540"/>
            <a:ext cx="556260" cy="429768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26591" y="3558540"/>
            <a:ext cx="301752" cy="429768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969263" y="3558540"/>
            <a:ext cx="516636" cy="429768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226819" y="3558540"/>
            <a:ext cx="352044" cy="429768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319783" y="3558540"/>
            <a:ext cx="541020" cy="429768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601724" y="3558540"/>
            <a:ext cx="301751" cy="429768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644395" y="3558540"/>
            <a:ext cx="576071" cy="429768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961388" y="3558540"/>
            <a:ext cx="300227" cy="429768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002535" y="3558540"/>
            <a:ext cx="595884" cy="429768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339339" y="3558540"/>
            <a:ext cx="301751" cy="429768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52043" y="3953255"/>
            <a:ext cx="409956" cy="397763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29412" y="3941064"/>
            <a:ext cx="659892" cy="429768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030224" y="3941064"/>
            <a:ext cx="300228" cy="429768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071372" y="3941064"/>
            <a:ext cx="541020" cy="429768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353311" y="3941064"/>
            <a:ext cx="301751" cy="429768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395983" y="3941064"/>
            <a:ext cx="595884" cy="429768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732788" y="3941064"/>
            <a:ext cx="301751" cy="429768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52043" y="4337303"/>
            <a:ext cx="409956" cy="397763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29412" y="4325111"/>
            <a:ext cx="556260" cy="429768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926591" y="4325111"/>
            <a:ext cx="301752" cy="429768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969263" y="4325111"/>
            <a:ext cx="516636" cy="429768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226819" y="4325111"/>
            <a:ext cx="352044" cy="429768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319783" y="4325111"/>
            <a:ext cx="541020" cy="429768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601724" y="4325111"/>
            <a:ext cx="301751" cy="429768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644395" y="4325111"/>
            <a:ext cx="576071" cy="429768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961388" y="4325111"/>
            <a:ext cx="300227" cy="429768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002535" y="4325111"/>
            <a:ext cx="440436" cy="429768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183892" y="4325111"/>
            <a:ext cx="301751" cy="429768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226564" y="4325111"/>
            <a:ext cx="659892" cy="429768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627376" y="4325111"/>
            <a:ext cx="300227" cy="429768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29412" y="4530852"/>
            <a:ext cx="541019" cy="429768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911352" y="4530852"/>
            <a:ext cx="303275" cy="429768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955547" y="4530852"/>
            <a:ext cx="961643" cy="429768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658111" y="4530852"/>
            <a:ext cx="646176" cy="429768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045207" y="4530852"/>
            <a:ext cx="300228" cy="429768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086355" y="4530852"/>
            <a:ext cx="551688" cy="429768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378964" y="4530852"/>
            <a:ext cx="298704" cy="429768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418588" y="4530852"/>
            <a:ext cx="505968" cy="429768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665476" y="4530852"/>
            <a:ext cx="301751" cy="429768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708148" y="4530852"/>
            <a:ext cx="301751" cy="429768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352043" y="4927091"/>
            <a:ext cx="409956" cy="397763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29412" y="4914900"/>
            <a:ext cx="556260" cy="429768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926591" y="4914900"/>
            <a:ext cx="301752" cy="429768"/>
          </a:xfrm>
          <a:prstGeom prst="rect">
            <a:avLst/>
          </a:prstGeom>
          <a:blipFill>
            <a:blip r:embed="rId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969263" y="4914900"/>
            <a:ext cx="516636" cy="429768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226819" y="4914900"/>
            <a:ext cx="352044" cy="429768"/>
          </a:xfrm>
          <a:prstGeom prst="rect">
            <a:avLst/>
          </a:prstGeom>
          <a:blipFill>
            <a:blip r:embed="rId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319783" y="4914900"/>
            <a:ext cx="541020" cy="429768"/>
          </a:xfrm>
          <a:prstGeom prst="rect">
            <a:avLst/>
          </a:prstGeom>
          <a:blipFill>
            <a:blip r:embed="rId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601724" y="4914900"/>
            <a:ext cx="301751" cy="429768"/>
          </a:xfrm>
          <a:prstGeom prst="rect">
            <a:avLst/>
          </a:prstGeom>
          <a:blipFill>
            <a:blip r:embed="rId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644395" y="4914900"/>
            <a:ext cx="576071" cy="429768"/>
          </a:xfrm>
          <a:prstGeom prst="rect">
            <a:avLst/>
          </a:prstGeom>
          <a:blipFill>
            <a:blip r:embed="rId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961388" y="4914900"/>
            <a:ext cx="300227" cy="429768"/>
          </a:xfrm>
          <a:prstGeom prst="rect">
            <a:avLst/>
          </a:prstGeom>
          <a:blipFill>
            <a:blip r:embed="rId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2002535" y="4914900"/>
            <a:ext cx="440436" cy="429768"/>
          </a:xfrm>
          <a:prstGeom prst="rect">
            <a:avLst/>
          </a:prstGeom>
          <a:blipFill>
            <a:blip r:embed="rId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2183892" y="4914900"/>
            <a:ext cx="301751" cy="429768"/>
          </a:xfrm>
          <a:prstGeom prst="rect">
            <a:avLst/>
          </a:prstGeom>
          <a:blipFill>
            <a:blip r:embed="rId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2226564" y="4914900"/>
            <a:ext cx="659892" cy="429768"/>
          </a:xfrm>
          <a:prstGeom prst="rect">
            <a:avLst/>
          </a:prstGeom>
          <a:blipFill>
            <a:blip r:embed="rId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2627376" y="4914900"/>
            <a:ext cx="300227" cy="429768"/>
          </a:xfrm>
          <a:prstGeom prst="rect">
            <a:avLst/>
          </a:prstGeom>
          <a:blipFill>
            <a:blip r:embed="rId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629412" y="5120640"/>
            <a:ext cx="541019" cy="429768"/>
          </a:xfrm>
          <a:prstGeom prst="rect">
            <a:avLst/>
          </a:prstGeom>
          <a:blipFill>
            <a:blip r:embed="rId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911352" y="5120640"/>
            <a:ext cx="303275" cy="429768"/>
          </a:xfrm>
          <a:prstGeom prst="rect">
            <a:avLst/>
          </a:prstGeom>
          <a:blipFill>
            <a:blip r:embed="rId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955547" y="5120640"/>
            <a:ext cx="961643" cy="429768"/>
          </a:xfrm>
          <a:prstGeom prst="rect">
            <a:avLst/>
          </a:prstGeom>
          <a:blipFill>
            <a:blip r:embed="rId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658111" y="5120640"/>
            <a:ext cx="646176" cy="429768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2045207" y="5120640"/>
            <a:ext cx="300228" cy="429768"/>
          </a:xfrm>
          <a:prstGeom prst="rect">
            <a:avLst/>
          </a:prstGeom>
          <a:blipFill>
            <a:blip r:embed="rId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2086355" y="5120640"/>
            <a:ext cx="592836" cy="429768"/>
          </a:xfrm>
          <a:prstGeom prst="rect">
            <a:avLst/>
          </a:prstGeom>
          <a:blipFill>
            <a:blip r:embed="rId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2420111" y="5120640"/>
            <a:ext cx="300227" cy="429768"/>
          </a:xfrm>
          <a:prstGeom prst="rect">
            <a:avLst/>
          </a:prstGeom>
          <a:blipFill>
            <a:blip r:embed="rId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629412" y="5326379"/>
            <a:ext cx="665988" cy="429768"/>
          </a:xfrm>
          <a:prstGeom prst="rect">
            <a:avLst/>
          </a:prstGeom>
          <a:blipFill>
            <a:blip r:embed="rId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036319" y="5326379"/>
            <a:ext cx="301752" cy="429768"/>
          </a:xfrm>
          <a:prstGeom prst="rect">
            <a:avLst/>
          </a:prstGeom>
          <a:blipFill>
            <a:blip r:embed="rId8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629412" y="5708903"/>
            <a:ext cx="301752" cy="429768"/>
          </a:xfrm>
          <a:prstGeom prst="rect">
            <a:avLst/>
          </a:prstGeom>
          <a:blipFill>
            <a:blip r:embed="rId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629412" y="6092952"/>
            <a:ext cx="301752" cy="429768"/>
          </a:xfrm>
          <a:prstGeom prst="rect">
            <a:avLst/>
          </a:prstGeom>
          <a:blipFill>
            <a:blip r:embed="rId8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 txBox="1"/>
          <p:nvPr/>
        </p:nvSpPr>
        <p:spPr>
          <a:xfrm>
            <a:off x="450291" y="2048382"/>
            <a:ext cx="2188210" cy="1415415"/>
          </a:xfrm>
          <a:prstGeom prst="rect">
            <a:avLst/>
          </a:prstGeom>
        </p:spPr>
        <p:txBody>
          <a:bodyPr wrap="square" lIns="0" tIns="2260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dirty="0" sz="3600" spc="-45" b="1">
                <a:solidFill>
                  <a:srgbClr val="FFFFFF"/>
                </a:solidFill>
                <a:latin typeface="Arial"/>
                <a:cs typeface="Arial"/>
              </a:rPr>
              <a:t>Chương</a:t>
            </a:r>
            <a:r>
              <a:rPr dirty="0" sz="3600" spc="-1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600" spc="-5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3600">
              <a:latin typeface="Arial"/>
              <a:cs typeface="Arial"/>
            </a:endParaRPr>
          </a:p>
          <a:p>
            <a:pPr marL="12700" marR="320675">
              <a:lnSpc>
                <a:spcPts val="1939"/>
              </a:lnSpc>
              <a:spcBef>
                <a:spcPts val="1085"/>
              </a:spcBef>
            </a:pPr>
            <a:r>
              <a:rPr dirty="0" sz="1800" spc="-150" b="1">
                <a:solidFill>
                  <a:srgbClr val="FFFFFF"/>
                </a:solidFill>
                <a:latin typeface="Arial"/>
                <a:cs typeface="Arial"/>
              </a:rPr>
              <a:t>Transistor </a:t>
            </a:r>
            <a:r>
              <a:rPr dirty="0" sz="1800" spc="-114" b="1">
                <a:solidFill>
                  <a:srgbClr val="FFFFFF"/>
                </a:solidFill>
                <a:latin typeface="Arial"/>
                <a:cs typeface="Arial"/>
              </a:rPr>
              <a:t>Hiệu </a:t>
            </a:r>
            <a:r>
              <a:rPr dirty="0" sz="1800" spc="-180" b="1">
                <a:solidFill>
                  <a:srgbClr val="FFFFFF"/>
                </a:solidFill>
                <a:latin typeface="Arial"/>
                <a:cs typeface="Arial"/>
              </a:rPr>
              <a:t>ứng  </a:t>
            </a:r>
            <a:r>
              <a:rPr dirty="0" sz="1800" spc="-120" b="1">
                <a:solidFill>
                  <a:srgbClr val="FFFFFF"/>
                </a:solidFill>
                <a:latin typeface="Arial"/>
                <a:cs typeface="Arial"/>
              </a:rPr>
              <a:t>trường</a:t>
            </a:r>
            <a:r>
              <a:rPr dirty="0" sz="18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70" b="1">
                <a:solidFill>
                  <a:srgbClr val="FFFFFF"/>
                </a:solidFill>
                <a:latin typeface="Arial"/>
                <a:cs typeface="Arial"/>
              </a:rPr>
              <a:t>FET</a:t>
            </a:r>
            <a:endParaRPr sz="18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50291" y="3597020"/>
            <a:ext cx="2349500" cy="2022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dirty="0" sz="1500" spc="-170" b="1">
                <a:solidFill>
                  <a:srgbClr val="FFFFFF"/>
                </a:solidFill>
                <a:latin typeface="Arial"/>
                <a:cs typeface="Arial"/>
              </a:rPr>
              <a:t>Cấu </a:t>
            </a:r>
            <a:r>
              <a:rPr dirty="0" sz="1500" spc="-65" b="1">
                <a:solidFill>
                  <a:srgbClr val="FFFFFF"/>
                </a:solidFill>
                <a:latin typeface="Arial"/>
                <a:cs typeface="Arial"/>
              </a:rPr>
              <a:t>tạo, </a:t>
            </a:r>
            <a:r>
              <a:rPr dirty="0" sz="1500" spc="-125" b="1">
                <a:solidFill>
                  <a:srgbClr val="FFFFFF"/>
                </a:solidFill>
                <a:latin typeface="Arial"/>
                <a:cs typeface="Arial"/>
              </a:rPr>
              <a:t>đặc </a:t>
            </a:r>
            <a:r>
              <a:rPr dirty="0" sz="1500" spc="-65" b="1">
                <a:solidFill>
                  <a:srgbClr val="FFFFFF"/>
                </a:solidFill>
                <a:latin typeface="Arial"/>
                <a:cs typeface="Arial"/>
              </a:rPr>
              <a:t>tính</a:t>
            </a:r>
            <a:r>
              <a:rPr dirty="0" sz="1500" spc="-2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260" b="1">
                <a:solidFill>
                  <a:srgbClr val="FFFFFF"/>
                </a:solidFill>
                <a:latin typeface="Arial"/>
                <a:cs typeface="Arial"/>
              </a:rPr>
              <a:t>JFET</a:t>
            </a:r>
            <a:endParaRPr sz="15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1210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dirty="0" sz="1500" spc="-130" b="1">
                <a:solidFill>
                  <a:srgbClr val="FFFFFF"/>
                </a:solidFill>
                <a:latin typeface="Arial"/>
                <a:cs typeface="Arial"/>
              </a:rPr>
              <a:t>Phân </a:t>
            </a:r>
            <a:r>
              <a:rPr dirty="0" sz="1500" spc="-180" b="1">
                <a:solidFill>
                  <a:srgbClr val="FFFFFF"/>
                </a:solidFill>
                <a:latin typeface="Arial"/>
                <a:cs typeface="Arial"/>
              </a:rPr>
              <a:t>cực</a:t>
            </a:r>
            <a:r>
              <a:rPr dirty="0" sz="15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260" b="1">
                <a:solidFill>
                  <a:srgbClr val="FFFFFF"/>
                </a:solidFill>
                <a:latin typeface="Arial"/>
                <a:cs typeface="Arial"/>
              </a:rPr>
              <a:t>JFET</a:t>
            </a:r>
            <a:endParaRPr sz="1500">
              <a:latin typeface="Arial"/>
              <a:cs typeface="Arial"/>
            </a:endParaRPr>
          </a:p>
          <a:p>
            <a:pPr marL="299085" marR="5080" indent="-286385">
              <a:lnSpc>
                <a:spcPts val="1620"/>
              </a:lnSpc>
              <a:spcBef>
                <a:spcPts val="1430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dirty="0" sz="1500" spc="-170" b="1">
                <a:solidFill>
                  <a:srgbClr val="FFFFFF"/>
                </a:solidFill>
                <a:latin typeface="Arial"/>
                <a:cs typeface="Arial"/>
              </a:rPr>
              <a:t>Cấu </a:t>
            </a:r>
            <a:r>
              <a:rPr dirty="0" sz="1500" spc="-65" b="1">
                <a:solidFill>
                  <a:srgbClr val="FFFFFF"/>
                </a:solidFill>
                <a:latin typeface="Arial"/>
                <a:cs typeface="Arial"/>
              </a:rPr>
              <a:t>tạo, </a:t>
            </a:r>
            <a:r>
              <a:rPr dirty="0" sz="1500" spc="-125" b="1">
                <a:solidFill>
                  <a:srgbClr val="FFFFFF"/>
                </a:solidFill>
                <a:latin typeface="Arial"/>
                <a:cs typeface="Arial"/>
              </a:rPr>
              <a:t>đặc </a:t>
            </a:r>
            <a:r>
              <a:rPr dirty="0" sz="1500" spc="-65" b="1">
                <a:solidFill>
                  <a:srgbClr val="FFFFFF"/>
                </a:solidFill>
                <a:latin typeface="Arial"/>
                <a:cs typeface="Arial"/>
              </a:rPr>
              <a:t>tính </a:t>
            </a:r>
            <a:r>
              <a:rPr dirty="0" sz="1500" spc="-125" b="1">
                <a:solidFill>
                  <a:srgbClr val="FFFFFF"/>
                </a:solidFill>
                <a:latin typeface="Arial"/>
                <a:cs typeface="Arial"/>
              </a:rPr>
              <a:t>và </a:t>
            </a:r>
            <a:r>
              <a:rPr dirty="0" sz="1500" spc="-110" b="1">
                <a:solidFill>
                  <a:srgbClr val="FFFFFF"/>
                </a:solidFill>
                <a:latin typeface="Arial"/>
                <a:cs typeface="Arial"/>
              </a:rPr>
              <a:t>phân  </a:t>
            </a:r>
            <a:r>
              <a:rPr dirty="0" sz="1500" spc="-180" b="1">
                <a:solidFill>
                  <a:srgbClr val="FFFFFF"/>
                </a:solidFill>
                <a:latin typeface="Arial"/>
                <a:cs typeface="Arial"/>
              </a:rPr>
              <a:t>cực MOSFET </a:t>
            </a:r>
            <a:r>
              <a:rPr dirty="0" sz="1500" spc="-120" b="1">
                <a:solidFill>
                  <a:srgbClr val="FFFFFF"/>
                </a:solidFill>
                <a:latin typeface="Arial"/>
                <a:cs typeface="Arial"/>
              </a:rPr>
              <a:t>kênh </a:t>
            </a:r>
            <a:r>
              <a:rPr dirty="0" sz="1500" spc="-75" b="1">
                <a:solidFill>
                  <a:srgbClr val="FFFFFF"/>
                </a:solidFill>
                <a:latin typeface="Arial"/>
                <a:cs typeface="Arial"/>
              </a:rPr>
              <a:t>liên</a:t>
            </a:r>
            <a:r>
              <a:rPr dirty="0" sz="1500" spc="-1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5" b="1">
                <a:solidFill>
                  <a:srgbClr val="FFFFFF"/>
                </a:solidFill>
                <a:latin typeface="Arial"/>
                <a:cs typeface="Arial"/>
              </a:rPr>
              <a:t>tục</a:t>
            </a:r>
            <a:endParaRPr sz="1500">
              <a:latin typeface="Arial"/>
              <a:cs typeface="Arial"/>
            </a:endParaRPr>
          </a:p>
          <a:p>
            <a:pPr marL="299085" indent="-286385">
              <a:lnSpc>
                <a:spcPts val="1710"/>
              </a:lnSpc>
              <a:spcBef>
                <a:spcPts val="1200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dirty="0" sz="1500" spc="-170" b="1">
                <a:solidFill>
                  <a:srgbClr val="FFFFFF"/>
                </a:solidFill>
                <a:latin typeface="Arial"/>
                <a:cs typeface="Arial"/>
              </a:rPr>
              <a:t>Cấu </a:t>
            </a:r>
            <a:r>
              <a:rPr dirty="0" sz="1500" spc="-65" b="1">
                <a:solidFill>
                  <a:srgbClr val="FFFFFF"/>
                </a:solidFill>
                <a:latin typeface="Arial"/>
                <a:cs typeface="Arial"/>
              </a:rPr>
              <a:t>tạo, </a:t>
            </a:r>
            <a:r>
              <a:rPr dirty="0" sz="1500" spc="-125" b="1">
                <a:solidFill>
                  <a:srgbClr val="FFFFFF"/>
                </a:solidFill>
                <a:latin typeface="Arial"/>
                <a:cs typeface="Arial"/>
              </a:rPr>
              <a:t>đặc </a:t>
            </a:r>
            <a:r>
              <a:rPr dirty="0" sz="1500" spc="-65" b="1">
                <a:solidFill>
                  <a:srgbClr val="FFFFFF"/>
                </a:solidFill>
                <a:latin typeface="Arial"/>
                <a:cs typeface="Arial"/>
              </a:rPr>
              <a:t>tính </a:t>
            </a:r>
            <a:r>
              <a:rPr dirty="0" sz="1500" spc="-125" b="1">
                <a:solidFill>
                  <a:srgbClr val="FFFFFF"/>
                </a:solidFill>
                <a:latin typeface="Arial"/>
                <a:cs typeface="Arial"/>
              </a:rPr>
              <a:t>và</a:t>
            </a:r>
            <a:r>
              <a:rPr dirty="0" sz="1500" spc="-2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10" b="1">
                <a:solidFill>
                  <a:srgbClr val="FFFFFF"/>
                </a:solidFill>
                <a:latin typeface="Arial"/>
                <a:cs typeface="Arial"/>
              </a:rPr>
              <a:t>phân</a:t>
            </a:r>
            <a:endParaRPr sz="1500">
              <a:latin typeface="Arial"/>
              <a:cs typeface="Arial"/>
            </a:endParaRPr>
          </a:p>
          <a:p>
            <a:pPr marL="299085">
              <a:lnSpc>
                <a:spcPts val="1620"/>
              </a:lnSpc>
            </a:pPr>
            <a:r>
              <a:rPr dirty="0" sz="1500" spc="-180" b="1">
                <a:solidFill>
                  <a:srgbClr val="FFFFFF"/>
                </a:solidFill>
                <a:latin typeface="Arial"/>
                <a:cs typeface="Arial"/>
              </a:rPr>
              <a:t>cực MOSFET </a:t>
            </a:r>
            <a:r>
              <a:rPr dirty="0" sz="1500" spc="-120" b="1">
                <a:solidFill>
                  <a:srgbClr val="FFFFFF"/>
                </a:solidFill>
                <a:latin typeface="Arial"/>
                <a:cs typeface="Arial"/>
              </a:rPr>
              <a:t>kênh</a:t>
            </a:r>
            <a:r>
              <a:rPr dirty="0" sz="1500" spc="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20" b="1">
                <a:solidFill>
                  <a:srgbClr val="FFFFFF"/>
                </a:solidFill>
                <a:latin typeface="Arial"/>
                <a:cs typeface="Arial"/>
              </a:rPr>
              <a:t>gián</a:t>
            </a:r>
            <a:endParaRPr sz="1500">
              <a:latin typeface="Arial"/>
              <a:cs typeface="Arial"/>
            </a:endParaRPr>
          </a:p>
          <a:p>
            <a:pPr marL="299085">
              <a:lnSpc>
                <a:spcPts val="1710"/>
              </a:lnSpc>
            </a:pPr>
            <a:r>
              <a:rPr dirty="0" sz="1500" spc="-100" b="1">
                <a:solidFill>
                  <a:srgbClr val="FFFFFF"/>
                </a:solidFill>
                <a:latin typeface="Arial"/>
                <a:cs typeface="Arial"/>
              </a:rPr>
              <a:t>đoạn</a:t>
            </a:r>
            <a:endParaRPr sz="150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3979926" y="6557873"/>
            <a:ext cx="8185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455F51"/>
                </a:solidFill>
                <a:latin typeface="Times New Roman"/>
                <a:cs typeface="Times New Roman"/>
              </a:rPr>
              <a:t>TRỊNH LÊ</a:t>
            </a:r>
            <a:r>
              <a:rPr dirty="0" sz="900" spc="-50">
                <a:solidFill>
                  <a:srgbClr val="455F51"/>
                </a:solidFill>
                <a:latin typeface="Times New Roman"/>
                <a:cs typeface="Times New Roman"/>
              </a:rPr>
              <a:t> </a:t>
            </a:r>
            <a:r>
              <a:rPr dirty="0" sz="900" spc="-5">
                <a:solidFill>
                  <a:srgbClr val="455F51"/>
                </a:solidFill>
                <a:latin typeface="Times New Roman"/>
                <a:cs typeface="Times New Roman"/>
              </a:rPr>
              <a:t>HUY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8939530" y="6546291"/>
            <a:ext cx="9271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455F51"/>
                </a:solidFill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4783454" y="3158998"/>
            <a:ext cx="1771650" cy="1428750"/>
          </a:xfrm>
          <a:prstGeom prst="rect">
            <a:avLst/>
          </a:prstGeom>
          <a:blipFill>
            <a:blip r:embed="rId8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6617450" y="3151239"/>
            <a:ext cx="1666701" cy="1334192"/>
          </a:xfrm>
          <a:prstGeom prst="rect">
            <a:avLst/>
          </a:prstGeom>
          <a:blipFill>
            <a:blip r:embed="rId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308813"/>
            <a:ext cx="7167245" cy="1379220"/>
          </a:xfrm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dirty="0" sz="4800" spc="-70" b="0">
                <a:solidFill>
                  <a:srgbClr val="404040"/>
                </a:solidFill>
                <a:latin typeface="Arial"/>
                <a:cs typeface="Arial"/>
              </a:rPr>
              <a:t>Transistor </a:t>
            </a:r>
            <a:r>
              <a:rPr dirty="0" sz="4800" spc="-40" b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4800" spc="-35" b="0">
                <a:solidFill>
                  <a:srgbClr val="404040"/>
                </a:solidFill>
                <a:latin typeface="Arial"/>
                <a:cs typeface="Arial"/>
              </a:rPr>
              <a:t>ứng</a:t>
            </a:r>
            <a:r>
              <a:rPr dirty="0" sz="4800" spc="-175" b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4800" spc="-45" b="0">
                <a:solidFill>
                  <a:srgbClr val="404040"/>
                </a:solidFill>
                <a:latin typeface="Arial"/>
                <a:cs typeface="Arial"/>
              </a:rPr>
              <a:t>trường  </a:t>
            </a:r>
            <a:r>
              <a:rPr dirty="0" sz="4800" spc="-40" b="0">
                <a:solidFill>
                  <a:srgbClr val="404040"/>
                </a:solidFill>
                <a:latin typeface="Arial"/>
                <a:cs typeface="Arial"/>
              </a:rPr>
              <a:t>JFET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44948" y="6557873"/>
            <a:ext cx="8185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TRỊNH LÊ</a:t>
            </a:r>
            <a:r>
              <a:rPr dirty="0" sz="9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HUY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39530" y="6546291"/>
            <a:ext cx="9271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68086" y="2078735"/>
            <a:ext cx="4259266" cy="33548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78839" y="1884121"/>
            <a:ext cx="4175125" cy="370459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04139" marR="47625" indent="-91440">
              <a:lnSpc>
                <a:spcPts val="2160"/>
              </a:lnSpc>
              <a:spcBef>
                <a:spcPts val="37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1930: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Julius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Lilienfeld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cấp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bằng 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sáng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chế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cho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ý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tưởng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về </a:t>
            </a:r>
            <a:r>
              <a:rPr dirty="0" sz="2000" spc="-5">
                <a:solidFill>
                  <a:srgbClr val="404040"/>
                </a:solidFill>
                <a:latin typeface="Arial"/>
                <a:cs typeface="Arial"/>
              </a:rPr>
              <a:t>một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transistor 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thể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thay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đổi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khả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năng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dẫn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nhờ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vào 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ứng</a:t>
            </a:r>
            <a:r>
              <a:rPr dirty="0" sz="2000" spc="-20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trường.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280"/>
              </a:lnSpc>
              <a:spcBef>
                <a:spcPts val="1135"/>
              </a:spcBef>
            </a:pPr>
            <a:r>
              <a:rPr dirty="0" sz="2000" spc="-175">
                <a:solidFill>
                  <a:srgbClr val="404040"/>
                </a:solidFill>
                <a:latin typeface="Arial"/>
                <a:cs typeface="Arial"/>
              </a:rPr>
              <a:t>Tuy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nhiên,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trong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thời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điểm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này,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vật</a:t>
            </a:r>
            <a:r>
              <a:rPr dirty="0" sz="2000" spc="-31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liệu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160"/>
              </a:lnSpc>
            </a:pP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để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biến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ý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tưởng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215">
                <a:solidFill>
                  <a:srgbClr val="404040"/>
                </a:solidFill>
                <a:latin typeface="Arial"/>
                <a:cs typeface="Arial"/>
              </a:rPr>
              <a:t>J.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Lilienfeld</a:t>
            </a:r>
            <a:r>
              <a:rPr dirty="0" sz="2000" spc="-17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thành</a:t>
            </a:r>
            <a:endParaRPr sz="2000">
              <a:latin typeface="Arial"/>
              <a:cs typeface="Arial"/>
            </a:endParaRPr>
          </a:p>
          <a:p>
            <a:pPr marL="12700" marR="73025">
              <a:lnSpc>
                <a:spcPts val="2160"/>
              </a:lnSpc>
              <a:spcBef>
                <a:spcPts val="150"/>
              </a:spcBef>
            </a:pP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thực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tế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vẫn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chưa </a:t>
            </a:r>
            <a:r>
              <a:rPr dirty="0" sz="2000" spc="-10">
                <a:solidFill>
                  <a:srgbClr val="404040"/>
                </a:solidFill>
                <a:latin typeface="Arial"/>
                <a:cs typeface="Arial"/>
              </a:rPr>
              <a:t>tồn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tại.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35">
                <a:solidFill>
                  <a:srgbClr val="404040"/>
                </a:solidFill>
                <a:latin typeface="Arial"/>
                <a:cs typeface="Arial"/>
              </a:rPr>
              <a:t>Do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đó</a:t>
            </a:r>
            <a:r>
              <a:rPr dirty="0" sz="2000" spc="-13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ý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tưởng 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này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chỉ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nằm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trên</a:t>
            </a: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giấy!</a:t>
            </a:r>
            <a:endParaRPr sz="2000">
              <a:latin typeface="Arial"/>
              <a:cs typeface="Arial"/>
            </a:endParaRPr>
          </a:p>
          <a:p>
            <a:pPr marL="104139" marR="5080" indent="-91440">
              <a:lnSpc>
                <a:spcPct val="90000"/>
              </a:lnSpc>
              <a:spcBef>
                <a:spcPts val="1360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1959: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vật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liệu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bán dẫn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đã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nghiên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cứu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chế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tạo, transistor </a:t>
            </a:r>
            <a:r>
              <a:rPr dirty="0" sz="2000" spc="-305">
                <a:solidFill>
                  <a:srgbClr val="404040"/>
                </a:solidFill>
                <a:latin typeface="Arial"/>
                <a:cs typeface="Arial"/>
              </a:rPr>
              <a:t>FET 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tiên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đời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bởi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Dawon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Kahng 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5">
                <a:solidFill>
                  <a:srgbClr val="404040"/>
                </a:solidFill>
                <a:latin typeface="Arial"/>
                <a:cs typeface="Arial"/>
              </a:rPr>
              <a:t>Martin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Atalla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308813"/>
            <a:ext cx="7167245" cy="1379220"/>
          </a:xfrm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dirty="0" sz="4800" spc="-70" b="0">
                <a:solidFill>
                  <a:srgbClr val="404040"/>
                </a:solidFill>
                <a:latin typeface="Arial"/>
                <a:cs typeface="Arial"/>
              </a:rPr>
              <a:t>Transistor </a:t>
            </a:r>
            <a:r>
              <a:rPr dirty="0" sz="4800" spc="-40" b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4800" spc="-35" b="0">
                <a:solidFill>
                  <a:srgbClr val="404040"/>
                </a:solidFill>
                <a:latin typeface="Arial"/>
                <a:cs typeface="Arial"/>
              </a:rPr>
              <a:t>ứng</a:t>
            </a:r>
            <a:r>
              <a:rPr dirty="0" sz="4800" spc="-175" b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4800" spc="-45" b="0">
                <a:solidFill>
                  <a:srgbClr val="404040"/>
                </a:solidFill>
                <a:latin typeface="Arial"/>
                <a:cs typeface="Arial"/>
              </a:rPr>
              <a:t>trường  </a:t>
            </a:r>
            <a:r>
              <a:rPr dirty="0" sz="4800" spc="-40" b="0">
                <a:solidFill>
                  <a:srgbClr val="404040"/>
                </a:solidFill>
                <a:latin typeface="Arial"/>
                <a:cs typeface="Arial"/>
              </a:rPr>
              <a:t>JFET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44948" y="6557873"/>
            <a:ext cx="8185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TRỊNH LÊ</a:t>
            </a:r>
            <a:r>
              <a:rPr dirty="0" sz="9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HUY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39530" y="6546291"/>
            <a:ext cx="9271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9" y="1884121"/>
            <a:ext cx="420116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360">
                <a:solidFill>
                  <a:srgbClr val="404040"/>
                </a:solidFill>
                <a:latin typeface="Arial"/>
                <a:cs typeface="Arial"/>
              </a:rPr>
              <a:t>Ý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tưởng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về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transistor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ứng</a:t>
            </a:r>
            <a:r>
              <a:rPr dirty="0" sz="2000" spc="-2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trường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90016" y="2339339"/>
            <a:ext cx="4398264" cy="40934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84783" y="2534094"/>
            <a:ext cx="3810000" cy="3505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054090" y="2838894"/>
            <a:ext cx="3429000" cy="3200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308813"/>
            <a:ext cx="7167245" cy="1379220"/>
          </a:xfrm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dirty="0" sz="4800" spc="-70" b="0">
                <a:solidFill>
                  <a:srgbClr val="404040"/>
                </a:solidFill>
                <a:latin typeface="Arial"/>
                <a:cs typeface="Arial"/>
              </a:rPr>
              <a:t>Transistor </a:t>
            </a:r>
            <a:r>
              <a:rPr dirty="0" sz="4800" spc="-40" b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4800" spc="-35" b="0">
                <a:solidFill>
                  <a:srgbClr val="404040"/>
                </a:solidFill>
                <a:latin typeface="Arial"/>
                <a:cs typeface="Arial"/>
              </a:rPr>
              <a:t>ứng</a:t>
            </a:r>
            <a:r>
              <a:rPr dirty="0" sz="4800" spc="-175" b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4800" spc="-45" b="0">
                <a:solidFill>
                  <a:srgbClr val="404040"/>
                </a:solidFill>
                <a:latin typeface="Arial"/>
                <a:cs typeface="Arial"/>
              </a:rPr>
              <a:t>trường  </a:t>
            </a:r>
            <a:r>
              <a:rPr dirty="0" sz="4800" spc="-40" b="0">
                <a:solidFill>
                  <a:srgbClr val="404040"/>
                </a:solidFill>
                <a:latin typeface="Arial"/>
                <a:cs typeface="Arial"/>
              </a:rPr>
              <a:t>JFET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44948" y="6557873"/>
            <a:ext cx="8185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TRỊNH LÊ</a:t>
            </a:r>
            <a:r>
              <a:rPr dirty="0" sz="9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HUY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39530" y="6546291"/>
            <a:ext cx="9271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9" y="1884121"/>
            <a:ext cx="4194810" cy="215582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04139" marR="10160" indent="-91440">
              <a:lnSpc>
                <a:spcPts val="2160"/>
              </a:lnSpc>
              <a:spcBef>
                <a:spcPts val="37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Transistor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hiêu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ứng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trường </a:t>
            </a:r>
            <a:r>
              <a:rPr dirty="0" sz="2000" spc="-300">
                <a:solidFill>
                  <a:srgbClr val="404040"/>
                </a:solidFill>
                <a:latin typeface="Arial"/>
                <a:cs typeface="Arial"/>
              </a:rPr>
              <a:t>FET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2000" spc="-5">
                <a:solidFill>
                  <a:srgbClr val="404040"/>
                </a:solidFill>
                <a:latin typeface="Arial"/>
                <a:cs typeface="Arial"/>
              </a:rPr>
              <a:t>một 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switch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đóng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ở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trạng </a:t>
            </a: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thái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bình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thường. 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(cho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chạy</a:t>
            </a:r>
            <a:r>
              <a:rPr dirty="0" sz="2000" spc="-28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qua)</a:t>
            </a:r>
            <a:endParaRPr sz="2000">
              <a:latin typeface="Arial"/>
              <a:cs typeface="Arial"/>
            </a:endParaRPr>
          </a:p>
          <a:p>
            <a:pPr marL="104139" marR="5080" indent="-91440">
              <a:lnSpc>
                <a:spcPct val="90000"/>
              </a:lnSpc>
              <a:spcBef>
                <a:spcPts val="137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2000" spc="-145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cho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transistor </a:t>
            </a:r>
            <a:r>
              <a:rPr dirty="0" sz="2000" spc="-295">
                <a:solidFill>
                  <a:srgbClr val="404040"/>
                </a:solidFill>
                <a:latin typeface="Arial"/>
                <a:cs typeface="Arial"/>
              </a:rPr>
              <a:t>FET, 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switch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chuyển dần </a:t>
            </a:r>
            <a:r>
              <a:rPr dirty="0" sz="2000" spc="-10">
                <a:solidFill>
                  <a:srgbClr val="404040"/>
                </a:solidFill>
                <a:latin typeface="Arial"/>
                <a:cs typeface="Arial"/>
              </a:rPr>
              <a:t>từ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đóng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sang</a:t>
            </a:r>
            <a:r>
              <a:rPr dirty="0" sz="2000" spc="-3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mở. 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(cường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giảm dần </a:t>
            </a:r>
            <a:r>
              <a:rPr dirty="0" sz="2000" spc="-160">
                <a:solidFill>
                  <a:srgbClr val="404040"/>
                </a:solidFill>
                <a:latin typeface="Arial"/>
                <a:cs typeface="Arial"/>
              </a:rPr>
              <a:t>và 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bằng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không)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2523" y="4149128"/>
            <a:ext cx="4455795" cy="2115185"/>
          </a:xfrm>
          <a:prstGeom prst="rect">
            <a:avLst/>
          </a:prstGeom>
          <a:ln w="15875">
            <a:solidFill>
              <a:srgbClr val="6E9425"/>
            </a:solidFill>
          </a:ln>
        </p:spPr>
        <p:txBody>
          <a:bodyPr wrap="square" lIns="0" tIns="58419" rIns="0" bIns="0" rtlCol="0" vert="horz">
            <a:spAutoFit/>
          </a:bodyPr>
          <a:lstStyle/>
          <a:p>
            <a:pPr marL="349885" marR="352425" indent="-91440">
              <a:lnSpc>
                <a:spcPts val="2160"/>
              </a:lnSpc>
              <a:spcBef>
                <a:spcPts val="459"/>
              </a:spcBef>
              <a:buClr>
                <a:srgbClr val="99CA38"/>
              </a:buClr>
              <a:buFont typeface="Wingdings"/>
              <a:buChar char=""/>
              <a:tabLst>
                <a:tab pos="516890" algn="l"/>
              </a:tabLst>
            </a:pPr>
            <a:r>
              <a:rPr dirty="0" sz="2000" spc="-305">
                <a:solidFill>
                  <a:srgbClr val="404040"/>
                </a:solidFill>
                <a:latin typeface="Arial"/>
                <a:cs typeface="Arial"/>
              </a:rPr>
              <a:t>FET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cấu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tạo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gồm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vật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liệu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bán dẫn 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loại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N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và</a:t>
            </a:r>
            <a:r>
              <a:rPr dirty="0" sz="2000" spc="-14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434">
                <a:solidFill>
                  <a:srgbClr val="404040"/>
                </a:solidFill>
                <a:latin typeface="Arial"/>
                <a:cs typeface="Arial"/>
              </a:rPr>
              <a:t>P.</a:t>
            </a:r>
            <a:endParaRPr sz="2000">
              <a:latin typeface="Arial"/>
              <a:cs typeface="Arial"/>
            </a:endParaRPr>
          </a:p>
          <a:p>
            <a:pPr marL="349885" marR="212090" indent="-91440">
              <a:lnSpc>
                <a:spcPts val="2160"/>
              </a:lnSpc>
              <a:spcBef>
                <a:spcPts val="1405"/>
              </a:spcBef>
              <a:buClr>
                <a:srgbClr val="99CA38"/>
              </a:buClr>
              <a:buFont typeface="Wingdings"/>
              <a:buChar char=""/>
              <a:tabLst>
                <a:tab pos="516890" algn="l"/>
              </a:tabLst>
            </a:pPr>
            <a:r>
              <a:rPr dirty="0" sz="2000" spc="-22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Drain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(máng)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135">
                <a:solidFill>
                  <a:srgbClr val="404040"/>
                </a:solidFill>
                <a:latin typeface="Arial"/>
                <a:cs typeface="Arial"/>
              </a:rPr>
              <a:t>Source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(nguồn) 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nối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kênh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N.</a:t>
            </a:r>
            <a:endParaRPr sz="2000">
              <a:latin typeface="Arial"/>
              <a:cs typeface="Arial"/>
            </a:endParaRPr>
          </a:p>
          <a:p>
            <a:pPr marL="349885" marR="401320" indent="-91440">
              <a:lnSpc>
                <a:spcPts val="2160"/>
              </a:lnSpc>
              <a:spcBef>
                <a:spcPts val="1405"/>
              </a:spcBef>
              <a:buClr>
                <a:srgbClr val="99CA38"/>
              </a:buClr>
              <a:buFont typeface="Wingdings"/>
              <a:buChar char=""/>
              <a:tabLst>
                <a:tab pos="516890" algn="l"/>
              </a:tabLst>
            </a:pPr>
            <a:r>
              <a:rPr dirty="0" sz="2000" spc="-22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Gate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(cổng)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nối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2  kênh </a:t>
            </a:r>
            <a:r>
              <a:rPr dirty="0" sz="2000" spc="-300">
                <a:solidFill>
                  <a:srgbClr val="404040"/>
                </a:solidFill>
                <a:latin typeface="Arial"/>
                <a:cs typeface="Arial"/>
              </a:rPr>
              <a:t>P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dirty="0" sz="2000" spc="-2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290">
                <a:solidFill>
                  <a:srgbClr val="404040"/>
                </a:solidFill>
                <a:latin typeface="Arial"/>
                <a:cs typeface="Arial"/>
              </a:rPr>
              <a:t>FET.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649721" y="2167254"/>
            <a:ext cx="3648075" cy="2667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088001" y="4813300"/>
            <a:ext cx="1818005" cy="730885"/>
          </a:xfrm>
          <a:custGeom>
            <a:avLst/>
            <a:gdLst/>
            <a:ahLst/>
            <a:cxnLst/>
            <a:rect l="l" t="t" r="r" b="b"/>
            <a:pathLst>
              <a:path w="1818004" h="730885">
                <a:moveTo>
                  <a:pt x="182752" y="365506"/>
                </a:moveTo>
                <a:lnTo>
                  <a:pt x="0" y="548259"/>
                </a:lnTo>
                <a:lnTo>
                  <a:pt x="182752" y="730885"/>
                </a:lnTo>
                <a:lnTo>
                  <a:pt x="182752" y="639572"/>
                </a:lnTo>
                <a:lnTo>
                  <a:pt x="1817877" y="639572"/>
                </a:lnTo>
                <a:lnTo>
                  <a:pt x="1817877" y="456819"/>
                </a:lnTo>
                <a:lnTo>
                  <a:pt x="182752" y="456819"/>
                </a:lnTo>
                <a:lnTo>
                  <a:pt x="182752" y="365506"/>
                </a:lnTo>
                <a:close/>
              </a:path>
              <a:path w="1818004" h="730885">
                <a:moveTo>
                  <a:pt x="1817877" y="0"/>
                </a:moveTo>
                <a:lnTo>
                  <a:pt x="1635125" y="0"/>
                </a:lnTo>
                <a:lnTo>
                  <a:pt x="1635125" y="456819"/>
                </a:lnTo>
                <a:lnTo>
                  <a:pt x="1817877" y="456819"/>
                </a:lnTo>
                <a:lnTo>
                  <a:pt x="1817877" y="0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088001" y="4813300"/>
            <a:ext cx="1818005" cy="730885"/>
          </a:xfrm>
          <a:custGeom>
            <a:avLst/>
            <a:gdLst/>
            <a:ahLst/>
            <a:cxnLst/>
            <a:rect l="l" t="t" r="r" b="b"/>
            <a:pathLst>
              <a:path w="1818004" h="730885">
                <a:moveTo>
                  <a:pt x="1635125" y="0"/>
                </a:moveTo>
                <a:lnTo>
                  <a:pt x="1635125" y="456819"/>
                </a:lnTo>
                <a:lnTo>
                  <a:pt x="182752" y="456819"/>
                </a:lnTo>
                <a:lnTo>
                  <a:pt x="182752" y="365506"/>
                </a:lnTo>
                <a:lnTo>
                  <a:pt x="0" y="548259"/>
                </a:lnTo>
                <a:lnTo>
                  <a:pt x="182752" y="730885"/>
                </a:lnTo>
                <a:lnTo>
                  <a:pt x="182752" y="639572"/>
                </a:lnTo>
                <a:lnTo>
                  <a:pt x="1817877" y="639572"/>
                </a:lnTo>
                <a:lnTo>
                  <a:pt x="1817877" y="0"/>
                </a:lnTo>
                <a:lnTo>
                  <a:pt x="1635125" y="0"/>
                </a:lnTo>
              </a:path>
            </a:pathLst>
          </a:custGeom>
          <a:ln w="15875">
            <a:solidFill>
              <a:srgbClr val="6E9425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308813"/>
            <a:ext cx="7167245" cy="1379220"/>
          </a:xfrm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dirty="0" sz="4800" spc="-70" b="0">
                <a:solidFill>
                  <a:srgbClr val="404040"/>
                </a:solidFill>
                <a:latin typeface="Arial"/>
                <a:cs typeface="Arial"/>
              </a:rPr>
              <a:t>Transistor </a:t>
            </a:r>
            <a:r>
              <a:rPr dirty="0" sz="4800" spc="-40" b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4800" spc="-35" b="0">
                <a:solidFill>
                  <a:srgbClr val="404040"/>
                </a:solidFill>
                <a:latin typeface="Arial"/>
                <a:cs typeface="Arial"/>
              </a:rPr>
              <a:t>ứng</a:t>
            </a:r>
            <a:r>
              <a:rPr dirty="0" sz="4800" spc="-175" b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4800" spc="-45" b="0">
                <a:solidFill>
                  <a:srgbClr val="404040"/>
                </a:solidFill>
                <a:latin typeface="Arial"/>
                <a:cs typeface="Arial"/>
              </a:rPr>
              <a:t>trường  </a:t>
            </a:r>
            <a:r>
              <a:rPr dirty="0" sz="4800" spc="-40" b="0">
                <a:solidFill>
                  <a:srgbClr val="404040"/>
                </a:solidFill>
                <a:latin typeface="Arial"/>
                <a:cs typeface="Arial"/>
              </a:rPr>
              <a:t>JFET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44948" y="6557873"/>
            <a:ext cx="8185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TRỊNH LÊ</a:t>
            </a:r>
            <a:r>
              <a:rPr dirty="0" sz="9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HUY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39530" y="6546291"/>
            <a:ext cx="9271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9" y="1884121"/>
            <a:ext cx="98425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95">
                <a:solidFill>
                  <a:srgbClr val="404040"/>
                </a:solidFill>
                <a:latin typeface="Arial"/>
                <a:cs typeface="Arial"/>
              </a:rPr>
              <a:t>Kí</a:t>
            </a:r>
            <a:r>
              <a:rPr dirty="0" sz="2000" spc="-18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49089" y="2654757"/>
            <a:ext cx="5082100" cy="23304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81" y="6400800"/>
            <a:ext cx="9903460" cy="457200"/>
          </a:xfrm>
          <a:custGeom>
            <a:avLst/>
            <a:gdLst/>
            <a:ahLst/>
            <a:cxnLst/>
            <a:rect l="l" t="t" r="r" b="b"/>
            <a:pathLst>
              <a:path w="9903460" h="457200">
                <a:moveTo>
                  <a:pt x="0" y="457200"/>
                </a:moveTo>
                <a:lnTo>
                  <a:pt x="9903460" y="457200"/>
                </a:lnTo>
                <a:lnTo>
                  <a:pt x="990346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" y="6334315"/>
            <a:ext cx="9903460" cy="64135"/>
          </a:xfrm>
          <a:custGeom>
            <a:avLst/>
            <a:gdLst/>
            <a:ahLst/>
            <a:cxnLst/>
            <a:rect l="l" t="t" r="r" b="b"/>
            <a:pathLst>
              <a:path w="9903460" h="64135">
                <a:moveTo>
                  <a:pt x="0" y="64008"/>
                </a:moveTo>
                <a:lnTo>
                  <a:pt x="9903460" y="64008"/>
                </a:lnTo>
                <a:lnTo>
                  <a:pt x="9903460" y="0"/>
                </a:lnTo>
                <a:lnTo>
                  <a:pt x="0" y="0"/>
                </a:lnTo>
                <a:lnTo>
                  <a:pt x="0" y="64008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81227" y="4343400"/>
            <a:ext cx="8023859" cy="0"/>
          </a:xfrm>
          <a:custGeom>
            <a:avLst/>
            <a:gdLst/>
            <a:ahLst/>
            <a:cxnLst/>
            <a:rect l="l" t="t" r="r" b="b"/>
            <a:pathLst>
              <a:path w="8023859" h="0">
                <a:moveTo>
                  <a:pt x="0" y="0"/>
                </a:moveTo>
                <a:lnTo>
                  <a:pt x="8023834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28955" y="178434"/>
            <a:ext cx="120205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latin typeface="Times New Roman"/>
                <a:cs typeface="Times New Roman"/>
              </a:rPr>
              <a:t>Cấu</a:t>
            </a:r>
            <a:r>
              <a:rPr dirty="0" sz="3000" spc="-80" b="0">
                <a:latin typeface="Times New Roman"/>
                <a:cs typeface="Times New Roman"/>
              </a:rPr>
              <a:t> </a:t>
            </a:r>
            <a:r>
              <a:rPr dirty="0" sz="3000" b="0">
                <a:latin typeface="Times New Roman"/>
                <a:cs typeface="Times New Roman"/>
              </a:rPr>
              <a:t>tạo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1482" y="802640"/>
            <a:ext cx="3502393" cy="2667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402328" y="212597"/>
            <a:ext cx="5137150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5265" indent="-202565">
              <a:lnSpc>
                <a:spcPct val="100000"/>
              </a:lnSpc>
              <a:spcBef>
                <a:spcPts val="100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dirty="0" sz="2000">
                <a:latin typeface="Times New Roman"/>
                <a:cs typeface="Times New Roman"/>
              </a:rPr>
              <a:t>JFET </a:t>
            </a:r>
            <a:r>
              <a:rPr dirty="0" sz="2000" spc="-5">
                <a:latin typeface="Times New Roman"/>
                <a:cs typeface="Times New Roman"/>
              </a:rPr>
              <a:t>cấu tạo </a:t>
            </a:r>
            <a:r>
              <a:rPr dirty="0" sz="2000" spc="5">
                <a:latin typeface="Times New Roman"/>
                <a:cs typeface="Times New Roman"/>
              </a:rPr>
              <a:t>gồm </a:t>
            </a:r>
            <a:r>
              <a:rPr dirty="0" sz="2000">
                <a:latin typeface="Times New Roman"/>
                <a:cs typeface="Times New Roman"/>
              </a:rPr>
              <a:t>2 vật </a:t>
            </a:r>
            <a:r>
              <a:rPr dirty="0" sz="2000" spc="-5">
                <a:latin typeface="Times New Roman"/>
                <a:cs typeface="Times New Roman"/>
              </a:rPr>
              <a:t>liệu </a:t>
            </a:r>
            <a:r>
              <a:rPr dirty="0" sz="2000">
                <a:latin typeface="Times New Roman"/>
                <a:cs typeface="Times New Roman"/>
              </a:rPr>
              <a:t>bán dẫn loại n và</a:t>
            </a:r>
            <a:r>
              <a:rPr dirty="0" sz="2000" spc="-160">
                <a:latin typeface="Times New Roman"/>
                <a:cs typeface="Times New Roman"/>
              </a:rPr>
              <a:t> </a:t>
            </a:r>
            <a:r>
              <a:rPr dirty="0" sz="2000" spc="5">
                <a:latin typeface="Times New Roman"/>
                <a:cs typeface="Times New Roman"/>
              </a:rPr>
              <a:t>p.</a:t>
            </a:r>
            <a:endParaRPr sz="2000">
              <a:latin typeface="Times New Roman"/>
              <a:cs typeface="Times New Roman"/>
            </a:endParaRPr>
          </a:p>
          <a:p>
            <a:pPr lvl="1" marL="672465" indent="-202565">
              <a:lnSpc>
                <a:spcPct val="100000"/>
              </a:lnSpc>
              <a:buSzPct val="95000"/>
              <a:buFont typeface="Wingdings"/>
              <a:buChar char=""/>
              <a:tabLst>
                <a:tab pos="673100" algn="l"/>
              </a:tabLst>
            </a:pPr>
            <a:r>
              <a:rPr dirty="0" sz="2000">
                <a:latin typeface="Times New Roman"/>
                <a:cs typeface="Times New Roman"/>
              </a:rPr>
              <a:t>JFET kênh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5">
                <a:latin typeface="Times New Roman"/>
                <a:cs typeface="Times New Roman"/>
              </a:rPr>
              <a:t>n: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59528" y="822147"/>
            <a:ext cx="4672330" cy="2769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469900" algn="l"/>
                <a:tab pos="470534" algn="l"/>
              </a:tabLst>
            </a:pPr>
            <a:r>
              <a:rPr dirty="0" sz="2000">
                <a:latin typeface="Times New Roman"/>
                <a:cs typeface="Times New Roman"/>
              </a:rPr>
              <a:t>Cực Drain </a:t>
            </a:r>
            <a:r>
              <a:rPr dirty="0" sz="2000" spc="-5">
                <a:latin typeface="Times New Roman"/>
                <a:cs typeface="Times New Roman"/>
              </a:rPr>
              <a:t>(máng) </a:t>
            </a:r>
            <a:r>
              <a:rPr dirty="0" sz="2000">
                <a:latin typeface="Times New Roman"/>
                <a:cs typeface="Times New Roman"/>
              </a:rPr>
              <a:t>và Source (nguồn)</a:t>
            </a:r>
            <a:r>
              <a:rPr dirty="0" sz="2000" spc="-12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sẽ</a:t>
            </a:r>
            <a:endParaRPr sz="2000">
              <a:latin typeface="Times New Roman"/>
              <a:cs typeface="Times New Roman"/>
            </a:endParaRPr>
          </a:p>
          <a:p>
            <a:pPr marL="361950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được </a:t>
            </a:r>
            <a:r>
              <a:rPr dirty="0" sz="2000" spc="5">
                <a:latin typeface="Times New Roman"/>
                <a:cs typeface="Times New Roman"/>
              </a:rPr>
              <a:t>nối </a:t>
            </a:r>
            <a:r>
              <a:rPr dirty="0" sz="2000">
                <a:latin typeface="Times New Roman"/>
                <a:cs typeface="Times New Roman"/>
              </a:rPr>
              <a:t>với kênh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 spc="5">
                <a:latin typeface="Times New Roman"/>
                <a:cs typeface="Times New Roman"/>
              </a:rPr>
              <a:t>n.</a:t>
            </a:r>
            <a:endParaRPr sz="2000">
              <a:latin typeface="Times New Roman"/>
              <a:cs typeface="Times New Roman"/>
            </a:endParaRPr>
          </a:p>
          <a:p>
            <a:pPr marL="299085" marR="5080" indent="-286385">
              <a:lnSpc>
                <a:spcPct val="100000"/>
              </a:lnSpc>
              <a:buFont typeface="Arial"/>
              <a:buChar char="•"/>
              <a:tabLst>
                <a:tab pos="363220" algn="l"/>
                <a:tab pos="363855" algn="l"/>
              </a:tabLst>
            </a:pPr>
            <a:r>
              <a:rPr dirty="0" sz="2000">
                <a:latin typeface="Times New Roman"/>
                <a:cs typeface="Times New Roman"/>
              </a:rPr>
              <a:t>Cực Gate (cổng) sẽ được </a:t>
            </a:r>
            <a:r>
              <a:rPr dirty="0" sz="2000" spc="5">
                <a:latin typeface="Times New Roman"/>
                <a:cs typeface="Times New Roman"/>
              </a:rPr>
              <a:t>nối </a:t>
            </a:r>
            <a:r>
              <a:rPr dirty="0" sz="2000">
                <a:latin typeface="Times New Roman"/>
                <a:cs typeface="Times New Roman"/>
              </a:rPr>
              <a:t>vào 2 kênh</a:t>
            </a:r>
            <a:r>
              <a:rPr dirty="0" sz="2000" spc="-1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  của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30">
                <a:latin typeface="Times New Roman"/>
                <a:cs typeface="Times New Roman"/>
              </a:rPr>
              <a:t>JFET.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"/>
              <a:tabLst>
                <a:tab pos="299720" algn="l"/>
              </a:tabLst>
            </a:pPr>
            <a:r>
              <a:rPr dirty="0" sz="2000">
                <a:latin typeface="Times New Roman"/>
                <a:cs typeface="Times New Roman"/>
              </a:rPr>
              <a:t>JFET kênh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spc="5">
                <a:latin typeface="Times New Roman"/>
                <a:cs typeface="Times New Roman"/>
              </a:rPr>
              <a:t>p: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361315" algn="l"/>
                <a:tab pos="361950" algn="l"/>
              </a:tabLst>
            </a:pPr>
            <a:r>
              <a:rPr dirty="0" sz="2000">
                <a:latin typeface="Times New Roman"/>
                <a:cs typeface="Times New Roman"/>
              </a:rPr>
              <a:t>Cực Drain </a:t>
            </a:r>
            <a:r>
              <a:rPr dirty="0" sz="2000" spc="-5">
                <a:latin typeface="Times New Roman"/>
                <a:cs typeface="Times New Roman"/>
              </a:rPr>
              <a:t>(máng) </a:t>
            </a:r>
            <a:r>
              <a:rPr dirty="0" sz="2000">
                <a:latin typeface="Times New Roman"/>
                <a:cs typeface="Times New Roman"/>
              </a:rPr>
              <a:t>và Source (nguồn)</a:t>
            </a:r>
            <a:r>
              <a:rPr dirty="0" sz="2000" spc="-12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sẽ</a:t>
            </a:r>
            <a:endParaRPr sz="2000">
              <a:latin typeface="Times New Roman"/>
              <a:cs typeface="Times New Roman"/>
            </a:endParaRPr>
          </a:p>
          <a:p>
            <a:pPr marL="361950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được </a:t>
            </a:r>
            <a:r>
              <a:rPr dirty="0" sz="2000" spc="5">
                <a:latin typeface="Times New Roman"/>
                <a:cs typeface="Times New Roman"/>
              </a:rPr>
              <a:t>nối </a:t>
            </a:r>
            <a:r>
              <a:rPr dirty="0" sz="2000">
                <a:latin typeface="Times New Roman"/>
                <a:cs typeface="Times New Roman"/>
              </a:rPr>
              <a:t>với kênh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 spc="5">
                <a:latin typeface="Times New Roman"/>
                <a:cs typeface="Times New Roman"/>
              </a:rPr>
              <a:t>p.</a:t>
            </a:r>
            <a:endParaRPr sz="2000">
              <a:latin typeface="Times New Roman"/>
              <a:cs typeface="Times New Roman"/>
            </a:endParaRPr>
          </a:p>
          <a:p>
            <a:pPr marL="299085" marR="5080" indent="-286385">
              <a:lnSpc>
                <a:spcPct val="100000"/>
              </a:lnSpc>
              <a:buFont typeface="Arial"/>
              <a:buChar char="•"/>
              <a:tabLst>
                <a:tab pos="363220" algn="l"/>
                <a:tab pos="363855" algn="l"/>
              </a:tabLst>
            </a:pPr>
            <a:r>
              <a:rPr dirty="0" sz="2000">
                <a:latin typeface="Times New Roman"/>
                <a:cs typeface="Times New Roman"/>
              </a:rPr>
              <a:t>Cực Gate (cổng) sẽ được </a:t>
            </a:r>
            <a:r>
              <a:rPr dirty="0" sz="2000" spc="5">
                <a:latin typeface="Times New Roman"/>
                <a:cs typeface="Times New Roman"/>
              </a:rPr>
              <a:t>nối </a:t>
            </a:r>
            <a:r>
              <a:rPr dirty="0" sz="2000">
                <a:latin typeface="Times New Roman"/>
                <a:cs typeface="Times New Roman"/>
              </a:rPr>
              <a:t>vào 2 kênh</a:t>
            </a:r>
            <a:r>
              <a:rPr dirty="0" sz="2000" spc="-1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  của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30">
                <a:latin typeface="Times New Roman"/>
                <a:cs typeface="Times New Roman"/>
              </a:rPr>
              <a:t>JFET.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454" y="3617137"/>
            <a:ext cx="4517009" cy="28639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81" y="6400800"/>
            <a:ext cx="9903460" cy="457200"/>
          </a:xfrm>
          <a:custGeom>
            <a:avLst/>
            <a:gdLst/>
            <a:ahLst/>
            <a:cxnLst/>
            <a:rect l="l" t="t" r="r" b="b"/>
            <a:pathLst>
              <a:path w="9903460" h="457200">
                <a:moveTo>
                  <a:pt x="0" y="457200"/>
                </a:moveTo>
                <a:lnTo>
                  <a:pt x="9903460" y="457200"/>
                </a:lnTo>
                <a:lnTo>
                  <a:pt x="990346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" y="6334315"/>
            <a:ext cx="9903460" cy="64135"/>
          </a:xfrm>
          <a:custGeom>
            <a:avLst/>
            <a:gdLst/>
            <a:ahLst/>
            <a:cxnLst/>
            <a:rect l="l" t="t" r="r" b="b"/>
            <a:pathLst>
              <a:path w="9903460" h="64135">
                <a:moveTo>
                  <a:pt x="0" y="64008"/>
                </a:moveTo>
                <a:lnTo>
                  <a:pt x="9903460" y="64008"/>
                </a:lnTo>
                <a:lnTo>
                  <a:pt x="9903460" y="0"/>
                </a:lnTo>
                <a:lnTo>
                  <a:pt x="0" y="0"/>
                </a:lnTo>
                <a:lnTo>
                  <a:pt x="0" y="64008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0284" y="177800"/>
            <a:ext cx="5029835" cy="134493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89685" marR="5080" indent="-1277620">
              <a:lnSpc>
                <a:spcPct val="100299"/>
              </a:lnSpc>
              <a:spcBef>
                <a:spcPts val="90"/>
              </a:spcBef>
            </a:pPr>
            <a:r>
              <a:rPr dirty="0" sz="3000"/>
              <a:t>Ư</a:t>
            </a:r>
            <a:r>
              <a:rPr dirty="0" sz="3000">
                <a:latin typeface="Arial"/>
                <a:cs typeface="Arial"/>
              </a:rPr>
              <a:t>u nhược điểm </a:t>
            </a:r>
            <a:r>
              <a:rPr dirty="0" sz="3000" spc="-5">
                <a:latin typeface="Arial"/>
                <a:cs typeface="Arial"/>
              </a:rPr>
              <a:t>của </a:t>
            </a:r>
            <a:r>
              <a:rPr dirty="0" sz="3000">
                <a:latin typeface="Arial"/>
                <a:cs typeface="Arial"/>
              </a:rPr>
              <a:t>FET</a:t>
            </a:r>
            <a:r>
              <a:rPr dirty="0" sz="3000" spc="-60">
                <a:latin typeface="Arial"/>
                <a:cs typeface="Arial"/>
              </a:rPr>
              <a:t> </a:t>
            </a:r>
            <a:r>
              <a:rPr dirty="0" sz="3000" spc="-5">
                <a:latin typeface="Arial"/>
                <a:cs typeface="Arial"/>
              </a:rPr>
              <a:t>so  với transistor</a:t>
            </a:r>
            <a:endParaRPr sz="3000">
              <a:latin typeface="Arial"/>
              <a:cs typeface="Arial"/>
            </a:endParaRPr>
          </a:p>
          <a:p>
            <a:pPr marL="1286510">
              <a:lnSpc>
                <a:spcPct val="100000"/>
              </a:lnSpc>
              <a:spcBef>
                <a:spcPts val="170"/>
              </a:spcBef>
            </a:pPr>
            <a:r>
              <a:rPr dirty="0" sz="2500" spc="-5"/>
              <a:t>Ưu</a:t>
            </a:r>
            <a:r>
              <a:rPr dirty="0" sz="2500" spc="-15"/>
              <a:t> </a:t>
            </a:r>
            <a:r>
              <a:rPr dirty="0" sz="2500" spc="-5"/>
              <a:t>điểm:</a:t>
            </a:r>
            <a:endParaRPr sz="2500"/>
          </a:p>
        </p:txBody>
      </p:sp>
      <p:sp>
        <p:nvSpPr>
          <p:cNvPr id="5" name="object 5"/>
          <p:cNvSpPr txBox="1"/>
          <p:nvPr/>
        </p:nvSpPr>
        <p:spPr>
          <a:xfrm>
            <a:off x="1514094" y="1878583"/>
            <a:ext cx="6675755" cy="3835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Char char="-"/>
              <a:tabLst>
                <a:tab pos="299085" algn="l"/>
                <a:tab pos="299720" algn="l"/>
              </a:tabLst>
            </a:pPr>
            <a:r>
              <a:rPr dirty="0" sz="2500" spc="-5">
                <a:latin typeface="Times New Roman"/>
                <a:cs typeface="Times New Roman"/>
              </a:rPr>
              <a:t>FET có trở kháng </a:t>
            </a:r>
            <a:r>
              <a:rPr dirty="0" sz="2500" spc="-10">
                <a:latin typeface="Times New Roman"/>
                <a:cs typeface="Times New Roman"/>
              </a:rPr>
              <a:t>cao </a:t>
            </a:r>
            <a:r>
              <a:rPr dirty="0" sz="2500" spc="-5">
                <a:latin typeface="Times New Roman"/>
                <a:cs typeface="Times New Roman"/>
              </a:rPr>
              <a:t>hơn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 spc="-5">
                <a:latin typeface="Times New Roman"/>
                <a:cs typeface="Times New Roman"/>
              </a:rPr>
              <a:t>transistor</a:t>
            </a:r>
            <a:endParaRPr sz="2500">
              <a:latin typeface="Times New Roman"/>
              <a:cs typeface="Times New Roman"/>
            </a:endParaRPr>
          </a:p>
          <a:p>
            <a:pPr marL="299085" marR="5080" indent="-286385">
              <a:lnSpc>
                <a:spcPct val="100000"/>
              </a:lnSpc>
              <a:buChar char="-"/>
              <a:tabLst>
                <a:tab pos="299085" algn="l"/>
                <a:tab pos="299720" algn="l"/>
              </a:tabLst>
            </a:pPr>
            <a:r>
              <a:rPr dirty="0" sz="2500" spc="-20">
                <a:latin typeface="Times New Roman"/>
                <a:cs typeface="Times New Roman"/>
              </a:rPr>
              <a:t>Tiếng </a:t>
            </a:r>
            <a:r>
              <a:rPr dirty="0" sz="2500" spc="-5">
                <a:latin typeface="Times New Roman"/>
                <a:cs typeface="Times New Roman"/>
              </a:rPr>
              <a:t>ồn trong FET ít hơn nhiều đối với transistor  lưỡng</a:t>
            </a:r>
            <a:r>
              <a:rPr dirty="0" sz="2500" spc="10">
                <a:latin typeface="Times New Roman"/>
                <a:cs typeface="Times New Roman"/>
              </a:rPr>
              <a:t> </a:t>
            </a:r>
            <a:r>
              <a:rPr dirty="0" sz="2500" spc="-5">
                <a:latin typeface="Times New Roman"/>
                <a:cs typeface="Times New Roman"/>
              </a:rPr>
              <a:t>cực.</a:t>
            </a:r>
            <a:endParaRPr sz="25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Char char="-"/>
              <a:tabLst>
                <a:tab pos="299085" algn="l"/>
                <a:tab pos="299720" algn="l"/>
              </a:tabLst>
            </a:pPr>
            <a:r>
              <a:rPr dirty="0" sz="2500" spc="-5">
                <a:latin typeface="Times New Roman"/>
                <a:cs typeface="Times New Roman"/>
              </a:rPr>
              <a:t>Có độ ổn định về nhiệt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cao</a:t>
            </a:r>
            <a:endParaRPr sz="25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Char char="-"/>
              <a:tabLst>
                <a:tab pos="299085" algn="l"/>
                <a:tab pos="299720" algn="l"/>
              </a:tabLst>
            </a:pPr>
            <a:r>
              <a:rPr dirty="0" sz="2500" spc="-5">
                <a:latin typeface="Times New Roman"/>
                <a:cs typeface="Times New Roman"/>
              </a:rPr>
              <a:t>Tần số làm việc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 spc="-5">
                <a:latin typeface="Times New Roman"/>
                <a:cs typeface="Times New Roman"/>
              </a:rPr>
              <a:t>cao.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Times New Roman"/>
              <a:buChar char="-"/>
            </a:pP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500" spc="-10" b="1">
                <a:solidFill>
                  <a:srgbClr val="FF0000"/>
                </a:solidFill>
                <a:latin typeface="Times New Roman"/>
                <a:cs typeface="Times New Roman"/>
              </a:rPr>
              <a:t>Nhược</a:t>
            </a:r>
            <a:r>
              <a:rPr dirty="0" sz="2500" spc="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500" spc="-5" b="1">
                <a:solidFill>
                  <a:srgbClr val="FF0000"/>
                </a:solidFill>
                <a:latin typeface="Times New Roman"/>
                <a:cs typeface="Times New Roman"/>
              </a:rPr>
              <a:t>điểm: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>
              <a:latin typeface="Times New Roman"/>
              <a:cs typeface="Times New Roman"/>
            </a:endParaRPr>
          </a:p>
          <a:p>
            <a:pPr marL="12700" marR="177165">
              <a:lnSpc>
                <a:spcPct val="100000"/>
              </a:lnSpc>
              <a:buChar char="-"/>
              <a:tabLst>
                <a:tab pos="198755" algn="l"/>
              </a:tabLst>
            </a:pPr>
            <a:r>
              <a:rPr dirty="0" sz="2500" spc="-5">
                <a:latin typeface="Times New Roman"/>
                <a:cs typeface="Times New Roman"/>
              </a:rPr>
              <a:t>Hệ số khuếch đại thấp hơn nhiều so với transistor  lưỡng</a:t>
            </a:r>
            <a:r>
              <a:rPr dirty="0" sz="2500" spc="10">
                <a:latin typeface="Times New Roman"/>
                <a:cs typeface="Times New Roman"/>
              </a:rPr>
              <a:t> </a:t>
            </a:r>
            <a:r>
              <a:rPr dirty="0" sz="2500" spc="-5">
                <a:latin typeface="Times New Roman"/>
                <a:cs typeface="Times New Roman"/>
              </a:rPr>
              <a:t>cực.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81" y="6400800"/>
            <a:ext cx="9903460" cy="457200"/>
          </a:xfrm>
          <a:custGeom>
            <a:avLst/>
            <a:gdLst/>
            <a:ahLst/>
            <a:cxnLst/>
            <a:rect l="l" t="t" r="r" b="b"/>
            <a:pathLst>
              <a:path w="9903460" h="457200">
                <a:moveTo>
                  <a:pt x="0" y="457200"/>
                </a:moveTo>
                <a:lnTo>
                  <a:pt x="9903460" y="457200"/>
                </a:lnTo>
                <a:lnTo>
                  <a:pt x="990346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" y="6334315"/>
            <a:ext cx="9903460" cy="64135"/>
          </a:xfrm>
          <a:custGeom>
            <a:avLst/>
            <a:gdLst/>
            <a:ahLst/>
            <a:cxnLst/>
            <a:rect l="l" t="t" r="r" b="b"/>
            <a:pathLst>
              <a:path w="9903460" h="64135">
                <a:moveTo>
                  <a:pt x="0" y="64008"/>
                </a:moveTo>
                <a:lnTo>
                  <a:pt x="9903460" y="64008"/>
                </a:lnTo>
                <a:lnTo>
                  <a:pt x="9903460" y="0"/>
                </a:lnTo>
                <a:lnTo>
                  <a:pt x="0" y="0"/>
                </a:lnTo>
                <a:lnTo>
                  <a:pt x="0" y="64008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81227" y="4343400"/>
            <a:ext cx="8023859" cy="0"/>
          </a:xfrm>
          <a:custGeom>
            <a:avLst/>
            <a:gdLst/>
            <a:ahLst/>
            <a:cxnLst/>
            <a:rect l="l" t="t" r="r" b="b"/>
            <a:pathLst>
              <a:path w="8023859" h="0">
                <a:moveTo>
                  <a:pt x="0" y="0"/>
                </a:moveTo>
                <a:lnTo>
                  <a:pt x="8023834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567558" y="1074038"/>
            <a:ext cx="4749546" cy="32782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681988" y="698119"/>
            <a:ext cx="373189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30" b="1">
                <a:latin typeface="Times New Roman"/>
                <a:cs typeface="Times New Roman"/>
              </a:rPr>
              <a:t>Trường </a:t>
            </a:r>
            <a:r>
              <a:rPr dirty="0" sz="2000" spc="-5" b="1">
                <a:latin typeface="Times New Roman"/>
                <a:cs typeface="Times New Roman"/>
              </a:rPr>
              <a:t>hợp </a:t>
            </a:r>
            <a:r>
              <a:rPr dirty="0" sz="2000" spc="10" b="1">
                <a:latin typeface="Times New Roman"/>
                <a:cs typeface="Times New Roman"/>
              </a:rPr>
              <a:t>V</a:t>
            </a:r>
            <a:r>
              <a:rPr dirty="0" baseline="-21367" sz="1950" spc="15" b="1">
                <a:latin typeface="Times New Roman"/>
                <a:cs typeface="Times New Roman"/>
              </a:rPr>
              <a:t>gs </a:t>
            </a:r>
            <a:r>
              <a:rPr dirty="0" sz="2000" b="1">
                <a:latin typeface="Times New Roman"/>
                <a:cs typeface="Times New Roman"/>
              </a:rPr>
              <a:t>= 0 V và </a:t>
            </a:r>
            <a:r>
              <a:rPr dirty="0" sz="2000" spc="10" b="1">
                <a:latin typeface="Times New Roman"/>
                <a:cs typeface="Times New Roman"/>
              </a:rPr>
              <a:t>V</a:t>
            </a:r>
            <a:r>
              <a:rPr dirty="0" baseline="-21367" sz="1950" spc="15" b="1">
                <a:latin typeface="Times New Roman"/>
                <a:cs typeface="Times New Roman"/>
              </a:rPr>
              <a:t>ds </a:t>
            </a:r>
            <a:r>
              <a:rPr dirty="0" sz="2000" b="1">
                <a:latin typeface="Times New Roman"/>
                <a:cs typeface="Times New Roman"/>
              </a:rPr>
              <a:t>= 0</a:t>
            </a:r>
            <a:r>
              <a:rPr dirty="0" sz="2000" spc="114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V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10972" y="118109"/>
            <a:ext cx="3383279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" b="0">
                <a:latin typeface="Times New Roman"/>
                <a:cs typeface="Times New Roman"/>
              </a:rPr>
              <a:t>Nguyên tắc hoạt</a:t>
            </a:r>
            <a:r>
              <a:rPr dirty="0" sz="3000" spc="10" b="0">
                <a:latin typeface="Times New Roman"/>
                <a:cs typeface="Times New Roman"/>
              </a:rPr>
              <a:t> </a:t>
            </a:r>
            <a:r>
              <a:rPr dirty="0" sz="3000" spc="-5" b="0">
                <a:latin typeface="Times New Roman"/>
                <a:cs typeface="Times New Roman"/>
              </a:rPr>
              <a:t>động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4850" y="4515992"/>
            <a:ext cx="8867140" cy="1550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Char char="-"/>
              <a:tabLst>
                <a:tab pos="160655" algn="l"/>
              </a:tabLst>
            </a:pPr>
            <a:r>
              <a:rPr dirty="0" sz="2000">
                <a:latin typeface="Times New Roman"/>
                <a:cs typeface="Times New Roman"/>
              </a:rPr>
              <a:t>Hai </a:t>
            </a:r>
            <a:r>
              <a:rPr dirty="0" sz="2000" spc="-5">
                <a:latin typeface="Times New Roman"/>
                <a:cs typeface="Times New Roman"/>
              </a:rPr>
              <a:t>tiếp </a:t>
            </a:r>
            <a:r>
              <a:rPr dirty="0" sz="2000">
                <a:latin typeface="Times New Roman"/>
                <a:cs typeface="Times New Roman"/>
              </a:rPr>
              <a:t>giáp PN </a:t>
            </a:r>
            <a:r>
              <a:rPr dirty="0" sz="2000" spc="5">
                <a:latin typeface="Times New Roman"/>
                <a:cs typeface="Times New Roman"/>
              </a:rPr>
              <a:t>đối xứng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nhau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  <a:buChar char="-"/>
              <a:tabLst>
                <a:tab pos="160655" algn="l"/>
              </a:tabLst>
            </a:pPr>
            <a:r>
              <a:rPr dirty="0" sz="2000">
                <a:latin typeface="Times New Roman"/>
                <a:cs typeface="Times New Roman"/>
              </a:rPr>
              <a:t>Sau </a:t>
            </a:r>
            <a:r>
              <a:rPr dirty="0" sz="2000" spc="5">
                <a:latin typeface="Times New Roman"/>
                <a:cs typeface="Times New Roman"/>
              </a:rPr>
              <a:t>khi </a:t>
            </a:r>
            <a:r>
              <a:rPr dirty="0" sz="2000" spc="-5">
                <a:latin typeface="Times New Roman"/>
                <a:cs typeface="Times New Roman"/>
              </a:rPr>
              <a:t>cân </a:t>
            </a:r>
            <a:r>
              <a:rPr dirty="0" sz="2000">
                <a:latin typeface="Times New Roman"/>
                <a:cs typeface="Times New Roman"/>
              </a:rPr>
              <a:t>bằng </a:t>
            </a:r>
            <a:r>
              <a:rPr dirty="0" sz="2000" spc="-5">
                <a:latin typeface="Times New Roman"/>
                <a:cs typeface="Times New Roman"/>
              </a:rPr>
              <a:t>=&gt; </a:t>
            </a:r>
            <a:r>
              <a:rPr dirty="0" sz="2000" spc="5">
                <a:latin typeface="Times New Roman"/>
                <a:cs typeface="Times New Roman"/>
              </a:rPr>
              <a:t>vùng </a:t>
            </a:r>
            <a:r>
              <a:rPr dirty="0" sz="2000">
                <a:latin typeface="Times New Roman"/>
                <a:cs typeface="Times New Roman"/>
              </a:rPr>
              <a:t>nghèo xuất hiện </a:t>
            </a:r>
            <a:r>
              <a:rPr dirty="0" sz="2000" spc="-5">
                <a:latin typeface="Times New Roman"/>
                <a:cs typeface="Times New Roman"/>
              </a:rPr>
              <a:t>tại </a:t>
            </a:r>
            <a:r>
              <a:rPr dirty="0" sz="2000">
                <a:latin typeface="Times New Roman"/>
                <a:cs typeface="Times New Roman"/>
              </a:rPr>
              <a:t>hai </a:t>
            </a:r>
            <a:r>
              <a:rPr dirty="0" sz="2000" spc="-5">
                <a:latin typeface="Times New Roman"/>
                <a:cs typeface="Times New Roman"/>
              </a:rPr>
              <a:t>tiếp </a:t>
            </a:r>
            <a:r>
              <a:rPr dirty="0" sz="2000">
                <a:latin typeface="Times New Roman"/>
                <a:cs typeface="Times New Roman"/>
              </a:rPr>
              <a:t>giáp PN, </a:t>
            </a:r>
            <a:r>
              <a:rPr dirty="0" sz="2000" spc="-5">
                <a:latin typeface="Times New Roman"/>
                <a:cs typeface="Times New Roman"/>
              </a:rPr>
              <a:t>có </a:t>
            </a:r>
            <a:r>
              <a:rPr dirty="0" sz="2000">
                <a:latin typeface="Times New Roman"/>
                <a:cs typeface="Times New Roman"/>
              </a:rPr>
              <a:t>xu hướng </a:t>
            </a:r>
            <a:r>
              <a:rPr dirty="0" sz="2000" spc="-10">
                <a:latin typeface="Times New Roman"/>
                <a:cs typeface="Times New Roman"/>
              </a:rPr>
              <a:t>mở</a:t>
            </a:r>
            <a:r>
              <a:rPr dirty="0" sz="2000" spc="-13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rộng  </a:t>
            </a:r>
            <a:r>
              <a:rPr dirty="0" sz="2000">
                <a:latin typeface="Times New Roman"/>
                <a:cs typeface="Times New Roman"/>
              </a:rPr>
              <a:t>về phía bán dẫn loại n ( do bán dẫn loại p được </a:t>
            </a:r>
            <a:r>
              <a:rPr dirty="0" sz="2000" spc="5">
                <a:latin typeface="Times New Roman"/>
                <a:cs typeface="Times New Roman"/>
              </a:rPr>
              <a:t>pha </a:t>
            </a:r>
            <a:r>
              <a:rPr dirty="0" sz="2000" spc="-5">
                <a:latin typeface="Times New Roman"/>
                <a:cs typeface="Times New Roman"/>
              </a:rPr>
              <a:t>tạp </a:t>
            </a:r>
            <a:r>
              <a:rPr dirty="0" sz="2000">
                <a:latin typeface="Times New Roman"/>
                <a:cs typeface="Times New Roman"/>
              </a:rPr>
              <a:t>đậm hơn bán dẫn loại n) =&gt;  hình thành </a:t>
            </a:r>
            <a:r>
              <a:rPr dirty="0" sz="2000" spc="-10">
                <a:latin typeface="Times New Roman"/>
                <a:cs typeface="Times New Roman"/>
              </a:rPr>
              <a:t>một </a:t>
            </a:r>
            <a:r>
              <a:rPr dirty="0" sz="2000">
                <a:latin typeface="Times New Roman"/>
                <a:cs typeface="Times New Roman"/>
              </a:rPr>
              <a:t>kênh dẫn hạt </a:t>
            </a:r>
            <a:r>
              <a:rPr dirty="0" sz="2000" spc="-5">
                <a:latin typeface="Times New Roman"/>
                <a:cs typeface="Times New Roman"/>
              </a:rPr>
              <a:t>tải </a:t>
            </a:r>
            <a:r>
              <a:rPr dirty="0" sz="2000">
                <a:latin typeface="Times New Roman"/>
                <a:cs typeface="Times New Roman"/>
              </a:rPr>
              <a:t>đa số trong bán dẫn loại n với bề dày kênh dẫn </a:t>
            </a:r>
            <a:r>
              <a:rPr dirty="0" sz="2000" spc="-5">
                <a:latin typeface="Times New Roman"/>
                <a:cs typeface="Times New Roman"/>
              </a:rPr>
              <a:t>là </a:t>
            </a:r>
            <a:r>
              <a:rPr dirty="0" sz="2000">
                <a:latin typeface="Times New Roman"/>
                <a:cs typeface="Times New Roman"/>
              </a:rPr>
              <a:t>W  và chiều dài kênh dẫn </a:t>
            </a:r>
            <a:r>
              <a:rPr dirty="0" sz="2000" spc="-5">
                <a:latin typeface="Times New Roman"/>
                <a:cs typeface="Times New Roman"/>
              </a:rPr>
              <a:t>là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81" y="6400800"/>
            <a:ext cx="9903460" cy="457200"/>
          </a:xfrm>
          <a:custGeom>
            <a:avLst/>
            <a:gdLst/>
            <a:ahLst/>
            <a:cxnLst/>
            <a:rect l="l" t="t" r="r" b="b"/>
            <a:pathLst>
              <a:path w="9903460" h="457200">
                <a:moveTo>
                  <a:pt x="0" y="457200"/>
                </a:moveTo>
                <a:lnTo>
                  <a:pt x="9903460" y="457200"/>
                </a:lnTo>
                <a:lnTo>
                  <a:pt x="990346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" y="6334315"/>
            <a:ext cx="9903460" cy="64135"/>
          </a:xfrm>
          <a:custGeom>
            <a:avLst/>
            <a:gdLst/>
            <a:ahLst/>
            <a:cxnLst/>
            <a:rect l="l" t="t" r="r" b="b"/>
            <a:pathLst>
              <a:path w="9903460" h="64135">
                <a:moveTo>
                  <a:pt x="0" y="64008"/>
                </a:moveTo>
                <a:lnTo>
                  <a:pt x="9903460" y="64008"/>
                </a:lnTo>
                <a:lnTo>
                  <a:pt x="9903460" y="0"/>
                </a:lnTo>
                <a:lnTo>
                  <a:pt x="0" y="0"/>
                </a:lnTo>
                <a:lnTo>
                  <a:pt x="0" y="64008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99922" y="729081"/>
            <a:ext cx="7839709" cy="915035"/>
          </a:xfrm>
          <a:prstGeom prst="rect">
            <a:avLst/>
          </a:prstGeom>
        </p:spPr>
        <p:txBody>
          <a:bodyPr wrap="square" lIns="0" tIns="1524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spc="-30" b="1">
                <a:latin typeface="Times New Roman"/>
                <a:cs typeface="Times New Roman"/>
              </a:rPr>
              <a:t>Trường </a:t>
            </a:r>
            <a:r>
              <a:rPr dirty="0" sz="2000" spc="-5" b="1">
                <a:latin typeface="Times New Roman"/>
                <a:cs typeface="Times New Roman"/>
              </a:rPr>
              <a:t>hợp </a:t>
            </a:r>
            <a:r>
              <a:rPr dirty="0" sz="2000" spc="10" b="1">
                <a:latin typeface="Times New Roman"/>
                <a:cs typeface="Times New Roman"/>
              </a:rPr>
              <a:t>V</a:t>
            </a:r>
            <a:r>
              <a:rPr dirty="0" baseline="-21367" sz="1950" spc="15" b="1">
                <a:latin typeface="Times New Roman"/>
                <a:cs typeface="Times New Roman"/>
              </a:rPr>
              <a:t>gs </a:t>
            </a:r>
            <a:r>
              <a:rPr dirty="0" sz="2000" b="1">
                <a:latin typeface="Times New Roman"/>
                <a:cs typeface="Times New Roman"/>
              </a:rPr>
              <a:t>&lt; 0V và </a:t>
            </a:r>
            <a:r>
              <a:rPr dirty="0" sz="2000" spc="10" b="1">
                <a:latin typeface="Times New Roman"/>
                <a:cs typeface="Times New Roman"/>
              </a:rPr>
              <a:t>V</a:t>
            </a:r>
            <a:r>
              <a:rPr dirty="0" baseline="-21367" sz="1950" spc="15" b="1">
                <a:latin typeface="Times New Roman"/>
                <a:cs typeface="Times New Roman"/>
              </a:rPr>
              <a:t>ds </a:t>
            </a:r>
            <a:r>
              <a:rPr dirty="0" sz="2000" b="1">
                <a:latin typeface="Times New Roman"/>
                <a:cs typeface="Times New Roman"/>
              </a:rPr>
              <a:t>=</a:t>
            </a:r>
            <a:r>
              <a:rPr dirty="0" sz="2000" spc="2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0V</a:t>
            </a:r>
            <a:endParaRPr sz="2000">
              <a:latin typeface="Times New Roman"/>
              <a:cs typeface="Times New Roman"/>
            </a:endParaRPr>
          </a:p>
          <a:p>
            <a:pPr marL="615315">
              <a:lnSpc>
                <a:spcPct val="100000"/>
              </a:lnSpc>
              <a:spcBef>
                <a:spcPts val="1100"/>
              </a:spcBef>
            </a:pPr>
            <a:r>
              <a:rPr dirty="0" sz="2000" spc="5">
                <a:latin typeface="Times New Roman"/>
                <a:cs typeface="Times New Roman"/>
              </a:rPr>
              <a:t>Khi </a:t>
            </a:r>
            <a:r>
              <a:rPr dirty="0" sz="2000" spc="-5">
                <a:latin typeface="Times New Roman"/>
                <a:cs typeface="Times New Roman"/>
              </a:rPr>
              <a:t>áp </a:t>
            </a:r>
            <a:r>
              <a:rPr dirty="0" sz="2000">
                <a:latin typeface="Times New Roman"/>
                <a:cs typeface="Times New Roman"/>
              </a:rPr>
              <a:t>điện thế </a:t>
            </a:r>
            <a:r>
              <a:rPr dirty="0" sz="2000" spc="5">
                <a:latin typeface="Times New Roman"/>
                <a:cs typeface="Times New Roman"/>
              </a:rPr>
              <a:t>Vgs </a:t>
            </a:r>
            <a:r>
              <a:rPr dirty="0" sz="2000">
                <a:latin typeface="Times New Roman"/>
                <a:cs typeface="Times New Roman"/>
              </a:rPr>
              <a:t>&lt; 0 V nghĩa </a:t>
            </a:r>
            <a:r>
              <a:rPr dirty="0" sz="2000" spc="-5">
                <a:latin typeface="Times New Roman"/>
                <a:cs typeface="Times New Roman"/>
              </a:rPr>
              <a:t>là </a:t>
            </a:r>
            <a:r>
              <a:rPr dirty="0" sz="2000">
                <a:latin typeface="Times New Roman"/>
                <a:cs typeface="Times New Roman"/>
              </a:rPr>
              <a:t>phân cực nghịch cho hai cực G –</a:t>
            </a:r>
            <a:r>
              <a:rPr dirty="0" sz="2000" spc="-2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3657" y="1833372"/>
            <a:ext cx="3157601" cy="22383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040632" y="1829180"/>
            <a:ext cx="3172967" cy="2200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701419" y="4560698"/>
            <a:ext cx="3219450" cy="2190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330702" y="2727579"/>
            <a:ext cx="513715" cy="403860"/>
          </a:xfrm>
          <a:custGeom>
            <a:avLst/>
            <a:gdLst/>
            <a:ahLst/>
            <a:cxnLst/>
            <a:rect l="l" t="t" r="r" b="b"/>
            <a:pathLst>
              <a:path w="513714" h="403860">
                <a:moveTo>
                  <a:pt x="311785" y="0"/>
                </a:moveTo>
                <a:lnTo>
                  <a:pt x="311785" y="100837"/>
                </a:lnTo>
                <a:lnTo>
                  <a:pt x="0" y="100837"/>
                </a:lnTo>
                <a:lnTo>
                  <a:pt x="0" y="302641"/>
                </a:lnTo>
                <a:lnTo>
                  <a:pt x="311785" y="302641"/>
                </a:lnTo>
                <a:lnTo>
                  <a:pt x="311785" y="403479"/>
                </a:lnTo>
                <a:lnTo>
                  <a:pt x="513461" y="201803"/>
                </a:lnTo>
                <a:lnTo>
                  <a:pt x="311785" y="0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330702" y="2727579"/>
            <a:ext cx="513715" cy="403860"/>
          </a:xfrm>
          <a:custGeom>
            <a:avLst/>
            <a:gdLst/>
            <a:ahLst/>
            <a:cxnLst/>
            <a:rect l="l" t="t" r="r" b="b"/>
            <a:pathLst>
              <a:path w="513714" h="403860">
                <a:moveTo>
                  <a:pt x="0" y="100837"/>
                </a:moveTo>
                <a:lnTo>
                  <a:pt x="311785" y="100837"/>
                </a:lnTo>
                <a:lnTo>
                  <a:pt x="311785" y="0"/>
                </a:lnTo>
                <a:lnTo>
                  <a:pt x="513461" y="201803"/>
                </a:lnTo>
                <a:lnTo>
                  <a:pt x="311785" y="403479"/>
                </a:lnTo>
                <a:lnTo>
                  <a:pt x="311785" y="302641"/>
                </a:lnTo>
                <a:lnTo>
                  <a:pt x="0" y="302641"/>
                </a:lnTo>
                <a:lnTo>
                  <a:pt x="0" y="100837"/>
                </a:lnTo>
                <a:close/>
              </a:path>
            </a:pathLst>
          </a:custGeom>
          <a:ln w="15875">
            <a:solidFill>
              <a:srgbClr val="6E94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226177" y="4916423"/>
            <a:ext cx="557530" cy="739775"/>
          </a:xfrm>
          <a:custGeom>
            <a:avLst/>
            <a:gdLst/>
            <a:ahLst/>
            <a:cxnLst/>
            <a:rect l="l" t="t" r="r" b="b"/>
            <a:pathLst>
              <a:path w="557529" h="739775">
                <a:moveTo>
                  <a:pt x="139319" y="461009"/>
                </a:moveTo>
                <a:lnTo>
                  <a:pt x="0" y="600329"/>
                </a:lnTo>
                <a:lnTo>
                  <a:pt x="139319" y="739647"/>
                </a:lnTo>
                <a:lnTo>
                  <a:pt x="139319" y="670051"/>
                </a:lnTo>
                <a:lnTo>
                  <a:pt x="313436" y="670051"/>
                </a:lnTo>
                <a:lnTo>
                  <a:pt x="362558" y="665096"/>
                </a:lnTo>
                <a:lnTo>
                  <a:pt x="408308" y="650882"/>
                </a:lnTo>
                <a:lnTo>
                  <a:pt x="449707" y="628395"/>
                </a:lnTo>
                <a:lnTo>
                  <a:pt x="485775" y="598614"/>
                </a:lnTo>
                <a:lnTo>
                  <a:pt x="515532" y="562523"/>
                </a:lnTo>
                <a:lnTo>
                  <a:pt x="532776" y="530732"/>
                </a:lnTo>
                <a:lnTo>
                  <a:pt x="139319" y="530732"/>
                </a:lnTo>
                <a:lnTo>
                  <a:pt x="139319" y="461009"/>
                </a:lnTo>
                <a:close/>
              </a:path>
              <a:path w="557529" h="739775">
                <a:moveTo>
                  <a:pt x="557149" y="0"/>
                </a:moveTo>
                <a:lnTo>
                  <a:pt x="417957" y="0"/>
                </a:lnTo>
                <a:lnTo>
                  <a:pt x="417957" y="426212"/>
                </a:lnTo>
                <a:lnTo>
                  <a:pt x="409733" y="466867"/>
                </a:lnTo>
                <a:lnTo>
                  <a:pt x="387318" y="500094"/>
                </a:lnTo>
                <a:lnTo>
                  <a:pt x="354091" y="522509"/>
                </a:lnTo>
                <a:lnTo>
                  <a:pt x="313436" y="530732"/>
                </a:lnTo>
                <a:lnTo>
                  <a:pt x="532776" y="530732"/>
                </a:lnTo>
                <a:lnTo>
                  <a:pt x="537999" y="521104"/>
                </a:lnTo>
                <a:lnTo>
                  <a:pt x="552198" y="475340"/>
                </a:lnTo>
                <a:lnTo>
                  <a:pt x="557149" y="426212"/>
                </a:lnTo>
                <a:lnTo>
                  <a:pt x="557149" y="0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226177" y="4916423"/>
            <a:ext cx="557530" cy="739775"/>
          </a:xfrm>
          <a:custGeom>
            <a:avLst/>
            <a:gdLst/>
            <a:ahLst/>
            <a:cxnLst/>
            <a:rect l="l" t="t" r="r" b="b"/>
            <a:pathLst>
              <a:path w="557529" h="739775">
                <a:moveTo>
                  <a:pt x="557149" y="0"/>
                </a:moveTo>
                <a:lnTo>
                  <a:pt x="557149" y="426212"/>
                </a:lnTo>
                <a:lnTo>
                  <a:pt x="552198" y="475340"/>
                </a:lnTo>
                <a:lnTo>
                  <a:pt x="537999" y="521104"/>
                </a:lnTo>
                <a:lnTo>
                  <a:pt x="515532" y="562523"/>
                </a:lnTo>
                <a:lnTo>
                  <a:pt x="485775" y="598614"/>
                </a:lnTo>
                <a:lnTo>
                  <a:pt x="449707" y="628395"/>
                </a:lnTo>
                <a:lnTo>
                  <a:pt x="408308" y="650882"/>
                </a:lnTo>
                <a:lnTo>
                  <a:pt x="362558" y="665096"/>
                </a:lnTo>
                <a:lnTo>
                  <a:pt x="313436" y="670051"/>
                </a:lnTo>
                <a:lnTo>
                  <a:pt x="139319" y="670051"/>
                </a:lnTo>
                <a:lnTo>
                  <a:pt x="139319" y="739647"/>
                </a:lnTo>
                <a:lnTo>
                  <a:pt x="0" y="600329"/>
                </a:lnTo>
                <a:lnTo>
                  <a:pt x="139319" y="461009"/>
                </a:lnTo>
                <a:lnTo>
                  <a:pt x="139319" y="530732"/>
                </a:lnTo>
                <a:lnTo>
                  <a:pt x="313436" y="530732"/>
                </a:lnTo>
                <a:lnTo>
                  <a:pt x="354091" y="522509"/>
                </a:lnTo>
                <a:lnTo>
                  <a:pt x="387318" y="500094"/>
                </a:lnTo>
                <a:lnTo>
                  <a:pt x="409733" y="466867"/>
                </a:lnTo>
                <a:lnTo>
                  <a:pt x="417957" y="426212"/>
                </a:lnTo>
                <a:lnTo>
                  <a:pt x="417957" y="0"/>
                </a:lnTo>
                <a:lnTo>
                  <a:pt x="557149" y="0"/>
                </a:lnTo>
                <a:close/>
              </a:path>
            </a:pathLst>
          </a:custGeom>
          <a:ln w="15875">
            <a:solidFill>
              <a:srgbClr val="6E94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389370" y="4752594"/>
            <a:ext cx="3404870" cy="1855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1905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Times New Roman"/>
                <a:cs typeface="Times New Roman"/>
              </a:rPr>
              <a:t>Do bán dẫn loại p </a:t>
            </a:r>
            <a:r>
              <a:rPr dirty="0" sz="2000" spc="5">
                <a:latin typeface="Times New Roman"/>
                <a:cs typeface="Times New Roman"/>
              </a:rPr>
              <a:t>pha </a:t>
            </a:r>
            <a:r>
              <a:rPr dirty="0" sz="2000" spc="-5">
                <a:latin typeface="Times New Roman"/>
                <a:cs typeface="Times New Roman"/>
              </a:rPr>
              <a:t>tạp </a:t>
            </a:r>
            <a:r>
              <a:rPr dirty="0" sz="2000">
                <a:latin typeface="Times New Roman"/>
                <a:cs typeface="Times New Roman"/>
              </a:rPr>
              <a:t>đậm  hơn bán dẫn loại n nên </a:t>
            </a:r>
            <a:r>
              <a:rPr dirty="0" sz="2000" spc="5">
                <a:latin typeface="Times New Roman"/>
                <a:cs typeface="Times New Roman"/>
              </a:rPr>
              <a:t>khi </a:t>
            </a:r>
            <a:r>
              <a:rPr dirty="0" sz="2000" spc="-5">
                <a:latin typeface="Times New Roman"/>
                <a:cs typeface="Times New Roman"/>
              </a:rPr>
              <a:t>áp</a:t>
            </a:r>
            <a:r>
              <a:rPr dirty="0" sz="2000" spc="-1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thế  </a:t>
            </a:r>
            <a:r>
              <a:rPr dirty="0" sz="2000" spc="5">
                <a:latin typeface="Times New Roman"/>
                <a:cs typeface="Times New Roman"/>
              </a:rPr>
              <a:t>Vgs </a:t>
            </a:r>
            <a:r>
              <a:rPr dirty="0" sz="2000">
                <a:latin typeface="Times New Roman"/>
                <a:cs typeface="Times New Roman"/>
              </a:rPr>
              <a:t>thì </a:t>
            </a:r>
            <a:r>
              <a:rPr dirty="0" sz="2000" spc="5">
                <a:latin typeface="Times New Roman"/>
                <a:cs typeface="Times New Roman"/>
              </a:rPr>
              <a:t>vùng </a:t>
            </a:r>
            <a:r>
              <a:rPr dirty="0" sz="2000">
                <a:latin typeface="Times New Roman"/>
                <a:cs typeface="Times New Roman"/>
              </a:rPr>
              <a:t>nghèo sẽ </a:t>
            </a:r>
            <a:r>
              <a:rPr dirty="0" sz="2000" spc="-10">
                <a:latin typeface="Times New Roman"/>
                <a:cs typeface="Times New Roman"/>
              </a:rPr>
              <a:t>mở </a:t>
            </a:r>
            <a:r>
              <a:rPr dirty="0" sz="2000">
                <a:latin typeface="Times New Roman"/>
                <a:cs typeface="Times New Roman"/>
              </a:rPr>
              <a:t>rộng  về phía bán dẫn loại n =&gt; sử  </a:t>
            </a:r>
            <a:r>
              <a:rPr dirty="0" sz="2000" spc="5">
                <a:latin typeface="Times New Roman"/>
                <a:cs typeface="Times New Roman"/>
              </a:rPr>
              <a:t>dụng </a:t>
            </a:r>
            <a:r>
              <a:rPr dirty="0" sz="2000">
                <a:latin typeface="Times New Roman"/>
                <a:cs typeface="Times New Roman"/>
              </a:rPr>
              <a:t>hiện tượng này đễ </a:t>
            </a:r>
            <a:r>
              <a:rPr dirty="0" sz="2000" spc="5">
                <a:latin typeface="Times New Roman"/>
                <a:cs typeface="Times New Roman"/>
              </a:rPr>
              <a:t>đóng</a:t>
            </a:r>
            <a:r>
              <a:rPr dirty="0" sz="2000" spc="-16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mở  </a:t>
            </a:r>
            <a:r>
              <a:rPr dirty="0" sz="2000">
                <a:latin typeface="Times New Roman"/>
                <a:cs typeface="Times New Roman"/>
              </a:rPr>
              <a:t>kênh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dẫn.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287525" y="178434"/>
            <a:ext cx="3383279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" b="0">
                <a:latin typeface="Times New Roman"/>
                <a:cs typeface="Times New Roman"/>
              </a:rPr>
              <a:t>Nguyên tắc hoạt</a:t>
            </a:r>
            <a:r>
              <a:rPr dirty="0" sz="3000" spc="10" b="0">
                <a:latin typeface="Times New Roman"/>
                <a:cs typeface="Times New Roman"/>
              </a:rPr>
              <a:t> </a:t>
            </a:r>
            <a:r>
              <a:rPr dirty="0" sz="3000" spc="-5" b="0">
                <a:latin typeface="Times New Roman"/>
                <a:cs typeface="Times New Roman"/>
              </a:rPr>
              <a:t>động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81" y="6400800"/>
            <a:ext cx="9903460" cy="457200"/>
          </a:xfrm>
          <a:custGeom>
            <a:avLst/>
            <a:gdLst/>
            <a:ahLst/>
            <a:cxnLst/>
            <a:rect l="l" t="t" r="r" b="b"/>
            <a:pathLst>
              <a:path w="9903460" h="457200">
                <a:moveTo>
                  <a:pt x="0" y="457200"/>
                </a:moveTo>
                <a:lnTo>
                  <a:pt x="9903460" y="457200"/>
                </a:lnTo>
                <a:lnTo>
                  <a:pt x="990346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" y="6334315"/>
            <a:ext cx="9903460" cy="64135"/>
          </a:xfrm>
          <a:custGeom>
            <a:avLst/>
            <a:gdLst/>
            <a:ahLst/>
            <a:cxnLst/>
            <a:rect l="l" t="t" r="r" b="b"/>
            <a:pathLst>
              <a:path w="9903460" h="64135">
                <a:moveTo>
                  <a:pt x="0" y="64008"/>
                </a:moveTo>
                <a:lnTo>
                  <a:pt x="9903460" y="64008"/>
                </a:lnTo>
                <a:lnTo>
                  <a:pt x="9903460" y="0"/>
                </a:lnTo>
                <a:lnTo>
                  <a:pt x="0" y="0"/>
                </a:lnTo>
                <a:lnTo>
                  <a:pt x="0" y="64008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46277" y="841375"/>
            <a:ext cx="376999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30" b="1">
                <a:latin typeface="Times New Roman"/>
                <a:cs typeface="Times New Roman"/>
              </a:rPr>
              <a:t>Trường </a:t>
            </a:r>
            <a:r>
              <a:rPr dirty="0" sz="2000" spc="-5" b="1">
                <a:latin typeface="Times New Roman"/>
                <a:cs typeface="Times New Roman"/>
              </a:rPr>
              <a:t>hợp </a:t>
            </a:r>
            <a:r>
              <a:rPr dirty="0" sz="2000" spc="5" b="1">
                <a:latin typeface="Times New Roman"/>
                <a:cs typeface="Times New Roman"/>
              </a:rPr>
              <a:t>Vgs </a:t>
            </a:r>
            <a:r>
              <a:rPr dirty="0" sz="2000" b="1">
                <a:latin typeface="Times New Roman"/>
                <a:cs typeface="Times New Roman"/>
              </a:rPr>
              <a:t>&lt; 0V và Vds &gt;</a:t>
            </a:r>
            <a:r>
              <a:rPr dirty="0" sz="2000" spc="-1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0V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0011" y="1217549"/>
            <a:ext cx="3453003" cy="21648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957061" y="188595"/>
            <a:ext cx="3721480" cy="31394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99210" y="113538"/>
            <a:ext cx="338391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" b="0">
                <a:latin typeface="Times New Roman"/>
                <a:cs typeface="Times New Roman"/>
              </a:rPr>
              <a:t>Nguyên tắc hoạt</a:t>
            </a:r>
            <a:r>
              <a:rPr dirty="0" sz="3000" spc="15" b="0">
                <a:latin typeface="Times New Roman"/>
                <a:cs typeface="Times New Roman"/>
              </a:rPr>
              <a:t> </a:t>
            </a:r>
            <a:r>
              <a:rPr dirty="0" sz="3000" spc="-5" b="0">
                <a:latin typeface="Times New Roman"/>
                <a:cs typeface="Times New Roman"/>
              </a:rPr>
              <a:t>động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57573" y="5570931"/>
            <a:ext cx="49212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Times New Roman"/>
                <a:cs typeface="Times New Roman"/>
              </a:rPr>
              <a:t>Với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68756" y="5458574"/>
            <a:ext cx="1759487" cy="5843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859269" y="5524906"/>
            <a:ext cx="13792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là tổng</a:t>
            </a:r>
            <a:r>
              <a:rPr dirty="0" sz="2400" spc="-1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dẫn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449434" y="4392917"/>
            <a:ext cx="5580277" cy="8200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33501" y="3588511"/>
            <a:ext cx="8837930" cy="13703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2384" marR="5080" indent="-20320">
              <a:lnSpc>
                <a:spcPct val="100000"/>
              </a:lnSpc>
              <a:spcBef>
                <a:spcPts val="105"/>
              </a:spcBef>
            </a:pPr>
            <a:r>
              <a:rPr dirty="0" sz="2000" spc="5">
                <a:latin typeface="Times New Roman"/>
                <a:cs typeface="Times New Roman"/>
              </a:rPr>
              <a:t>Khi </a:t>
            </a:r>
            <a:r>
              <a:rPr dirty="0" sz="2000">
                <a:latin typeface="Times New Roman"/>
                <a:cs typeface="Times New Roman"/>
              </a:rPr>
              <a:t>giữ </a:t>
            </a:r>
            <a:r>
              <a:rPr dirty="0" sz="2000" spc="10">
                <a:latin typeface="Times New Roman"/>
                <a:cs typeface="Times New Roman"/>
              </a:rPr>
              <a:t>V</a:t>
            </a:r>
            <a:r>
              <a:rPr dirty="0" baseline="-21367" sz="1950" spc="15">
                <a:latin typeface="Times New Roman"/>
                <a:cs typeface="Times New Roman"/>
              </a:rPr>
              <a:t>gs </a:t>
            </a:r>
            <a:r>
              <a:rPr dirty="0" sz="2000">
                <a:latin typeface="Times New Roman"/>
                <a:cs typeface="Times New Roman"/>
              </a:rPr>
              <a:t>&lt; 0 và </a:t>
            </a:r>
            <a:r>
              <a:rPr dirty="0" sz="2000" spc="-5">
                <a:latin typeface="Times New Roman"/>
                <a:cs typeface="Times New Roman"/>
              </a:rPr>
              <a:t>áp </a:t>
            </a:r>
            <a:r>
              <a:rPr dirty="0" sz="2000">
                <a:latin typeface="Times New Roman"/>
                <a:cs typeface="Times New Roman"/>
              </a:rPr>
              <a:t>điện thế </a:t>
            </a:r>
            <a:r>
              <a:rPr dirty="0" sz="2000" spc="10">
                <a:latin typeface="Times New Roman"/>
                <a:cs typeface="Times New Roman"/>
              </a:rPr>
              <a:t>V</a:t>
            </a:r>
            <a:r>
              <a:rPr dirty="0" baseline="-21367" sz="1950" spc="15">
                <a:latin typeface="Times New Roman"/>
                <a:cs typeface="Times New Roman"/>
              </a:rPr>
              <a:t>ds </a:t>
            </a:r>
            <a:r>
              <a:rPr dirty="0" sz="2000">
                <a:latin typeface="Times New Roman"/>
                <a:cs typeface="Times New Roman"/>
              </a:rPr>
              <a:t>&gt; 0 thì </a:t>
            </a:r>
            <a:r>
              <a:rPr dirty="0" sz="2000" spc="-5">
                <a:latin typeface="Times New Roman"/>
                <a:cs typeface="Times New Roman"/>
              </a:rPr>
              <a:t>các </a:t>
            </a:r>
            <a:r>
              <a:rPr dirty="0" sz="2000">
                <a:latin typeface="Times New Roman"/>
                <a:cs typeface="Times New Roman"/>
              </a:rPr>
              <a:t>hạt </a:t>
            </a:r>
            <a:r>
              <a:rPr dirty="0" sz="2000" spc="-5">
                <a:latin typeface="Times New Roman"/>
                <a:cs typeface="Times New Roman"/>
              </a:rPr>
              <a:t>tải </a:t>
            </a:r>
            <a:r>
              <a:rPr dirty="0" sz="2000">
                <a:latin typeface="Times New Roman"/>
                <a:cs typeface="Times New Roman"/>
              </a:rPr>
              <a:t>đa số ( </a:t>
            </a:r>
            <a:r>
              <a:rPr dirty="0" sz="2000" spc="-5">
                <a:latin typeface="Times New Roman"/>
                <a:cs typeface="Times New Roman"/>
              </a:rPr>
              <a:t>electron </a:t>
            </a:r>
            <a:r>
              <a:rPr dirty="0" sz="2000">
                <a:latin typeface="Times New Roman"/>
                <a:cs typeface="Times New Roman"/>
              </a:rPr>
              <a:t>) sẽ bi điện trường  do </a:t>
            </a:r>
            <a:r>
              <a:rPr dirty="0" sz="2000" spc="10">
                <a:latin typeface="Times New Roman"/>
                <a:cs typeface="Times New Roman"/>
              </a:rPr>
              <a:t>V</a:t>
            </a:r>
            <a:r>
              <a:rPr dirty="0" baseline="-21367" sz="1950" spc="15">
                <a:latin typeface="Times New Roman"/>
                <a:cs typeface="Times New Roman"/>
              </a:rPr>
              <a:t>ds </a:t>
            </a:r>
            <a:r>
              <a:rPr dirty="0" sz="2000">
                <a:latin typeface="Times New Roman"/>
                <a:cs typeface="Times New Roman"/>
              </a:rPr>
              <a:t>sinh ra kéo </a:t>
            </a:r>
            <a:r>
              <a:rPr dirty="0" sz="2000" spc="-5">
                <a:latin typeface="Times New Roman"/>
                <a:cs typeface="Times New Roman"/>
              </a:rPr>
              <a:t>từ </a:t>
            </a:r>
            <a:r>
              <a:rPr dirty="0" sz="2000">
                <a:latin typeface="Times New Roman"/>
                <a:cs typeface="Times New Roman"/>
              </a:rPr>
              <a:t>sourse sang drain, </a:t>
            </a:r>
            <a:r>
              <a:rPr dirty="0" sz="2000" spc="-5">
                <a:latin typeface="Times New Roman"/>
                <a:cs typeface="Times New Roman"/>
              </a:rPr>
              <a:t>tạo </a:t>
            </a:r>
            <a:r>
              <a:rPr dirty="0" sz="2000">
                <a:latin typeface="Times New Roman"/>
                <a:cs typeface="Times New Roman"/>
              </a:rPr>
              <a:t>ra </a:t>
            </a:r>
            <a:r>
              <a:rPr dirty="0" sz="2000" spc="5">
                <a:latin typeface="Times New Roman"/>
                <a:cs typeface="Times New Roman"/>
              </a:rPr>
              <a:t>dòng </a:t>
            </a:r>
            <a:r>
              <a:rPr dirty="0" sz="2000" spc="10">
                <a:latin typeface="Times New Roman"/>
                <a:cs typeface="Times New Roman"/>
              </a:rPr>
              <a:t>I</a:t>
            </a:r>
            <a:r>
              <a:rPr dirty="0" baseline="-21367" sz="1950" spc="15">
                <a:latin typeface="Times New Roman"/>
                <a:cs typeface="Times New Roman"/>
              </a:rPr>
              <a:t>DS </a:t>
            </a:r>
            <a:r>
              <a:rPr dirty="0" sz="2000">
                <a:latin typeface="Times New Roman"/>
                <a:cs typeface="Times New Roman"/>
              </a:rPr>
              <a:t>di chuyển </a:t>
            </a:r>
            <a:r>
              <a:rPr dirty="0" sz="2000" spc="-5">
                <a:latin typeface="Times New Roman"/>
                <a:cs typeface="Times New Roman"/>
              </a:rPr>
              <a:t>từ </a:t>
            </a:r>
            <a:r>
              <a:rPr dirty="0" sz="2000">
                <a:latin typeface="Times New Roman"/>
                <a:cs typeface="Times New Roman"/>
              </a:rPr>
              <a:t>drain sang</a:t>
            </a:r>
            <a:r>
              <a:rPr dirty="0" sz="2000" spc="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sourse.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00">
              <a:latin typeface="Times New Roman"/>
              <a:cs typeface="Times New Roman"/>
            </a:endParaRPr>
          </a:p>
          <a:p>
            <a:pPr marL="20955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Phương trình </a:t>
            </a:r>
            <a:r>
              <a:rPr dirty="0" sz="2000" spc="5">
                <a:latin typeface="Times New Roman"/>
                <a:cs typeface="Times New Roman"/>
              </a:rPr>
              <a:t>dòng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 spc="5">
                <a:latin typeface="Times New Roman"/>
                <a:cs typeface="Times New Roman"/>
              </a:rPr>
              <a:t>I</a:t>
            </a:r>
            <a:r>
              <a:rPr dirty="0" baseline="-21367" sz="1950" spc="7">
                <a:latin typeface="Times New Roman"/>
                <a:cs typeface="Times New Roman"/>
              </a:rPr>
              <a:t>DS</a:t>
            </a:r>
            <a:r>
              <a:rPr dirty="0" sz="2000" spc="5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81" y="6400800"/>
            <a:ext cx="9903460" cy="457200"/>
          </a:xfrm>
          <a:custGeom>
            <a:avLst/>
            <a:gdLst/>
            <a:ahLst/>
            <a:cxnLst/>
            <a:rect l="l" t="t" r="r" b="b"/>
            <a:pathLst>
              <a:path w="9903460" h="457200">
                <a:moveTo>
                  <a:pt x="0" y="457200"/>
                </a:moveTo>
                <a:lnTo>
                  <a:pt x="9903460" y="457200"/>
                </a:lnTo>
                <a:lnTo>
                  <a:pt x="990346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" y="6334315"/>
            <a:ext cx="9903460" cy="64135"/>
          </a:xfrm>
          <a:custGeom>
            <a:avLst/>
            <a:gdLst/>
            <a:ahLst/>
            <a:cxnLst/>
            <a:rect l="l" t="t" r="r" b="b"/>
            <a:pathLst>
              <a:path w="9903460" h="64135">
                <a:moveTo>
                  <a:pt x="0" y="64008"/>
                </a:moveTo>
                <a:lnTo>
                  <a:pt x="9903460" y="64008"/>
                </a:lnTo>
                <a:lnTo>
                  <a:pt x="9903460" y="0"/>
                </a:lnTo>
                <a:lnTo>
                  <a:pt x="0" y="0"/>
                </a:lnTo>
                <a:lnTo>
                  <a:pt x="0" y="64008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56843" y="740409"/>
            <a:ext cx="225742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30" b="1">
                <a:latin typeface="Times New Roman"/>
                <a:cs typeface="Times New Roman"/>
              </a:rPr>
              <a:t>Trường </a:t>
            </a:r>
            <a:r>
              <a:rPr dirty="0" sz="2000" spc="-5" b="1">
                <a:latin typeface="Times New Roman"/>
                <a:cs typeface="Times New Roman"/>
              </a:rPr>
              <a:t>hợp </a:t>
            </a:r>
            <a:r>
              <a:rPr dirty="0" sz="2000" b="1">
                <a:latin typeface="Times New Roman"/>
                <a:cs typeface="Times New Roman"/>
              </a:rPr>
              <a:t>bão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hòa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41596" y="774585"/>
            <a:ext cx="1494155" cy="342265"/>
          </a:xfrm>
          <a:prstGeom prst="rect">
            <a:avLst/>
          </a:prstGeom>
          <a:solidFill>
            <a:srgbClr val="99CA38"/>
          </a:solidFill>
          <a:ln w="15875">
            <a:solidFill>
              <a:srgbClr val="6E9425"/>
            </a:solidFill>
          </a:ln>
        </p:spPr>
        <p:txBody>
          <a:bodyPr wrap="square" lIns="0" tIns="83185" rIns="0" bIns="0" rtlCol="0" vert="horz">
            <a:spAutoFit/>
          </a:bodyPr>
          <a:lstStyle/>
          <a:p>
            <a:pPr marL="132715">
              <a:lnSpc>
                <a:spcPct val="100000"/>
              </a:lnSpc>
              <a:spcBef>
                <a:spcPts val="655"/>
              </a:spcBef>
            </a:pPr>
            <a:r>
              <a:rPr dirty="0" sz="1500" spc="-5">
                <a:latin typeface="Times New Roman"/>
                <a:cs typeface="Times New Roman"/>
              </a:rPr>
              <a:t>Vgs </a:t>
            </a:r>
            <a:r>
              <a:rPr dirty="0" sz="1500">
                <a:latin typeface="Times New Roman"/>
                <a:cs typeface="Times New Roman"/>
              </a:rPr>
              <a:t>– </a:t>
            </a:r>
            <a:r>
              <a:rPr dirty="0" sz="1500" spc="-5">
                <a:latin typeface="Times New Roman"/>
                <a:cs typeface="Times New Roman"/>
              </a:rPr>
              <a:t>Vds </a:t>
            </a:r>
            <a:r>
              <a:rPr dirty="0" sz="1500">
                <a:latin typeface="Times New Roman"/>
                <a:cs typeface="Times New Roman"/>
              </a:rPr>
              <a:t>=</a:t>
            </a:r>
            <a:r>
              <a:rPr dirty="0" sz="1500" spc="-95">
                <a:latin typeface="Times New Roman"/>
                <a:cs typeface="Times New Roman"/>
              </a:rPr>
              <a:t> </a:t>
            </a:r>
            <a:r>
              <a:rPr dirty="0" sz="1500" spc="-5">
                <a:latin typeface="Times New Roman"/>
                <a:cs typeface="Times New Roman"/>
              </a:rPr>
              <a:t>Vp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10335" y="1226692"/>
            <a:ext cx="3459353" cy="2085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38245" y="1139571"/>
            <a:ext cx="415290" cy="1094740"/>
          </a:xfrm>
          <a:custGeom>
            <a:avLst/>
            <a:gdLst/>
            <a:ahLst/>
            <a:cxnLst/>
            <a:rect l="l" t="t" r="r" b="b"/>
            <a:pathLst>
              <a:path w="415289" h="1094739">
                <a:moveTo>
                  <a:pt x="0" y="1009903"/>
                </a:moveTo>
                <a:lnTo>
                  <a:pt x="10032" y="1094486"/>
                </a:lnTo>
                <a:lnTo>
                  <a:pt x="68161" y="1039113"/>
                </a:lnTo>
                <a:lnTo>
                  <a:pt x="43433" y="1039113"/>
                </a:lnTo>
                <a:lnTo>
                  <a:pt x="19557" y="1030477"/>
                </a:lnTo>
                <a:lnTo>
                  <a:pt x="23867" y="1018536"/>
                </a:lnTo>
                <a:lnTo>
                  <a:pt x="0" y="1009903"/>
                </a:lnTo>
                <a:close/>
              </a:path>
              <a:path w="415289" h="1094739">
                <a:moveTo>
                  <a:pt x="23867" y="1018536"/>
                </a:moveTo>
                <a:lnTo>
                  <a:pt x="19557" y="1030477"/>
                </a:lnTo>
                <a:lnTo>
                  <a:pt x="43433" y="1039113"/>
                </a:lnTo>
                <a:lnTo>
                  <a:pt x="47743" y="1027172"/>
                </a:lnTo>
                <a:lnTo>
                  <a:pt x="23867" y="1018536"/>
                </a:lnTo>
                <a:close/>
              </a:path>
              <a:path w="415289" h="1094739">
                <a:moveTo>
                  <a:pt x="47743" y="1027172"/>
                </a:moveTo>
                <a:lnTo>
                  <a:pt x="43433" y="1039113"/>
                </a:lnTo>
                <a:lnTo>
                  <a:pt x="68161" y="1039113"/>
                </a:lnTo>
                <a:lnTo>
                  <a:pt x="71627" y="1035812"/>
                </a:lnTo>
                <a:lnTo>
                  <a:pt x="47743" y="1027172"/>
                </a:lnTo>
                <a:close/>
              </a:path>
              <a:path w="415289" h="1094739">
                <a:moveTo>
                  <a:pt x="391413" y="0"/>
                </a:moveTo>
                <a:lnTo>
                  <a:pt x="23867" y="1018536"/>
                </a:lnTo>
                <a:lnTo>
                  <a:pt x="47743" y="1027172"/>
                </a:lnTo>
                <a:lnTo>
                  <a:pt x="415289" y="8636"/>
                </a:lnTo>
                <a:lnTo>
                  <a:pt x="39141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820409" y="1226692"/>
            <a:ext cx="3474870" cy="2095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436482" y="815594"/>
            <a:ext cx="882650" cy="328295"/>
          </a:xfrm>
          <a:prstGeom prst="rect">
            <a:avLst/>
          </a:prstGeom>
          <a:solidFill>
            <a:srgbClr val="99CA38"/>
          </a:solidFill>
          <a:ln w="15875">
            <a:solidFill>
              <a:srgbClr val="6E9425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marL="127635">
              <a:lnSpc>
                <a:spcPct val="100000"/>
              </a:lnSpc>
              <a:spcBef>
                <a:spcPts val="315"/>
              </a:spcBef>
            </a:pPr>
            <a:r>
              <a:rPr dirty="0" sz="1500" spc="-5">
                <a:latin typeface="Times New Roman"/>
                <a:cs typeface="Times New Roman"/>
              </a:rPr>
              <a:t>Vgs </a:t>
            </a:r>
            <a:r>
              <a:rPr dirty="0" sz="1500">
                <a:latin typeface="Times New Roman"/>
                <a:cs typeface="Times New Roman"/>
              </a:rPr>
              <a:t>=</a:t>
            </a:r>
            <a:r>
              <a:rPr dirty="0" sz="1500" spc="-90">
                <a:latin typeface="Times New Roman"/>
                <a:cs typeface="Times New Roman"/>
              </a:rPr>
              <a:t> </a:t>
            </a:r>
            <a:r>
              <a:rPr dirty="0" sz="1500" spc="-5">
                <a:latin typeface="Times New Roman"/>
                <a:cs typeface="Times New Roman"/>
              </a:rPr>
              <a:t>Vp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671054" y="973074"/>
            <a:ext cx="776605" cy="1261110"/>
          </a:xfrm>
          <a:custGeom>
            <a:avLst/>
            <a:gdLst/>
            <a:ahLst/>
            <a:cxnLst/>
            <a:rect l="l" t="t" r="r" b="b"/>
            <a:pathLst>
              <a:path w="776604" h="1261110">
                <a:moveTo>
                  <a:pt x="7239" y="1176147"/>
                </a:moveTo>
                <a:lnTo>
                  <a:pt x="0" y="1260983"/>
                </a:lnTo>
                <a:lnTo>
                  <a:pt x="72263" y="1215771"/>
                </a:lnTo>
                <a:lnTo>
                  <a:pt x="68303" y="1213358"/>
                </a:lnTo>
                <a:lnTo>
                  <a:pt x="43942" y="1213358"/>
                </a:lnTo>
                <a:lnTo>
                  <a:pt x="22225" y="1200150"/>
                </a:lnTo>
                <a:lnTo>
                  <a:pt x="28839" y="1189309"/>
                </a:lnTo>
                <a:lnTo>
                  <a:pt x="7239" y="1176147"/>
                </a:lnTo>
                <a:close/>
              </a:path>
              <a:path w="776604" h="1261110">
                <a:moveTo>
                  <a:pt x="28839" y="1189309"/>
                </a:moveTo>
                <a:lnTo>
                  <a:pt x="22225" y="1200150"/>
                </a:lnTo>
                <a:lnTo>
                  <a:pt x="43942" y="1213358"/>
                </a:lnTo>
                <a:lnTo>
                  <a:pt x="50545" y="1202536"/>
                </a:lnTo>
                <a:lnTo>
                  <a:pt x="28839" y="1189309"/>
                </a:lnTo>
                <a:close/>
              </a:path>
              <a:path w="776604" h="1261110">
                <a:moveTo>
                  <a:pt x="50545" y="1202536"/>
                </a:moveTo>
                <a:lnTo>
                  <a:pt x="43942" y="1213358"/>
                </a:lnTo>
                <a:lnTo>
                  <a:pt x="68303" y="1213358"/>
                </a:lnTo>
                <a:lnTo>
                  <a:pt x="50545" y="1202536"/>
                </a:lnTo>
                <a:close/>
              </a:path>
              <a:path w="776604" h="1261110">
                <a:moveTo>
                  <a:pt x="754506" y="0"/>
                </a:moveTo>
                <a:lnTo>
                  <a:pt x="28839" y="1189309"/>
                </a:lnTo>
                <a:lnTo>
                  <a:pt x="50545" y="1202536"/>
                </a:lnTo>
                <a:lnTo>
                  <a:pt x="776224" y="13335"/>
                </a:lnTo>
                <a:lnTo>
                  <a:pt x="75450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211986" y="140334"/>
            <a:ext cx="338455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latin typeface="Times New Roman"/>
                <a:cs typeface="Times New Roman"/>
              </a:rPr>
              <a:t>Nguyên tắc hoạt</a:t>
            </a:r>
            <a:r>
              <a:rPr dirty="0" sz="3000" spc="-90" b="0">
                <a:latin typeface="Times New Roman"/>
                <a:cs typeface="Times New Roman"/>
              </a:rPr>
              <a:t> </a:t>
            </a:r>
            <a:r>
              <a:rPr dirty="0" sz="3000" b="0">
                <a:latin typeface="Times New Roman"/>
                <a:cs typeface="Times New Roman"/>
              </a:rPr>
              <a:t>động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17021" y="5364213"/>
            <a:ext cx="5471979" cy="8968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25907" y="3217286"/>
            <a:ext cx="8942705" cy="3045460"/>
          </a:xfrm>
          <a:prstGeom prst="rect">
            <a:avLst/>
          </a:prstGeom>
        </p:spPr>
        <p:txBody>
          <a:bodyPr wrap="square" lIns="0" tIns="143510" rIns="0" bIns="0" rtlCol="0" vert="horz">
            <a:spAutoFit/>
          </a:bodyPr>
          <a:lstStyle/>
          <a:p>
            <a:pPr marL="2829560">
              <a:lnSpc>
                <a:spcPct val="100000"/>
              </a:lnSpc>
              <a:spcBef>
                <a:spcPts val="1130"/>
              </a:spcBef>
            </a:pPr>
            <a:r>
              <a:rPr dirty="0" sz="1800" spc="-5">
                <a:latin typeface="Times New Roman"/>
                <a:cs typeface="Times New Roman"/>
              </a:rPr>
              <a:t>Vp </a:t>
            </a:r>
            <a:r>
              <a:rPr dirty="0" sz="1800">
                <a:latin typeface="Times New Roman"/>
                <a:cs typeface="Times New Roman"/>
              </a:rPr>
              <a:t>: điện thế tại điểm thắt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kênh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1155"/>
              </a:spcBef>
            </a:pPr>
            <a:r>
              <a:rPr dirty="0" sz="2000">
                <a:latin typeface="Times New Roman"/>
                <a:cs typeface="Times New Roman"/>
              </a:rPr>
              <a:t>Giữ </a:t>
            </a:r>
            <a:r>
              <a:rPr dirty="0" sz="2000" spc="10">
                <a:latin typeface="Times New Roman"/>
                <a:cs typeface="Times New Roman"/>
              </a:rPr>
              <a:t>V</a:t>
            </a:r>
            <a:r>
              <a:rPr dirty="0" baseline="-21367" sz="1950" spc="15">
                <a:latin typeface="Times New Roman"/>
                <a:cs typeface="Times New Roman"/>
              </a:rPr>
              <a:t>gs </a:t>
            </a:r>
            <a:r>
              <a:rPr dirty="0" sz="2000">
                <a:latin typeface="Times New Roman"/>
                <a:cs typeface="Times New Roman"/>
              </a:rPr>
              <a:t>&lt; 0 và </a:t>
            </a:r>
            <a:r>
              <a:rPr dirty="0" sz="2000" spc="-5">
                <a:latin typeface="Times New Roman"/>
                <a:cs typeface="Times New Roman"/>
              </a:rPr>
              <a:t>tăng </a:t>
            </a:r>
            <a:r>
              <a:rPr dirty="0" sz="2000">
                <a:latin typeface="Times New Roman"/>
                <a:cs typeface="Times New Roman"/>
              </a:rPr>
              <a:t>điện thế </a:t>
            </a:r>
            <a:r>
              <a:rPr dirty="0" sz="2000" spc="10">
                <a:latin typeface="Times New Roman"/>
                <a:cs typeface="Times New Roman"/>
              </a:rPr>
              <a:t>V</a:t>
            </a:r>
            <a:r>
              <a:rPr dirty="0" baseline="-21367" sz="1950" spc="15">
                <a:latin typeface="Times New Roman"/>
                <a:cs typeface="Times New Roman"/>
              </a:rPr>
              <a:t>ds </a:t>
            </a:r>
            <a:r>
              <a:rPr dirty="0" sz="2000">
                <a:latin typeface="Times New Roman"/>
                <a:cs typeface="Times New Roman"/>
              </a:rPr>
              <a:t>sao cho </a:t>
            </a:r>
            <a:r>
              <a:rPr dirty="0" sz="2000" spc="10">
                <a:latin typeface="Times New Roman"/>
                <a:cs typeface="Times New Roman"/>
              </a:rPr>
              <a:t>V</a:t>
            </a:r>
            <a:r>
              <a:rPr dirty="0" baseline="-21367" sz="1950" spc="15">
                <a:latin typeface="Times New Roman"/>
                <a:cs typeface="Times New Roman"/>
              </a:rPr>
              <a:t>ds </a:t>
            </a:r>
            <a:r>
              <a:rPr dirty="0" sz="2000">
                <a:latin typeface="Times New Roman"/>
                <a:cs typeface="Times New Roman"/>
              </a:rPr>
              <a:t>= </a:t>
            </a:r>
            <a:r>
              <a:rPr dirty="0" sz="2000" spc="15">
                <a:latin typeface="Times New Roman"/>
                <a:cs typeface="Times New Roman"/>
              </a:rPr>
              <a:t>V</a:t>
            </a:r>
            <a:r>
              <a:rPr dirty="0" baseline="-21367" sz="1950" spc="22">
                <a:latin typeface="Times New Roman"/>
                <a:cs typeface="Times New Roman"/>
              </a:rPr>
              <a:t>G </a:t>
            </a:r>
            <a:r>
              <a:rPr dirty="0" sz="2000">
                <a:latin typeface="Times New Roman"/>
                <a:cs typeface="Times New Roman"/>
              </a:rPr>
              <a:t>- </a:t>
            </a:r>
            <a:r>
              <a:rPr dirty="0" sz="2000" spc="15">
                <a:latin typeface="Times New Roman"/>
                <a:cs typeface="Times New Roman"/>
              </a:rPr>
              <a:t>V</a:t>
            </a:r>
            <a:r>
              <a:rPr dirty="0" baseline="-21367" sz="1950" spc="22">
                <a:latin typeface="Times New Roman"/>
                <a:cs typeface="Times New Roman"/>
              </a:rPr>
              <a:t>TH </a:t>
            </a:r>
            <a:r>
              <a:rPr dirty="0" sz="2000">
                <a:latin typeface="Times New Roman"/>
                <a:cs typeface="Times New Roman"/>
              </a:rPr>
              <a:t>thì kênh dẫn sẽ bị thu hẹp </a:t>
            </a:r>
            <a:r>
              <a:rPr dirty="0" sz="2000" spc="-5">
                <a:latin typeface="Times New Roman"/>
                <a:cs typeface="Times New Roman"/>
              </a:rPr>
              <a:t>tại </a:t>
            </a:r>
            <a:r>
              <a:rPr dirty="0" sz="2000" spc="5">
                <a:latin typeface="Times New Roman"/>
                <a:cs typeface="Times New Roman"/>
              </a:rPr>
              <a:t>vị  </a:t>
            </a:r>
            <a:r>
              <a:rPr dirty="0" sz="2000">
                <a:latin typeface="Times New Roman"/>
                <a:cs typeface="Times New Roman"/>
              </a:rPr>
              <a:t>trí gần cực D ( </a:t>
            </a:r>
            <a:r>
              <a:rPr dirty="0" sz="2000" spc="5">
                <a:latin typeface="Times New Roman"/>
                <a:cs typeface="Times New Roman"/>
              </a:rPr>
              <a:t>vùng </a:t>
            </a:r>
            <a:r>
              <a:rPr dirty="0" sz="2000">
                <a:latin typeface="Times New Roman"/>
                <a:cs typeface="Times New Roman"/>
              </a:rPr>
              <a:t>nghèo </a:t>
            </a:r>
            <a:r>
              <a:rPr dirty="0" sz="2000" spc="-5">
                <a:latin typeface="Times New Roman"/>
                <a:cs typeface="Times New Roman"/>
              </a:rPr>
              <a:t>tại </a:t>
            </a:r>
            <a:r>
              <a:rPr dirty="0" sz="2000">
                <a:latin typeface="Times New Roman"/>
                <a:cs typeface="Times New Roman"/>
              </a:rPr>
              <a:t>gần cực D </a:t>
            </a:r>
            <a:r>
              <a:rPr dirty="0" sz="2000" spc="-5">
                <a:latin typeface="Times New Roman"/>
                <a:cs typeface="Times New Roman"/>
              </a:rPr>
              <a:t>lớn </a:t>
            </a:r>
            <a:r>
              <a:rPr dirty="0" sz="2000">
                <a:latin typeface="Times New Roman"/>
                <a:cs typeface="Times New Roman"/>
              </a:rPr>
              <a:t>hơn </a:t>
            </a:r>
            <a:r>
              <a:rPr dirty="0" sz="2000" spc="5">
                <a:latin typeface="Times New Roman"/>
                <a:cs typeface="Times New Roman"/>
              </a:rPr>
              <a:t>vùng </a:t>
            </a:r>
            <a:r>
              <a:rPr dirty="0" sz="2000">
                <a:latin typeface="Times New Roman"/>
                <a:cs typeface="Times New Roman"/>
              </a:rPr>
              <a:t>nghèo </a:t>
            </a:r>
            <a:r>
              <a:rPr dirty="0" sz="2000" spc="-5">
                <a:latin typeface="Times New Roman"/>
                <a:cs typeface="Times New Roman"/>
              </a:rPr>
              <a:t>tại </a:t>
            </a:r>
            <a:r>
              <a:rPr dirty="0" sz="2000">
                <a:latin typeface="Times New Roman"/>
                <a:cs typeface="Times New Roman"/>
              </a:rPr>
              <a:t>gần cực S) vì chịu</a:t>
            </a:r>
            <a:r>
              <a:rPr dirty="0" sz="2000" spc="-1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ảnh  hưởng cùng lúc hai điện trường do </a:t>
            </a:r>
            <a:r>
              <a:rPr dirty="0" sz="2000" spc="10">
                <a:latin typeface="Times New Roman"/>
                <a:cs typeface="Times New Roman"/>
              </a:rPr>
              <a:t>V</a:t>
            </a:r>
            <a:r>
              <a:rPr dirty="0" baseline="-21367" sz="1950" spc="15">
                <a:latin typeface="Times New Roman"/>
                <a:cs typeface="Times New Roman"/>
              </a:rPr>
              <a:t>gs </a:t>
            </a:r>
            <a:r>
              <a:rPr dirty="0" sz="2000">
                <a:latin typeface="Times New Roman"/>
                <a:cs typeface="Times New Roman"/>
              </a:rPr>
              <a:t>và </a:t>
            </a:r>
            <a:r>
              <a:rPr dirty="0" sz="2000" spc="10">
                <a:latin typeface="Times New Roman"/>
                <a:cs typeface="Times New Roman"/>
              </a:rPr>
              <a:t>V</a:t>
            </a:r>
            <a:r>
              <a:rPr dirty="0" baseline="-21367" sz="1950" spc="15">
                <a:latin typeface="Times New Roman"/>
                <a:cs typeface="Times New Roman"/>
              </a:rPr>
              <a:t>ds </a:t>
            </a:r>
            <a:r>
              <a:rPr dirty="0" sz="2000">
                <a:latin typeface="Times New Roman"/>
                <a:cs typeface="Times New Roman"/>
              </a:rPr>
              <a:t>gây ra </a:t>
            </a:r>
            <a:r>
              <a:rPr dirty="0" sz="2000" spc="-5">
                <a:latin typeface="Times New Roman"/>
                <a:cs typeface="Times New Roman"/>
              </a:rPr>
              <a:t>=&gt; </a:t>
            </a:r>
            <a:r>
              <a:rPr dirty="0" sz="2000">
                <a:latin typeface="Times New Roman"/>
                <a:cs typeface="Times New Roman"/>
              </a:rPr>
              <a:t>hiện tượng thắt kênh dẫn </a:t>
            </a:r>
            <a:r>
              <a:rPr dirty="0" sz="2000" spc="-5">
                <a:latin typeface="Times New Roman"/>
                <a:cs typeface="Times New Roman"/>
              </a:rPr>
              <a:t>=&gt;  làm </a:t>
            </a:r>
            <a:r>
              <a:rPr dirty="0" sz="2000">
                <a:latin typeface="Times New Roman"/>
                <a:cs typeface="Times New Roman"/>
              </a:rPr>
              <a:t>cho hạt </a:t>
            </a:r>
            <a:r>
              <a:rPr dirty="0" sz="2000" spc="-5">
                <a:latin typeface="Times New Roman"/>
                <a:cs typeface="Times New Roman"/>
              </a:rPr>
              <a:t>tải </a:t>
            </a:r>
            <a:r>
              <a:rPr dirty="0" sz="2000">
                <a:latin typeface="Times New Roman"/>
                <a:cs typeface="Times New Roman"/>
              </a:rPr>
              <a:t>đa số ( </a:t>
            </a:r>
            <a:r>
              <a:rPr dirty="0" sz="2000" spc="-5">
                <a:latin typeface="Times New Roman"/>
                <a:cs typeface="Times New Roman"/>
              </a:rPr>
              <a:t>electron) </a:t>
            </a:r>
            <a:r>
              <a:rPr dirty="0" sz="2000">
                <a:latin typeface="Times New Roman"/>
                <a:cs typeface="Times New Roman"/>
              </a:rPr>
              <a:t>đến được vi trí thắt kênh sẽ </a:t>
            </a:r>
            <a:r>
              <a:rPr dirty="0" sz="2000" spc="5">
                <a:latin typeface="Times New Roman"/>
                <a:cs typeface="Times New Roman"/>
              </a:rPr>
              <a:t>phun qua </a:t>
            </a:r>
            <a:r>
              <a:rPr dirty="0" sz="2000">
                <a:latin typeface="Times New Roman"/>
                <a:cs typeface="Times New Roman"/>
              </a:rPr>
              <a:t>và di chuyển đến  cực S =&gt; hiện tượng bão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5">
                <a:latin typeface="Times New Roman"/>
                <a:cs typeface="Times New Roman"/>
              </a:rPr>
              <a:t>hòa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50">
              <a:latin typeface="Times New Roman"/>
              <a:cs typeface="Times New Roman"/>
            </a:endParaRPr>
          </a:p>
          <a:p>
            <a:pPr algn="ctr" marR="5414645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Phương trình </a:t>
            </a:r>
            <a:r>
              <a:rPr dirty="0" sz="2000" spc="5">
                <a:latin typeface="Times New Roman"/>
                <a:cs typeface="Times New Roman"/>
              </a:rPr>
              <a:t>dòng</a:t>
            </a:r>
            <a:r>
              <a:rPr dirty="0" sz="2000" spc="-85">
                <a:latin typeface="Times New Roman"/>
                <a:cs typeface="Times New Roman"/>
              </a:rPr>
              <a:t> </a:t>
            </a:r>
            <a:r>
              <a:rPr dirty="0" sz="2000" spc="10">
                <a:latin typeface="Times New Roman"/>
                <a:cs typeface="Times New Roman"/>
              </a:rPr>
              <a:t>I</a:t>
            </a:r>
            <a:r>
              <a:rPr dirty="0" baseline="-21367" sz="1950" spc="15">
                <a:latin typeface="Times New Roman"/>
                <a:cs typeface="Times New Roman"/>
              </a:rPr>
              <a:t>DS</a:t>
            </a:r>
            <a:endParaRPr baseline="-21367" sz="1950">
              <a:latin typeface="Times New Roman"/>
              <a:cs typeface="Times New Roman"/>
            </a:endParaRPr>
          </a:p>
          <a:p>
            <a:pPr algn="ctr" marR="5413375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bão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hòa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936" y="204342"/>
            <a:ext cx="3383279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" b="0">
                <a:latin typeface="Times New Roman"/>
                <a:cs typeface="Times New Roman"/>
              </a:rPr>
              <a:t>Nguyên tắc hoạt</a:t>
            </a:r>
            <a:r>
              <a:rPr dirty="0" sz="3000" spc="15" b="0">
                <a:latin typeface="Times New Roman"/>
                <a:cs typeface="Times New Roman"/>
              </a:rPr>
              <a:t> </a:t>
            </a:r>
            <a:r>
              <a:rPr dirty="0" sz="3000" spc="-5" b="0">
                <a:latin typeface="Times New Roman"/>
                <a:cs typeface="Times New Roman"/>
              </a:rPr>
              <a:t>động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12848" y="692200"/>
            <a:ext cx="6813296" cy="58033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81" y="6400800"/>
            <a:ext cx="9903460" cy="457200"/>
          </a:xfrm>
          <a:custGeom>
            <a:avLst/>
            <a:gdLst/>
            <a:ahLst/>
            <a:cxnLst/>
            <a:rect l="l" t="t" r="r" b="b"/>
            <a:pathLst>
              <a:path w="9903460" h="457200">
                <a:moveTo>
                  <a:pt x="0" y="457200"/>
                </a:moveTo>
                <a:lnTo>
                  <a:pt x="9903460" y="457200"/>
                </a:lnTo>
                <a:lnTo>
                  <a:pt x="990346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" y="6334315"/>
            <a:ext cx="9903460" cy="64135"/>
          </a:xfrm>
          <a:custGeom>
            <a:avLst/>
            <a:gdLst/>
            <a:ahLst/>
            <a:cxnLst/>
            <a:rect l="l" t="t" r="r" b="b"/>
            <a:pathLst>
              <a:path w="9903460" h="64135">
                <a:moveTo>
                  <a:pt x="0" y="64008"/>
                </a:moveTo>
                <a:lnTo>
                  <a:pt x="9903460" y="64008"/>
                </a:lnTo>
                <a:lnTo>
                  <a:pt x="9903460" y="0"/>
                </a:lnTo>
                <a:lnTo>
                  <a:pt x="0" y="0"/>
                </a:lnTo>
                <a:lnTo>
                  <a:pt x="0" y="64008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29857" y="955675"/>
            <a:ext cx="3268217" cy="23124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1325" y="3822128"/>
            <a:ext cx="3173860" cy="20270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629025" y="3320237"/>
            <a:ext cx="5575935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Times New Roman"/>
                <a:cs typeface="Times New Roman"/>
              </a:rPr>
              <a:t>Khi đó, độ rộng vùng nghèo </a:t>
            </a:r>
            <a:r>
              <a:rPr dirty="0" sz="2000" spc="10">
                <a:latin typeface="Times New Roman"/>
                <a:cs typeface="Times New Roman"/>
              </a:rPr>
              <a:t>x</a:t>
            </a:r>
            <a:r>
              <a:rPr dirty="0" baseline="-21367" sz="1950" spc="15">
                <a:latin typeface="Times New Roman"/>
                <a:cs typeface="Times New Roman"/>
              </a:rPr>
              <a:t>depl </a:t>
            </a:r>
            <a:r>
              <a:rPr dirty="0" sz="2000">
                <a:latin typeface="Times New Roman"/>
                <a:cs typeface="Times New Roman"/>
              </a:rPr>
              <a:t>(depletion) trong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bán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dẫn loại 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là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03553" y="4551255"/>
            <a:ext cx="489584" cy="0"/>
          </a:xfrm>
          <a:custGeom>
            <a:avLst/>
            <a:gdLst/>
            <a:ahLst/>
            <a:cxnLst/>
            <a:rect l="l" t="t" r="r" b="b"/>
            <a:pathLst>
              <a:path w="489585" h="0">
                <a:moveTo>
                  <a:pt x="0" y="0"/>
                </a:moveTo>
                <a:lnTo>
                  <a:pt x="489231" y="0"/>
                </a:lnTo>
              </a:path>
            </a:pathLst>
          </a:custGeom>
          <a:ln w="167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820985" y="4667491"/>
            <a:ext cx="26034" cy="46355"/>
          </a:xfrm>
          <a:custGeom>
            <a:avLst/>
            <a:gdLst/>
            <a:ahLst/>
            <a:cxnLst/>
            <a:rect l="l" t="t" r="r" b="b"/>
            <a:pathLst>
              <a:path w="26035" h="46354">
                <a:moveTo>
                  <a:pt x="0" y="45971"/>
                </a:moveTo>
                <a:lnTo>
                  <a:pt x="2583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847526" y="4666602"/>
            <a:ext cx="67310" cy="351155"/>
          </a:xfrm>
          <a:custGeom>
            <a:avLst/>
            <a:gdLst/>
            <a:ahLst/>
            <a:cxnLst/>
            <a:rect l="l" t="t" r="r" b="b"/>
            <a:pathLst>
              <a:path w="67310" h="351154">
                <a:moveTo>
                  <a:pt x="0" y="0"/>
                </a:moveTo>
                <a:lnTo>
                  <a:pt x="66713" y="35092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914239" y="4093807"/>
            <a:ext cx="74295" cy="925194"/>
          </a:xfrm>
          <a:custGeom>
            <a:avLst/>
            <a:gdLst/>
            <a:ahLst/>
            <a:cxnLst/>
            <a:rect l="l" t="t" r="r" b="b"/>
            <a:pathLst>
              <a:path w="74295" h="925195">
                <a:moveTo>
                  <a:pt x="0" y="924594"/>
                </a:moveTo>
                <a:lnTo>
                  <a:pt x="7389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988132" y="4092936"/>
            <a:ext cx="838835" cy="0"/>
          </a:xfrm>
          <a:custGeom>
            <a:avLst/>
            <a:gdLst/>
            <a:ahLst/>
            <a:cxnLst/>
            <a:rect l="l" t="t" r="r" b="b"/>
            <a:pathLst>
              <a:path w="838835" h="0">
                <a:moveTo>
                  <a:pt x="0" y="0"/>
                </a:moveTo>
                <a:lnTo>
                  <a:pt x="83857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817038" y="4084534"/>
            <a:ext cx="1010285" cy="933450"/>
          </a:xfrm>
          <a:custGeom>
            <a:avLst/>
            <a:gdLst/>
            <a:ahLst/>
            <a:cxnLst/>
            <a:rect l="l" t="t" r="r" b="b"/>
            <a:pathLst>
              <a:path w="1010285" h="933450">
                <a:moveTo>
                  <a:pt x="46579" y="602851"/>
                </a:moveTo>
                <a:lnTo>
                  <a:pt x="22247" y="602851"/>
                </a:lnTo>
                <a:lnTo>
                  <a:pt x="90396" y="933431"/>
                </a:lnTo>
                <a:lnTo>
                  <a:pt x="104027" y="933431"/>
                </a:lnTo>
                <a:lnTo>
                  <a:pt x="110518" y="852118"/>
                </a:lnTo>
                <a:lnTo>
                  <a:pt x="96847" y="852118"/>
                </a:lnTo>
                <a:lnTo>
                  <a:pt x="46579" y="602851"/>
                </a:lnTo>
                <a:close/>
              </a:path>
              <a:path w="1010285" h="933450">
                <a:moveTo>
                  <a:pt x="1010033" y="0"/>
                </a:moveTo>
                <a:lnTo>
                  <a:pt x="164996" y="0"/>
                </a:lnTo>
                <a:lnTo>
                  <a:pt x="96847" y="852118"/>
                </a:lnTo>
                <a:lnTo>
                  <a:pt x="110518" y="852118"/>
                </a:lnTo>
                <a:lnTo>
                  <a:pt x="177198" y="16804"/>
                </a:lnTo>
                <a:lnTo>
                  <a:pt x="1010033" y="16804"/>
                </a:lnTo>
                <a:lnTo>
                  <a:pt x="1010033" y="0"/>
                </a:lnTo>
                <a:close/>
              </a:path>
              <a:path w="1010285" h="933450">
                <a:moveTo>
                  <a:pt x="38021" y="560414"/>
                </a:moveTo>
                <a:lnTo>
                  <a:pt x="0" y="625837"/>
                </a:lnTo>
                <a:lnTo>
                  <a:pt x="7179" y="632018"/>
                </a:lnTo>
                <a:lnTo>
                  <a:pt x="22247" y="602851"/>
                </a:lnTo>
                <a:lnTo>
                  <a:pt x="46579" y="602851"/>
                </a:lnTo>
                <a:lnTo>
                  <a:pt x="38021" y="560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008078" y="4549159"/>
            <a:ext cx="441325" cy="4330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650" spc="-245" i="1">
                <a:latin typeface="Times New Roman"/>
                <a:cs typeface="Times New Roman"/>
              </a:rPr>
              <a:t>q</a:t>
            </a:r>
            <a:r>
              <a:rPr dirty="0" sz="2650" spc="-210" i="1">
                <a:latin typeface="Times New Roman"/>
                <a:cs typeface="Times New Roman"/>
              </a:rPr>
              <a:t>N</a:t>
            </a:r>
            <a:r>
              <a:rPr dirty="0" baseline="-25089" sz="2325" spc="-225" i="1">
                <a:latin typeface="Times New Roman"/>
                <a:cs typeface="Times New Roman"/>
              </a:rPr>
              <a:t>d</a:t>
            </a:r>
            <a:endParaRPr baseline="-25089" sz="2325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22417" y="4054308"/>
            <a:ext cx="424815" cy="4476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650" spc="-375">
                <a:latin typeface="Times New Roman"/>
                <a:cs typeface="Times New Roman"/>
              </a:rPr>
              <a:t>2</a:t>
            </a:r>
            <a:r>
              <a:rPr dirty="0" sz="2750" spc="-375" i="1">
                <a:latin typeface="Symbol"/>
                <a:cs typeface="Symbol"/>
              </a:rPr>
              <a:t></a:t>
            </a:r>
            <a:r>
              <a:rPr dirty="0" baseline="-25089" sz="2325" spc="-562" i="1">
                <a:latin typeface="Times New Roman"/>
                <a:cs typeface="Times New Roman"/>
              </a:rPr>
              <a:t>Si</a:t>
            </a:r>
            <a:endParaRPr baseline="-25089" sz="2325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90575" y="4371497"/>
            <a:ext cx="1705610" cy="4330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423670" algn="l"/>
              </a:tabLst>
            </a:pPr>
            <a:r>
              <a:rPr dirty="0" baseline="14675" sz="3975" spc="-359" i="1">
                <a:latin typeface="Times New Roman"/>
                <a:cs typeface="Times New Roman"/>
              </a:rPr>
              <a:t>x</a:t>
            </a:r>
            <a:r>
              <a:rPr dirty="0" sz="1550" spc="-150" i="1">
                <a:latin typeface="Times New Roman"/>
                <a:cs typeface="Times New Roman"/>
              </a:rPr>
              <a:t>d</a:t>
            </a:r>
            <a:r>
              <a:rPr dirty="0" sz="1550" spc="-145" i="1">
                <a:latin typeface="Times New Roman"/>
                <a:cs typeface="Times New Roman"/>
              </a:rPr>
              <a:t>e</a:t>
            </a:r>
            <a:r>
              <a:rPr dirty="0" sz="1550" spc="-114" i="1">
                <a:latin typeface="Times New Roman"/>
                <a:cs typeface="Times New Roman"/>
              </a:rPr>
              <a:t>pl</a:t>
            </a:r>
            <a:r>
              <a:rPr dirty="0" sz="1550" i="1">
                <a:latin typeface="Times New Roman"/>
                <a:cs typeface="Times New Roman"/>
              </a:rPr>
              <a:t> </a:t>
            </a:r>
            <a:r>
              <a:rPr dirty="0" sz="1550" spc="20" i="1">
                <a:latin typeface="Times New Roman"/>
                <a:cs typeface="Times New Roman"/>
              </a:rPr>
              <a:t> </a:t>
            </a:r>
            <a:r>
              <a:rPr dirty="0" baseline="14675" sz="3975" spc="-397">
                <a:latin typeface="Symbol"/>
                <a:cs typeface="Symbol"/>
              </a:rPr>
              <a:t></a:t>
            </a:r>
            <a:r>
              <a:rPr dirty="0" baseline="14675" sz="3975">
                <a:latin typeface="Times New Roman"/>
                <a:cs typeface="Times New Roman"/>
              </a:rPr>
              <a:t>	</a:t>
            </a:r>
            <a:r>
              <a:rPr dirty="0" baseline="14675" sz="3975" spc="-615" i="1">
                <a:latin typeface="Times New Roman"/>
                <a:cs typeface="Times New Roman"/>
              </a:rPr>
              <a:t>V</a:t>
            </a:r>
            <a:r>
              <a:rPr dirty="0" sz="1550" spc="-110" i="1">
                <a:latin typeface="Times New Roman"/>
                <a:cs typeface="Times New Roman"/>
              </a:rPr>
              <a:t>tx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526425" y="4437132"/>
            <a:ext cx="531495" cy="0"/>
          </a:xfrm>
          <a:custGeom>
            <a:avLst/>
            <a:gdLst/>
            <a:ahLst/>
            <a:cxnLst/>
            <a:rect l="l" t="t" r="r" b="b"/>
            <a:pathLst>
              <a:path w="531495" h="0">
                <a:moveTo>
                  <a:pt x="0" y="0"/>
                </a:moveTo>
                <a:lnTo>
                  <a:pt x="531169" y="0"/>
                </a:lnTo>
              </a:path>
            </a:pathLst>
          </a:custGeom>
          <a:ln w="13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200326" y="4223865"/>
            <a:ext cx="189230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180">
                <a:latin typeface="Times New Roman"/>
                <a:cs typeface="Times New Roman"/>
              </a:rPr>
              <a:t>ln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693615" y="4234319"/>
            <a:ext cx="332105" cy="21145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55904" algn="l"/>
              </a:tabLst>
            </a:pPr>
            <a:r>
              <a:rPr dirty="0" sz="1200" spc="-110" i="1">
                <a:latin typeface="Times New Roman"/>
                <a:cs typeface="Times New Roman"/>
              </a:rPr>
              <a:t>a</a:t>
            </a:r>
            <a:r>
              <a:rPr dirty="0" sz="1200" spc="-110" i="1">
                <a:latin typeface="Times New Roman"/>
                <a:cs typeface="Times New Roman"/>
              </a:rPr>
              <a:t>	</a:t>
            </a:r>
            <a:r>
              <a:rPr dirty="0" sz="1200" spc="-110" i="1">
                <a:latin typeface="Times New Roman"/>
                <a:cs typeface="Times New Roman"/>
              </a:rPr>
              <a:t>d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62808" y="4405636"/>
            <a:ext cx="116839" cy="21145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00" spc="-80" i="1">
                <a:latin typeface="Times New Roman"/>
                <a:cs typeface="Times New Roman"/>
              </a:rPr>
              <a:t>tx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37488" y="4052541"/>
            <a:ext cx="41465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260" i="1">
                <a:latin typeface="Times New Roman"/>
                <a:cs typeface="Times New Roman"/>
              </a:rPr>
              <a:t>N</a:t>
            </a:r>
            <a:r>
              <a:rPr dirty="0" sz="2100" spc="-105" i="1">
                <a:latin typeface="Times New Roman"/>
                <a:cs typeface="Times New Roman"/>
              </a:rPr>
              <a:t> </a:t>
            </a:r>
            <a:r>
              <a:rPr dirty="0" sz="2100" spc="-260" i="1">
                <a:latin typeface="Times New Roman"/>
                <a:cs typeface="Times New Roman"/>
              </a:rPr>
              <a:t>N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915220" y="3998800"/>
            <a:ext cx="240029" cy="780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6835" marR="5080" indent="-64769">
              <a:lnSpc>
                <a:spcPct val="117900"/>
              </a:lnSpc>
              <a:spcBef>
                <a:spcPts val="100"/>
              </a:spcBef>
            </a:pPr>
            <a:r>
              <a:rPr dirty="0" u="heavy" sz="2100" spc="-18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kT </a:t>
            </a:r>
            <a:r>
              <a:rPr dirty="0" sz="2100" spc="-114" i="1">
                <a:latin typeface="Times New Roman"/>
                <a:cs typeface="Times New Roman"/>
              </a:rPr>
              <a:t> </a:t>
            </a:r>
            <a:r>
              <a:rPr dirty="0" sz="2100" spc="-195" i="1">
                <a:latin typeface="Times New Roman"/>
                <a:cs typeface="Times New Roman"/>
              </a:rPr>
              <a:t>q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680590" y="4313015"/>
            <a:ext cx="205740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aseline="-25132" sz="3150" spc="-195" i="1">
                <a:latin typeface="Times New Roman"/>
                <a:cs typeface="Times New Roman"/>
              </a:rPr>
              <a:t>n</a:t>
            </a:r>
            <a:r>
              <a:rPr dirty="0" sz="1200" spc="-11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397185" y="4035823"/>
            <a:ext cx="788670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91515" algn="l"/>
              </a:tabLst>
            </a:pPr>
            <a:r>
              <a:rPr dirty="0" sz="2100" spc="-150">
                <a:latin typeface="Symbol"/>
                <a:cs typeface="Symbol"/>
              </a:rPr>
              <a:t></a:t>
            </a:r>
            <a:r>
              <a:rPr dirty="0" sz="2100" spc="-150">
                <a:latin typeface="Times New Roman"/>
                <a:cs typeface="Times New Roman"/>
              </a:rPr>
              <a:t>	</a:t>
            </a:r>
            <a:r>
              <a:rPr dirty="0" sz="2100" spc="-150">
                <a:latin typeface="Symbol"/>
                <a:cs typeface="Symbol"/>
              </a:rPr>
              <a:t>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441189" y="4223865"/>
            <a:ext cx="432434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dirty="0" sz="2100" spc="-240" i="1">
                <a:latin typeface="Times New Roman"/>
                <a:cs typeface="Times New Roman"/>
              </a:rPr>
              <a:t>V</a:t>
            </a:r>
            <a:r>
              <a:rPr dirty="0" sz="2100" spc="-240" i="1">
                <a:latin typeface="Times New Roman"/>
                <a:cs typeface="Times New Roman"/>
              </a:rPr>
              <a:t>	</a:t>
            </a:r>
            <a:r>
              <a:rPr dirty="0" sz="2100" spc="-215">
                <a:latin typeface="Symbol"/>
                <a:cs typeface="Symbol"/>
              </a:rPr>
              <a:t>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397185" y="4280966"/>
            <a:ext cx="109220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150">
                <a:latin typeface="Symbol"/>
                <a:cs typeface="Symbol"/>
              </a:rPr>
              <a:t>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076623" y="4280966"/>
            <a:ext cx="109220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150">
                <a:latin typeface="Symbol"/>
                <a:cs typeface="Symbol"/>
              </a:rPr>
              <a:t>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397185" y="4503827"/>
            <a:ext cx="788670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96240" algn="l"/>
                <a:tab pos="691515" algn="l"/>
              </a:tabLst>
            </a:pPr>
            <a:r>
              <a:rPr dirty="0" sz="2100" spc="-150">
                <a:latin typeface="Symbol"/>
                <a:cs typeface="Symbol"/>
              </a:rPr>
              <a:t></a:t>
            </a:r>
            <a:r>
              <a:rPr dirty="0" sz="2100" spc="-150">
                <a:latin typeface="Times New Roman"/>
                <a:cs typeface="Times New Roman"/>
              </a:rPr>
              <a:t>	</a:t>
            </a:r>
            <a:r>
              <a:rPr dirty="0" sz="1200" spc="-60" i="1">
                <a:latin typeface="Times New Roman"/>
                <a:cs typeface="Times New Roman"/>
              </a:rPr>
              <a:t>i</a:t>
            </a:r>
            <a:r>
              <a:rPr dirty="0" sz="1200" spc="-60" i="1">
                <a:latin typeface="Times New Roman"/>
                <a:cs typeface="Times New Roman"/>
              </a:rPr>
              <a:t>	</a:t>
            </a:r>
            <a:r>
              <a:rPr dirty="0" sz="2100" spc="-150">
                <a:latin typeface="Symbol"/>
                <a:cs typeface="Symbol"/>
              </a:rPr>
              <a:t>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026909" y="4277055"/>
            <a:ext cx="345440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Times New Roman"/>
                <a:cs typeface="Times New Roman"/>
              </a:rPr>
              <a:t>Vớ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838947" y="4744973"/>
            <a:ext cx="474980" cy="135890"/>
          </a:xfrm>
          <a:custGeom>
            <a:avLst/>
            <a:gdLst/>
            <a:ahLst/>
            <a:cxnLst/>
            <a:rect l="l" t="t" r="r" b="b"/>
            <a:pathLst>
              <a:path w="474979" h="135889">
                <a:moveTo>
                  <a:pt x="474979" y="66167"/>
                </a:moveTo>
                <a:lnTo>
                  <a:pt x="439792" y="91725"/>
                </a:lnTo>
                <a:lnTo>
                  <a:pt x="401916" y="111369"/>
                </a:lnTo>
                <a:lnTo>
                  <a:pt x="361920" y="125176"/>
                </a:lnTo>
                <a:lnTo>
                  <a:pt x="320369" y="133227"/>
                </a:lnTo>
                <a:lnTo>
                  <a:pt x="277830" y="135602"/>
                </a:lnTo>
                <a:lnTo>
                  <a:pt x="234870" y="132381"/>
                </a:lnTo>
                <a:lnTo>
                  <a:pt x="192056" y="123643"/>
                </a:lnTo>
                <a:lnTo>
                  <a:pt x="149954" y="109469"/>
                </a:lnTo>
                <a:lnTo>
                  <a:pt x="109130" y="89937"/>
                </a:lnTo>
                <a:lnTo>
                  <a:pt x="70152" y="65129"/>
                </a:lnTo>
                <a:lnTo>
                  <a:pt x="33587" y="35123"/>
                </a:lnTo>
                <a:lnTo>
                  <a:pt x="0" y="0"/>
                </a:lnTo>
              </a:path>
            </a:pathLst>
          </a:custGeom>
          <a:ln w="22225">
            <a:solidFill>
              <a:srgbClr val="00A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7892288" y="5247513"/>
            <a:ext cx="1245235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7665" marR="5080" indent="-355600">
              <a:lnSpc>
                <a:spcPct val="100000"/>
              </a:lnSpc>
              <a:spcBef>
                <a:spcPts val="100"/>
              </a:spcBef>
            </a:pPr>
            <a:r>
              <a:rPr dirty="0" sz="2000" spc="5">
                <a:latin typeface="Times New Roman"/>
                <a:cs typeface="Times New Roman"/>
              </a:rPr>
              <a:t>V</a:t>
            </a:r>
            <a:r>
              <a:rPr dirty="0" baseline="-21367" sz="1950" spc="7">
                <a:latin typeface="Times New Roman"/>
                <a:cs typeface="Times New Roman"/>
              </a:rPr>
              <a:t>t </a:t>
            </a:r>
            <a:r>
              <a:rPr dirty="0" sz="2000">
                <a:latin typeface="Times New Roman"/>
                <a:cs typeface="Times New Roman"/>
              </a:rPr>
              <a:t>: điện</a:t>
            </a:r>
            <a:r>
              <a:rPr dirty="0" sz="2000" spc="-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thế  nhiệt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035163" y="4947539"/>
            <a:ext cx="95250" cy="362585"/>
          </a:xfrm>
          <a:custGeom>
            <a:avLst/>
            <a:gdLst/>
            <a:ahLst/>
            <a:cxnLst/>
            <a:rect l="l" t="t" r="r" b="b"/>
            <a:pathLst>
              <a:path w="95250" h="362585">
                <a:moveTo>
                  <a:pt x="63500" y="79375"/>
                </a:moveTo>
                <a:lnTo>
                  <a:pt x="31750" y="79375"/>
                </a:lnTo>
                <a:lnTo>
                  <a:pt x="31750" y="362077"/>
                </a:lnTo>
                <a:lnTo>
                  <a:pt x="63500" y="362077"/>
                </a:lnTo>
                <a:lnTo>
                  <a:pt x="63500" y="79375"/>
                </a:lnTo>
                <a:close/>
              </a:path>
              <a:path w="95250" h="362585">
                <a:moveTo>
                  <a:pt x="47625" y="0"/>
                </a:moveTo>
                <a:lnTo>
                  <a:pt x="0" y="95250"/>
                </a:lnTo>
                <a:lnTo>
                  <a:pt x="31750" y="95250"/>
                </a:lnTo>
                <a:lnTo>
                  <a:pt x="31750" y="79375"/>
                </a:lnTo>
                <a:lnTo>
                  <a:pt x="87312" y="79375"/>
                </a:lnTo>
                <a:lnTo>
                  <a:pt x="47625" y="0"/>
                </a:lnTo>
                <a:close/>
              </a:path>
              <a:path w="95250" h="362585">
                <a:moveTo>
                  <a:pt x="87312" y="79375"/>
                </a:moveTo>
                <a:lnTo>
                  <a:pt x="63500" y="79375"/>
                </a:lnTo>
                <a:lnTo>
                  <a:pt x="63500" y="95250"/>
                </a:lnTo>
                <a:lnTo>
                  <a:pt x="95250" y="95250"/>
                </a:lnTo>
                <a:lnTo>
                  <a:pt x="87312" y="793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197203" y="2346346"/>
            <a:ext cx="1153160" cy="0"/>
          </a:xfrm>
          <a:custGeom>
            <a:avLst/>
            <a:gdLst/>
            <a:ahLst/>
            <a:cxnLst/>
            <a:rect l="l" t="t" r="r" b="b"/>
            <a:pathLst>
              <a:path w="1153159" h="0">
                <a:moveTo>
                  <a:pt x="0" y="0"/>
                </a:moveTo>
                <a:lnTo>
                  <a:pt x="1153102" y="0"/>
                </a:lnTo>
              </a:path>
            </a:pathLst>
          </a:custGeom>
          <a:ln w="12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6706966" y="2341694"/>
            <a:ext cx="141605" cy="3340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0" spc="-200" i="1">
                <a:latin typeface="Times New Roman"/>
                <a:cs typeface="Times New Roman"/>
              </a:rPr>
              <a:t>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345092" y="2131674"/>
            <a:ext cx="281940" cy="3454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100" spc="-459" i="1">
                <a:latin typeface="Symbol"/>
                <a:cs typeface="Symbol"/>
              </a:rPr>
              <a:t></a:t>
            </a:r>
            <a:r>
              <a:rPr dirty="0" sz="2000" spc="-459" i="1">
                <a:latin typeface="Times New Roman"/>
                <a:cs typeface="Times New Roman"/>
              </a:rPr>
              <a:t>V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526282" y="791921"/>
            <a:ext cx="6395085" cy="14973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Times New Roman"/>
                <a:cs typeface="Times New Roman"/>
              </a:rPr>
              <a:t>Ban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đầu khi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Vgs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= 0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và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Vds =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0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thì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vẫn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có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dòng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hạt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tải</a:t>
            </a:r>
            <a:r>
              <a:rPr dirty="0" sz="2000">
                <a:latin typeface="Times New Roman"/>
                <a:cs typeface="Times New Roman"/>
              </a:rPr>
              <a:t> đa  số ( </a:t>
            </a:r>
            <a:r>
              <a:rPr dirty="0" sz="2000" spc="-5">
                <a:latin typeface="Times New Roman"/>
                <a:cs typeface="Times New Roman"/>
              </a:rPr>
              <a:t>electron </a:t>
            </a:r>
            <a:r>
              <a:rPr dirty="0" sz="2000">
                <a:latin typeface="Times New Roman"/>
                <a:cs typeface="Times New Roman"/>
              </a:rPr>
              <a:t>) trong bán dẫn loại n di chuyển </a:t>
            </a:r>
            <a:r>
              <a:rPr dirty="0" sz="2000" spc="-5">
                <a:latin typeface="Times New Roman"/>
                <a:cs typeface="Times New Roman"/>
              </a:rPr>
              <a:t>từ </a:t>
            </a:r>
            <a:r>
              <a:rPr dirty="0" sz="2000">
                <a:latin typeface="Times New Roman"/>
                <a:cs typeface="Times New Roman"/>
              </a:rPr>
              <a:t>sourse sang  drain theo phương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trình</a:t>
            </a:r>
            <a:endParaRPr sz="2000">
              <a:latin typeface="Times New Roman"/>
              <a:cs typeface="Times New Roman"/>
            </a:endParaRPr>
          </a:p>
          <a:p>
            <a:pPr algn="ctr" marL="74930">
              <a:lnSpc>
                <a:spcPct val="100000"/>
              </a:lnSpc>
              <a:spcBef>
                <a:spcPts val="600"/>
              </a:spcBef>
            </a:pPr>
            <a:r>
              <a:rPr dirty="0" sz="2000" spc="-210">
                <a:latin typeface="Times New Roman"/>
                <a:cs typeface="Times New Roman"/>
              </a:rPr>
              <a:t>2</a:t>
            </a:r>
            <a:r>
              <a:rPr dirty="0" baseline="-4409" sz="4725" spc="-315">
                <a:latin typeface="Symbol"/>
                <a:cs typeface="Symbol"/>
              </a:rPr>
              <a:t></a:t>
            </a:r>
            <a:r>
              <a:rPr dirty="0" sz="2000" spc="-210" i="1">
                <a:latin typeface="Times New Roman"/>
                <a:cs typeface="Times New Roman"/>
              </a:rPr>
              <a:t>a </a:t>
            </a:r>
            <a:r>
              <a:rPr dirty="0" sz="2000" spc="-195">
                <a:latin typeface="Symbol"/>
                <a:cs typeface="Symbol"/>
              </a:rPr>
              <a:t></a:t>
            </a:r>
            <a:r>
              <a:rPr dirty="0" sz="2000" spc="-195">
                <a:latin typeface="Times New Roman"/>
                <a:cs typeface="Times New Roman"/>
              </a:rPr>
              <a:t> </a:t>
            </a:r>
            <a:r>
              <a:rPr dirty="0" sz="2000" spc="-105" i="1">
                <a:latin typeface="Times New Roman"/>
                <a:cs typeface="Times New Roman"/>
              </a:rPr>
              <a:t>x</a:t>
            </a:r>
            <a:r>
              <a:rPr dirty="0" baseline="-24154" sz="1725" spc="-157" i="1">
                <a:latin typeface="Times New Roman"/>
                <a:cs typeface="Times New Roman"/>
              </a:rPr>
              <a:t>dept </a:t>
            </a:r>
            <a:r>
              <a:rPr dirty="0" baseline="-24154" sz="1725" spc="-135" i="1">
                <a:latin typeface="Times New Roman"/>
                <a:cs typeface="Times New Roman"/>
              </a:rPr>
              <a:t> </a:t>
            </a:r>
            <a:r>
              <a:rPr dirty="0" baseline="-4409" sz="4725" spc="-585">
                <a:latin typeface="Symbol"/>
                <a:cs typeface="Symbol"/>
              </a:rPr>
              <a:t></a:t>
            </a:r>
            <a:r>
              <a:rPr dirty="0" sz="2000" spc="-390" i="1">
                <a:latin typeface="Times New Roman"/>
                <a:cs typeface="Times New Roman"/>
              </a:rPr>
              <a:t>W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180920" y="2131674"/>
            <a:ext cx="963294" cy="3454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75" i="1">
                <a:latin typeface="Times New Roman"/>
                <a:cs typeface="Times New Roman"/>
              </a:rPr>
              <a:t>I</a:t>
            </a:r>
            <a:r>
              <a:rPr dirty="0" baseline="-24154" sz="1725" spc="-112" i="1">
                <a:latin typeface="Times New Roman"/>
                <a:cs typeface="Times New Roman"/>
              </a:rPr>
              <a:t>D </a:t>
            </a:r>
            <a:r>
              <a:rPr dirty="0" sz="2000" spc="-195">
                <a:latin typeface="Symbol"/>
                <a:cs typeface="Symbol"/>
              </a:rPr>
              <a:t></a:t>
            </a:r>
            <a:r>
              <a:rPr dirty="0" sz="2000" spc="-235">
                <a:latin typeface="Times New Roman"/>
                <a:cs typeface="Times New Roman"/>
              </a:rPr>
              <a:t> </a:t>
            </a:r>
            <a:r>
              <a:rPr dirty="0" sz="2000" spc="-375" i="1">
                <a:latin typeface="Times New Roman"/>
                <a:cs typeface="Times New Roman"/>
              </a:rPr>
              <a:t>q</a:t>
            </a:r>
            <a:r>
              <a:rPr dirty="0" sz="2100" spc="-375" i="1">
                <a:latin typeface="Symbol"/>
                <a:cs typeface="Symbol"/>
              </a:rPr>
              <a:t></a:t>
            </a:r>
            <a:r>
              <a:rPr dirty="0" baseline="-24154" sz="1725" spc="-562" i="1">
                <a:latin typeface="Times New Roman"/>
                <a:cs typeface="Times New Roman"/>
              </a:rPr>
              <a:t>n</a:t>
            </a:r>
            <a:r>
              <a:rPr dirty="0" baseline="-24154" sz="1725" spc="-195" i="1">
                <a:latin typeface="Times New Roman"/>
                <a:cs typeface="Times New Roman"/>
              </a:rPr>
              <a:t> </a:t>
            </a:r>
            <a:r>
              <a:rPr dirty="0" sz="2000" spc="-130" i="1">
                <a:latin typeface="Times New Roman"/>
                <a:cs typeface="Times New Roman"/>
              </a:rPr>
              <a:t>N</a:t>
            </a:r>
            <a:r>
              <a:rPr dirty="0" baseline="-24154" sz="1725" spc="-195" i="1">
                <a:latin typeface="Times New Roman"/>
                <a:cs typeface="Times New Roman"/>
              </a:rPr>
              <a:t>d</a:t>
            </a:r>
            <a:endParaRPr baseline="-24154" sz="1725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8682" y="938657"/>
            <a:ext cx="3268217" cy="23124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8682" y="3805148"/>
            <a:ext cx="3268217" cy="20798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>
            <a:spLocks noGrp="1"/>
          </p:cNvSpPr>
          <p:nvPr>
            <p:ph type="title"/>
          </p:nvPr>
        </p:nvSpPr>
        <p:spPr>
          <a:xfrm>
            <a:off x="1023619" y="192481"/>
            <a:ext cx="3439160" cy="4832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" b="0">
                <a:latin typeface="Times New Roman"/>
                <a:cs typeface="Times New Roman"/>
              </a:rPr>
              <a:t>Phương trình dòng</a:t>
            </a:r>
            <a:r>
              <a:rPr dirty="0" sz="3000" spc="-30" b="0">
                <a:latin typeface="Times New Roman"/>
                <a:cs typeface="Times New Roman"/>
              </a:rPr>
              <a:t> </a:t>
            </a:r>
            <a:r>
              <a:rPr dirty="0" sz="3000" b="0">
                <a:latin typeface="Times New Roman"/>
                <a:cs typeface="Times New Roman"/>
              </a:rPr>
              <a:t>I</a:t>
            </a:r>
            <a:r>
              <a:rPr dirty="0" baseline="-20833" sz="3000" b="0">
                <a:latin typeface="Times New Roman"/>
                <a:cs typeface="Times New Roman"/>
              </a:rPr>
              <a:t>DS</a:t>
            </a:r>
            <a:endParaRPr baseline="-20833"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81" y="6400800"/>
            <a:ext cx="9903460" cy="457200"/>
          </a:xfrm>
          <a:custGeom>
            <a:avLst/>
            <a:gdLst/>
            <a:ahLst/>
            <a:cxnLst/>
            <a:rect l="l" t="t" r="r" b="b"/>
            <a:pathLst>
              <a:path w="9903460" h="457200">
                <a:moveTo>
                  <a:pt x="0" y="457200"/>
                </a:moveTo>
                <a:lnTo>
                  <a:pt x="9903460" y="457200"/>
                </a:lnTo>
                <a:lnTo>
                  <a:pt x="990346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" y="6334315"/>
            <a:ext cx="9903460" cy="64135"/>
          </a:xfrm>
          <a:custGeom>
            <a:avLst/>
            <a:gdLst/>
            <a:ahLst/>
            <a:cxnLst/>
            <a:rect l="l" t="t" r="r" b="b"/>
            <a:pathLst>
              <a:path w="9903460" h="64135">
                <a:moveTo>
                  <a:pt x="0" y="64008"/>
                </a:moveTo>
                <a:lnTo>
                  <a:pt x="9903460" y="64008"/>
                </a:lnTo>
                <a:lnTo>
                  <a:pt x="9903460" y="0"/>
                </a:lnTo>
                <a:lnTo>
                  <a:pt x="0" y="0"/>
                </a:lnTo>
                <a:lnTo>
                  <a:pt x="0" y="64008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63423" y="1045590"/>
            <a:ext cx="7040245" cy="6356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606675" marR="5080" indent="-2594610">
              <a:lnSpc>
                <a:spcPct val="100000"/>
              </a:lnSpc>
              <a:spcBef>
                <a:spcPts val="105"/>
              </a:spcBef>
            </a:pPr>
            <a:r>
              <a:rPr dirty="0" sz="2000" spc="5">
                <a:latin typeface="Times New Roman"/>
                <a:cs typeface="Times New Roman"/>
              </a:rPr>
              <a:t>Khi </a:t>
            </a:r>
            <a:r>
              <a:rPr dirty="0" sz="2000" spc="-5">
                <a:latin typeface="Times New Roman"/>
                <a:cs typeface="Times New Roman"/>
              </a:rPr>
              <a:t>áp </a:t>
            </a:r>
            <a:r>
              <a:rPr dirty="0" sz="2000">
                <a:latin typeface="Times New Roman"/>
                <a:cs typeface="Times New Roman"/>
              </a:rPr>
              <a:t>điện thế </a:t>
            </a:r>
            <a:r>
              <a:rPr dirty="0" sz="2000" spc="15">
                <a:latin typeface="Times New Roman"/>
                <a:cs typeface="Times New Roman"/>
              </a:rPr>
              <a:t>V</a:t>
            </a:r>
            <a:r>
              <a:rPr dirty="0" baseline="-21367" sz="1950" spc="22">
                <a:latin typeface="Times New Roman"/>
                <a:cs typeface="Times New Roman"/>
              </a:rPr>
              <a:t>G </a:t>
            </a:r>
            <a:r>
              <a:rPr dirty="0" sz="2000">
                <a:latin typeface="Times New Roman"/>
                <a:cs typeface="Times New Roman"/>
              </a:rPr>
              <a:t>&lt; 0V thì độ rộng </a:t>
            </a:r>
            <a:r>
              <a:rPr dirty="0" sz="2000" spc="5">
                <a:latin typeface="Times New Roman"/>
                <a:cs typeface="Times New Roman"/>
              </a:rPr>
              <a:t>vùng </a:t>
            </a:r>
            <a:r>
              <a:rPr dirty="0" sz="2000">
                <a:latin typeface="Times New Roman"/>
                <a:cs typeface="Times New Roman"/>
              </a:rPr>
              <a:t>nghèo sẽ giảm theo thế</a:t>
            </a:r>
            <a:r>
              <a:rPr dirty="0" sz="2000" spc="-175">
                <a:latin typeface="Times New Roman"/>
                <a:cs typeface="Times New Roman"/>
              </a:rPr>
              <a:t> </a:t>
            </a:r>
            <a:r>
              <a:rPr dirty="0" sz="2000" spc="15">
                <a:latin typeface="Times New Roman"/>
                <a:cs typeface="Times New Roman"/>
              </a:rPr>
              <a:t>V</a:t>
            </a:r>
            <a:r>
              <a:rPr dirty="0" baseline="-21367" sz="1950" spc="22">
                <a:latin typeface="Times New Roman"/>
                <a:cs typeface="Times New Roman"/>
              </a:rPr>
              <a:t>G  </a:t>
            </a:r>
            <a:r>
              <a:rPr dirty="0" sz="2000">
                <a:latin typeface="Times New Roman"/>
                <a:cs typeface="Times New Roman"/>
              </a:rPr>
              <a:t>theo phương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trình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71873" y="2086429"/>
            <a:ext cx="396240" cy="0"/>
          </a:xfrm>
          <a:custGeom>
            <a:avLst/>
            <a:gdLst/>
            <a:ahLst/>
            <a:cxnLst/>
            <a:rect l="l" t="t" r="r" b="b"/>
            <a:pathLst>
              <a:path w="396239" h="0">
                <a:moveTo>
                  <a:pt x="0" y="0"/>
                </a:moveTo>
                <a:lnTo>
                  <a:pt x="396162" y="0"/>
                </a:lnTo>
              </a:path>
            </a:pathLst>
          </a:custGeom>
          <a:ln w="131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424031" y="2177773"/>
            <a:ext cx="20955" cy="36195"/>
          </a:xfrm>
          <a:custGeom>
            <a:avLst/>
            <a:gdLst/>
            <a:ahLst/>
            <a:cxnLst/>
            <a:rect l="l" t="t" r="r" b="b"/>
            <a:pathLst>
              <a:path w="20955" h="36194">
                <a:moveTo>
                  <a:pt x="0" y="36127"/>
                </a:moveTo>
                <a:lnTo>
                  <a:pt x="2091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445519" y="2177075"/>
            <a:ext cx="54610" cy="276225"/>
          </a:xfrm>
          <a:custGeom>
            <a:avLst/>
            <a:gdLst/>
            <a:ahLst/>
            <a:cxnLst/>
            <a:rect l="l" t="t" r="r" b="b"/>
            <a:pathLst>
              <a:path w="54609" h="276225">
                <a:moveTo>
                  <a:pt x="0" y="0"/>
                </a:moveTo>
                <a:lnTo>
                  <a:pt x="54030" y="27577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499550" y="1726944"/>
            <a:ext cx="60325" cy="727075"/>
          </a:xfrm>
          <a:custGeom>
            <a:avLst/>
            <a:gdLst/>
            <a:ahLst/>
            <a:cxnLst/>
            <a:rect l="l" t="t" r="r" b="b"/>
            <a:pathLst>
              <a:path w="60325" h="727075">
                <a:moveTo>
                  <a:pt x="0" y="726592"/>
                </a:moveTo>
                <a:lnTo>
                  <a:pt x="5982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59376" y="1726260"/>
            <a:ext cx="1255395" cy="0"/>
          </a:xfrm>
          <a:custGeom>
            <a:avLst/>
            <a:gdLst/>
            <a:ahLst/>
            <a:cxnLst/>
            <a:rect l="l" t="t" r="r" b="b"/>
            <a:pathLst>
              <a:path w="1255395" h="0">
                <a:moveTo>
                  <a:pt x="0" y="0"/>
                </a:moveTo>
                <a:lnTo>
                  <a:pt x="125527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420840" y="1719657"/>
            <a:ext cx="1394460" cy="734060"/>
          </a:xfrm>
          <a:custGeom>
            <a:avLst/>
            <a:gdLst/>
            <a:ahLst/>
            <a:cxnLst/>
            <a:rect l="l" t="t" r="r" b="b"/>
            <a:pathLst>
              <a:path w="1394460" h="734060">
                <a:moveTo>
                  <a:pt x="37724" y="473750"/>
                </a:moveTo>
                <a:lnTo>
                  <a:pt x="18006" y="473750"/>
                </a:lnTo>
                <a:lnTo>
                  <a:pt x="73199" y="733537"/>
                </a:lnTo>
                <a:lnTo>
                  <a:pt x="84235" y="733537"/>
                </a:lnTo>
                <a:lnTo>
                  <a:pt x="89491" y="669637"/>
                </a:lnTo>
                <a:lnTo>
                  <a:pt x="78422" y="669637"/>
                </a:lnTo>
                <a:lnTo>
                  <a:pt x="37724" y="473750"/>
                </a:lnTo>
                <a:close/>
              </a:path>
              <a:path w="1394460" h="734060">
                <a:moveTo>
                  <a:pt x="1394100" y="0"/>
                </a:moveTo>
                <a:lnTo>
                  <a:pt x="133598" y="0"/>
                </a:lnTo>
                <a:lnTo>
                  <a:pt x="78422" y="669637"/>
                </a:lnTo>
                <a:lnTo>
                  <a:pt x="89491" y="669637"/>
                </a:lnTo>
                <a:lnTo>
                  <a:pt x="143478" y="13205"/>
                </a:lnTo>
                <a:lnTo>
                  <a:pt x="1394100" y="13205"/>
                </a:lnTo>
                <a:lnTo>
                  <a:pt x="1394100" y="0"/>
                </a:lnTo>
                <a:close/>
              </a:path>
              <a:path w="1394460" h="734060">
                <a:moveTo>
                  <a:pt x="30795" y="440401"/>
                </a:moveTo>
                <a:lnTo>
                  <a:pt x="0" y="491814"/>
                </a:lnTo>
                <a:lnTo>
                  <a:pt x="5813" y="496672"/>
                </a:lnTo>
                <a:lnTo>
                  <a:pt x="18006" y="473750"/>
                </a:lnTo>
                <a:lnTo>
                  <a:pt x="37724" y="473750"/>
                </a:lnTo>
                <a:lnTo>
                  <a:pt x="30795" y="4404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927187" y="2054981"/>
            <a:ext cx="247015" cy="2108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200" spc="-95" i="1">
                <a:latin typeface="Times New Roman"/>
                <a:cs typeface="Times New Roman"/>
              </a:rPr>
              <a:t>d</a:t>
            </a:r>
            <a:r>
              <a:rPr dirty="0" sz="1200" spc="-95" i="1">
                <a:latin typeface="Times New Roman"/>
                <a:cs typeface="Times New Roman"/>
              </a:rPr>
              <a:t>e</a:t>
            </a:r>
            <a:r>
              <a:rPr dirty="0" sz="1200" spc="-75" i="1">
                <a:latin typeface="Times New Roman"/>
                <a:cs typeface="Times New Roman"/>
              </a:rPr>
              <a:t>pl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74131" y="2054981"/>
            <a:ext cx="118745" cy="2108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200" spc="-70" i="1">
                <a:latin typeface="Times New Roman"/>
                <a:cs typeface="Times New Roman"/>
              </a:rPr>
              <a:t>tx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94505" y="2054981"/>
            <a:ext cx="118745" cy="2108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200" spc="-135" i="1">
                <a:latin typeface="Times New Roman"/>
                <a:cs typeface="Times New Roman"/>
              </a:rPr>
              <a:t>G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44955" y="2263369"/>
            <a:ext cx="90170" cy="2108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200" spc="-95" i="1">
                <a:latin typeface="Times New Roman"/>
                <a:cs typeface="Times New Roman"/>
              </a:rPr>
              <a:t>d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73118" y="2082063"/>
            <a:ext cx="28575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204" i="1">
                <a:latin typeface="Times New Roman"/>
                <a:cs typeface="Times New Roman"/>
              </a:rPr>
              <a:t>qN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84728" y="1692604"/>
            <a:ext cx="626745" cy="3581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100" spc="-280">
                <a:latin typeface="Times New Roman"/>
                <a:cs typeface="Times New Roman"/>
              </a:rPr>
              <a:t>2</a:t>
            </a:r>
            <a:r>
              <a:rPr dirty="0" sz="2150" spc="-280" i="1">
                <a:latin typeface="Symbol"/>
                <a:cs typeface="Symbol"/>
              </a:rPr>
              <a:t></a:t>
            </a:r>
            <a:r>
              <a:rPr dirty="0" baseline="-25462" sz="1800" spc="-419" i="1">
                <a:latin typeface="Times New Roman"/>
                <a:cs typeface="Times New Roman"/>
              </a:rPr>
              <a:t>Si</a:t>
            </a:r>
            <a:r>
              <a:rPr dirty="0" baseline="-25462" sz="1800" spc="-412" i="1">
                <a:latin typeface="Times New Roman"/>
                <a:cs typeface="Times New Roman"/>
              </a:rPr>
              <a:t> </a:t>
            </a:r>
            <a:r>
              <a:rPr dirty="0" baseline="-35714" sz="3150" spc="-337">
                <a:latin typeface="Times New Roman"/>
                <a:cs typeface="Times New Roman"/>
              </a:rPr>
              <a:t>(</a:t>
            </a:r>
            <a:r>
              <a:rPr dirty="0" baseline="-35714" sz="3150" spc="-337" i="1">
                <a:latin typeface="Times New Roman"/>
                <a:cs typeface="Times New Roman"/>
              </a:rPr>
              <a:t>V</a:t>
            </a:r>
            <a:endParaRPr baseline="-35714" sz="31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30179" y="1873675"/>
            <a:ext cx="54864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2750" algn="l"/>
              </a:tabLst>
            </a:pPr>
            <a:r>
              <a:rPr dirty="0" sz="2100" spc="-155" i="1">
                <a:latin typeface="Times New Roman"/>
                <a:cs typeface="Times New Roman"/>
              </a:rPr>
              <a:t>x</a:t>
            </a:r>
            <a:r>
              <a:rPr dirty="0" sz="2100" spc="-155" i="1">
                <a:latin typeface="Times New Roman"/>
                <a:cs typeface="Times New Roman"/>
              </a:rPr>
              <a:t>	</a:t>
            </a:r>
            <a:r>
              <a:rPr dirty="0" sz="2100" spc="-190">
                <a:latin typeface="Symbol"/>
                <a:cs typeface="Symbol"/>
              </a:rPr>
              <a:t>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30611" y="1873675"/>
            <a:ext cx="488315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40">
                <a:latin typeface="Symbol"/>
                <a:cs typeface="Symbol"/>
              </a:rPr>
              <a:t></a:t>
            </a:r>
            <a:r>
              <a:rPr dirty="0" sz="2100" spc="-140" i="1">
                <a:latin typeface="Times New Roman"/>
                <a:cs typeface="Times New Roman"/>
              </a:rPr>
              <a:t>V</a:t>
            </a:r>
            <a:r>
              <a:rPr dirty="0" sz="2100" spc="-110" i="1">
                <a:latin typeface="Times New Roman"/>
                <a:cs typeface="Times New Roman"/>
              </a:rPr>
              <a:t> </a:t>
            </a:r>
            <a:r>
              <a:rPr dirty="0" sz="2100" spc="-114">
                <a:latin typeface="Times New Roman"/>
                <a:cs typeface="Times New Roman"/>
              </a:rPr>
              <a:t>)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0835" y="2895092"/>
            <a:ext cx="9700895" cy="1245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 indent="78740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latin typeface="Times New Roman"/>
                <a:cs typeface="Times New Roman"/>
              </a:rPr>
              <a:t>Nếu </a:t>
            </a:r>
            <a:r>
              <a:rPr dirty="0" sz="2000">
                <a:latin typeface="Times New Roman"/>
                <a:cs typeface="Times New Roman"/>
              </a:rPr>
              <a:t>giữ VG &lt; 0 và </a:t>
            </a:r>
            <a:r>
              <a:rPr dirty="0" sz="2000" spc="-5">
                <a:latin typeface="Times New Roman"/>
                <a:cs typeface="Times New Roman"/>
              </a:rPr>
              <a:t>áp </a:t>
            </a:r>
            <a:r>
              <a:rPr dirty="0" sz="2000">
                <a:latin typeface="Times New Roman"/>
                <a:cs typeface="Times New Roman"/>
              </a:rPr>
              <a:t>điện thế VDS &gt; 0, xuất hiện điện trường </a:t>
            </a:r>
            <a:r>
              <a:rPr dirty="0" sz="2000" spc="-5">
                <a:latin typeface="Times New Roman"/>
                <a:cs typeface="Times New Roman"/>
              </a:rPr>
              <a:t>có </a:t>
            </a:r>
            <a:r>
              <a:rPr dirty="0" sz="2000">
                <a:latin typeface="Times New Roman"/>
                <a:cs typeface="Times New Roman"/>
              </a:rPr>
              <a:t>hướng thì drain sang sourse  điện trường này sẽ kéo </a:t>
            </a:r>
            <a:r>
              <a:rPr dirty="0" sz="2000" spc="-5">
                <a:latin typeface="Times New Roman"/>
                <a:cs typeface="Times New Roman"/>
              </a:rPr>
              <a:t>các </a:t>
            </a:r>
            <a:r>
              <a:rPr dirty="0" sz="2000">
                <a:latin typeface="Times New Roman"/>
                <a:cs typeface="Times New Roman"/>
              </a:rPr>
              <a:t>hạt </a:t>
            </a:r>
            <a:r>
              <a:rPr dirty="0" sz="2000" spc="-5">
                <a:latin typeface="Times New Roman"/>
                <a:cs typeface="Times New Roman"/>
              </a:rPr>
              <a:t>tải </a:t>
            </a:r>
            <a:r>
              <a:rPr dirty="0" sz="2000">
                <a:latin typeface="Times New Roman"/>
                <a:cs typeface="Times New Roman"/>
              </a:rPr>
              <a:t>đa số ( </a:t>
            </a:r>
            <a:r>
              <a:rPr dirty="0" sz="2000" spc="-5">
                <a:latin typeface="Times New Roman"/>
                <a:cs typeface="Times New Roman"/>
              </a:rPr>
              <a:t>electron) </a:t>
            </a:r>
            <a:r>
              <a:rPr dirty="0" sz="2000">
                <a:latin typeface="Times New Roman"/>
                <a:cs typeface="Times New Roman"/>
              </a:rPr>
              <a:t>trong bán dẫn loại n </a:t>
            </a:r>
            <a:r>
              <a:rPr dirty="0" sz="2000" spc="-5">
                <a:latin typeface="Times New Roman"/>
                <a:cs typeface="Times New Roman"/>
              </a:rPr>
              <a:t>từ </a:t>
            </a:r>
            <a:r>
              <a:rPr dirty="0" sz="2000">
                <a:latin typeface="Times New Roman"/>
                <a:cs typeface="Times New Roman"/>
              </a:rPr>
              <a:t>sourse sang drain</a:t>
            </a:r>
            <a:r>
              <a:rPr dirty="0" sz="2000" spc="-1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  chiều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dài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kênh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dẫn L</a:t>
            </a:r>
            <a:r>
              <a:rPr dirty="0" sz="2000" spc="-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với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V(y=0)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=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VS và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V(y=L)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=VD thì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sự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thay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5">
                <a:latin typeface="Times New Roman"/>
                <a:cs typeface="Times New Roman"/>
              </a:rPr>
              <a:t>đổi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độ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rộng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5">
                <a:latin typeface="Times New Roman"/>
                <a:cs typeface="Times New Roman"/>
              </a:rPr>
              <a:t>vùng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nghèo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algn="ctr" marL="129539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phương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trình: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4343" y="4005211"/>
            <a:ext cx="3549777" cy="21964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714811" y="5103535"/>
            <a:ext cx="396240" cy="0"/>
          </a:xfrm>
          <a:custGeom>
            <a:avLst/>
            <a:gdLst/>
            <a:ahLst/>
            <a:cxnLst/>
            <a:rect l="l" t="t" r="r" b="b"/>
            <a:pathLst>
              <a:path w="396239" h="0">
                <a:moveTo>
                  <a:pt x="0" y="0"/>
                </a:moveTo>
                <a:lnTo>
                  <a:pt x="396139" y="0"/>
                </a:lnTo>
              </a:path>
            </a:pathLst>
          </a:custGeom>
          <a:ln w="132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566983" y="5195051"/>
            <a:ext cx="20955" cy="36195"/>
          </a:xfrm>
          <a:custGeom>
            <a:avLst/>
            <a:gdLst/>
            <a:ahLst/>
            <a:cxnLst/>
            <a:rect l="l" t="t" r="r" b="b"/>
            <a:pathLst>
              <a:path w="20954" h="36195">
                <a:moveTo>
                  <a:pt x="0" y="36195"/>
                </a:moveTo>
                <a:lnTo>
                  <a:pt x="2091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588474" y="5194352"/>
            <a:ext cx="54610" cy="276860"/>
          </a:xfrm>
          <a:custGeom>
            <a:avLst/>
            <a:gdLst/>
            <a:ahLst/>
            <a:cxnLst/>
            <a:rect l="l" t="t" r="r" b="b"/>
            <a:pathLst>
              <a:path w="54610" h="276860">
                <a:moveTo>
                  <a:pt x="0" y="0"/>
                </a:moveTo>
                <a:lnTo>
                  <a:pt x="54018" y="27629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642492" y="4743372"/>
            <a:ext cx="60325" cy="728345"/>
          </a:xfrm>
          <a:custGeom>
            <a:avLst/>
            <a:gdLst/>
            <a:ahLst/>
            <a:cxnLst/>
            <a:rect l="l" t="t" r="r" b="b"/>
            <a:pathLst>
              <a:path w="60325" h="728345">
                <a:moveTo>
                  <a:pt x="0" y="727961"/>
                </a:moveTo>
                <a:lnTo>
                  <a:pt x="5983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702325" y="4742687"/>
            <a:ext cx="1783714" cy="0"/>
          </a:xfrm>
          <a:custGeom>
            <a:avLst/>
            <a:gdLst/>
            <a:ahLst/>
            <a:cxnLst/>
            <a:rect l="l" t="t" r="r" b="b"/>
            <a:pathLst>
              <a:path w="1783714" h="0">
                <a:moveTo>
                  <a:pt x="0" y="0"/>
                </a:moveTo>
                <a:lnTo>
                  <a:pt x="178321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563787" y="4736072"/>
            <a:ext cx="1922145" cy="735330"/>
          </a:xfrm>
          <a:custGeom>
            <a:avLst/>
            <a:gdLst/>
            <a:ahLst/>
            <a:cxnLst/>
            <a:rect l="l" t="t" r="r" b="b"/>
            <a:pathLst>
              <a:path w="1922145" h="735329">
                <a:moveTo>
                  <a:pt x="37716" y="474643"/>
                </a:moveTo>
                <a:lnTo>
                  <a:pt x="18013" y="474643"/>
                </a:lnTo>
                <a:lnTo>
                  <a:pt x="73195" y="734919"/>
                </a:lnTo>
                <a:lnTo>
                  <a:pt x="84232" y="734919"/>
                </a:lnTo>
                <a:lnTo>
                  <a:pt x="89488" y="670899"/>
                </a:lnTo>
                <a:lnTo>
                  <a:pt x="78419" y="670899"/>
                </a:lnTo>
                <a:lnTo>
                  <a:pt x="37716" y="474643"/>
                </a:lnTo>
                <a:close/>
              </a:path>
              <a:path w="1922145" h="735329">
                <a:moveTo>
                  <a:pt x="1922048" y="0"/>
                </a:moveTo>
                <a:lnTo>
                  <a:pt x="133600" y="0"/>
                </a:lnTo>
                <a:lnTo>
                  <a:pt x="78419" y="670899"/>
                </a:lnTo>
                <a:lnTo>
                  <a:pt x="89488" y="670899"/>
                </a:lnTo>
                <a:lnTo>
                  <a:pt x="143480" y="13230"/>
                </a:lnTo>
                <a:lnTo>
                  <a:pt x="1922048" y="13230"/>
                </a:lnTo>
                <a:lnTo>
                  <a:pt x="1922048" y="0"/>
                </a:lnTo>
                <a:close/>
              </a:path>
              <a:path w="1922145" h="735329">
                <a:moveTo>
                  <a:pt x="30786" y="441231"/>
                </a:moveTo>
                <a:lnTo>
                  <a:pt x="0" y="492740"/>
                </a:lnTo>
                <a:lnTo>
                  <a:pt x="5813" y="497608"/>
                </a:lnTo>
                <a:lnTo>
                  <a:pt x="18013" y="474643"/>
                </a:lnTo>
                <a:lnTo>
                  <a:pt x="37716" y="474643"/>
                </a:lnTo>
                <a:lnTo>
                  <a:pt x="30786" y="4412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873847" y="5103535"/>
            <a:ext cx="396240" cy="0"/>
          </a:xfrm>
          <a:custGeom>
            <a:avLst/>
            <a:gdLst/>
            <a:ahLst/>
            <a:cxnLst/>
            <a:rect l="l" t="t" r="r" b="b"/>
            <a:pathLst>
              <a:path w="396240" h="0">
                <a:moveTo>
                  <a:pt x="0" y="0"/>
                </a:moveTo>
                <a:lnTo>
                  <a:pt x="396144" y="0"/>
                </a:lnTo>
              </a:path>
            </a:pathLst>
          </a:custGeom>
          <a:ln w="132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726019" y="5195051"/>
            <a:ext cx="20955" cy="36195"/>
          </a:xfrm>
          <a:custGeom>
            <a:avLst/>
            <a:gdLst/>
            <a:ahLst/>
            <a:cxnLst/>
            <a:rect l="l" t="t" r="r" b="b"/>
            <a:pathLst>
              <a:path w="20954" h="36195">
                <a:moveTo>
                  <a:pt x="0" y="36195"/>
                </a:moveTo>
                <a:lnTo>
                  <a:pt x="2090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747509" y="5194352"/>
            <a:ext cx="54610" cy="276860"/>
          </a:xfrm>
          <a:custGeom>
            <a:avLst/>
            <a:gdLst/>
            <a:ahLst/>
            <a:cxnLst/>
            <a:rect l="l" t="t" r="r" b="b"/>
            <a:pathLst>
              <a:path w="54609" h="276860">
                <a:moveTo>
                  <a:pt x="0" y="0"/>
                </a:moveTo>
                <a:lnTo>
                  <a:pt x="54018" y="27629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801529" y="4743372"/>
            <a:ext cx="60325" cy="728345"/>
          </a:xfrm>
          <a:custGeom>
            <a:avLst/>
            <a:gdLst/>
            <a:ahLst/>
            <a:cxnLst/>
            <a:rect l="l" t="t" r="r" b="b"/>
            <a:pathLst>
              <a:path w="60325" h="728345">
                <a:moveTo>
                  <a:pt x="0" y="727961"/>
                </a:moveTo>
                <a:lnTo>
                  <a:pt x="5982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861349" y="4742687"/>
            <a:ext cx="1661795" cy="0"/>
          </a:xfrm>
          <a:custGeom>
            <a:avLst/>
            <a:gdLst/>
            <a:ahLst/>
            <a:cxnLst/>
            <a:rect l="l" t="t" r="r" b="b"/>
            <a:pathLst>
              <a:path w="1661795" h="0">
                <a:moveTo>
                  <a:pt x="0" y="0"/>
                </a:moveTo>
                <a:lnTo>
                  <a:pt x="166123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722822" y="4736072"/>
            <a:ext cx="1800225" cy="735330"/>
          </a:xfrm>
          <a:custGeom>
            <a:avLst/>
            <a:gdLst/>
            <a:ahLst/>
            <a:cxnLst/>
            <a:rect l="l" t="t" r="r" b="b"/>
            <a:pathLst>
              <a:path w="1800225" h="735329">
                <a:moveTo>
                  <a:pt x="37716" y="474643"/>
                </a:moveTo>
                <a:lnTo>
                  <a:pt x="17996" y="474643"/>
                </a:lnTo>
                <a:lnTo>
                  <a:pt x="73178" y="734919"/>
                </a:lnTo>
                <a:lnTo>
                  <a:pt x="84221" y="734919"/>
                </a:lnTo>
                <a:lnTo>
                  <a:pt x="89476" y="670899"/>
                </a:lnTo>
                <a:lnTo>
                  <a:pt x="78419" y="670899"/>
                </a:lnTo>
                <a:lnTo>
                  <a:pt x="37716" y="474643"/>
                </a:lnTo>
                <a:close/>
              </a:path>
              <a:path w="1800225" h="735329">
                <a:moveTo>
                  <a:pt x="1800064" y="0"/>
                </a:moveTo>
                <a:lnTo>
                  <a:pt x="133600" y="0"/>
                </a:lnTo>
                <a:lnTo>
                  <a:pt x="78419" y="670899"/>
                </a:lnTo>
                <a:lnTo>
                  <a:pt x="89476" y="670899"/>
                </a:lnTo>
                <a:lnTo>
                  <a:pt x="143463" y="13230"/>
                </a:lnTo>
                <a:lnTo>
                  <a:pt x="1800064" y="13230"/>
                </a:lnTo>
                <a:lnTo>
                  <a:pt x="1800064" y="0"/>
                </a:lnTo>
                <a:close/>
              </a:path>
              <a:path w="1800225" h="735329">
                <a:moveTo>
                  <a:pt x="30786" y="441231"/>
                </a:moveTo>
                <a:lnTo>
                  <a:pt x="0" y="492740"/>
                </a:lnTo>
                <a:lnTo>
                  <a:pt x="5802" y="497608"/>
                </a:lnTo>
                <a:lnTo>
                  <a:pt x="17996" y="474643"/>
                </a:lnTo>
                <a:lnTo>
                  <a:pt x="37716" y="474643"/>
                </a:lnTo>
                <a:lnTo>
                  <a:pt x="30786" y="4412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4070143" y="5072052"/>
            <a:ext cx="247015" cy="2108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00" spc="-95" i="1">
                <a:latin typeface="Times New Roman"/>
                <a:cs typeface="Times New Roman"/>
              </a:rPr>
              <a:t>d</a:t>
            </a:r>
            <a:r>
              <a:rPr dirty="0" sz="1200" spc="-95" i="1">
                <a:latin typeface="Times New Roman"/>
                <a:cs typeface="Times New Roman"/>
              </a:rPr>
              <a:t>e</a:t>
            </a:r>
            <a:r>
              <a:rPr dirty="0" sz="1200" spc="-75" i="1">
                <a:latin typeface="Times New Roman"/>
                <a:cs typeface="Times New Roman"/>
              </a:rPr>
              <a:t>pl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303140" y="5072052"/>
            <a:ext cx="118745" cy="2108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00" spc="-70" i="1">
                <a:latin typeface="Times New Roman"/>
                <a:cs typeface="Times New Roman"/>
              </a:rPr>
              <a:t>tx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475774" y="5072052"/>
            <a:ext cx="118745" cy="2108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00" spc="-70" i="1">
                <a:latin typeface="Times New Roman"/>
                <a:cs typeface="Times New Roman"/>
              </a:rPr>
              <a:t>tx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987893" y="5280832"/>
            <a:ext cx="90170" cy="2108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00" spc="-95" i="1">
                <a:latin typeface="Times New Roman"/>
                <a:cs typeface="Times New Roman"/>
              </a:rPr>
              <a:t>d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146932" y="5280832"/>
            <a:ext cx="90170" cy="2108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00" spc="-95" i="1">
                <a:latin typeface="Times New Roman"/>
                <a:cs typeface="Times New Roman"/>
              </a:rPr>
              <a:t>d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716059" y="5099184"/>
            <a:ext cx="28638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200" i="1">
                <a:latin typeface="Times New Roman"/>
                <a:cs typeface="Times New Roman"/>
              </a:rPr>
              <a:t>qN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874843" y="5099184"/>
            <a:ext cx="28638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200" i="1">
                <a:latin typeface="Times New Roman"/>
                <a:cs typeface="Times New Roman"/>
              </a:rPr>
              <a:t>qN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727669" y="4709027"/>
            <a:ext cx="612775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-280">
                <a:latin typeface="Times New Roman"/>
                <a:cs typeface="Times New Roman"/>
              </a:rPr>
              <a:t>2</a:t>
            </a:r>
            <a:r>
              <a:rPr dirty="0" sz="2150" spc="-280" i="1">
                <a:latin typeface="Symbol"/>
                <a:cs typeface="Symbol"/>
              </a:rPr>
              <a:t></a:t>
            </a:r>
            <a:r>
              <a:rPr dirty="0" baseline="-25462" sz="1800" spc="-419" i="1">
                <a:latin typeface="Times New Roman"/>
                <a:cs typeface="Times New Roman"/>
              </a:rPr>
              <a:t>Si </a:t>
            </a:r>
            <a:r>
              <a:rPr dirty="0" baseline="-35714" sz="3150" spc="-337">
                <a:latin typeface="Times New Roman"/>
                <a:cs typeface="Times New Roman"/>
              </a:rPr>
              <a:t>[</a:t>
            </a:r>
            <a:r>
              <a:rPr dirty="0" baseline="-35714" sz="3150" spc="-337" i="1">
                <a:latin typeface="Times New Roman"/>
                <a:cs typeface="Times New Roman"/>
              </a:rPr>
              <a:t>V</a:t>
            </a:r>
            <a:endParaRPr baseline="-35714" sz="31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886705" y="4709027"/>
            <a:ext cx="626110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-280">
                <a:latin typeface="Times New Roman"/>
                <a:cs typeface="Times New Roman"/>
              </a:rPr>
              <a:t>2</a:t>
            </a:r>
            <a:r>
              <a:rPr dirty="0" sz="2150" spc="-280" i="1">
                <a:latin typeface="Symbol"/>
                <a:cs typeface="Symbol"/>
              </a:rPr>
              <a:t></a:t>
            </a:r>
            <a:r>
              <a:rPr dirty="0" baseline="-25462" sz="1800" spc="-419" i="1">
                <a:latin typeface="Times New Roman"/>
                <a:cs typeface="Times New Roman"/>
              </a:rPr>
              <a:t>Si</a:t>
            </a:r>
            <a:r>
              <a:rPr dirty="0" baseline="-25462" sz="1800" spc="-412" i="1">
                <a:latin typeface="Times New Roman"/>
                <a:cs typeface="Times New Roman"/>
              </a:rPr>
              <a:t> </a:t>
            </a:r>
            <a:r>
              <a:rPr dirty="0" baseline="-35714" sz="3150" spc="-337">
                <a:latin typeface="Times New Roman"/>
                <a:cs typeface="Times New Roman"/>
              </a:rPr>
              <a:t>(</a:t>
            </a:r>
            <a:r>
              <a:rPr dirty="0" baseline="-35714" sz="3150" spc="-337" i="1">
                <a:latin typeface="Times New Roman"/>
                <a:cs typeface="Times New Roman"/>
              </a:rPr>
              <a:t>V</a:t>
            </a:r>
            <a:endParaRPr baseline="-35714" sz="31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973140" y="4890404"/>
            <a:ext cx="548640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12750" algn="l"/>
              </a:tabLst>
            </a:pPr>
            <a:r>
              <a:rPr dirty="0" sz="2100" spc="-155" i="1">
                <a:latin typeface="Times New Roman"/>
                <a:cs typeface="Times New Roman"/>
              </a:rPr>
              <a:t>x</a:t>
            </a:r>
            <a:r>
              <a:rPr dirty="0" sz="2100" spc="-155" i="1">
                <a:latin typeface="Times New Roman"/>
                <a:cs typeface="Times New Roman"/>
              </a:rPr>
              <a:t>	</a:t>
            </a:r>
            <a:r>
              <a:rPr dirty="0" sz="2100" spc="-190">
                <a:latin typeface="Symbol"/>
                <a:cs typeface="Symbol"/>
              </a:rPr>
              <a:t>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459216" y="4890404"/>
            <a:ext cx="1220470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190">
                <a:latin typeface="Symbol"/>
                <a:cs typeface="Symbol"/>
              </a:rPr>
              <a:t></a:t>
            </a:r>
            <a:r>
              <a:rPr dirty="0" sz="2100" spc="-190">
                <a:latin typeface="Times New Roman"/>
                <a:cs typeface="Times New Roman"/>
              </a:rPr>
              <a:t> </a:t>
            </a:r>
            <a:r>
              <a:rPr dirty="0" sz="2100" spc="-225">
                <a:latin typeface="Times New Roman"/>
                <a:cs typeface="Times New Roman"/>
              </a:rPr>
              <a:t>(</a:t>
            </a:r>
            <a:r>
              <a:rPr dirty="0" sz="2100" spc="-225" i="1">
                <a:latin typeface="Times New Roman"/>
                <a:cs typeface="Times New Roman"/>
              </a:rPr>
              <a:t>V</a:t>
            </a:r>
            <a:r>
              <a:rPr dirty="0" baseline="-25462" sz="1800" spc="-337" i="1">
                <a:latin typeface="Times New Roman"/>
                <a:cs typeface="Times New Roman"/>
              </a:rPr>
              <a:t>G </a:t>
            </a:r>
            <a:r>
              <a:rPr dirty="0" sz="2100" spc="-110">
                <a:latin typeface="Symbol"/>
                <a:cs typeface="Symbol"/>
              </a:rPr>
              <a:t></a:t>
            </a:r>
            <a:r>
              <a:rPr dirty="0" sz="2100" spc="-110" i="1">
                <a:latin typeface="Times New Roman"/>
                <a:cs typeface="Times New Roman"/>
              </a:rPr>
              <a:t>V</a:t>
            </a:r>
            <a:r>
              <a:rPr dirty="0" baseline="-25462" sz="1800" spc="-165" i="1">
                <a:latin typeface="Times New Roman"/>
                <a:cs typeface="Times New Roman"/>
              </a:rPr>
              <a:t>y </a:t>
            </a:r>
            <a:r>
              <a:rPr dirty="0" sz="2100" spc="-120">
                <a:latin typeface="Times New Roman"/>
                <a:cs typeface="Times New Roman"/>
              </a:rPr>
              <a:t>)]</a:t>
            </a:r>
            <a:r>
              <a:rPr dirty="0" sz="2100" spc="-185">
                <a:latin typeface="Times New Roman"/>
                <a:cs typeface="Times New Roman"/>
              </a:rPr>
              <a:t> </a:t>
            </a:r>
            <a:r>
              <a:rPr dirty="0" sz="2100" spc="-190">
                <a:latin typeface="Symbol"/>
                <a:cs typeface="Symbol"/>
              </a:rPr>
              <a:t>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631400" y="4890404"/>
            <a:ext cx="894080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165">
                <a:latin typeface="Symbol"/>
                <a:cs typeface="Symbol"/>
              </a:rPr>
              <a:t></a:t>
            </a:r>
            <a:r>
              <a:rPr dirty="0" sz="2100" spc="-165" i="1">
                <a:latin typeface="Times New Roman"/>
                <a:cs typeface="Times New Roman"/>
              </a:rPr>
              <a:t>V</a:t>
            </a:r>
            <a:r>
              <a:rPr dirty="0" baseline="-25462" sz="1800" spc="-247" i="1">
                <a:latin typeface="Times New Roman"/>
                <a:cs typeface="Times New Roman"/>
              </a:rPr>
              <a:t>G </a:t>
            </a:r>
            <a:r>
              <a:rPr dirty="0" sz="2100" spc="-100">
                <a:latin typeface="Symbol"/>
                <a:cs typeface="Symbol"/>
              </a:rPr>
              <a:t></a:t>
            </a:r>
            <a:r>
              <a:rPr dirty="0" sz="2100" spc="-100" i="1">
                <a:latin typeface="Times New Roman"/>
                <a:cs typeface="Times New Roman"/>
              </a:rPr>
              <a:t>V</a:t>
            </a:r>
            <a:r>
              <a:rPr dirty="0" baseline="-25462" sz="1800" spc="-150" i="1">
                <a:latin typeface="Times New Roman"/>
                <a:cs typeface="Times New Roman"/>
              </a:rPr>
              <a:t>y</a:t>
            </a:r>
            <a:r>
              <a:rPr dirty="0" baseline="-25462" sz="1800" spc="-254" i="1">
                <a:latin typeface="Times New Roman"/>
                <a:cs typeface="Times New Roman"/>
              </a:rPr>
              <a:t> </a:t>
            </a:r>
            <a:r>
              <a:rPr dirty="0" sz="2100" spc="-114">
                <a:latin typeface="Times New Roman"/>
                <a:cs typeface="Times New Roman"/>
              </a:rPr>
              <a:t>)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title"/>
          </p:nvPr>
        </p:nvSpPr>
        <p:spPr>
          <a:xfrm>
            <a:off x="1224178" y="247015"/>
            <a:ext cx="343852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" b="0">
                <a:latin typeface="Times New Roman"/>
                <a:cs typeface="Times New Roman"/>
              </a:rPr>
              <a:t>Phương trình </a:t>
            </a:r>
            <a:r>
              <a:rPr dirty="0" sz="3000" b="0">
                <a:latin typeface="Times New Roman"/>
                <a:cs typeface="Times New Roman"/>
              </a:rPr>
              <a:t>dòng</a:t>
            </a:r>
            <a:r>
              <a:rPr dirty="0" sz="3000" spc="-35" b="0">
                <a:latin typeface="Times New Roman"/>
                <a:cs typeface="Times New Roman"/>
              </a:rPr>
              <a:t> </a:t>
            </a:r>
            <a:r>
              <a:rPr dirty="0" sz="3000" b="0">
                <a:latin typeface="Times New Roman"/>
                <a:cs typeface="Times New Roman"/>
              </a:rPr>
              <a:t>I</a:t>
            </a:r>
            <a:r>
              <a:rPr dirty="0" baseline="-20833" sz="3000" b="0">
                <a:latin typeface="Times New Roman"/>
                <a:cs typeface="Times New Roman"/>
              </a:rPr>
              <a:t>DS</a:t>
            </a:r>
            <a:endParaRPr baseline="-20833"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81" y="6400800"/>
            <a:ext cx="9903460" cy="457200"/>
          </a:xfrm>
          <a:custGeom>
            <a:avLst/>
            <a:gdLst/>
            <a:ahLst/>
            <a:cxnLst/>
            <a:rect l="l" t="t" r="r" b="b"/>
            <a:pathLst>
              <a:path w="9903460" h="457200">
                <a:moveTo>
                  <a:pt x="0" y="457200"/>
                </a:moveTo>
                <a:lnTo>
                  <a:pt x="9903460" y="457200"/>
                </a:lnTo>
                <a:lnTo>
                  <a:pt x="990346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" y="6334315"/>
            <a:ext cx="9903460" cy="64135"/>
          </a:xfrm>
          <a:custGeom>
            <a:avLst/>
            <a:gdLst/>
            <a:ahLst/>
            <a:cxnLst/>
            <a:rect l="l" t="t" r="r" b="b"/>
            <a:pathLst>
              <a:path w="9903460" h="64135">
                <a:moveTo>
                  <a:pt x="0" y="64008"/>
                </a:moveTo>
                <a:lnTo>
                  <a:pt x="9903460" y="64008"/>
                </a:lnTo>
                <a:lnTo>
                  <a:pt x="9903460" y="0"/>
                </a:lnTo>
                <a:lnTo>
                  <a:pt x="0" y="0"/>
                </a:lnTo>
                <a:lnTo>
                  <a:pt x="0" y="64008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50416" y="192481"/>
            <a:ext cx="3438525" cy="4832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" b="0">
                <a:latin typeface="Times New Roman"/>
                <a:cs typeface="Times New Roman"/>
              </a:rPr>
              <a:t>Phương trình dòng</a:t>
            </a:r>
            <a:r>
              <a:rPr dirty="0" sz="3000" spc="-30" b="0">
                <a:latin typeface="Times New Roman"/>
                <a:cs typeface="Times New Roman"/>
              </a:rPr>
              <a:t> </a:t>
            </a:r>
            <a:r>
              <a:rPr dirty="0" sz="3000" b="0">
                <a:latin typeface="Times New Roman"/>
                <a:cs typeface="Times New Roman"/>
              </a:rPr>
              <a:t>I</a:t>
            </a:r>
            <a:r>
              <a:rPr dirty="0" baseline="-20833" sz="3000" b="0">
                <a:latin typeface="Times New Roman"/>
                <a:cs typeface="Times New Roman"/>
              </a:rPr>
              <a:t>DS</a:t>
            </a:r>
            <a:endParaRPr baseline="-20833" sz="3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6186" y="762761"/>
            <a:ext cx="90316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18480" algn="l"/>
              </a:tabLst>
            </a:pPr>
            <a:r>
              <a:rPr dirty="0" sz="2400" spc="-5">
                <a:latin typeface="Times New Roman"/>
                <a:cs typeface="Times New Roman"/>
              </a:rPr>
              <a:t>Vì </a:t>
            </a:r>
            <a:r>
              <a:rPr dirty="0" sz="2400">
                <a:latin typeface="Times New Roman"/>
                <a:cs typeface="Times New Roman"/>
              </a:rPr>
              <a:t>xuất hiện dòng hạt tải đa số ( electron</a:t>
            </a:r>
            <a:r>
              <a:rPr dirty="0" sz="2400" spc="-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)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di	chuyển từ </a:t>
            </a:r>
            <a:r>
              <a:rPr dirty="0" sz="2400" spc="-5">
                <a:latin typeface="Times New Roman"/>
                <a:cs typeface="Times New Roman"/>
              </a:rPr>
              <a:t>sourse </a:t>
            </a:r>
            <a:r>
              <a:rPr dirty="0" sz="2400">
                <a:latin typeface="Times New Roman"/>
                <a:cs typeface="Times New Roman"/>
              </a:rPr>
              <a:t>sang</a:t>
            </a:r>
            <a:r>
              <a:rPr dirty="0" sz="2400" spc="-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drain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69924" y="1485138"/>
            <a:ext cx="3257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75">
                <a:latin typeface="Times New Roman"/>
                <a:cs typeface="Times New Roman"/>
              </a:rPr>
              <a:t>T</a:t>
            </a:r>
            <a:r>
              <a:rPr dirty="0" sz="240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3347" y="1850897"/>
            <a:ext cx="3981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có: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25993" y="1667586"/>
            <a:ext cx="147320" cy="0"/>
          </a:xfrm>
          <a:custGeom>
            <a:avLst/>
            <a:gdLst/>
            <a:ahLst/>
            <a:cxnLst/>
            <a:rect l="l" t="t" r="r" b="b"/>
            <a:pathLst>
              <a:path w="147319" h="0">
                <a:moveTo>
                  <a:pt x="0" y="0"/>
                </a:moveTo>
                <a:lnTo>
                  <a:pt x="146836" y="0"/>
                </a:lnTo>
              </a:path>
            </a:pathLst>
          </a:custGeom>
          <a:ln w="126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794701" y="1667586"/>
            <a:ext cx="163195" cy="0"/>
          </a:xfrm>
          <a:custGeom>
            <a:avLst/>
            <a:gdLst/>
            <a:ahLst/>
            <a:cxnLst/>
            <a:rect l="l" t="t" r="r" b="b"/>
            <a:pathLst>
              <a:path w="163194" h="0">
                <a:moveTo>
                  <a:pt x="0" y="0"/>
                </a:moveTo>
                <a:lnTo>
                  <a:pt x="163146" y="0"/>
                </a:lnTo>
              </a:path>
            </a:pathLst>
          </a:custGeom>
          <a:ln w="126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996992" y="1667586"/>
            <a:ext cx="147320" cy="0"/>
          </a:xfrm>
          <a:custGeom>
            <a:avLst/>
            <a:gdLst/>
            <a:ahLst/>
            <a:cxnLst/>
            <a:rect l="l" t="t" r="r" b="b"/>
            <a:pathLst>
              <a:path w="147319" h="0">
                <a:moveTo>
                  <a:pt x="0" y="0"/>
                </a:moveTo>
                <a:lnTo>
                  <a:pt x="146836" y="0"/>
                </a:lnTo>
              </a:path>
            </a:pathLst>
          </a:custGeom>
          <a:ln w="126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283969" y="1128471"/>
            <a:ext cx="7515859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(chiều </a:t>
            </a:r>
            <a:r>
              <a:rPr dirty="0" sz="2400" spc="-200">
                <a:latin typeface="Times New Roman"/>
                <a:cs typeface="Times New Roman"/>
              </a:rPr>
              <a:t>dài</a:t>
            </a:r>
            <a:r>
              <a:rPr dirty="0" baseline="-26388" sz="3000" spc="-300" i="1">
                <a:latin typeface="Times New Roman"/>
                <a:cs typeface="Times New Roman"/>
              </a:rPr>
              <a:t>l</a:t>
            </a:r>
            <a:r>
              <a:rPr dirty="0" sz="2400" spc="-200">
                <a:latin typeface="Times New Roman"/>
                <a:cs typeface="Times New Roman"/>
              </a:rPr>
              <a:t>kê</a:t>
            </a:r>
            <a:r>
              <a:rPr dirty="0" baseline="-26388" sz="3000" spc="-300">
                <a:latin typeface="Times New Roman"/>
                <a:cs typeface="Times New Roman"/>
              </a:rPr>
              <a:t>1</a:t>
            </a:r>
            <a:r>
              <a:rPr dirty="0" sz="2400" spc="-200">
                <a:latin typeface="Times New Roman"/>
                <a:cs typeface="Times New Roman"/>
              </a:rPr>
              <a:t>nh</a:t>
            </a:r>
            <a:r>
              <a:rPr dirty="0" baseline="-26388" sz="3000" spc="-300" i="1">
                <a:latin typeface="Times New Roman"/>
                <a:cs typeface="Times New Roman"/>
              </a:rPr>
              <a:t>l</a:t>
            </a:r>
            <a:r>
              <a:rPr dirty="0" sz="2400" spc="-200">
                <a:latin typeface="Times New Roman"/>
                <a:cs typeface="Times New Roman"/>
              </a:rPr>
              <a:t>dẫn </a:t>
            </a:r>
            <a:r>
              <a:rPr dirty="0" sz="2400">
                <a:latin typeface="Times New Roman"/>
                <a:cs typeface="Times New Roman"/>
              </a:rPr>
              <a:t>L) nên điện trở R tại hai cực </a:t>
            </a:r>
            <a:r>
              <a:rPr dirty="0" sz="2400" spc="-5">
                <a:latin typeface="Times New Roman"/>
                <a:cs typeface="Times New Roman"/>
              </a:rPr>
              <a:t>S-D </a:t>
            </a:r>
            <a:r>
              <a:rPr dirty="0" sz="2400">
                <a:latin typeface="Times New Roman"/>
                <a:cs typeface="Times New Roman"/>
              </a:rPr>
              <a:t>rất</a:t>
            </a:r>
            <a:r>
              <a:rPr dirty="0" sz="2400" spc="-33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nhỏ.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29619" y="1653632"/>
            <a:ext cx="701040" cy="3454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6075" algn="l"/>
              </a:tabLst>
            </a:pPr>
            <a:r>
              <a:rPr dirty="0" sz="2000" spc="-180" i="1">
                <a:latin typeface="Times New Roman"/>
                <a:cs typeface="Times New Roman"/>
              </a:rPr>
              <a:t>S	</a:t>
            </a:r>
            <a:r>
              <a:rPr dirty="0" sz="2100" spc="-275" i="1">
                <a:latin typeface="Symbol"/>
                <a:cs typeface="Symbol"/>
              </a:rPr>
              <a:t></a:t>
            </a:r>
            <a:r>
              <a:rPr dirty="0" sz="2100" spc="-345" i="1">
                <a:latin typeface="Times New Roman"/>
                <a:cs typeface="Times New Roman"/>
              </a:rPr>
              <a:t> </a:t>
            </a:r>
            <a:r>
              <a:rPr dirty="0" sz="2000" spc="-180" i="1"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01025" y="1452890"/>
            <a:ext cx="855344" cy="3454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27075" algn="l"/>
              </a:tabLst>
            </a:pPr>
            <a:r>
              <a:rPr dirty="0" sz="2000" spc="-220" i="1">
                <a:latin typeface="Times New Roman"/>
                <a:cs typeface="Times New Roman"/>
              </a:rPr>
              <a:t>R</a:t>
            </a:r>
            <a:r>
              <a:rPr dirty="0" sz="2000" spc="-95" i="1">
                <a:latin typeface="Times New Roman"/>
                <a:cs typeface="Times New Roman"/>
              </a:rPr>
              <a:t> </a:t>
            </a:r>
            <a:r>
              <a:rPr dirty="0" sz="2000" spc="-195">
                <a:latin typeface="Symbol"/>
                <a:cs typeface="Symbol"/>
              </a:rPr>
              <a:t></a:t>
            </a:r>
            <a:r>
              <a:rPr dirty="0" sz="2000" spc="-190">
                <a:latin typeface="Times New Roman"/>
                <a:cs typeface="Times New Roman"/>
              </a:rPr>
              <a:t> </a:t>
            </a:r>
            <a:r>
              <a:rPr dirty="0" sz="2100" spc="-250" i="1">
                <a:latin typeface="Symbol"/>
                <a:cs typeface="Symbol"/>
              </a:rPr>
              <a:t></a:t>
            </a:r>
            <a:r>
              <a:rPr dirty="0" sz="2100">
                <a:latin typeface="Times New Roman"/>
                <a:cs typeface="Times New Roman"/>
              </a:rPr>
              <a:t>	</a:t>
            </a:r>
            <a:r>
              <a:rPr dirty="0" sz="2000" spc="-195">
                <a:latin typeface="Symbol"/>
                <a:cs typeface="Symbol"/>
              </a:rPr>
              <a:t>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23615" y="1382246"/>
            <a:ext cx="185991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0833" sz="3600" spc="-7">
                <a:latin typeface="Times New Roman"/>
                <a:cs typeface="Times New Roman"/>
              </a:rPr>
              <a:t>V </a:t>
            </a:r>
            <a:r>
              <a:rPr dirty="0" sz="2100" spc="-200" i="1">
                <a:latin typeface="Symbol"/>
                <a:cs typeface="Symbol"/>
              </a:rPr>
              <a:t></a:t>
            </a:r>
            <a:r>
              <a:rPr dirty="0" sz="2000" spc="-200">
                <a:latin typeface="Symbol"/>
                <a:cs typeface="Symbol"/>
              </a:rPr>
              <a:t></a:t>
            </a:r>
            <a:r>
              <a:rPr dirty="0" sz="2000" spc="-200">
                <a:latin typeface="Times New Roman"/>
                <a:cs typeface="Times New Roman"/>
              </a:rPr>
              <a:t> </a:t>
            </a:r>
            <a:r>
              <a:rPr dirty="0" sz="2000" spc="-125" i="1">
                <a:latin typeface="Times New Roman"/>
                <a:cs typeface="Times New Roman"/>
              </a:rPr>
              <a:t>q</a:t>
            </a:r>
            <a:r>
              <a:rPr dirty="0" sz="2000" spc="-125">
                <a:latin typeface="Times New Roman"/>
                <a:cs typeface="Times New Roman"/>
              </a:rPr>
              <a:t>( </a:t>
            </a:r>
            <a:r>
              <a:rPr dirty="0" sz="2000" spc="-335" i="1">
                <a:latin typeface="Times New Roman"/>
                <a:cs typeface="Times New Roman"/>
              </a:rPr>
              <a:t>p</a:t>
            </a:r>
            <a:r>
              <a:rPr dirty="0" sz="2100" spc="-335" i="1">
                <a:latin typeface="Symbol"/>
                <a:cs typeface="Symbol"/>
              </a:rPr>
              <a:t></a:t>
            </a:r>
            <a:r>
              <a:rPr dirty="0" baseline="-24154" sz="1725" spc="-502" i="1">
                <a:latin typeface="Times New Roman"/>
                <a:cs typeface="Times New Roman"/>
              </a:rPr>
              <a:t>p</a:t>
            </a:r>
            <a:r>
              <a:rPr dirty="0" baseline="-24154" sz="1725" spc="254" i="1">
                <a:latin typeface="Times New Roman"/>
                <a:cs typeface="Times New Roman"/>
              </a:rPr>
              <a:t> </a:t>
            </a:r>
            <a:r>
              <a:rPr dirty="0" sz="2000" spc="-195">
                <a:latin typeface="Symbol"/>
                <a:cs typeface="Symbol"/>
              </a:rPr>
              <a:t>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spc="-380" i="1">
                <a:latin typeface="Times New Roman"/>
                <a:cs typeface="Times New Roman"/>
              </a:rPr>
              <a:t>n</a:t>
            </a:r>
            <a:r>
              <a:rPr dirty="0" sz="2100" spc="-380" i="1">
                <a:latin typeface="Symbol"/>
                <a:cs typeface="Symbol"/>
              </a:rPr>
              <a:t></a:t>
            </a:r>
            <a:r>
              <a:rPr dirty="0" baseline="-24154" sz="1725" spc="-569" i="1">
                <a:latin typeface="Times New Roman"/>
                <a:cs typeface="Times New Roman"/>
              </a:rPr>
              <a:t>n</a:t>
            </a:r>
            <a:r>
              <a:rPr dirty="0" baseline="-24154" sz="1725" spc="-135" i="1">
                <a:latin typeface="Times New Roman"/>
                <a:cs typeface="Times New Roman"/>
              </a:rPr>
              <a:t> </a:t>
            </a:r>
            <a:r>
              <a:rPr dirty="0" sz="2000" spc="-12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01715" y="1465834"/>
            <a:ext cx="1033144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9271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là điện  dẫn</a:t>
            </a:r>
            <a:r>
              <a:rPr dirty="0" sz="2400" spc="-9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suất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164904" y="3562103"/>
            <a:ext cx="1965325" cy="0"/>
          </a:xfrm>
          <a:custGeom>
            <a:avLst/>
            <a:gdLst/>
            <a:ahLst/>
            <a:cxnLst/>
            <a:rect l="l" t="t" r="r" b="b"/>
            <a:pathLst>
              <a:path w="1965325" h="0">
                <a:moveTo>
                  <a:pt x="0" y="0"/>
                </a:moveTo>
                <a:lnTo>
                  <a:pt x="1964915" y="0"/>
                </a:lnTo>
              </a:path>
            </a:pathLst>
          </a:custGeom>
          <a:ln w="129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032889" y="3187789"/>
            <a:ext cx="226695" cy="3403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180" i="1">
                <a:latin typeface="Times New Roman"/>
                <a:cs typeface="Times New Roman"/>
              </a:rPr>
              <a:t>dy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65519" y="3548155"/>
            <a:ext cx="1937385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050" spc="-325">
                <a:latin typeface="Times New Roman"/>
                <a:cs typeface="Times New Roman"/>
              </a:rPr>
              <a:t>2</a:t>
            </a:r>
            <a:r>
              <a:rPr dirty="0" sz="2050" spc="-325" i="1">
                <a:latin typeface="Times New Roman"/>
                <a:cs typeface="Times New Roman"/>
              </a:rPr>
              <a:t>q</a:t>
            </a:r>
            <a:r>
              <a:rPr dirty="0" sz="2100" spc="-325" i="1">
                <a:latin typeface="Symbol"/>
                <a:cs typeface="Symbol"/>
              </a:rPr>
              <a:t></a:t>
            </a:r>
            <a:r>
              <a:rPr dirty="0" baseline="-25462" sz="1800" spc="-487" i="1">
                <a:latin typeface="Times New Roman"/>
                <a:cs typeface="Times New Roman"/>
              </a:rPr>
              <a:t>n</a:t>
            </a:r>
            <a:r>
              <a:rPr dirty="0" baseline="-25462" sz="1800" spc="-195" i="1">
                <a:latin typeface="Times New Roman"/>
                <a:cs typeface="Times New Roman"/>
              </a:rPr>
              <a:t> </a:t>
            </a:r>
            <a:r>
              <a:rPr dirty="0" sz="2050" spc="-140" i="1">
                <a:latin typeface="Times New Roman"/>
                <a:cs typeface="Times New Roman"/>
              </a:rPr>
              <a:t>N</a:t>
            </a:r>
            <a:r>
              <a:rPr dirty="0" baseline="-25462" sz="1800" spc="-209" i="1">
                <a:latin typeface="Times New Roman"/>
                <a:cs typeface="Times New Roman"/>
              </a:rPr>
              <a:t>d </a:t>
            </a:r>
            <a:r>
              <a:rPr dirty="0" sz="2050" spc="-140">
                <a:latin typeface="Times New Roman"/>
                <a:cs typeface="Times New Roman"/>
              </a:rPr>
              <a:t>(</a:t>
            </a:r>
            <a:r>
              <a:rPr dirty="0" sz="2050" spc="-140" i="1">
                <a:latin typeface="Times New Roman"/>
                <a:cs typeface="Times New Roman"/>
              </a:rPr>
              <a:t>a </a:t>
            </a:r>
            <a:r>
              <a:rPr dirty="0" sz="2050" spc="-204">
                <a:latin typeface="Symbol"/>
                <a:cs typeface="Symbol"/>
              </a:rPr>
              <a:t></a:t>
            </a:r>
            <a:r>
              <a:rPr dirty="0" sz="2050" spc="-204">
                <a:latin typeface="Times New Roman"/>
                <a:cs typeface="Times New Roman"/>
              </a:rPr>
              <a:t> </a:t>
            </a:r>
            <a:r>
              <a:rPr dirty="0" sz="2050" spc="-120" i="1">
                <a:latin typeface="Times New Roman"/>
                <a:cs typeface="Times New Roman"/>
              </a:rPr>
              <a:t>x</a:t>
            </a:r>
            <a:r>
              <a:rPr dirty="0" baseline="-25462" sz="1800" spc="-179" i="1">
                <a:latin typeface="Times New Roman"/>
                <a:cs typeface="Times New Roman"/>
              </a:rPr>
              <a:t>depl </a:t>
            </a:r>
            <a:r>
              <a:rPr dirty="0" sz="2050" spc="-125">
                <a:latin typeface="Times New Roman"/>
                <a:cs typeface="Times New Roman"/>
              </a:rPr>
              <a:t>(</a:t>
            </a:r>
            <a:r>
              <a:rPr dirty="0" sz="2050" spc="-325">
                <a:latin typeface="Times New Roman"/>
                <a:cs typeface="Times New Roman"/>
              </a:rPr>
              <a:t> </a:t>
            </a:r>
            <a:r>
              <a:rPr dirty="0" sz="2050" spc="-200" i="1">
                <a:latin typeface="Times New Roman"/>
                <a:cs typeface="Times New Roman"/>
              </a:rPr>
              <a:t>y</a:t>
            </a:r>
            <a:r>
              <a:rPr dirty="0" sz="2050" spc="-200">
                <a:latin typeface="Times New Roman"/>
                <a:cs typeface="Times New Roman"/>
              </a:rPr>
              <a:t>))</a:t>
            </a:r>
            <a:r>
              <a:rPr dirty="0" sz="2050" spc="-200" i="1">
                <a:latin typeface="Times New Roman"/>
                <a:cs typeface="Times New Roman"/>
              </a:rPr>
              <a:t>W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249438" y="3502659"/>
            <a:ext cx="640080" cy="184785"/>
          </a:xfrm>
          <a:custGeom>
            <a:avLst/>
            <a:gdLst/>
            <a:ahLst/>
            <a:cxnLst/>
            <a:rect l="l" t="t" r="r" b="b"/>
            <a:pathLst>
              <a:path w="640080" h="184785">
                <a:moveTo>
                  <a:pt x="547357" y="0"/>
                </a:moveTo>
                <a:lnTo>
                  <a:pt x="547357" y="46227"/>
                </a:lnTo>
                <a:lnTo>
                  <a:pt x="0" y="46227"/>
                </a:lnTo>
                <a:lnTo>
                  <a:pt x="0" y="138556"/>
                </a:lnTo>
                <a:lnTo>
                  <a:pt x="547357" y="138556"/>
                </a:lnTo>
                <a:lnTo>
                  <a:pt x="547357" y="184657"/>
                </a:lnTo>
                <a:lnTo>
                  <a:pt x="639686" y="92328"/>
                </a:lnTo>
                <a:lnTo>
                  <a:pt x="547357" y="0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249438" y="3502659"/>
            <a:ext cx="640080" cy="184785"/>
          </a:xfrm>
          <a:custGeom>
            <a:avLst/>
            <a:gdLst/>
            <a:ahLst/>
            <a:cxnLst/>
            <a:rect l="l" t="t" r="r" b="b"/>
            <a:pathLst>
              <a:path w="640080" h="184785">
                <a:moveTo>
                  <a:pt x="0" y="46227"/>
                </a:moveTo>
                <a:lnTo>
                  <a:pt x="547357" y="46227"/>
                </a:lnTo>
                <a:lnTo>
                  <a:pt x="547357" y="0"/>
                </a:lnTo>
                <a:lnTo>
                  <a:pt x="639686" y="92328"/>
                </a:lnTo>
                <a:lnTo>
                  <a:pt x="547357" y="184657"/>
                </a:lnTo>
                <a:lnTo>
                  <a:pt x="547357" y="138556"/>
                </a:lnTo>
                <a:lnTo>
                  <a:pt x="0" y="138556"/>
                </a:lnTo>
                <a:lnTo>
                  <a:pt x="0" y="46227"/>
                </a:lnTo>
                <a:close/>
              </a:path>
            </a:pathLst>
          </a:custGeom>
          <a:ln w="15875">
            <a:solidFill>
              <a:srgbClr val="6E94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382224" y="1923641"/>
            <a:ext cx="1092835" cy="793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325"/>
              </a:lnSpc>
              <a:spcBef>
                <a:spcPts val="100"/>
              </a:spcBef>
              <a:tabLst>
                <a:tab pos="810260" algn="l"/>
              </a:tabLst>
            </a:pPr>
            <a:r>
              <a:rPr dirty="0" sz="2100" spc="-275" i="1">
                <a:latin typeface="Symbol"/>
                <a:cs typeface="Symbol"/>
              </a:rPr>
              <a:t></a:t>
            </a:r>
            <a:r>
              <a:rPr dirty="0" baseline="11574" sz="3600" spc="-412">
                <a:latin typeface="Times New Roman"/>
                <a:cs typeface="Times New Roman"/>
              </a:rPr>
              <a:t>ới</a:t>
            </a:r>
            <a:r>
              <a:rPr dirty="0" sz="2000" spc="-275">
                <a:latin typeface="Symbol"/>
                <a:cs typeface="Symbol"/>
              </a:rPr>
              <a:t></a:t>
            </a:r>
            <a:r>
              <a:rPr dirty="0" sz="2000" spc="-120">
                <a:latin typeface="Times New Roman"/>
                <a:cs typeface="Times New Roman"/>
              </a:rPr>
              <a:t> </a:t>
            </a:r>
            <a:r>
              <a:rPr dirty="0" sz="2000" spc="-315" i="1">
                <a:latin typeface="Times New Roman"/>
                <a:cs typeface="Times New Roman"/>
              </a:rPr>
              <a:t>qn</a:t>
            </a:r>
            <a:r>
              <a:rPr dirty="0" sz="2000" spc="-315">
                <a:latin typeface="Times New Roman"/>
                <a:cs typeface="Times New Roman"/>
              </a:rPr>
              <a:t>.	</a:t>
            </a:r>
            <a:r>
              <a:rPr dirty="0" sz="2000" spc="-250">
                <a:latin typeface="Times New Roman"/>
                <a:cs typeface="Times New Roman"/>
              </a:rPr>
              <a:t>.</a:t>
            </a:r>
            <a:r>
              <a:rPr dirty="0" sz="2100" spc="-250" i="1">
                <a:latin typeface="Symbol"/>
                <a:cs typeface="Symbol"/>
              </a:rPr>
              <a:t></a:t>
            </a:r>
            <a:endParaRPr sz="2100">
              <a:latin typeface="Symbol"/>
              <a:cs typeface="Symbol"/>
            </a:endParaRPr>
          </a:p>
          <a:p>
            <a:pPr marL="191770">
              <a:lnSpc>
                <a:spcPts val="825"/>
              </a:lnSpc>
              <a:tabLst>
                <a:tab pos="734060" algn="l"/>
                <a:tab pos="984885" algn="l"/>
              </a:tabLst>
            </a:pPr>
            <a:r>
              <a:rPr dirty="0" sz="1150" spc="-100" i="1">
                <a:latin typeface="Times New Roman"/>
                <a:cs typeface="Times New Roman"/>
              </a:rPr>
              <a:t>n	n	n</a:t>
            </a:r>
            <a:endParaRPr sz="1150">
              <a:latin typeface="Times New Roman"/>
              <a:cs typeface="Times New Roman"/>
            </a:endParaRPr>
          </a:p>
          <a:p>
            <a:pPr marL="26034">
              <a:lnSpc>
                <a:spcPct val="100000"/>
              </a:lnSpc>
              <a:spcBef>
                <a:spcPts val="484"/>
              </a:spcBef>
            </a:pPr>
            <a:r>
              <a:rPr dirty="0" sz="2000" spc="-160" i="1">
                <a:latin typeface="Times New Roman"/>
                <a:cs typeface="Times New Roman"/>
              </a:rPr>
              <a:t>n</a:t>
            </a:r>
            <a:r>
              <a:rPr dirty="0" baseline="-24154" sz="1725" spc="-240" i="1">
                <a:latin typeface="Times New Roman"/>
                <a:cs typeface="Times New Roman"/>
              </a:rPr>
              <a:t>n </a:t>
            </a:r>
            <a:r>
              <a:rPr dirty="0" sz="2000" spc="-200">
                <a:latin typeface="Symbol"/>
                <a:cs typeface="Symbol"/>
              </a:rPr>
              <a:t></a:t>
            </a:r>
            <a:r>
              <a:rPr dirty="0" sz="2000" spc="-200">
                <a:latin typeface="Times New Roman"/>
                <a:cs typeface="Times New Roman"/>
              </a:rPr>
              <a:t> </a:t>
            </a:r>
            <a:r>
              <a:rPr dirty="0" sz="2000" spc="-130" i="1">
                <a:latin typeface="Times New Roman"/>
                <a:cs typeface="Times New Roman"/>
              </a:rPr>
              <a:t>N</a:t>
            </a:r>
            <a:r>
              <a:rPr dirty="0" baseline="-24154" sz="1725" spc="-195" i="1">
                <a:latin typeface="Times New Roman"/>
                <a:cs typeface="Times New Roman"/>
              </a:rPr>
              <a:t>d </a:t>
            </a:r>
            <a:r>
              <a:rPr dirty="0" sz="2000" spc="-200">
                <a:latin typeface="Symbol"/>
                <a:cs typeface="Symbol"/>
              </a:rPr>
              <a:t></a:t>
            </a:r>
            <a:r>
              <a:rPr dirty="0" sz="2000" spc="-254">
                <a:latin typeface="Times New Roman"/>
                <a:cs typeface="Times New Roman"/>
              </a:rPr>
              <a:t> </a:t>
            </a:r>
            <a:r>
              <a:rPr dirty="0" sz="2000" spc="-130" i="1">
                <a:latin typeface="Times New Roman"/>
                <a:cs typeface="Times New Roman"/>
              </a:rPr>
              <a:t>N</a:t>
            </a:r>
            <a:r>
              <a:rPr dirty="0" baseline="-24154" sz="1725" spc="-195" i="1">
                <a:latin typeface="Times New Roman"/>
                <a:cs typeface="Times New Roman"/>
              </a:rPr>
              <a:t>a</a:t>
            </a:r>
            <a:endParaRPr baseline="-24154" sz="1725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761991" y="2418969"/>
            <a:ext cx="30365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do bán dẫn loại n nên</a:t>
            </a:r>
            <a:r>
              <a:rPr dirty="0" sz="2400" spc="-114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N</a:t>
            </a:r>
            <a:r>
              <a:rPr dirty="0" baseline="-20833" sz="2400" spc="-7">
                <a:latin typeface="Times New Roman"/>
                <a:cs typeface="Times New Roman"/>
              </a:rPr>
              <a:t>d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988811" y="2784805"/>
            <a:ext cx="58229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&gt;</a:t>
            </a:r>
            <a:r>
              <a:rPr dirty="0" sz="2400" spc="-1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N</a:t>
            </a:r>
            <a:r>
              <a:rPr dirty="0" baseline="-20833" sz="2400" spc="-7">
                <a:latin typeface="Times New Roman"/>
                <a:cs typeface="Times New Roman"/>
              </a:rPr>
              <a:t>a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6582" y="2006853"/>
            <a:ext cx="2601595" cy="1239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4800" marR="5080" indent="-292735">
              <a:lnSpc>
                <a:spcPct val="100000"/>
              </a:lnSpc>
              <a:spcBef>
                <a:spcPts val="100"/>
              </a:spcBef>
              <a:tabLst>
                <a:tab pos="2181225" algn="l"/>
              </a:tabLst>
            </a:pPr>
            <a:r>
              <a:rPr dirty="0" sz="2400" spc="-5">
                <a:latin typeface="Times New Roman"/>
                <a:cs typeface="Times New Roman"/>
              </a:rPr>
              <a:t>Vì </a:t>
            </a:r>
            <a:r>
              <a:rPr dirty="0" sz="2400">
                <a:latin typeface="Times New Roman"/>
                <a:cs typeface="Times New Roman"/>
              </a:rPr>
              <a:t>kênh dẫn là bán  dẫn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lo</a:t>
            </a:r>
            <a:r>
              <a:rPr dirty="0" sz="2400" spc="5">
                <a:latin typeface="Times New Roman"/>
                <a:cs typeface="Times New Roman"/>
              </a:rPr>
              <a:t>ạ</a:t>
            </a:r>
            <a:r>
              <a:rPr dirty="0" sz="2400">
                <a:latin typeface="Times New Roman"/>
                <a:cs typeface="Times New Roman"/>
              </a:rPr>
              <a:t>i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 nên	</a:t>
            </a:r>
            <a:r>
              <a:rPr dirty="0" baseline="-11574" sz="3600" spc="-7">
                <a:latin typeface="Times New Roman"/>
                <a:cs typeface="Times New Roman"/>
              </a:rPr>
              <a:t>Mà</a:t>
            </a:r>
            <a:endParaRPr baseline="-11574" sz="3600">
              <a:latin typeface="Times New Roman"/>
              <a:cs typeface="Times New Roman"/>
            </a:endParaRPr>
          </a:p>
          <a:p>
            <a:pPr algn="r" marR="200660">
              <a:lnSpc>
                <a:spcPct val="100000"/>
              </a:lnSpc>
              <a:spcBef>
                <a:spcPts val="915"/>
              </a:spcBef>
            </a:pPr>
            <a:r>
              <a:rPr dirty="0" sz="2400" spc="-5">
                <a:latin typeface="Times New Roman"/>
                <a:cs typeface="Times New Roman"/>
              </a:rPr>
              <a:t>Suy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420143" y="3309789"/>
            <a:ext cx="70485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 spc="-345" i="1">
                <a:latin typeface="Times New Roman"/>
                <a:cs typeface="Times New Roman"/>
              </a:rPr>
              <a:t>dR</a:t>
            </a:r>
            <a:r>
              <a:rPr dirty="0" sz="2050" spc="-345">
                <a:latin typeface="Times New Roman"/>
                <a:cs typeface="Times New Roman"/>
              </a:rPr>
              <a:t>(</a:t>
            </a:r>
            <a:r>
              <a:rPr dirty="0" baseline="16203" sz="3600" spc="-517">
                <a:latin typeface="Times New Roman"/>
                <a:cs typeface="Times New Roman"/>
              </a:rPr>
              <a:t>r</a:t>
            </a:r>
            <a:r>
              <a:rPr dirty="0" sz="2050" spc="-345" i="1">
                <a:latin typeface="Times New Roman"/>
                <a:cs typeface="Times New Roman"/>
              </a:rPr>
              <a:t>y</a:t>
            </a:r>
            <a:r>
              <a:rPr dirty="0" baseline="16203" sz="3600" spc="-517">
                <a:latin typeface="Times New Roman"/>
                <a:cs typeface="Times New Roman"/>
              </a:rPr>
              <a:t>a</a:t>
            </a:r>
            <a:r>
              <a:rPr dirty="0" sz="2050" spc="-345">
                <a:latin typeface="Times New Roman"/>
                <a:cs typeface="Times New Roman"/>
              </a:rPr>
              <a:t>)</a:t>
            </a:r>
            <a:r>
              <a:rPr dirty="0" sz="2050" spc="-190">
                <a:latin typeface="Times New Roman"/>
                <a:cs typeface="Times New Roman"/>
              </a:rPr>
              <a:t> </a:t>
            </a:r>
            <a:r>
              <a:rPr dirty="0" sz="2050" spc="-204">
                <a:latin typeface="Symbol"/>
                <a:cs typeface="Symbol"/>
              </a:rPr>
              <a:t>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349799" y="2798020"/>
            <a:ext cx="1118235" cy="3441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65505" algn="l"/>
              </a:tabLst>
            </a:pPr>
            <a:r>
              <a:rPr dirty="0" sz="2100" spc="-375" i="1">
                <a:latin typeface="Symbol"/>
                <a:cs typeface="Symbol"/>
              </a:rPr>
              <a:t></a:t>
            </a:r>
            <a:r>
              <a:rPr dirty="0" baseline="-24154" sz="1725" spc="-562" i="1">
                <a:latin typeface="Times New Roman"/>
                <a:cs typeface="Times New Roman"/>
              </a:rPr>
              <a:t>n</a:t>
            </a:r>
            <a:r>
              <a:rPr dirty="0" baseline="-24154" sz="1725" spc="412" i="1">
                <a:latin typeface="Times New Roman"/>
                <a:cs typeface="Times New Roman"/>
              </a:rPr>
              <a:t> </a:t>
            </a:r>
            <a:r>
              <a:rPr dirty="0" sz="2000" spc="-195">
                <a:latin typeface="Symbol"/>
                <a:cs typeface="Symbol"/>
              </a:rPr>
              <a:t></a:t>
            </a:r>
            <a:r>
              <a:rPr dirty="0" sz="2000" spc="-114">
                <a:latin typeface="Times New Roman"/>
                <a:cs typeface="Times New Roman"/>
              </a:rPr>
              <a:t> </a:t>
            </a:r>
            <a:r>
              <a:rPr dirty="0" sz="2000" spc="-150" i="1">
                <a:latin typeface="Times New Roman"/>
                <a:cs typeface="Times New Roman"/>
              </a:rPr>
              <a:t>qN</a:t>
            </a:r>
            <a:r>
              <a:rPr dirty="0" baseline="-24154" sz="1725" spc="-225" i="1">
                <a:latin typeface="Times New Roman"/>
                <a:cs typeface="Times New Roman"/>
              </a:rPr>
              <a:t>d</a:t>
            </a:r>
            <a:r>
              <a:rPr dirty="0" sz="2000" spc="-150">
                <a:latin typeface="Times New Roman"/>
                <a:cs typeface="Times New Roman"/>
              </a:rPr>
              <a:t>.	</a:t>
            </a:r>
            <a:r>
              <a:rPr dirty="0" sz="2000" spc="-370">
                <a:latin typeface="Times New Roman"/>
                <a:cs typeface="Times New Roman"/>
              </a:rPr>
              <a:t>.</a:t>
            </a:r>
            <a:r>
              <a:rPr dirty="0" sz="2100" spc="-370" i="1">
                <a:latin typeface="Symbol"/>
                <a:cs typeface="Symbol"/>
              </a:rPr>
              <a:t></a:t>
            </a:r>
            <a:r>
              <a:rPr dirty="0" baseline="-24154" sz="1725" spc="-555" i="1">
                <a:latin typeface="Times New Roman"/>
                <a:cs typeface="Times New Roman"/>
              </a:rPr>
              <a:t>n</a:t>
            </a:r>
            <a:endParaRPr baseline="-24154" sz="1725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070217" y="1384172"/>
            <a:ext cx="224154" cy="1817370"/>
          </a:xfrm>
          <a:custGeom>
            <a:avLst/>
            <a:gdLst/>
            <a:ahLst/>
            <a:cxnLst/>
            <a:rect l="l" t="t" r="r" b="b"/>
            <a:pathLst>
              <a:path w="224154" h="1817370">
                <a:moveTo>
                  <a:pt x="0" y="0"/>
                </a:moveTo>
                <a:lnTo>
                  <a:pt x="43594" y="1470"/>
                </a:lnTo>
                <a:lnTo>
                  <a:pt x="79200" y="5476"/>
                </a:lnTo>
                <a:lnTo>
                  <a:pt x="103209" y="11412"/>
                </a:lnTo>
                <a:lnTo>
                  <a:pt x="112013" y="18668"/>
                </a:lnTo>
                <a:lnTo>
                  <a:pt x="112013" y="889888"/>
                </a:lnTo>
                <a:lnTo>
                  <a:pt x="120818" y="897145"/>
                </a:lnTo>
                <a:lnTo>
                  <a:pt x="144827" y="903081"/>
                </a:lnTo>
                <a:lnTo>
                  <a:pt x="180433" y="907087"/>
                </a:lnTo>
                <a:lnTo>
                  <a:pt x="224027" y="908557"/>
                </a:lnTo>
                <a:lnTo>
                  <a:pt x="180433" y="910028"/>
                </a:lnTo>
                <a:lnTo>
                  <a:pt x="144827" y="914034"/>
                </a:lnTo>
                <a:lnTo>
                  <a:pt x="120818" y="919970"/>
                </a:lnTo>
                <a:lnTo>
                  <a:pt x="112013" y="927226"/>
                </a:lnTo>
                <a:lnTo>
                  <a:pt x="112013" y="1798447"/>
                </a:lnTo>
                <a:lnTo>
                  <a:pt x="103209" y="1805703"/>
                </a:lnTo>
                <a:lnTo>
                  <a:pt x="79200" y="1811639"/>
                </a:lnTo>
                <a:lnTo>
                  <a:pt x="43594" y="1815645"/>
                </a:lnTo>
                <a:lnTo>
                  <a:pt x="0" y="1817115"/>
                </a:lnTo>
              </a:path>
            </a:pathLst>
          </a:custGeom>
          <a:ln w="25400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268935" y="4049113"/>
            <a:ext cx="33000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49120" algn="l"/>
              </a:tabLst>
            </a:pPr>
            <a:r>
              <a:rPr dirty="0" baseline="-13888" sz="3600" spc="-7">
                <a:latin typeface="Times New Roman"/>
                <a:cs typeface="Times New Roman"/>
              </a:rPr>
              <a:t>Áp</a:t>
            </a:r>
            <a:r>
              <a:rPr dirty="0" baseline="-13888" sz="3600" spc="15">
                <a:latin typeface="Times New Roman"/>
                <a:cs typeface="Times New Roman"/>
              </a:rPr>
              <a:t> </a:t>
            </a:r>
            <a:r>
              <a:rPr dirty="0" baseline="-13888" sz="3600">
                <a:latin typeface="Times New Roman"/>
                <a:cs typeface="Times New Roman"/>
              </a:rPr>
              <a:t>dụng định	</a:t>
            </a:r>
            <a:r>
              <a:rPr dirty="0" sz="2000" spc="-229" i="1">
                <a:latin typeface="Times New Roman"/>
                <a:cs typeface="Times New Roman"/>
              </a:rPr>
              <a:t>dV</a:t>
            </a:r>
            <a:r>
              <a:rPr dirty="0" sz="2000" spc="-270" i="1">
                <a:latin typeface="Times New Roman"/>
                <a:cs typeface="Times New Roman"/>
              </a:rPr>
              <a:t> </a:t>
            </a:r>
            <a:r>
              <a:rPr dirty="0" sz="2000" spc="-140">
                <a:latin typeface="Times New Roman"/>
                <a:cs typeface="Times New Roman"/>
              </a:rPr>
              <a:t>(</a:t>
            </a:r>
            <a:r>
              <a:rPr dirty="0" sz="2000" spc="-320">
                <a:latin typeface="Times New Roman"/>
                <a:cs typeface="Times New Roman"/>
              </a:rPr>
              <a:t> </a:t>
            </a:r>
            <a:r>
              <a:rPr dirty="0" sz="2000" spc="-130" i="1">
                <a:latin typeface="Times New Roman"/>
                <a:cs typeface="Times New Roman"/>
              </a:rPr>
              <a:t>y</a:t>
            </a:r>
            <a:r>
              <a:rPr dirty="0" sz="2000" spc="-130">
                <a:latin typeface="Times New Roman"/>
                <a:cs typeface="Times New Roman"/>
              </a:rPr>
              <a:t>)</a:t>
            </a:r>
            <a:r>
              <a:rPr dirty="0" sz="2000" spc="-145">
                <a:latin typeface="Times New Roman"/>
                <a:cs typeface="Times New Roman"/>
              </a:rPr>
              <a:t> </a:t>
            </a:r>
            <a:r>
              <a:rPr dirty="0" sz="2000" spc="-225">
                <a:latin typeface="Symbol"/>
                <a:cs typeface="Symbol"/>
              </a:rPr>
              <a:t></a:t>
            </a:r>
            <a:r>
              <a:rPr dirty="0" sz="2000" spc="-105">
                <a:latin typeface="Times New Roman"/>
                <a:cs typeface="Times New Roman"/>
              </a:rPr>
              <a:t> </a:t>
            </a:r>
            <a:r>
              <a:rPr dirty="0" sz="2000" spc="-95" i="1">
                <a:latin typeface="Times New Roman"/>
                <a:cs typeface="Times New Roman"/>
              </a:rPr>
              <a:t>I</a:t>
            </a:r>
            <a:r>
              <a:rPr dirty="0" baseline="-24154" sz="1725" spc="-142" i="1">
                <a:latin typeface="Times New Roman"/>
                <a:cs typeface="Times New Roman"/>
              </a:rPr>
              <a:t>D</a:t>
            </a:r>
            <a:r>
              <a:rPr dirty="0" baseline="-24154" sz="1725" spc="-247" i="1">
                <a:latin typeface="Times New Roman"/>
                <a:cs typeface="Times New Roman"/>
              </a:rPr>
              <a:t> </a:t>
            </a:r>
            <a:r>
              <a:rPr dirty="0" sz="2000" spc="-180">
                <a:latin typeface="Times New Roman"/>
                <a:cs typeface="Times New Roman"/>
              </a:rPr>
              <a:t>.</a:t>
            </a:r>
            <a:r>
              <a:rPr dirty="0" sz="2000" spc="-180" i="1">
                <a:latin typeface="Times New Roman"/>
                <a:cs typeface="Times New Roman"/>
              </a:rPr>
              <a:t>dR</a:t>
            </a:r>
            <a:r>
              <a:rPr dirty="0" sz="2000" spc="-180">
                <a:latin typeface="Times New Roman"/>
                <a:cs typeface="Times New Roman"/>
              </a:rPr>
              <a:t>(</a:t>
            </a:r>
            <a:r>
              <a:rPr dirty="0" sz="2000" spc="-325">
                <a:latin typeface="Times New Roman"/>
                <a:cs typeface="Times New Roman"/>
              </a:rPr>
              <a:t> </a:t>
            </a:r>
            <a:r>
              <a:rPr dirty="0" sz="2000" spc="-130" i="1">
                <a:latin typeface="Times New Roman"/>
                <a:cs typeface="Times New Roman"/>
              </a:rPr>
              <a:t>y</a:t>
            </a:r>
            <a:r>
              <a:rPr dirty="0" sz="2000" spc="-13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35146" y="4133850"/>
            <a:ext cx="56572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và lấy vi phâ</a:t>
            </a:r>
            <a:r>
              <a:rPr dirty="0" u="sng" sz="24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 hai vế theo c</a:t>
            </a:r>
            <a:r>
              <a:rPr dirty="0" sz="2400">
                <a:latin typeface="Times New Roman"/>
                <a:cs typeface="Times New Roman"/>
              </a:rPr>
              <a:t>hiều di chuyển</a:t>
            </a:r>
            <a:r>
              <a:rPr dirty="0" sz="2400" spc="-1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của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75613" y="5006085"/>
            <a:ext cx="6026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t</a:t>
            </a:r>
            <a:r>
              <a:rPr dirty="0" sz="2400" spc="5">
                <a:latin typeface="Times New Roman"/>
                <a:cs typeface="Times New Roman"/>
              </a:rPr>
              <a:t>r</a:t>
            </a:r>
            <a:r>
              <a:rPr dirty="0" sz="2400">
                <a:latin typeface="Times New Roman"/>
                <a:cs typeface="Times New Roman"/>
              </a:rPr>
              <a:t>ình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407374" y="4899192"/>
            <a:ext cx="385445" cy="0"/>
          </a:xfrm>
          <a:custGeom>
            <a:avLst/>
            <a:gdLst/>
            <a:ahLst/>
            <a:cxnLst/>
            <a:rect l="l" t="t" r="r" b="b"/>
            <a:pathLst>
              <a:path w="385445" h="0">
                <a:moveTo>
                  <a:pt x="0" y="0"/>
                </a:moveTo>
                <a:lnTo>
                  <a:pt x="384830" y="0"/>
                </a:lnTo>
              </a:path>
            </a:pathLst>
          </a:custGeom>
          <a:ln w="132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263766" y="4990708"/>
            <a:ext cx="20320" cy="36195"/>
          </a:xfrm>
          <a:custGeom>
            <a:avLst/>
            <a:gdLst/>
            <a:ahLst/>
            <a:cxnLst/>
            <a:rect l="l" t="t" r="r" b="b"/>
            <a:pathLst>
              <a:path w="20320" h="36195">
                <a:moveTo>
                  <a:pt x="0" y="36195"/>
                </a:moveTo>
                <a:lnTo>
                  <a:pt x="2032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284643" y="4990009"/>
            <a:ext cx="52705" cy="276860"/>
          </a:xfrm>
          <a:custGeom>
            <a:avLst/>
            <a:gdLst/>
            <a:ahLst/>
            <a:cxnLst/>
            <a:rect l="l" t="t" r="r" b="b"/>
            <a:pathLst>
              <a:path w="52704" h="276860">
                <a:moveTo>
                  <a:pt x="0" y="0"/>
                </a:moveTo>
                <a:lnTo>
                  <a:pt x="52476" y="27629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337120" y="4539029"/>
            <a:ext cx="58419" cy="728345"/>
          </a:xfrm>
          <a:custGeom>
            <a:avLst/>
            <a:gdLst/>
            <a:ahLst/>
            <a:cxnLst/>
            <a:rect l="l" t="t" r="r" b="b"/>
            <a:pathLst>
              <a:path w="58420" h="728345">
                <a:moveTo>
                  <a:pt x="0" y="727961"/>
                </a:moveTo>
                <a:lnTo>
                  <a:pt x="5812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395244" y="4538344"/>
            <a:ext cx="1732914" cy="0"/>
          </a:xfrm>
          <a:custGeom>
            <a:avLst/>
            <a:gdLst/>
            <a:ahLst/>
            <a:cxnLst/>
            <a:rect l="l" t="t" r="r" b="b"/>
            <a:pathLst>
              <a:path w="1732914" h="0">
                <a:moveTo>
                  <a:pt x="0" y="0"/>
                </a:moveTo>
                <a:lnTo>
                  <a:pt x="173230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260661" y="4531729"/>
            <a:ext cx="1867535" cy="735330"/>
          </a:xfrm>
          <a:custGeom>
            <a:avLst/>
            <a:gdLst/>
            <a:ahLst/>
            <a:cxnLst/>
            <a:rect l="l" t="t" r="r" b="b"/>
            <a:pathLst>
              <a:path w="1867535" h="735329">
                <a:moveTo>
                  <a:pt x="36639" y="474643"/>
                </a:moveTo>
                <a:lnTo>
                  <a:pt x="17499" y="474643"/>
                </a:lnTo>
                <a:lnTo>
                  <a:pt x="71105" y="734919"/>
                </a:lnTo>
                <a:lnTo>
                  <a:pt x="81828" y="734919"/>
                </a:lnTo>
                <a:lnTo>
                  <a:pt x="86933" y="670899"/>
                </a:lnTo>
                <a:lnTo>
                  <a:pt x="76180" y="670899"/>
                </a:lnTo>
                <a:lnTo>
                  <a:pt x="36639" y="474643"/>
                </a:lnTo>
                <a:close/>
              </a:path>
              <a:path w="1867535" h="735329">
                <a:moveTo>
                  <a:pt x="1867179" y="0"/>
                </a:moveTo>
                <a:lnTo>
                  <a:pt x="129786" y="0"/>
                </a:lnTo>
                <a:lnTo>
                  <a:pt x="76180" y="670899"/>
                </a:lnTo>
                <a:lnTo>
                  <a:pt x="86933" y="670899"/>
                </a:lnTo>
                <a:lnTo>
                  <a:pt x="139384" y="13230"/>
                </a:lnTo>
                <a:lnTo>
                  <a:pt x="1867179" y="13230"/>
                </a:lnTo>
                <a:lnTo>
                  <a:pt x="1867179" y="0"/>
                </a:lnTo>
                <a:close/>
              </a:path>
              <a:path w="1867535" h="735329">
                <a:moveTo>
                  <a:pt x="29907" y="441231"/>
                </a:moveTo>
                <a:lnTo>
                  <a:pt x="0" y="492740"/>
                </a:lnTo>
                <a:lnTo>
                  <a:pt x="5647" y="497608"/>
                </a:lnTo>
                <a:lnTo>
                  <a:pt x="17499" y="474643"/>
                </a:lnTo>
                <a:lnTo>
                  <a:pt x="36639" y="474643"/>
                </a:lnTo>
                <a:lnTo>
                  <a:pt x="29907" y="4412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504776" y="4899192"/>
            <a:ext cx="385445" cy="0"/>
          </a:xfrm>
          <a:custGeom>
            <a:avLst/>
            <a:gdLst/>
            <a:ahLst/>
            <a:cxnLst/>
            <a:rect l="l" t="t" r="r" b="b"/>
            <a:pathLst>
              <a:path w="385445" h="0">
                <a:moveTo>
                  <a:pt x="0" y="0"/>
                </a:moveTo>
                <a:lnTo>
                  <a:pt x="384835" y="0"/>
                </a:lnTo>
              </a:path>
            </a:pathLst>
          </a:custGeom>
          <a:ln w="132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361167" y="4990708"/>
            <a:ext cx="20320" cy="36195"/>
          </a:xfrm>
          <a:custGeom>
            <a:avLst/>
            <a:gdLst/>
            <a:ahLst/>
            <a:cxnLst/>
            <a:rect l="l" t="t" r="r" b="b"/>
            <a:pathLst>
              <a:path w="20320" h="36195">
                <a:moveTo>
                  <a:pt x="0" y="36195"/>
                </a:moveTo>
                <a:lnTo>
                  <a:pt x="2030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382044" y="4990009"/>
            <a:ext cx="52705" cy="276860"/>
          </a:xfrm>
          <a:custGeom>
            <a:avLst/>
            <a:gdLst/>
            <a:ahLst/>
            <a:cxnLst/>
            <a:rect l="l" t="t" r="r" b="b"/>
            <a:pathLst>
              <a:path w="52704" h="276860">
                <a:moveTo>
                  <a:pt x="0" y="0"/>
                </a:moveTo>
                <a:lnTo>
                  <a:pt x="52476" y="27629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434521" y="4539029"/>
            <a:ext cx="58419" cy="728345"/>
          </a:xfrm>
          <a:custGeom>
            <a:avLst/>
            <a:gdLst/>
            <a:ahLst/>
            <a:cxnLst/>
            <a:rect l="l" t="t" r="r" b="b"/>
            <a:pathLst>
              <a:path w="58420" h="728345">
                <a:moveTo>
                  <a:pt x="0" y="727961"/>
                </a:moveTo>
                <a:lnTo>
                  <a:pt x="5811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358062" y="4531729"/>
            <a:ext cx="1748789" cy="735330"/>
          </a:xfrm>
          <a:custGeom>
            <a:avLst/>
            <a:gdLst/>
            <a:ahLst/>
            <a:cxnLst/>
            <a:rect l="l" t="t" r="r" b="b"/>
            <a:pathLst>
              <a:path w="1748790" h="735329">
                <a:moveTo>
                  <a:pt x="36639" y="474643"/>
                </a:moveTo>
                <a:lnTo>
                  <a:pt x="17482" y="474643"/>
                </a:lnTo>
                <a:lnTo>
                  <a:pt x="71089" y="734919"/>
                </a:lnTo>
                <a:lnTo>
                  <a:pt x="81817" y="734919"/>
                </a:lnTo>
                <a:lnTo>
                  <a:pt x="86922" y="670899"/>
                </a:lnTo>
                <a:lnTo>
                  <a:pt x="76180" y="670899"/>
                </a:lnTo>
                <a:lnTo>
                  <a:pt x="36639" y="474643"/>
                </a:lnTo>
                <a:close/>
              </a:path>
              <a:path w="1748790" h="735329">
                <a:moveTo>
                  <a:pt x="1748677" y="0"/>
                </a:moveTo>
                <a:lnTo>
                  <a:pt x="129786" y="0"/>
                </a:lnTo>
                <a:lnTo>
                  <a:pt x="76180" y="670899"/>
                </a:lnTo>
                <a:lnTo>
                  <a:pt x="86922" y="670899"/>
                </a:lnTo>
                <a:lnTo>
                  <a:pt x="139368" y="13230"/>
                </a:lnTo>
                <a:lnTo>
                  <a:pt x="1748677" y="13230"/>
                </a:lnTo>
                <a:lnTo>
                  <a:pt x="1748677" y="0"/>
                </a:lnTo>
                <a:close/>
              </a:path>
              <a:path w="1748790" h="735329">
                <a:moveTo>
                  <a:pt x="29907" y="441231"/>
                </a:moveTo>
                <a:lnTo>
                  <a:pt x="0" y="492740"/>
                </a:lnTo>
                <a:lnTo>
                  <a:pt x="5636" y="497608"/>
                </a:lnTo>
                <a:lnTo>
                  <a:pt x="17482" y="474643"/>
                </a:lnTo>
                <a:lnTo>
                  <a:pt x="36639" y="474643"/>
                </a:lnTo>
                <a:lnTo>
                  <a:pt x="29907" y="4412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2780746" y="4867709"/>
            <a:ext cx="240665" cy="2108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00" spc="-110" i="1">
                <a:latin typeface="Times New Roman"/>
                <a:cs typeface="Times New Roman"/>
              </a:rPr>
              <a:t>d</a:t>
            </a:r>
            <a:r>
              <a:rPr dirty="0" sz="1200" spc="-105" i="1">
                <a:latin typeface="Times New Roman"/>
                <a:cs typeface="Times New Roman"/>
              </a:rPr>
              <a:t>e</a:t>
            </a:r>
            <a:r>
              <a:rPr dirty="0" sz="1200" spc="-85" i="1">
                <a:latin typeface="Times New Roman"/>
                <a:cs typeface="Times New Roman"/>
              </a:rPr>
              <a:t>pl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978545" y="4867709"/>
            <a:ext cx="116205" cy="2108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00" spc="-80" i="1">
                <a:latin typeface="Times New Roman"/>
                <a:cs typeface="Times New Roman"/>
              </a:rPr>
              <a:t>tx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461449" y="4867709"/>
            <a:ext cx="116205" cy="2108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00" spc="-155" i="1">
                <a:latin typeface="Times New Roman"/>
                <a:cs typeface="Times New Roman"/>
              </a:rPr>
              <a:t>G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887314" y="4867709"/>
            <a:ext cx="1318260" cy="2108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214120" algn="l"/>
              </a:tabLst>
            </a:pPr>
            <a:r>
              <a:rPr dirty="0" sz="1200" spc="-95" i="1">
                <a:latin typeface="Times New Roman"/>
                <a:cs typeface="Times New Roman"/>
              </a:rPr>
              <a:t>y</a:t>
            </a:r>
            <a:r>
              <a:rPr dirty="0" sz="1200" spc="-95" i="1">
                <a:latin typeface="Times New Roman"/>
                <a:cs typeface="Times New Roman"/>
              </a:rPr>
              <a:t>	</a:t>
            </a:r>
            <a:r>
              <a:rPr dirty="0" sz="1200" spc="-80" i="1">
                <a:latin typeface="Times New Roman"/>
                <a:cs typeface="Times New Roman"/>
              </a:rPr>
              <a:t>tx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497572" y="4867709"/>
            <a:ext cx="510540" cy="2108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41325" algn="l"/>
              </a:tabLst>
            </a:pPr>
            <a:r>
              <a:rPr dirty="0" sz="1200" spc="-155" i="1">
                <a:latin typeface="Times New Roman"/>
                <a:cs typeface="Times New Roman"/>
              </a:rPr>
              <a:t>G</a:t>
            </a:r>
            <a:r>
              <a:rPr dirty="0" sz="1200" spc="-155" i="1">
                <a:latin typeface="Times New Roman"/>
                <a:cs typeface="Times New Roman"/>
              </a:rPr>
              <a:t>	</a:t>
            </a:r>
            <a:r>
              <a:rPr dirty="0" sz="1200" spc="-95" i="1">
                <a:latin typeface="Times New Roman"/>
                <a:cs typeface="Times New Roman"/>
              </a:rPr>
              <a:t>y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408223" y="4894841"/>
            <a:ext cx="35242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200" i="1">
                <a:latin typeface="Times New Roman"/>
                <a:cs typeface="Times New Roman"/>
              </a:rPr>
              <a:t>q</a:t>
            </a:r>
            <a:r>
              <a:rPr dirty="0" sz="2100" spc="-180" i="1">
                <a:latin typeface="Times New Roman"/>
                <a:cs typeface="Times New Roman"/>
              </a:rPr>
              <a:t>N</a:t>
            </a:r>
            <a:r>
              <a:rPr dirty="0" baseline="-25462" sz="1800" spc="-165" i="1">
                <a:latin typeface="Times New Roman"/>
                <a:cs typeface="Times New Roman"/>
              </a:rPr>
              <a:t>d</a:t>
            </a:r>
            <a:endParaRPr baseline="-25462" sz="1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505380" y="4894841"/>
            <a:ext cx="35242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200" i="1">
                <a:latin typeface="Times New Roman"/>
                <a:cs typeface="Times New Roman"/>
              </a:rPr>
              <a:t>q</a:t>
            </a:r>
            <a:r>
              <a:rPr dirty="0" sz="2100" spc="-180" i="1">
                <a:latin typeface="Times New Roman"/>
                <a:cs typeface="Times New Roman"/>
              </a:rPr>
              <a:t>N</a:t>
            </a:r>
            <a:r>
              <a:rPr dirty="0" baseline="-25462" sz="1800" spc="-165" i="1">
                <a:latin typeface="Times New Roman"/>
                <a:cs typeface="Times New Roman"/>
              </a:rPr>
              <a:t>d</a:t>
            </a:r>
            <a:endParaRPr baseline="-25462" sz="18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419502" y="4505247"/>
            <a:ext cx="595630" cy="3581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100" spc="-290">
                <a:latin typeface="Times New Roman"/>
                <a:cs typeface="Times New Roman"/>
              </a:rPr>
              <a:t>2</a:t>
            </a:r>
            <a:r>
              <a:rPr dirty="0" sz="2150" spc="-290" i="1">
                <a:latin typeface="Symbol"/>
                <a:cs typeface="Symbol"/>
              </a:rPr>
              <a:t></a:t>
            </a:r>
            <a:r>
              <a:rPr dirty="0" baseline="-25462" sz="1800" spc="-434" i="1">
                <a:latin typeface="Times New Roman"/>
                <a:cs typeface="Times New Roman"/>
              </a:rPr>
              <a:t>Si </a:t>
            </a:r>
            <a:r>
              <a:rPr dirty="0" baseline="-35714" sz="3150" spc="-367">
                <a:latin typeface="Times New Roman"/>
                <a:cs typeface="Times New Roman"/>
              </a:rPr>
              <a:t>[</a:t>
            </a:r>
            <a:r>
              <a:rPr dirty="0" baseline="-35714" sz="3150" spc="-367" i="1">
                <a:latin typeface="Times New Roman"/>
                <a:cs typeface="Times New Roman"/>
              </a:rPr>
              <a:t>V</a:t>
            </a:r>
            <a:endParaRPr baseline="-35714" sz="315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96011" y="4648502"/>
            <a:ext cx="27241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8935" sz="3600" spc="-675">
                <a:latin typeface="Times New Roman"/>
                <a:cs typeface="Times New Roman"/>
              </a:rPr>
              <a:t>l</a:t>
            </a:r>
            <a:r>
              <a:rPr dirty="0" baseline="1157" sz="3600" spc="-675">
                <a:latin typeface="Times New Roman"/>
                <a:cs typeface="Times New Roman"/>
              </a:rPr>
              <a:t>K</a:t>
            </a:r>
            <a:r>
              <a:rPr dirty="0" baseline="28935" sz="3600" spc="-675">
                <a:latin typeface="Times New Roman"/>
                <a:cs typeface="Times New Roman"/>
              </a:rPr>
              <a:t>uậ</a:t>
            </a:r>
            <a:r>
              <a:rPr dirty="0" baseline="1157" sz="3600" spc="-675">
                <a:latin typeface="Times New Roman"/>
                <a:cs typeface="Times New Roman"/>
              </a:rPr>
              <a:t>ết </a:t>
            </a:r>
            <a:r>
              <a:rPr dirty="0" baseline="28935" sz="3600" spc="-712">
                <a:latin typeface="Times New Roman"/>
                <a:cs typeface="Times New Roman"/>
              </a:rPr>
              <a:t>O</a:t>
            </a:r>
            <a:r>
              <a:rPr dirty="0" baseline="1157" sz="3600" spc="-712">
                <a:latin typeface="Times New Roman"/>
                <a:cs typeface="Times New Roman"/>
              </a:rPr>
              <a:t>hợ</a:t>
            </a:r>
            <a:r>
              <a:rPr dirty="0" baseline="28935" sz="3600" spc="-712">
                <a:latin typeface="Times New Roman"/>
                <a:cs typeface="Times New Roman"/>
              </a:rPr>
              <a:t>h</a:t>
            </a:r>
            <a:r>
              <a:rPr dirty="0" baseline="1157" sz="3600" spc="-712">
                <a:latin typeface="Times New Roman"/>
                <a:cs typeface="Times New Roman"/>
              </a:rPr>
              <a:t>p</a:t>
            </a:r>
            <a:r>
              <a:rPr dirty="0" baseline="28935" sz="3600" spc="-712">
                <a:latin typeface="Times New Roman"/>
                <a:cs typeface="Times New Roman"/>
              </a:rPr>
              <a:t>m</a:t>
            </a:r>
            <a:r>
              <a:rPr dirty="0" baseline="1157" sz="3600" spc="-712">
                <a:latin typeface="Times New Roman"/>
                <a:cs typeface="Times New Roman"/>
              </a:rPr>
              <a:t>v</a:t>
            </a:r>
            <a:r>
              <a:rPr dirty="0" baseline="28935" sz="3600" spc="-712">
                <a:latin typeface="Times New Roman"/>
                <a:cs typeface="Times New Roman"/>
              </a:rPr>
              <a:t>:</a:t>
            </a:r>
            <a:r>
              <a:rPr dirty="0" baseline="1157" sz="3600" spc="-712">
                <a:latin typeface="Times New Roman"/>
                <a:cs typeface="Times New Roman"/>
              </a:rPr>
              <a:t>ới </a:t>
            </a:r>
            <a:r>
              <a:rPr dirty="0" baseline="1157" sz="3600" spc="-202">
                <a:latin typeface="Times New Roman"/>
                <a:cs typeface="Times New Roman"/>
              </a:rPr>
              <a:t>phươ</a:t>
            </a:r>
            <a:r>
              <a:rPr dirty="0" sz="2100" spc="-135" i="1">
                <a:latin typeface="Times New Roman"/>
                <a:cs typeface="Times New Roman"/>
              </a:rPr>
              <a:t>x</a:t>
            </a:r>
            <a:r>
              <a:rPr dirty="0" baseline="1157" sz="3600" spc="-202">
                <a:latin typeface="Times New Roman"/>
                <a:cs typeface="Times New Roman"/>
              </a:rPr>
              <a:t>ng</a:t>
            </a:r>
            <a:r>
              <a:rPr dirty="0" baseline="1157" sz="3600" spc="-120">
                <a:latin typeface="Times New Roman"/>
                <a:cs typeface="Times New Roman"/>
              </a:rPr>
              <a:t> </a:t>
            </a:r>
            <a:r>
              <a:rPr dirty="0" sz="2100" spc="-220">
                <a:latin typeface="Symbol"/>
                <a:cs typeface="Symbol"/>
              </a:rPr>
              <a:t>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130166" y="4686061"/>
            <a:ext cx="368300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65100" indent="-152400">
              <a:lnSpc>
                <a:spcPct val="100000"/>
              </a:lnSpc>
              <a:spcBef>
                <a:spcPts val="105"/>
              </a:spcBef>
              <a:buFont typeface="Symbol"/>
              <a:buChar char=""/>
              <a:tabLst>
                <a:tab pos="165735" algn="l"/>
              </a:tabLst>
            </a:pPr>
            <a:r>
              <a:rPr dirty="0" sz="2100" spc="-254">
                <a:latin typeface="Times New Roman"/>
                <a:cs typeface="Times New Roman"/>
              </a:rPr>
              <a:t>(</a:t>
            </a:r>
            <a:r>
              <a:rPr dirty="0" sz="2100" spc="-240" i="1">
                <a:latin typeface="Times New Roman"/>
                <a:cs typeface="Times New Roman"/>
              </a:rPr>
              <a:t>V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615193" y="4499609"/>
            <a:ext cx="40519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30423" sz="3150" spc="-352">
                <a:latin typeface="Symbol"/>
                <a:cs typeface="Symbol"/>
              </a:rPr>
              <a:t></a:t>
            </a:r>
            <a:r>
              <a:rPr dirty="0" sz="2400" spc="-235">
                <a:latin typeface="Times New Roman"/>
                <a:cs typeface="Times New Roman"/>
              </a:rPr>
              <a:t>hạt</a:t>
            </a:r>
            <a:r>
              <a:rPr dirty="0" baseline="-30423" sz="3150" spc="-352" i="1">
                <a:latin typeface="Times New Roman"/>
                <a:cs typeface="Times New Roman"/>
              </a:rPr>
              <a:t>V </a:t>
            </a:r>
            <a:r>
              <a:rPr dirty="0" baseline="-30423" sz="3150" spc="-390">
                <a:latin typeface="Times New Roman"/>
                <a:cs typeface="Times New Roman"/>
              </a:rPr>
              <a:t>)]</a:t>
            </a:r>
            <a:r>
              <a:rPr dirty="0" sz="2400" spc="-260">
                <a:latin typeface="Times New Roman"/>
                <a:cs typeface="Times New Roman"/>
              </a:rPr>
              <a:t>tả</a:t>
            </a:r>
            <a:r>
              <a:rPr dirty="0" baseline="-30423" sz="3150" spc="-390">
                <a:latin typeface="Symbol"/>
                <a:cs typeface="Symbol"/>
              </a:rPr>
              <a:t></a:t>
            </a:r>
            <a:r>
              <a:rPr dirty="0" sz="2400" spc="-260">
                <a:latin typeface="Times New Roman"/>
                <a:cs typeface="Times New Roman"/>
              </a:rPr>
              <a:t>i </a:t>
            </a:r>
            <a:r>
              <a:rPr dirty="0" sz="2400" spc="-335">
                <a:latin typeface="Times New Roman"/>
                <a:cs typeface="Times New Roman"/>
              </a:rPr>
              <a:t>đa</a:t>
            </a:r>
            <a:r>
              <a:rPr dirty="0" baseline="5291" sz="3150" spc="-502">
                <a:latin typeface="Times New Roman"/>
                <a:cs typeface="Times New Roman"/>
              </a:rPr>
              <a:t>2</a:t>
            </a:r>
            <a:r>
              <a:rPr dirty="0" baseline="5167" sz="3225" spc="-502" i="1">
                <a:latin typeface="Symbol"/>
                <a:cs typeface="Symbol"/>
              </a:rPr>
              <a:t></a:t>
            </a:r>
            <a:r>
              <a:rPr dirty="0" baseline="-16203" sz="1800" spc="-502" i="1">
                <a:latin typeface="Times New Roman"/>
                <a:cs typeface="Times New Roman"/>
              </a:rPr>
              <a:t>Si</a:t>
            </a:r>
            <a:r>
              <a:rPr dirty="0" sz="2400" spc="-335">
                <a:latin typeface="Times New Roman"/>
                <a:cs typeface="Times New Roman"/>
              </a:rPr>
              <a:t>số</a:t>
            </a:r>
            <a:r>
              <a:rPr dirty="0" baseline="-30423" sz="3150" spc="-502">
                <a:latin typeface="Times New Roman"/>
                <a:cs typeface="Times New Roman"/>
              </a:rPr>
              <a:t>(</a:t>
            </a:r>
            <a:r>
              <a:rPr dirty="0" baseline="-30423" sz="3150" spc="-502" i="1">
                <a:latin typeface="Times New Roman"/>
                <a:cs typeface="Times New Roman"/>
              </a:rPr>
              <a:t>V</a:t>
            </a:r>
            <a:r>
              <a:rPr dirty="0" sz="2400" spc="-335">
                <a:latin typeface="Times New Roman"/>
                <a:cs typeface="Times New Roman"/>
              </a:rPr>
              <a:t>từ</a:t>
            </a:r>
            <a:r>
              <a:rPr dirty="0" baseline="-30423" sz="3150" spc="-502">
                <a:latin typeface="Symbol"/>
                <a:cs typeface="Symbol"/>
              </a:rPr>
              <a:t></a:t>
            </a:r>
            <a:r>
              <a:rPr dirty="0" baseline="-30423" sz="3150" spc="-502" i="1">
                <a:latin typeface="Times New Roman"/>
                <a:cs typeface="Times New Roman"/>
              </a:rPr>
              <a:t>V</a:t>
            </a:r>
            <a:r>
              <a:rPr dirty="0" sz="2400" spc="-335">
                <a:latin typeface="Times New Roman"/>
                <a:cs typeface="Times New Roman"/>
              </a:rPr>
              <a:t>sour</a:t>
            </a:r>
            <a:r>
              <a:rPr dirty="0" baseline="-30423" sz="3150" spc="-502">
                <a:latin typeface="Symbol"/>
                <a:cs typeface="Symbol"/>
              </a:rPr>
              <a:t></a:t>
            </a:r>
            <a:r>
              <a:rPr dirty="0" baseline="-30423" sz="3150" spc="-502" i="1">
                <a:latin typeface="Times New Roman"/>
                <a:cs typeface="Times New Roman"/>
              </a:rPr>
              <a:t>V </a:t>
            </a:r>
            <a:r>
              <a:rPr dirty="0" baseline="-30423" sz="3150" spc="-75">
                <a:latin typeface="Times New Roman"/>
                <a:cs typeface="Times New Roman"/>
              </a:rPr>
              <a:t>)</a:t>
            </a:r>
            <a:r>
              <a:rPr dirty="0" sz="2400" spc="-50">
                <a:latin typeface="Times New Roman"/>
                <a:cs typeface="Times New Roman"/>
              </a:rPr>
              <a:t>se </a:t>
            </a:r>
            <a:r>
              <a:rPr dirty="0" sz="2400">
                <a:latin typeface="Times New Roman"/>
                <a:cs typeface="Times New Roman"/>
              </a:rPr>
              <a:t>sang  </a:t>
            </a:r>
            <a:r>
              <a:rPr dirty="0" sz="2400" spc="-850">
                <a:latin typeface="Times New Roman"/>
                <a:cs typeface="Times New Roman"/>
              </a:rPr>
              <a:t>drain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460372" y="5965253"/>
            <a:ext cx="657225" cy="200025"/>
          </a:xfrm>
          <a:custGeom>
            <a:avLst/>
            <a:gdLst/>
            <a:ahLst/>
            <a:cxnLst/>
            <a:rect l="l" t="t" r="r" b="b"/>
            <a:pathLst>
              <a:path w="657225" h="200025">
                <a:moveTo>
                  <a:pt x="557403" y="0"/>
                </a:moveTo>
                <a:lnTo>
                  <a:pt x="557403" y="49860"/>
                </a:lnTo>
                <a:lnTo>
                  <a:pt x="0" y="49860"/>
                </a:lnTo>
                <a:lnTo>
                  <a:pt x="0" y="149593"/>
                </a:lnTo>
                <a:lnTo>
                  <a:pt x="557403" y="149593"/>
                </a:lnTo>
                <a:lnTo>
                  <a:pt x="557403" y="199453"/>
                </a:lnTo>
                <a:lnTo>
                  <a:pt x="657097" y="99720"/>
                </a:lnTo>
                <a:lnTo>
                  <a:pt x="557403" y="0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460372" y="5965253"/>
            <a:ext cx="657225" cy="200025"/>
          </a:xfrm>
          <a:custGeom>
            <a:avLst/>
            <a:gdLst/>
            <a:ahLst/>
            <a:cxnLst/>
            <a:rect l="l" t="t" r="r" b="b"/>
            <a:pathLst>
              <a:path w="657225" h="200025">
                <a:moveTo>
                  <a:pt x="0" y="49860"/>
                </a:moveTo>
                <a:lnTo>
                  <a:pt x="557403" y="49860"/>
                </a:lnTo>
                <a:lnTo>
                  <a:pt x="557403" y="0"/>
                </a:lnTo>
                <a:lnTo>
                  <a:pt x="657097" y="99720"/>
                </a:lnTo>
                <a:lnTo>
                  <a:pt x="557403" y="199453"/>
                </a:lnTo>
                <a:lnTo>
                  <a:pt x="557403" y="149593"/>
                </a:lnTo>
                <a:lnTo>
                  <a:pt x="0" y="149593"/>
                </a:lnTo>
                <a:lnTo>
                  <a:pt x="0" y="49860"/>
                </a:lnTo>
                <a:close/>
              </a:path>
            </a:pathLst>
          </a:custGeom>
          <a:ln w="15875">
            <a:solidFill>
              <a:srgbClr val="6E94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228850" y="5403887"/>
            <a:ext cx="4741163" cy="12697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81" y="6400800"/>
            <a:ext cx="9903460" cy="457200"/>
          </a:xfrm>
          <a:custGeom>
            <a:avLst/>
            <a:gdLst/>
            <a:ahLst/>
            <a:cxnLst/>
            <a:rect l="l" t="t" r="r" b="b"/>
            <a:pathLst>
              <a:path w="9903460" h="457200">
                <a:moveTo>
                  <a:pt x="0" y="457200"/>
                </a:moveTo>
                <a:lnTo>
                  <a:pt x="9903460" y="457200"/>
                </a:lnTo>
                <a:lnTo>
                  <a:pt x="990346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" y="6334315"/>
            <a:ext cx="9903460" cy="64135"/>
          </a:xfrm>
          <a:custGeom>
            <a:avLst/>
            <a:gdLst/>
            <a:ahLst/>
            <a:cxnLst/>
            <a:rect l="l" t="t" r="r" b="b"/>
            <a:pathLst>
              <a:path w="9903460" h="64135">
                <a:moveTo>
                  <a:pt x="0" y="64008"/>
                </a:moveTo>
                <a:lnTo>
                  <a:pt x="9903460" y="64008"/>
                </a:lnTo>
                <a:lnTo>
                  <a:pt x="9903460" y="0"/>
                </a:lnTo>
                <a:lnTo>
                  <a:pt x="0" y="0"/>
                </a:lnTo>
                <a:lnTo>
                  <a:pt x="0" y="64008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1395" y="135763"/>
            <a:ext cx="42976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2400" spc="-5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Vậy phương </a:t>
            </a:r>
            <a:r>
              <a:rPr dirty="0" u="heavy"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trình </a:t>
            </a:r>
            <a:r>
              <a:rPr dirty="0" u="heavy" sz="2400" spc="-5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dòng I</a:t>
            </a:r>
            <a:r>
              <a:rPr dirty="0" u="heavy" baseline="-20833" sz="2400" spc="-7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DS</a:t>
            </a:r>
            <a:r>
              <a:rPr dirty="0" baseline="-20833" sz="2400" spc="-7">
                <a:solidFill>
                  <a:srgbClr val="000000"/>
                </a:solidFill>
              </a:rPr>
              <a:t> </a:t>
            </a:r>
            <a:r>
              <a:rPr dirty="0" u="heavy"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sẽ</a:t>
            </a:r>
            <a:r>
              <a:rPr dirty="0" u="heavy" sz="2400" spc="-254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heavy"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là:</a:t>
            </a:r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3178792" y="1609204"/>
            <a:ext cx="1759487" cy="5843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129529" y="1720977"/>
            <a:ext cx="8636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2090" marR="5080" indent="-20002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là</a:t>
            </a:r>
            <a:r>
              <a:rPr dirty="0" sz="2400" spc="-1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tổng  dẫn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0326" y="1720977"/>
            <a:ext cx="2875915" cy="968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34226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V</a:t>
            </a:r>
            <a:endParaRPr sz="2400">
              <a:latin typeface="Times New Roman"/>
              <a:cs typeface="Times New Roman"/>
            </a:endParaRPr>
          </a:p>
          <a:p>
            <a:pPr algn="r" marR="328930">
              <a:lnSpc>
                <a:spcPts val="2510"/>
              </a:lnSpc>
            </a:pPr>
            <a:r>
              <a:rPr dirty="0" sz="2400" spc="5">
                <a:latin typeface="Times New Roman"/>
                <a:cs typeface="Times New Roman"/>
              </a:rPr>
              <a:t>ới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030"/>
              </a:lnSpc>
            </a:pPr>
            <a:r>
              <a:rPr dirty="0" u="heavy" sz="2000" spc="-50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00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Phương </a:t>
            </a:r>
            <a:r>
              <a:rPr dirty="0" u="heavy" sz="2000" spc="-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trình </a:t>
            </a:r>
            <a:r>
              <a:rPr dirty="0" u="heavy" sz="200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dòng </a:t>
            </a:r>
            <a:r>
              <a:rPr dirty="0" u="heavy" sz="2000" spc="1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dirty="0" u="heavy" baseline="-21367" sz="1950" spc="1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DS</a:t>
            </a:r>
            <a:r>
              <a:rPr dirty="0" u="heavy" sz="1300" spc="8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000" spc="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bão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75764" y="2703221"/>
            <a:ext cx="483234" cy="2819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85"/>
              </a:lnSpc>
            </a:pPr>
            <a:r>
              <a:rPr dirty="0" sz="2000" spc="-5" b="1" i="1">
                <a:solidFill>
                  <a:srgbClr val="FF0000"/>
                </a:solidFill>
                <a:latin typeface="Times New Roman"/>
                <a:cs typeface="Times New Roman"/>
              </a:rPr>
              <a:t>h</a:t>
            </a:r>
            <a:r>
              <a:rPr dirty="0" sz="2000" spc="5" b="1" i="1">
                <a:solidFill>
                  <a:srgbClr val="FF0000"/>
                </a:solidFill>
                <a:latin typeface="Times New Roman"/>
                <a:cs typeface="Times New Roman"/>
              </a:rPr>
              <a:t>ò</a:t>
            </a:r>
            <a:r>
              <a:rPr dirty="0" sz="2000" spc="10" b="1" i="1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dirty="0" sz="2000" b="1" i="1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675638" y="2969260"/>
            <a:ext cx="483234" cy="0"/>
          </a:xfrm>
          <a:custGeom>
            <a:avLst/>
            <a:gdLst/>
            <a:ahLst/>
            <a:cxnLst/>
            <a:rect l="l" t="t" r="r" b="b"/>
            <a:pathLst>
              <a:path w="483235" h="0">
                <a:moveTo>
                  <a:pt x="0" y="0"/>
                </a:moveTo>
                <a:lnTo>
                  <a:pt x="483107" y="0"/>
                </a:lnTo>
              </a:path>
            </a:pathLst>
          </a:custGeom>
          <a:ln w="2438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844797" y="2829306"/>
            <a:ext cx="5848985" cy="6356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23570" marR="5080" indent="-611505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Times New Roman"/>
                <a:cs typeface="Times New Roman"/>
              </a:rPr>
              <a:t>Khi </a:t>
            </a:r>
            <a:r>
              <a:rPr dirty="0" sz="2000" spc="-5">
                <a:latin typeface="Times New Roman"/>
                <a:cs typeface="Times New Roman"/>
              </a:rPr>
              <a:t>tiếp </a:t>
            </a:r>
            <a:r>
              <a:rPr dirty="0" sz="2000">
                <a:latin typeface="Times New Roman"/>
                <a:cs typeface="Times New Roman"/>
              </a:rPr>
              <a:t>tục </a:t>
            </a:r>
            <a:r>
              <a:rPr dirty="0" sz="2000" spc="-5">
                <a:latin typeface="Times New Roman"/>
                <a:cs typeface="Times New Roman"/>
              </a:rPr>
              <a:t>tăng </a:t>
            </a:r>
            <a:r>
              <a:rPr dirty="0" sz="2000" spc="10">
                <a:latin typeface="Times New Roman"/>
                <a:cs typeface="Times New Roman"/>
              </a:rPr>
              <a:t>V</a:t>
            </a:r>
            <a:r>
              <a:rPr dirty="0" baseline="-21367" sz="1950" spc="15">
                <a:latin typeface="Times New Roman"/>
                <a:cs typeface="Times New Roman"/>
              </a:rPr>
              <a:t>D </a:t>
            </a:r>
            <a:r>
              <a:rPr dirty="0" sz="2000" spc="-5">
                <a:latin typeface="Times New Roman"/>
                <a:cs typeface="Times New Roman"/>
              </a:rPr>
              <a:t>sao </a:t>
            </a:r>
            <a:r>
              <a:rPr dirty="0" sz="2000">
                <a:latin typeface="Times New Roman"/>
                <a:cs typeface="Times New Roman"/>
              </a:rPr>
              <a:t>cho </a:t>
            </a:r>
            <a:r>
              <a:rPr dirty="0" sz="2000" spc="10">
                <a:latin typeface="Times New Roman"/>
                <a:cs typeface="Times New Roman"/>
              </a:rPr>
              <a:t>V</a:t>
            </a:r>
            <a:r>
              <a:rPr dirty="0" baseline="-21367" sz="1950" spc="15">
                <a:latin typeface="Times New Roman"/>
                <a:cs typeface="Times New Roman"/>
              </a:rPr>
              <a:t>D </a:t>
            </a:r>
            <a:r>
              <a:rPr dirty="0" sz="2000">
                <a:latin typeface="Times New Roman"/>
                <a:cs typeface="Times New Roman"/>
              </a:rPr>
              <a:t>= </a:t>
            </a:r>
            <a:r>
              <a:rPr dirty="0" sz="2000" spc="15">
                <a:latin typeface="Times New Roman"/>
                <a:cs typeface="Times New Roman"/>
              </a:rPr>
              <a:t>V</a:t>
            </a:r>
            <a:r>
              <a:rPr dirty="0" baseline="-21367" sz="1950" spc="22">
                <a:latin typeface="Times New Roman"/>
                <a:cs typeface="Times New Roman"/>
              </a:rPr>
              <a:t>G </a:t>
            </a:r>
            <a:r>
              <a:rPr dirty="0" sz="2000">
                <a:latin typeface="Times New Roman"/>
                <a:cs typeface="Times New Roman"/>
              </a:rPr>
              <a:t>– </a:t>
            </a:r>
            <a:r>
              <a:rPr dirty="0" sz="2000" spc="15">
                <a:latin typeface="Times New Roman"/>
                <a:cs typeface="Times New Roman"/>
              </a:rPr>
              <a:t>V</a:t>
            </a:r>
            <a:r>
              <a:rPr dirty="0" baseline="-21367" sz="1950" spc="22">
                <a:latin typeface="Times New Roman"/>
                <a:cs typeface="Times New Roman"/>
              </a:rPr>
              <a:t>TH </a:t>
            </a:r>
            <a:r>
              <a:rPr dirty="0" sz="2000">
                <a:latin typeface="Times New Roman"/>
                <a:cs typeface="Times New Roman"/>
              </a:rPr>
              <a:t>thì xuất hiện  </a:t>
            </a:r>
            <a:r>
              <a:rPr dirty="0" sz="2000" spc="5">
                <a:latin typeface="Times New Roman"/>
                <a:cs typeface="Times New Roman"/>
              </a:rPr>
              <a:t>dòng </a:t>
            </a:r>
            <a:r>
              <a:rPr dirty="0" sz="2000">
                <a:latin typeface="Times New Roman"/>
                <a:cs typeface="Times New Roman"/>
              </a:rPr>
              <a:t>bão </a:t>
            </a:r>
            <a:r>
              <a:rPr dirty="0" sz="2000" spc="5">
                <a:latin typeface="Times New Roman"/>
                <a:cs typeface="Times New Roman"/>
              </a:rPr>
              <a:t>hòa I</a:t>
            </a:r>
            <a:r>
              <a:rPr dirty="0" baseline="-21367" sz="1950" spc="7">
                <a:latin typeface="Times New Roman"/>
                <a:cs typeface="Times New Roman"/>
              </a:rPr>
              <a:t>Dsat</a:t>
            </a:r>
            <a:r>
              <a:rPr dirty="0" sz="2000" spc="5">
                <a:latin typeface="Times New Roman"/>
                <a:cs typeface="Times New Roman"/>
              </a:rPr>
              <a:t>và V</a:t>
            </a:r>
            <a:r>
              <a:rPr dirty="0" baseline="-21367" sz="1950" spc="7">
                <a:latin typeface="Times New Roman"/>
                <a:cs typeface="Times New Roman"/>
              </a:rPr>
              <a:t>Dsat </a:t>
            </a:r>
            <a:r>
              <a:rPr dirty="0" sz="2000" spc="-5">
                <a:latin typeface="Times New Roman"/>
                <a:cs typeface="Times New Roman"/>
              </a:rPr>
              <a:t>là </a:t>
            </a:r>
            <a:r>
              <a:rPr dirty="0" sz="2000">
                <a:latin typeface="Times New Roman"/>
                <a:cs typeface="Times New Roman"/>
              </a:rPr>
              <a:t>điện thế bão</a:t>
            </a:r>
            <a:r>
              <a:rPr dirty="0" sz="2000" spc="-315">
                <a:latin typeface="Times New Roman"/>
                <a:cs typeface="Times New Roman"/>
              </a:rPr>
              <a:t> </a:t>
            </a:r>
            <a:r>
              <a:rPr dirty="0" sz="2000" spc="5">
                <a:latin typeface="Times New Roman"/>
                <a:cs typeface="Times New Roman"/>
              </a:rPr>
              <a:t>hòa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917826" y="543547"/>
            <a:ext cx="5663565" cy="8200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021193" y="791336"/>
            <a:ext cx="280670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(1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591293" y="3782809"/>
            <a:ext cx="5580277" cy="8200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581525" y="4818036"/>
            <a:ext cx="1105535" cy="760730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90"/>
              </a:spcBef>
            </a:pPr>
            <a:r>
              <a:rPr dirty="0" sz="2000" spc="10" b="1">
                <a:latin typeface="Times New Roman"/>
                <a:cs typeface="Times New Roman"/>
              </a:rPr>
              <a:t>V</a:t>
            </a:r>
            <a:r>
              <a:rPr dirty="0" baseline="-21367" sz="1950" spc="15" b="1">
                <a:latin typeface="Times New Roman"/>
                <a:cs typeface="Times New Roman"/>
              </a:rPr>
              <a:t>D </a:t>
            </a:r>
            <a:r>
              <a:rPr dirty="0" sz="2000" b="1">
                <a:latin typeface="Times New Roman"/>
                <a:cs typeface="Times New Roman"/>
              </a:rPr>
              <a:t>= </a:t>
            </a:r>
            <a:r>
              <a:rPr dirty="0" sz="2000" spc="10" b="1">
                <a:latin typeface="Times New Roman"/>
                <a:cs typeface="Times New Roman"/>
              </a:rPr>
              <a:t>V</a:t>
            </a:r>
            <a:r>
              <a:rPr dirty="0" baseline="-21367" sz="1950" spc="15" b="1">
                <a:latin typeface="Times New Roman"/>
                <a:cs typeface="Times New Roman"/>
              </a:rPr>
              <a:t>G</a:t>
            </a:r>
            <a:r>
              <a:rPr dirty="0" baseline="-21367" sz="1950" spc="-187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–</a:t>
            </a:r>
            <a:endParaRPr sz="2000">
              <a:latin typeface="Times New Roman"/>
              <a:cs typeface="Times New Roman"/>
            </a:endParaRPr>
          </a:p>
          <a:p>
            <a:pPr algn="ctr" marL="635">
              <a:lnSpc>
                <a:spcPct val="100000"/>
              </a:lnSpc>
              <a:spcBef>
                <a:spcPts val="495"/>
              </a:spcBef>
            </a:pPr>
            <a:r>
              <a:rPr dirty="0" baseline="13888" sz="3000" spc="15" b="1">
                <a:latin typeface="Times New Roman"/>
                <a:cs typeface="Times New Roman"/>
              </a:rPr>
              <a:t>V</a:t>
            </a:r>
            <a:r>
              <a:rPr dirty="0" sz="1300" spc="10" b="1">
                <a:latin typeface="Times New Roman"/>
                <a:cs typeface="Times New Roman"/>
              </a:rPr>
              <a:t>TH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474072" y="3908678"/>
            <a:ext cx="187325" cy="1146810"/>
          </a:xfrm>
          <a:custGeom>
            <a:avLst/>
            <a:gdLst/>
            <a:ahLst/>
            <a:cxnLst/>
            <a:rect l="l" t="t" r="r" b="b"/>
            <a:pathLst>
              <a:path w="187325" h="1146810">
                <a:moveTo>
                  <a:pt x="0" y="0"/>
                </a:moveTo>
                <a:lnTo>
                  <a:pt x="36431" y="1224"/>
                </a:lnTo>
                <a:lnTo>
                  <a:pt x="66182" y="4556"/>
                </a:lnTo>
                <a:lnTo>
                  <a:pt x="86242" y="9483"/>
                </a:lnTo>
                <a:lnTo>
                  <a:pt x="93599" y="15494"/>
                </a:lnTo>
                <a:lnTo>
                  <a:pt x="93599" y="557657"/>
                </a:lnTo>
                <a:lnTo>
                  <a:pt x="100955" y="563741"/>
                </a:lnTo>
                <a:lnTo>
                  <a:pt x="121015" y="568706"/>
                </a:lnTo>
                <a:lnTo>
                  <a:pt x="150766" y="572051"/>
                </a:lnTo>
                <a:lnTo>
                  <a:pt x="187198" y="573278"/>
                </a:lnTo>
                <a:lnTo>
                  <a:pt x="150766" y="574504"/>
                </a:lnTo>
                <a:lnTo>
                  <a:pt x="121015" y="577850"/>
                </a:lnTo>
                <a:lnTo>
                  <a:pt x="100955" y="582814"/>
                </a:lnTo>
                <a:lnTo>
                  <a:pt x="93599" y="588899"/>
                </a:lnTo>
                <a:lnTo>
                  <a:pt x="93599" y="1130935"/>
                </a:lnTo>
                <a:lnTo>
                  <a:pt x="86242" y="1137019"/>
                </a:lnTo>
                <a:lnTo>
                  <a:pt x="66182" y="1141984"/>
                </a:lnTo>
                <a:lnTo>
                  <a:pt x="36431" y="1145329"/>
                </a:lnTo>
                <a:lnTo>
                  <a:pt x="0" y="1146556"/>
                </a:lnTo>
              </a:path>
            </a:pathLst>
          </a:custGeom>
          <a:ln w="12699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921321" y="5886475"/>
            <a:ext cx="507365" cy="334010"/>
          </a:xfrm>
          <a:custGeom>
            <a:avLst/>
            <a:gdLst/>
            <a:ahLst/>
            <a:cxnLst/>
            <a:rect l="l" t="t" r="r" b="b"/>
            <a:pathLst>
              <a:path w="507365" h="334010">
                <a:moveTo>
                  <a:pt x="340169" y="0"/>
                </a:moveTo>
                <a:lnTo>
                  <a:pt x="340169" y="83464"/>
                </a:lnTo>
                <a:lnTo>
                  <a:pt x="0" y="83464"/>
                </a:lnTo>
                <a:lnTo>
                  <a:pt x="0" y="250380"/>
                </a:lnTo>
                <a:lnTo>
                  <a:pt x="340169" y="250380"/>
                </a:lnTo>
                <a:lnTo>
                  <a:pt x="340169" y="333832"/>
                </a:lnTo>
                <a:lnTo>
                  <a:pt x="507047" y="166916"/>
                </a:lnTo>
                <a:lnTo>
                  <a:pt x="340169" y="0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21321" y="5886475"/>
            <a:ext cx="507365" cy="334010"/>
          </a:xfrm>
          <a:custGeom>
            <a:avLst/>
            <a:gdLst/>
            <a:ahLst/>
            <a:cxnLst/>
            <a:rect l="l" t="t" r="r" b="b"/>
            <a:pathLst>
              <a:path w="507365" h="334010">
                <a:moveTo>
                  <a:pt x="0" y="83464"/>
                </a:moveTo>
                <a:lnTo>
                  <a:pt x="340169" y="83464"/>
                </a:lnTo>
                <a:lnTo>
                  <a:pt x="340169" y="0"/>
                </a:lnTo>
                <a:lnTo>
                  <a:pt x="507047" y="166916"/>
                </a:lnTo>
                <a:lnTo>
                  <a:pt x="340169" y="333832"/>
                </a:lnTo>
                <a:lnTo>
                  <a:pt x="340169" y="250380"/>
                </a:lnTo>
                <a:lnTo>
                  <a:pt x="0" y="250380"/>
                </a:lnTo>
                <a:lnTo>
                  <a:pt x="0" y="83464"/>
                </a:lnTo>
                <a:close/>
              </a:path>
            </a:pathLst>
          </a:custGeom>
          <a:ln w="15875">
            <a:solidFill>
              <a:srgbClr val="6E94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578610" y="5503367"/>
            <a:ext cx="5554471" cy="8968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8021193" y="5725464"/>
            <a:ext cx="28067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(2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8375" y="2837052"/>
            <a:ext cx="3480942" cy="212610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30909"/>
            <a:ext cx="497776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35" b="0">
                <a:solidFill>
                  <a:srgbClr val="404040"/>
                </a:solidFill>
                <a:latin typeface="Arial"/>
                <a:cs typeface="Arial"/>
              </a:rPr>
              <a:t>Đặc </a:t>
            </a:r>
            <a:r>
              <a:rPr dirty="0" sz="4800" spc="-40" b="0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dirty="0" sz="4800" spc="-35" b="0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dirty="0" sz="4800" spc="-280" b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4800" spc="-40" b="0">
                <a:solidFill>
                  <a:srgbClr val="404040"/>
                </a:solidFill>
                <a:latin typeface="Arial"/>
                <a:cs typeface="Arial"/>
              </a:rPr>
              <a:t>JFET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44948" y="6557873"/>
            <a:ext cx="8185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TRỊNH LÊ</a:t>
            </a:r>
            <a:r>
              <a:rPr dirty="0" sz="9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HUY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72473" y="6546291"/>
            <a:ext cx="16002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FFFFF"/>
                </a:solidFill>
                <a:latin typeface="Times New Roman"/>
                <a:cs typeface="Times New Roman"/>
              </a:rPr>
              <a:t>17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9" y="1884121"/>
            <a:ext cx="4065904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15265" indent="-202565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Đồ </a:t>
            </a:r>
            <a:r>
              <a:rPr dirty="0" sz="2000" spc="20">
                <a:solidFill>
                  <a:srgbClr val="404040"/>
                </a:solidFill>
                <a:latin typeface="Arial"/>
                <a:cs typeface="Arial"/>
              </a:rPr>
              <a:t>thị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đặc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trưng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tại </a:t>
            </a:r>
            <a:r>
              <a:rPr dirty="0" sz="2000" spc="-145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Drain</a:t>
            </a:r>
            <a:r>
              <a:rPr dirty="0" sz="2000" spc="-40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(máng)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164201" y="2670251"/>
            <a:ext cx="4448175" cy="31718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55972" y="3042051"/>
            <a:ext cx="4176445" cy="25140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30909"/>
            <a:ext cx="497776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35" b="0">
                <a:solidFill>
                  <a:srgbClr val="404040"/>
                </a:solidFill>
                <a:latin typeface="Arial"/>
                <a:cs typeface="Arial"/>
              </a:rPr>
              <a:t>Đặc </a:t>
            </a:r>
            <a:r>
              <a:rPr dirty="0" sz="4800" spc="-40" b="0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dirty="0" sz="4800" spc="-35" b="0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dirty="0" sz="4800" spc="-280" b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4800" spc="-40" b="0">
                <a:solidFill>
                  <a:srgbClr val="404040"/>
                </a:solidFill>
                <a:latin typeface="Arial"/>
                <a:cs typeface="Arial"/>
              </a:rPr>
              <a:t>JFET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44948" y="6557873"/>
            <a:ext cx="8185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TRỊNH LÊ</a:t>
            </a:r>
            <a:r>
              <a:rPr dirty="0" sz="9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HUY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72473" y="6546291"/>
            <a:ext cx="16002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9" y="1884121"/>
            <a:ext cx="4065904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15265" indent="-202565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Đồ </a:t>
            </a:r>
            <a:r>
              <a:rPr dirty="0" sz="2000" spc="20">
                <a:solidFill>
                  <a:srgbClr val="404040"/>
                </a:solidFill>
                <a:latin typeface="Arial"/>
                <a:cs typeface="Arial"/>
              </a:rPr>
              <a:t>thị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đặc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trưng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tại </a:t>
            </a:r>
            <a:r>
              <a:rPr dirty="0" sz="2000" spc="-145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Drain</a:t>
            </a:r>
            <a:r>
              <a:rPr dirty="0" sz="2000" spc="-40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(máng)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438525" y="2288108"/>
            <a:ext cx="6276975" cy="38766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8475" y="3293998"/>
            <a:ext cx="3333623" cy="21304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30909"/>
            <a:ext cx="497776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35" b="0">
                <a:solidFill>
                  <a:srgbClr val="404040"/>
                </a:solidFill>
                <a:latin typeface="Arial"/>
                <a:cs typeface="Arial"/>
              </a:rPr>
              <a:t>Đặc </a:t>
            </a:r>
            <a:r>
              <a:rPr dirty="0" sz="4800" spc="-40" b="0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dirty="0" sz="4800" spc="-35" b="0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dirty="0" sz="4800" spc="-280" b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4800" spc="-40" b="0">
                <a:solidFill>
                  <a:srgbClr val="404040"/>
                </a:solidFill>
                <a:latin typeface="Arial"/>
                <a:cs typeface="Arial"/>
              </a:rPr>
              <a:t>JFET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44948" y="6557873"/>
            <a:ext cx="8185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TRỊNH LÊ</a:t>
            </a:r>
            <a:r>
              <a:rPr dirty="0" sz="9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HUY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72473" y="6546291"/>
            <a:ext cx="16002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FFFFF"/>
                </a:solidFill>
                <a:latin typeface="Times New Roman"/>
                <a:cs typeface="Times New Roman"/>
              </a:rPr>
              <a:t>19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90495" y="2020375"/>
            <a:ext cx="6795051" cy="41300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30909"/>
            <a:ext cx="497776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35" b="0">
                <a:solidFill>
                  <a:srgbClr val="404040"/>
                </a:solidFill>
                <a:latin typeface="Arial"/>
                <a:cs typeface="Arial"/>
              </a:rPr>
              <a:t>Đặc </a:t>
            </a:r>
            <a:r>
              <a:rPr dirty="0" sz="4800" spc="-40" b="0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dirty="0" sz="4800" spc="-35" b="0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dirty="0" sz="4800" spc="-280" b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4800" spc="-40" b="0">
                <a:solidFill>
                  <a:srgbClr val="404040"/>
                </a:solidFill>
                <a:latin typeface="Arial"/>
                <a:cs typeface="Arial"/>
              </a:rPr>
              <a:t>JFET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44948" y="6557873"/>
            <a:ext cx="8185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TRỊNH LÊ</a:t>
            </a:r>
            <a:r>
              <a:rPr dirty="0" sz="9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HUY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72473" y="6546291"/>
            <a:ext cx="16002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FFFFF"/>
                </a:solidFill>
                <a:latin typeface="Times New Roman"/>
                <a:cs typeface="Times New Roman"/>
              </a:rPr>
              <a:t>20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57906" y="1983445"/>
            <a:ext cx="7800235" cy="40385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268086" y="2843910"/>
            <a:ext cx="0" cy="2743200"/>
          </a:xfrm>
          <a:custGeom>
            <a:avLst/>
            <a:gdLst/>
            <a:ahLst/>
            <a:cxnLst/>
            <a:rect l="l" t="t" r="r" b="b"/>
            <a:pathLst>
              <a:path w="0" h="2743200">
                <a:moveTo>
                  <a:pt x="0" y="0"/>
                </a:moveTo>
                <a:lnTo>
                  <a:pt x="0" y="2743200"/>
                </a:lnTo>
              </a:path>
            </a:pathLst>
          </a:custGeom>
          <a:ln w="12700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18747" y="2791015"/>
            <a:ext cx="102997" cy="1021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314569" y="2616326"/>
            <a:ext cx="718820" cy="182880"/>
          </a:xfrm>
          <a:custGeom>
            <a:avLst/>
            <a:gdLst/>
            <a:ahLst/>
            <a:cxnLst/>
            <a:rect l="l" t="t" r="r" b="b"/>
            <a:pathLst>
              <a:path w="718820" h="182880">
                <a:moveTo>
                  <a:pt x="642728" y="31024"/>
                </a:moveTo>
                <a:lnTo>
                  <a:pt x="0" y="170434"/>
                </a:lnTo>
                <a:lnTo>
                  <a:pt x="2793" y="182752"/>
                </a:lnTo>
                <a:lnTo>
                  <a:pt x="645419" y="43463"/>
                </a:lnTo>
                <a:lnTo>
                  <a:pt x="642728" y="31024"/>
                </a:lnTo>
                <a:close/>
              </a:path>
              <a:path w="718820" h="182880">
                <a:moveTo>
                  <a:pt x="709573" y="28321"/>
                </a:moveTo>
                <a:lnTo>
                  <a:pt x="655192" y="28321"/>
                </a:lnTo>
                <a:lnTo>
                  <a:pt x="657859" y="40767"/>
                </a:lnTo>
                <a:lnTo>
                  <a:pt x="645419" y="43463"/>
                </a:lnTo>
                <a:lnTo>
                  <a:pt x="652144" y="74549"/>
                </a:lnTo>
                <a:lnTo>
                  <a:pt x="709573" y="28321"/>
                </a:lnTo>
                <a:close/>
              </a:path>
              <a:path w="718820" h="182880">
                <a:moveTo>
                  <a:pt x="655192" y="28321"/>
                </a:moveTo>
                <a:lnTo>
                  <a:pt x="642728" y="31024"/>
                </a:lnTo>
                <a:lnTo>
                  <a:pt x="645419" y="43463"/>
                </a:lnTo>
                <a:lnTo>
                  <a:pt x="657859" y="40767"/>
                </a:lnTo>
                <a:lnTo>
                  <a:pt x="655192" y="28321"/>
                </a:lnTo>
                <a:close/>
              </a:path>
              <a:path w="718820" h="182880">
                <a:moveTo>
                  <a:pt x="636015" y="0"/>
                </a:moveTo>
                <a:lnTo>
                  <a:pt x="642728" y="31024"/>
                </a:lnTo>
                <a:lnTo>
                  <a:pt x="655192" y="28321"/>
                </a:lnTo>
                <a:lnTo>
                  <a:pt x="709573" y="28321"/>
                </a:lnTo>
                <a:lnTo>
                  <a:pt x="718565" y="21082"/>
                </a:lnTo>
                <a:lnTo>
                  <a:pt x="636015" y="0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114415" y="2442463"/>
            <a:ext cx="21971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Times New Roman"/>
                <a:cs typeface="Times New Roman"/>
              </a:rPr>
              <a:t>V</a:t>
            </a:r>
            <a:r>
              <a:rPr dirty="0" baseline="-21604" sz="1350" spc="30">
                <a:latin typeface="Times New Roman"/>
                <a:cs typeface="Times New Roman"/>
              </a:rPr>
              <a:t>P</a:t>
            </a:r>
            <a:endParaRPr baseline="-21604" sz="13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1207" y="2705862"/>
            <a:ext cx="2618105" cy="906780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85"/>
              </a:spcBef>
            </a:pPr>
            <a:r>
              <a:rPr dirty="0" sz="2400" spc="-5" b="1">
                <a:latin typeface="Arial"/>
                <a:cs typeface="Arial"/>
              </a:rPr>
              <a:t>Thông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thường,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90"/>
              </a:spcBef>
            </a:pPr>
            <a:r>
              <a:rPr dirty="0" baseline="13888" sz="3600" spc="-7" b="1">
                <a:latin typeface="Arial"/>
                <a:cs typeface="Arial"/>
              </a:rPr>
              <a:t>|V</a:t>
            </a:r>
            <a:r>
              <a:rPr dirty="0" sz="1600" spc="-5" b="1">
                <a:latin typeface="Arial"/>
                <a:cs typeface="Arial"/>
              </a:rPr>
              <a:t>pinch-off</a:t>
            </a:r>
            <a:r>
              <a:rPr dirty="0" baseline="13888" sz="3600" spc="-7" b="1">
                <a:latin typeface="Arial"/>
                <a:cs typeface="Arial"/>
              </a:rPr>
              <a:t>| </a:t>
            </a:r>
            <a:r>
              <a:rPr dirty="0" baseline="13888" sz="3600" b="1">
                <a:latin typeface="Arial"/>
                <a:cs typeface="Arial"/>
              </a:rPr>
              <a:t>=</a:t>
            </a:r>
            <a:r>
              <a:rPr dirty="0" baseline="13888" sz="3600" spc="-52" b="1">
                <a:latin typeface="Arial"/>
                <a:cs typeface="Arial"/>
              </a:rPr>
              <a:t> </a:t>
            </a:r>
            <a:r>
              <a:rPr dirty="0" baseline="13888" sz="3600" spc="-7" b="1">
                <a:latin typeface="Arial"/>
                <a:cs typeface="Arial"/>
              </a:rPr>
              <a:t>|V</a:t>
            </a:r>
            <a:r>
              <a:rPr dirty="0" sz="1600" spc="-5" b="1">
                <a:latin typeface="Arial"/>
                <a:cs typeface="Arial"/>
              </a:rPr>
              <a:t>cut-off</a:t>
            </a:r>
            <a:r>
              <a:rPr dirty="0" baseline="13888" sz="3600" spc="-7" b="1">
                <a:latin typeface="Arial"/>
                <a:cs typeface="Arial"/>
              </a:rPr>
              <a:t>|</a:t>
            </a:r>
            <a:endParaRPr baseline="13888"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81" y="6400800"/>
            <a:ext cx="9903460" cy="457200"/>
          </a:xfrm>
          <a:custGeom>
            <a:avLst/>
            <a:gdLst/>
            <a:ahLst/>
            <a:cxnLst/>
            <a:rect l="l" t="t" r="r" b="b"/>
            <a:pathLst>
              <a:path w="9903460" h="457200">
                <a:moveTo>
                  <a:pt x="0" y="457200"/>
                </a:moveTo>
                <a:lnTo>
                  <a:pt x="9903460" y="457200"/>
                </a:lnTo>
                <a:lnTo>
                  <a:pt x="990346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" y="6334315"/>
            <a:ext cx="9903460" cy="64135"/>
          </a:xfrm>
          <a:custGeom>
            <a:avLst/>
            <a:gdLst/>
            <a:ahLst/>
            <a:cxnLst/>
            <a:rect l="l" t="t" r="r" b="b"/>
            <a:pathLst>
              <a:path w="9903460" h="64135">
                <a:moveTo>
                  <a:pt x="0" y="64008"/>
                </a:moveTo>
                <a:lnTo>
                  <a:pt x="9903460" y="64008"/>
                </a:lnTo>
                <a:lnTo>
                  <a:pt x="9903460" y="0"/>
                </a:lnTo>
                <a:lnTo>
                  <a:pt x="0" y="0"/>
                </a:lnTo>
                <a:lnTo>
                  <a:pt x="0" y="64008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JFET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411348" y="510997"/>
            <a:ext cx="161734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solidFill>
                  <a:srgbClr val="FF0000"/>
                </a:solidFill>
                <a:latin typeface="Times New Roman"/>
                <a:cs typeface="Times New Roman"/>
              </a:rPr>
              <a:t>Công</a:t>
            </a:r>
            <a:r>
              <a:rPr dirty="0" sz="3000" spc="-8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000" spc="-5">
                <a:solidFill>
                  <a:srgbClr val="FF0000"/>
                </a:solidFill>
                <a:latin typeface="Times New Roman"/>
                <a:cs typeface="Times New Roman"/>
              </a:rPr>
              <a:t>thức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87307" y="1464831"/>
            <a:ext cx="1652905" cy="707390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709930" algn="l"/>
                <a:tab pos="1176020" algn="l"/>
              </a:tabLst>
            </a:pPr>
            <a:r>
              <a:rPr dirty="0" sz="1750" spc="1015" i="1">
                <a:latin typeface="Times New Roman"/>
                <a:cs typeface="Times New Roman"/>
              </a:rPr>
              <a:t>I</a:t>
            </a:r>
            <a:r>
              <a:rPr dirty="0" sz="1750" spc="-250" i="1">
                <a:latin typeface="Times New Roman"/>
                <a:cs typeface="Times New Roman"/>
              </a:rPr>
              <a:t> </a:t>
            </a:r>
            <a:r>
              <a:rPr dirty="0" baseline="-25000" sz="1500" spc="1920" i="1">
                <a:latin typeface="Times New Roman"/>
                <a:cs typeface="Times New Roman"/>
              </a:rPr>
              <a:t>G	</a:t>
            </a:r>
            <a:r>
              <a:rPr dirty="0" sz="1750" spc="1670">
                <a:latin typeface="Symbol"/>
                <a:cs typeface="Symbol"/>
              </a:rPr>
              <a:t></a:t>
            </a:r>
            <a:r>
              <a:rPr dirty="0" sz="1750" spc="1670">
                <a:latin typeface="Times New Roman"/>
                <a:cs typeface="Times New Roman"/>
              </a:rPr>
              <a:t>	</a:t>
            </a:r>
            <a:r>
              <a:rPr dirty="0" sz="1750" spc="1520">
                <a:latin typeface="Times New Roman"/>
                <a:cs typeface="Times New Roman"/>
              </a:rPr>
              <a:t>0</a:t>
            </a: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  <a:tabLst>
                <a:tab pos="725805" algn="l"/>
                <a:tab pos="1220470" algn="l"/>
              </a:tabLst>
            </a:pPr>
            <a:r>
              <a:rPr dirty="0" sz="1750" spc="1015" i="1">
                <a:latin typeface="Times New Roman"/>
                <a:cs typeface="Times New Roman"/>
              </a:rPr>
              <a:t>I</a:t>
            </a:r>
            <a:r>
              <a:rPr dirty="0" sz="1750" spc="-90" i="1">
                <a:latin typeface="Times New Roman"/>
                <a:cs typeface="Times New Roman"/>
              </a:rPr>
              <a:t> </a:t>
            </a:r>
            <a:r>
              <a:rPr dirty="0" baseline="-25000" sz="1500" spc="1920" i="1">
                <a:latin typeface="Times New Roman"/>
                <a:cs typeface="Times New Roman"/>
              </a:rPr>
              <a:t>D	</a:t>
            </a:r>
            <a:r>
              <a:rPr dirty="0" sz="1750" spc="1670">
                <a:latin typeface="Symbol"/>
                <a:cs typeface="Symbol"/>
              </a:rPr>
              <a:t></a:t>
            </a:r>
            <a:r>
              <a:rPr dirty="0" sz="1750" spc="1670">
                <a:latin typeface="Times New Roman"/>
                <a:cs typeface="Times New Roman"/>
              </a:rPr>
              <a:t>	</a:t>
            </a:r>
            <a:r>
              <a:rPr dirty="0" sz="1750" spc="1015" i="1">
                <a:latin typeface="Times New Roman"/>
                <a:cs typeface="Times New Roman"/>
              </a:rPr>
              <a:t>I</a:t>
            </a:r>
            <a:r>
              <a:rPr dirty="0" sz="1750" spc="-200" i="1">
                <a:latin typeface="Times New Roman"/>
                <a:cs typeface="Times New Roman"/>
              </a:rPr>
              <a:t> </a:t>
            </a:r>
            <a:r>
              <a:rPr dirty="0" baseline="-25000" sz="1500" spc="1327" i="1">
                <a:latin typeface="Times New Roman"/>
                <a:cs typeface="Times New Roman"/>
              </a:rPr>
              <a:t>S</a:t>
            </a:r>
            <a:endParaRPr baseline="-25000" sz="15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5611" y="1026921"/>
            <a:ext cx="50609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Tất cả các </a:t>
            </a:r>
            <a:r>
              <a:rPr dirty="0" sz="2400" spc="-5">
                <a:latin typeface="Times New Roman"/>
                <a:cs typeface="Times New Roman"/>
              </a:rPr>
              <a:t>mạch </a:t>
            </a:r>
            <a:r>
              <a:rPr dirty="0" sz="2400">
                <a:latin typeface="Times New Roman"/>
                <a:cs typeface="Times New Roman"/>
              </a:rPr>
              <a:t>khuếch đại sử dụng</a:t>
            </a:r>
            <a:r>
              <a:rPr dirty="0" sz="2400" spc="-1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FET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48222" y="3314617"/>
            <a:ext cx="217804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640" i="1">
                <a:latin typeface="Times New Roman"/>
                <a:cs typeface="Times New Roman"/>
              </a:rPr>
              <a:t>D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59470" y="3314617"/>
            <a:ext cx="48196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625" i="1">
                <a:latin typeface="Times New Roman"/>
                <a:cs typeface="Times New Roman"/>
              </a:rPr>
              <a:t>D</a:t>
            </a:r>
            <a:r>
              <a:rPr dirty="0" sz="1200" spc="445" i="1">
                <a:latin typeface="Times New Roman"/>
                <a:cs typeface="Times New Roman"/>
              </a:rPr>
              <a:t>SS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72098" y="2964458"/>
            <a:ext cx="306705" cy="3441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050" spc="955" i="1">
                <a:latin typeface="Times New Roman"/>
                <a:cs typeface="Times New Roman"/>
              </a:rPr>
              <a:t>V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12529" y="3341548"/>
            <a:ext cx="306705" cy="3441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050" spc="955" i="1">
                <a:latin typeface="Times New Roman"/>
                <a:cs typeface="Times New Roman"/>
              </a:rPr>
              <a:t>V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35024" y="2947881"/>
            <a:ext cx="201930" cy="3441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050" spc="600">
                <a:latin typeface="Symbol"/>
                <a:cs typeface="Symbol"/>
              </a:rPr>
              <a:t>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68581" y="2767617"/>
            <a:ext cx="348615" cy="3441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baseline="-37940" sz="3075" spc="1057">
                <a:latin typeface="Symbol"/>
                <a:cs typeface="Symbol"/>
              </a:rPr>
              <a:t></a:t>
            </a:r>
            <a:r>
              <a:rPr dirty="0" sz="1200" spc="445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61631" y="3134361"/>
            <a:ext cx="1090295" cy="3441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50545" algn="l"/>
              </a:tabLst>
            </a:pPr>
            <a:r>
              <a:rPr dirty="0" sz="2050" spc="520" i="1">
                <a:latin typeface="Times New Roman"/>
                <a:cs typeface="Times New Roman"/>
              </a:rPr>
              <a:t>I	</a:t>
            </a:r>
            <a:r>
              <a:rPr dirty="0" sz="2050" spc="860">
                <a:latin typeface="Symbol"/>
                <a:cs typeface="Symbol"/>
              </a:rPr>
              <a:t></a:t>
            </a:r>
            <a:r>
              <a:rPr dirty="0" sz="2050" spc="350">
                <a:latin typeface="Times New Roman"/>
                <a:cs typeface="Times New Roman"/>
              </a:rPr>
              <a:t> </a:t>
            </a:r>
            <a:r>
              <a:rPr dirty="0" sz="2050" spc="520" i="1">
                <a:latin typeface="Times New Roman"/>
                <a:cs typeface="Times New Roman"/>
              </a:rPr>
              <a:t>I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35024" y="3032829"/>
            <a:ext cx="2235835" cy="3441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306830" algn="l"/>
                <a:tab pos="1978660" algn="l"/>
              </a:tabLst>
            </a:pPr>
            <a:r>
              <a:rPr dirty="0" baseline="-33875" sz="3075" spc="1042">
                <a:latin typeface="Symbol"/>
                <a:cs typeface="Symbol"/>
              </a:rPr>
              <a:t></a:t>
            </a:r>
            <a:r>
              <a:rPr dirty="0" baseline="-21680" sz="3075" spc="1170">
                <a:latin typeface="Times New Roman"/>
                <a:cs typeface="Times New Roman"/>
              </a:rPr>
              <a:t>1</a:t>
            </a:r>
            <a:r>
              <a:rPr dirty="0" baseline="-21680" sz="3075" spc="-352">
                <a:latin typeface="Times New Roman"/>
                <a:cs typeface="Times New Roman"/>
              </a:rPr>
              <a:t> </a:t>
            </a:r>
            <a:r>
              <a:rPr dirty="0" baseline="-21680" sz="3075" spc="1289">
                <a:latin typeface="Symbol"/>
                <a:cs typeface="Symbol"/>
              </a:rPr>
              <a:t></a:t>
            </a:r>
            <a:r>
              <a:rPr dirty="0" baseline="-21680" sz="3075" spc="232">
                <a:latin typeface="Times New Roman"/>
                <a:cs typeface="Times New Roman"/>
              </a:rPr>
              <a:t> </a:t>
            </a:r>
            <a:r>
              <a:rPr dirty="0" u="heavy" sz="1200" spc="22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20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sz="1200" spc="62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</a:t>
            </a:r>
            <a:r>
              <a:rPr dirty="0" u="heavy" sz="1200" spc="44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dirty="0" u="heavy" sz="120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200" i="1">
                <a:latin typeface="Times New Roman"/>
                <a:cs typeface="Times New Roman"/>
              </a:rPr>
              <a:t> </a:t>
            </a:r>
            <a:r>
              <a:rPr dirty="0" sz="1200" spc="-75" i="1">
                <a:latin typeface="Times New Roman"/>
                <a:cs typeface="Times New Roman"/>
              </a:rPr>
              <a:t> </a:t>
            </a:r>
            <a:r>
              <a:rPr dirty="0" baseline="-33875" sz="3075" spc="900">
                <a:latin typeface="Symbol"/>
                <a:cs typeface="Symbol"/>
              </a:rPr>
              <a:t></a:t>
            </a:r>
            <a:endParaRPr baseline="-33875" sz="3075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35024" y="3412014"/>
            <a:ext cx="201930" cy="3441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050" spc="600">
                <a:latin typeface="Symbol"/>
                <a:cs typeface="Symbol"/>
              </a:rPr>
              <a:t>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69681" y="3412014"/>
            <a:ext cx="1200785" cy="3441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010919" algn="l"/>
              </a:tabLst>
            </a:pPr>
            <a:r>
              <a:rPr dirty="0" sz="1200" spc="625" i="1">
                <a:latin typeface="Times New Roman"/>
                <a:cs typeface="Times New Roman"/>
              </a:rPr>
              <a:t>G</a:t>
            </a:r>
            <a:r>
              <a:rPr dirty="0" sz="1200" spc="445" i="1">
                <a:latin typeface="Times New Roman"/>
                <a:cs typeface="Times New Roman"/>
              </a:rPr>
              <a:t>S</a:t>
            </a:r>
            <a:r>
              <a:rPr dirty="0" sz="1200" spc="625" i="1">
                <a:latin typeface="Times New Roman"/>
                <a:cs typeface="Times New Roman"/>
              </a:rPr>
              <a:t>O</a:t>
            </a:r>
            <a:r>
              <a:rPr dirty="0" sz="1200" spc="535" i="1">
                <a:latin typeface="Times New Roman"/>
                <a:cs typeface="Times New Roman"/>
              </a:rPr>
              <a:t>F</a:t>
            </a:r>
            <a:r>
              <a:rPr dirty="0" sz="1200" spc="545" i="1">
                <a:latin typeface="Times New Roman"/>
                <a:cs typeface="Times New Roman"/>
              </a:rPr>
              <a:t>F</a:t>
            </a:r>
            <a:r>
              <a:rPr dirty="0" sz="1200" i="1">
                <a:latin typeface="Times New Roman"/>
                <a:cs typeface="Times New Roman"/>
              </a:rPr>
              <a:t>	</a:t>
            </a:r>
            <a:r>
              <a:rPr dirty="0" sz="2050" spc="600">
                <a:latin typeface="Symbol"/>
                <a:cs typeface="Symbol"/>
              </a:rPr>
              <a:t>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20470" y="3255560"/>
            <a:ext cx="1529715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baseline="14905" sz="3075" spc="67" i="1">
                <a:latin typeface="Times New Roman"/>
                <a:cs typeface="Times New Roman"/>
              </a:rPr>
              <a:t>V</a:t>
            </a:r>
            <a:r>
              <a:rPr dirty="0" sz="1200" spc="45" i="1">
                <a:latin typeface="Times New Roman"/>
                <a:cs typeface="Times New Roman"/>
              </a:rPr>
              <a:t>GSOFF </a:t>
            </a:r>
            <a:r>
              <a:rPr dirty="0" baseline="14905" sz="3075" spc="157">
                <a:latin typeface="Symbol"/>
                <a:cs typeface="Symbol"/>
              </a:rPr>
              <a:t></a:t>
            </a:r>
            <a:r>
              <a:rPr dirty="0" baseline="14905" sz="3075" spc="-322">
                <a:latin typeface="Times New Roman"/>
                <a:cs typeface="Times New Roman"/>
              </a:rPr>
              <a:t> </a:t>
            </a:r>
            <a:r>
              <a:rPr dirty="0" baseline="14905" sz="3075" spc="44">
                <a:latin typeface="Symbol"/>
                <a:cs typeface="Symbol"/>
              </a:rPr>
              <a:t></a:t>
            </a:r>
            <a:r>
              <a:rPr dirty="0" baseline="14905" sz="3075" spc="44" i="1">
                <a:latin typeface="Times New Roman"/>
                <a:cs typeface="Times New Roman"/>
              </a:rPr>
              <a:t>V</a:t>
            </a:r>
            <a:r>
              <a:rPr dirty="0" sz="1200" spc="30" i="1">
                <a:latin typeface="Times New Roman"/>
                <a:cs typeface="Times New Roman"/>
              </a:rPr>
              <a:t>Po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27678" y="3726891"/>
            <a:ext cx="210058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Times New Roman"/>
                <a:cs typeface="Times New Roman"/>
              </a:rPr>
              <a:t>Hệ </a:t>
            </a:r>
            <a:r>
              <a:rPr dirty="0" sz="2400">
                <a:latin typeface="Times New Roman"/>
                <a:cs typeface="Times New Roman"/>
              </a:rPr>
              <a:t>số truyền</a:t>
            </a:r>
            <a:r>
              <a:rPr dirty="0" sz="2400" spc="-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dẫn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852923" y="4487507"/>
            <a:ext cx="861060" cy="0"/>
          </a:xfrm>
          <a:custGeom>
            <a:avLst/>
            <a:gdLst/>
            <a:ahLst/>
            <a:cxnLst/>
            <a:rect l="l" t="t" r="r" b="b"/>
            <a:pathLst>
              <a:path w="861060" h="0">
                <a:moveTo>
                  <a:pt x="0" y="0"/>
                </a:moveTo>
                <a:lnTo>
                  <a:pt x="861023" y="0"/>
                </a:lnTo>
              </a:path>
            </a:pathLst>
          </a:custGeom>
          <a:ln w="122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290893" y="4487507"/>
            <a:ext cx="927100" cy="0"/>
          </a:xfrm>
          <a:custGeom>
            <a:avLst/>
            <a:gdLst/>
            <a:ahLst/>
            <a:cxnLst/>
            <a:rect l="l" t="t" r="r" b="b"/>
            <a:pathLst>
              <a:path w="927100" h="0">
                <a:moveTo>
                  <a:pt x="0" y="0"/>
                </a:moveTo>
                <a:lnTo>
                  <a:pt x="926775" y="0"/>
                </a:lnTo>
              </a:path>
            </a:pathLst>
          </a:custGeom>
          <a:ln w="122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244409" y="4145792"/>
            <a:ext cx="0" cy="683895"/>
          </a:xfrm>
          <a:custGeom>
            <a:avLst/>
            <a:gdLst/>
            <a:ahLst/>
            <a:cxnLst/>
            <a:rect l="l" t="t" r="r" b="b"/>
            <a:pathLst>
              <a:path w="0" h="683895">
                <a:moveTo>
                  <a:pt x="0" y="0"/>
                </a:moveTo>
                <a:lnTo>
                  <a:pt x="0" y="683423"/>
                </a:lnTo>
              </a:path>
            </a:pathLst>
          </a:custGeom>
          <a:ln w="166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258878" y="4145792"/>
            <a:ext cx="0" cy="683895"/>
          </a:xfrm>
          <a:custGeom>
            <a:avLst/>
            <a:gdLst/>
            <a:ahLst/>
            <a:cxnLst/>
            <a:rect l="l" t="t" r="r" b="b"/>
            <a:pathLst>
              <a:path w="0" h="683895">
                <a:moveTo>
                  <a:pt x="0" y="0"/>
                </a:moveTo>
                <a:lnTo>
                  <a:pt x="0" y="683423"/>
                </a:lnTo>
              </a:path>
            </a:pathLst>
          </a:custGeom>
          <a:ln w="166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899830" y="4487507"/>
            <a:ext cx="861060" cy="0"/>
          </a:xfrm>
          <a:custGeom>
            <a:avLst/>
            <a:gdLst/>
            <a:ahLst/>
            <a:cxnLst/>
            <a:rect l="l" t="t" r="r" b="b"/>
            <a:pathLst>
              <a:path w="861059" h="0">
                <a:moveTo>
                  <a:pt x="0" y="0"/>
                </a:moveTo>
                <a:lnTo>
                  <a:pt x="861023" y="0"/>
                </a:lnTo>
              </a:path>
            </a:pathLst>
          </a:custGeom>
          <a:ln w="122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222529" y="4457339"/>
            <a:ext cx="166370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310" i="1">
                <a:latin typeface="Times New Roman"/>
                <a:cs typeface="Times New Roman"/>
              </a:rPr>
              <a:t>m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019975" y="4193289"/>
            <a:ext cx="450850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aseline="14245" sz="2925" spc="427" i="1">
                <a:latin typeface="Times New Roman"/>
                <a:cs typeface="Times New Roman"/>
              </a:rPr>
              <a:t>V</a:t>
            </a:r>
            <a:r>
              <a:rPr dirty="0" sz="1100" spc="300" i="1">
                <a:latin typeface="Times New Roman"/>
                <a:cs typeface="Times New Roman"/>
              </a:rPr>
              <a:t>G</a:t>
            </a:r>
            <a:r>
              <a:rPr dirty="0" sz="1100" spc="215" i="1">
                <a:latin typeface="Times New Roman"/>
                <a:cs typeface="Times New Roman"/>
              </a:rPr>
              <a:t>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066175" y="4193289"/>
            <a:ext cx="451484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aseline="14245" sz="2925" spc="434" i="1">
                <a:latin typeface="Times New Roman"/>
                <a:cs typeface="Times New Roman"/>
              </a:rPr>
              <a:t>V</a:t>
            </a:r>
            <a:r>
              <a:rPr dirty="0" sz="1100" spc="300" i="1">
                <a:latin typeface="Times New Roman"/>
                <a:cs typeface="Times New Roman"/>
              </a:rPr>
              <a:t>G</a:t>
            </a:r>
            <a:r>
              <a:rPr dirty="0" sz="1100" spc="215" i="1">
                <a:latin typeface="Times New Roman"/>
                <a:cs typeface="Times New Roman"/>
              </a:rPr>
              <a:t>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29720" y="4482571"/>
            <a:ext cx="231775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 spc="425" i="1">
                <a:latin typeface="Times New Roman"/>
                <a:cs typeface="Times New Roman"/>
              </a:rPr>
              <a:t>V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299728" y="4482571"/>
            <a:ext cx="231775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 spc="425" i="1">
                <a:latin typeface="Times New Roman"/>
                <a:cs typeface="Times New Roman"/>
              </a:rPr>
              <a:t>V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875893" y="4482571"/>
            <a:ext cx="231775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 spc="425" i="1">
                <a:latin typeface="Times New Roman"/>
                <a:cs typeface="Times New Roman"/>
              </a:rPr>
              <a:t>V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796285" y="4113674"/>
            <a:ext cx="154940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 spc="270">
                <a:latin typeface="Symbol"/>
                <a:cs typeface="Symbol"/>
              </a:rPr>
              <a:t>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299243" y="4129209"/>
            <a:ext cx="864869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 spc="330">
                <a:latin typeface="Symbol"/>
                <a:cs typeface="Symbol"/>
              </a:rPr>
              <a:t></a:t>
            </a:r>
            <a:r>
              <a:rPr dirty="0" sz="1950" spc="330">
                <a:latin typeface="Times New Roman"/>
                <a:cs typeface="Times New Roman"/>
              </a:rPr>
              <a:t>2</a:t>
            </a:r>
            <a:r>
              <a:rPr dirty="0" sz="1950" spc="330" i="1">
                <a:latin typeface="Times New Roman"/>
                <a:cs typeface="Times New Roman"/>
              </a:rPr>
              <a:t>I</a:t>
            </a:r>
            <a:r>
              <a:rPr dirty="0" baseline="-25252" sz="1650" spc="494" i="1">
                <a:latin typeface="Times New Roman"/>
                <a:cs typeface="Times New Roman"/>
              </a:rPr>
              <a:t>DSS</a:t>
            </a:r>
            <a:endParaRPr baseline="-25252" sz="16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39285" y="4288420"/>
            <a:ext cx="1764030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49580" algn="l"/>
                <a:tab pos="1232535" algn="l"/>
              </a:tabLst>
            </a:pPr>
            <a:r>
              <a:rPr dirty="0" sz="1950" spc="350" i="1">
                <a:latin typeface="Times New Roman"/>
                <a:cs typeface="Times New Roman"/>
              </a:rPr>
              <a:t>g</a:t>
            </a:r>
            <a:r>
              <a:rPr dirty="0" sz="1950" spc="350" i="1">
                <a:latin typeface="Times New Roman"/>
                <a:cs typeface="Times New Roman"/>
              </a:rPr>
              <a:t>	</a:t>
            </a:r>
            <a:r>
              <a:rPr dirty="0" sz="1950" spc="385">
                <a:latin typeface="Symbol"/>
                <a:cs typeface="Symbol"/>
              </a:rPr>
              <a:t></a:t>
            </a:r>
            <a:r>
              <a:rPr dirty="0" sz="1950" spc="385">
                <a:latin typeface="Times New Roman"/>
                <a:cs typeface="Times New Roman"/>
              </a:rPr>
              <a:t> </a:t>
            </a:r>
            <a:r>
              <a:rPr dirty="0" sz="1950" spc="-240">
                <a:latin typeface="Times New Roman"/>
                <a:cs typeface="Times New Roman"/>
              </a:rPr>
              <a:t> </a:t>
            </a:r>
            <a:r>
              <a:rPr dirty="0" sz="1950" spc="350" i="1">
                <a:latin typeface="Times New Roman"/>
                <a:cs typeface="Times New Roman"/>
              </a:rPr>
              <a:t>g</a:t>
            </a:r>
            <a:r>
              <a:rPr dirty="0" sz="1950" i="1">
                <a:latin typeface="Times New Roman"/>
                <a:cs typeface="Times New Roman"/>
              </a:rPr>
              <a:t>	</a:t>
            </a:r>
            <a:r>
              <a:rPr dirty="0" baseline="39886" sz="2925" spc="509">
                <a:latin typeface="Symbol"/>
                <a:cs typeface="Symbol"/>
              </a:rPr>
              <a:t></a:t>
            </a:r>
            <a:r>
              <a:rPr dirty="0" sz="1950" spc="550">
                <a:latin typeface="Times New Roman"/>
                <a:cs typeface="Times New Roman"/>
              </a:rPr>
              <a:t>1</a:t>
            </a:r>
            <a:r>
              <a:rPr dirty="0" sz="1950" spc="385">
                <a:latin typeface="Symbol"/>
                <a:cs typeface="Symbol"/>
              </a:rPr>
              <a:t>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750057" y="4113674"/>
            <a:ext cx="415290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 spc="270">
                <a:latin typeface="Symbol"/>
                <a:cs typeface="Symbol"/>
              </a:rPr>
              <a:t></a:t>
            </a:r>
            <a:r>
              <a:rPr dirty="0" sz="1950" spc="20">
                <a:latin typeface="Times New Roman"/>
                <a:cs typeface="Times New Roman"/>
              </a:rPr>
              <a:t> </a:t>
            </a:r>
            <a:r>
              <a:rPr dirty="0" baseline="-39886" sz="2925" spc="577">
                <a:latin typeface="Symbol"/>
                <a:cs typeface="Symbol"/>
              </a:rPr>
              <a:t></a:t>
            </a:r>
            <a:endParaRPr baseline="-39886" sz="2925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306030" y="4113674"/>
            <a:ext cx="543560" cy="4984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860"/>
              </a:lnSpc>
              <a:spcBef>
                <a:spcPts val="105"/>
              </a:spcBef>
            </a:pPr>
            <a:r>
              <a:rPr dirty="0" sz="1950" spc="270">
                <a:latin typeface="Symbol"/>
                <a:cs typeface="Symbol"/>
              </a:rPr>
              <a:t></a:t>
            </a:r>
            <a:endParaRPr sz="1950">
              <a:latin typeface="Symbol"/>
              <a:cs typeface="Symbol"/>
            </a:endParaRPr>
          </a:p>
          <a:p>
            <a:pPr marL="151765">
              <a:lnSpc>
                <a:spcPts val="1860"/>
              </a:lnSpc>
            </a:pPr>
            <a:r>
              <a:rPr dirty="0" sz="1950" spc="545">
                <a:latin typeface="Times New Roman"/>
                <a:cs typeface="Times New Roman"/>
              </a:rPr>
              <a:t>1</a:t>
            </a:r>
            <a:r>
              <a:rPr dirty="0" sz="1950" spc="385">
                <a:latin typeface="Symbol"/>
                <a:cs typeface="Symbol"/>
              </a:rPr>
              <a:t>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938878" y="4352493"/>
            <a:ext cx="476250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315" i="1">
                <a:latin typeface="Times New Roman"/>
                <a:cs typeface="Times New Roman"/>
              </a:rPr>
              <a:t>m</a:t>
            </a:r>
            <a:r>
              <a:rPr dirty="0" sz="1100" spc="315">
                <a:latin typeface="Times New Roman"/>
                <a:cs typeface="Times New Roman"/>
              </a:rPr>
              <a:t>0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baseline="2849" sz="2925" spc="405">
                <a:latin typeface="Symbol"/>
                <a:cs typeface="Symbol"/>
              </a:rPr>
              <a:t></a:t>
            </a:r>
            <a:endParaRPr baseline="2849" sz="2925">
              <a:latin typeface="Symbol"/>
              <a:cs typeface="Symbo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750057" y="4341484"/>
            <a:ext cx="154940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 spc="270">
                <a:latin typeface="Symbol"/>
                <a:cs typeface="Symbol"/>
              </a:rPr>
              <a:t>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306030" y="4341484"/>
            <a:ext cx="154940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 spc="270">
                <a:latin typeface="Symbol"/>
                <a:cs typeface="Symbol"/>
              </a:rPr>
              <a:t>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796285" y="4341484"/>
            <a:ext cx="154940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 spc="270">
                <a:latin typeface="Symbol"/>
                <a:cs typeface="Symbol"/>
              </a:rPr>
              <a:t>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259802" y="4548589"/>
            <a:ext cx="154940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 spc="270">
                <a:latin typeface="Symbol"/>
                <a:cs typeface="Symbol"/>
              </a:rPr>
              <a:t>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018220" y="4548589"/>
            <a:ext cx="887094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265" i="1">
                <a:latin typeface="Times New Roman"/>
                <a:cs typeface="Times New Roman"/>
              </a:rPr>
              <a:t>GSOFF</a:t>
            </a:r>
            <a:r>
              <a:rPr dirty="0" sz="1100" spc="580" i="1">
                <a:latin typeface="Times New Roman"/>
                <a:cs typeface="Times New Roman"/>
              </a:rPr>
              <a:t> </a:t>
            </a:r>
            <a:r>
              <a:rPr dirty="0" sz="1950" spc="270">
                <a:latin typeface="Symbol"/>
                <a:cs typeface="Symbol"/>
              </a:rPr>
              <a:t>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488557" y="4548589"/>
            <a:ext cx="972819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29944" algn="l"/>
              </a:tabLst>
            </a:pPr>
            <a:r>
              <a:rPr dirty="0" sz="1100" spc="300" i="1">
                <a:latin typeface="Times New Roman"/>
                <a:cs typeface="Times New Roman"/>
              </a:rPr>
              <a:t>G</a:t>
            </a:r>
            <a:r>
              <a:rPr dirty="0" sz="1100" spc="215" i="1">
                <a:latin typeface="Times New Roman"/>
                <a:cs typeface="Times New Roman"/>
              </a:rPr>
              <a:t>S</a:t>
            </a:r>
            <a:r>
              <a:rPr dirty="0" sz="1100" spc="295" i="1">
                <a:latin typeface="Times New Roman"/>
                <a:cs typeface="Times New Roman"/>
              </a:rPr>
              <a:t>O</a:t>
            </a:r>
            <a:r>
              <a:rPr dirty="0" sz="1100" spc="260" i="1">
                <a:latin typeface="Times New Roman"/>
                <a:cs typeface="Times New Roman"/>
              </a:rPr>
              <a:t>F</a:t>
            </a:r>
            <a:r>
              <a:rPr dirty="0" sz="1100" spc="265" i="1">
                <a:latin typeface="Times New Roman"/>
                <a:cs typeface="Times New Roman"/>
              </a:rPr>
              <a:t>F</a:t>
            </a:r>
            <a:r>
              <a:rPr dirty="0" sz="1100" i="1">
                <a:latin typeface="Times New Roman"/>
                <a:cs typeface="Times New Roman"/>
              </a:rPr>
              <a:t>	</a:t>
            </a:r>
            <a:r>
              <a:rPr dirty="0" sz="1950" spc="270">
                <a:latin typeface="Symbol"/>
                <a:cs typeface="Symbol"/>
              </a:rPr>
              <a:t>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065074" y="4548589"/>
            <a:ext cx="886460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265" i="1">
                <a:latin typeface="Times New Roman"/>
                <a:cs typeface="Times New Roman"/>
              </a:rPr>
              <a:t>GSOFF</a:t>
            </a:r>
            <a:r>
              <a:rPr dirty="0" sz="1100" spc="575" i="1">
                <a:latin typeface="Times New Roman"/>
                <a:cs typeface="Times New Roman"/>
              </a:rPr>
              <a:t> </a:t>
            </a:r>
            <a:r>
              <a:rPr dirty="0" sz="1950" spc="270">
                <a:latin typeface="Symbol"/>
                <a:cs typeface="Symbol"/>
              </a:rPr>
              <a:t>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356608" y="1560398"/>
            <a:ext cx="4784725" cy="720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730"/>
              </a:lnSpc>
              <a:spcBef>
                <a:spcPts val="100"/>
              </a:spcBef>
            </a:pPr>
            <a:r>
              <a:rPr dirty="0" sz="2400" spc="-5">
                <a:latin typeface="Times New Roman"/>
                <a:cs typeface="Times New Roman"/>
              </a:rPr>
              <a:t>Dòng </a:t>
            </a:r>
            <a:r>
              <a:rPr dirty="0" sz="2400">
                <a:latin typeface="Times New Roman"/>
                <a:cs typeface="Times New Roman"/>
              </a:rPr>
              <a:t>điện cực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Cổng</a:t>
            </a:r>
            <a:endParaRPr sz="2400">
              <a:latin typeface="Times New Roman"/>
              <a:cs typeface="Times New Roman"/>
            </a:endParaRPr>
          </a:p>
          <a:p>
            <a:pPr marL="250825">
              <a:lnSpc>
                <a:spcPts val="2730"/>
              </a:lnSpc>
            </a:pPr>
            <a:r>
              <a:rPr dirty="0" sz="2400" spc="-5">
                <a:latin typeface="Times New Roman"/>
                <a:cs typeface="Times New Roman"/>
              </a:rPr>
              <a:t>Dòng điện cực Phát = Dòng điện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cực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564005" y="2361946"/>
            <a:ext cx="69742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Times New Roman"/>
                <a:cs typeface="Times New Roman"/>
              </a:rPr>
              <a:t>Đối </a:t>
            </a:r>
            <a:r>
              <a:rPr dirty="0" sz="2400">
                <a:latin typeface="Times New Roman"/>
                <a:cs typeface="Times New Roman"/>
              </a:rPr>
              <a:t>với </a:t>
            </a:r>
            <a:r>
              <a:rPr dirty="0" sz="2400" spc="-5">
                <a:latin typeface="Times New Roman"/>
                <a:cs typeface="Times New Roman"/>
              </a:rPr>
              <a:t>JFET </a:t>
            </a:r>
            <a:r>
              <a:rPr dirty="0" sz="2400">
                <a:latin typeface="Times New Roman"/>
                <a:cs typeface="Times New Roman"/>
              </a:rPr>
              <a:t>thì phương trình </a:t>
            </a:r>
            <a:r>
              <a:rPr dirty="0" sz="2400" spc="-270">
                <a:latin typeface="Times New Roman"/>
                <a:cs typeface="Times New Roman"/>
              </a:rPr>
              <a:t>Shockley</a:t>
            </a:r>
            <a:r>
              <a:rPr dirty="0" baseline="19675" sz="3600" spc="-405">
                <a:latin typeface="Times New Roman"/>
                <a:cs typeface="Times New Roman"/>
              </a:rPr>
              <a:t>N</a:t>
            </a:r>
            <a:r>
              <a:rPr dirty="0" sz="2400" spc="-270">
                <a:latin typeface="Times New Roman"/>
                <a:cs typeface="Times New Roman"/>
              </a:rPr>
              <a:t>th</a:t>
            </a:r>
            <a:r>
              <a:rPr dirty="0" baseline="19675" sz="3600" spc="-405">
                <a:latin typeface="Times New Roman"/>
                <a:cs typeface="Times New Roman"/>
              </a:rPr>
              <a:t>g</a:t>
            </a:r>
            <a:r>
              <a:rPr dirty="0" sz="2400" spc="-270">
                <a:latin typeface="Times New Roman"/>
                <a:cs typeface="Times New Roman"/>
              </a:rPr>
              <a:t>ì</a:t>
            </a:r>
            <a:r>
              <a:rPr dirty="0" baseline="19675" sz="3600" spc="-405">
                <a:latin typeface="Times New Roman"/>
                <a:cs typeface="Times New Roman"/>
              </a:rPr>
              <a:t>uồ</a:t>
            </a:r>
            <a:r>
              <a:rPr dirty="0" sz="2400" spc="-270">
                <a:latin typeface="Times New Roman"/>
                <a:cs typeface="Times New Roman"/>
              </a:rPr>
              <a:t>d</a:t>
            </a:r>
            <a:r>
              <a:rPr dirty="0" baseline="19675" sz="3600" spc="-405">
                <a:latin typeface="Times New Roman"/>
                <a:cs typeface="Times New Roman"/>
              </a:rPr>
              <a:t>n</a:t>
            </a:r>
            <a:r>
              <a:rPr dirty="0" sz="2400" spc="-270">
                <a:latin typeface="Times New Roman"/>
                <a:cs typeface="Times New Roman"/>
              </a:rPr>
              <a:t>òng </a:t>
            </a:r>
            <a:r>
              <a:rPr dirty="0" sz="2400">
                <a:latin typeface="Times New Roman"/>
                <a:cs typeface="Times New Roman"/>
              </a:rPr>
              <a:t>ngõ</a:t>
            </a:r>
            <a:r>
              <a:rPr dirty="0" sz="2400" spc="-1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ra: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272788" y="4865623"/>
            <a:ext cx="16383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Times New Roman"/>
                <a:cs typeface="Times New Roman"/>
              </a:rPr>
              <a:t>Độ </a:t>
            </a:r>
            <a:r>
              <a:rPr dirty="0" sz="2400">
                <a:latin typeface="Times New Roman"/>
                <a:cs typeface="Times New Roman"/>
              </a:rPr>
              <a:t>lợi thế</a:t>
            </a:r>
            <a:r>
              <a:rPr dirty="0" sz="2400" spc="-225">
                <a:latin typeface="Times New Roman"/>
                <a:cs typeface="Times New Roman"/>
              </a:rPr>
              <a:t> </a:t>
            </a:r>
            <a:r>
              <a:rPr dirty="0" sz="2400" spc="-165">
                <a:latin typeface="Times New Roman"/>
                <a:cs typeface="Times New Roman"/>
              </a:rPr>
              <a:t>A</a:t>
            </a:r>
            <a:r>
              <a:rPr dirty="0" baseline="-20833" sz="2400" spc="-247">
                <a:latin typeface="Times New Roman"/>
                <a:cs typeface="Times New Roman"/>
              </a:rPr>
              <a:t>V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479101" y="5688379"/>
            <a:ext cx="287020" cy="0"/>
          </a:xfrm>
          <a:custGeom>
            <a:avLst/>
            <a:gdLst/>
            <a:ahLst/>
            <a:cxnLst/>
            <a:rect l="l" t="t" r="r" b="b"/>
            <a:pathLst>
              <a:path w="287019" h="0">
                <a:moveTo>
                  <a:pt x="0" y="0"/>
                </a:moveTo>
                <a:lnTo>
                  <a:pt x="287010" y="0"/>
                </a:lnTo>
              </a:path>
            </a:pathLst>
          </a:custGeom>
          <a:ln w="134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1002403" y="5656561"/>
            <a:ext cx="130175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85" i="1">
                <a:latin typeface="Times New Roman"/>
                <a:cs typeface="Times New Roman"/>
              </a:rPr>
              <a:t>V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200493" y="5656561"/>
            <a:ext cx="433705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34645" algn="l"/>
              </a:tabLst>
            </a:pPr>
            <a:r>
              <a:rPr dirty="0" sz="1200" spc="100" i="1">
                <a:latin typeface="Times New Roman"/>
                <a:cs typeface="Times New Roman"/>
              </a:rPr>
              <a:t>m</a:t>
            </a:r>
            <a:r>
              <a:rPr dirty="0" sz="1200" spc="100" i="1">
                <a:latin typeface="Times New Roman"/>
                <a:cs typeface="Times New Roman"/>
              </a:rPr>
              <a:t>	</a:t>
            </a:r>
            <a:r>
              <a:rPr dirty="0" sz="1200" spc="7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640311" y="5868860"/>
            <a:ext cx="73025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40" i="1">
                <a:latin typeface="Times New Roman"/>
                <a:cs typeface="Times New Roman"/>
              </a:rPr>
              <a:t>i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61584" y="5471893"/>
            <a:ext cx="206375" cy="3517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2100" spc="135" i="1">
                <a:latin typeface="Times New Roman"/>
                <a:cs typeface="Times New Roman"/>
              </a:rPr>
              <a:t>A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474871" y="5684171"/>
            <a:ext cx="206375" cy="3517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2100" spc="135" i="1">
                <a:latin typeface="Times New Roman"/>
                <a:cs typeface="Times New Roman"/>
              </a:rPr>
              <a:t>V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230940" y="5297816"/>
            <a:ext cx="506095" cy="3517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baseline="-35714" sz="3150" spc="179">
                <a:latin typeface="Symbol"/>
                <a:cs typeface="Symbol"/>
              </a:rPr>
              <a:t></a:t>
            </a:r>
            <a:r>
              <a:rPr dirty="0" baseline="-35714" sz="3150" spc="-150">
                <a:latin typeface="Times New Roman"/>
                <a:cs typeface="Times New Roman"/>
              </a:rPr>
              <a:t> </a:t>
            </a:r>
            <a:r>
              <a:rPr dirty="0" sz="2100" spc="55" i="1">
                <a:latin typeface="Times New Roman"/>
                <a:cs typeface="Times New Roman"/>
              </a:rPr>
              <a:t>V</a:t>
            </a:r>
            <a:r>
              <a:rPr dirty="0" baseline="-25462" sz="1800" spc="82">
                <a:latin typeface="Times New Roman"/>
                <a:cs typeface="Times New Roman"/>
              </a:rPr>
              <a:t>0</a:t>
            </a:r>
            <a:endParaRPr baseline="-25462" sz="18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813495" y="5471893"/>
            <a:ext cx="720725" cy="3517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238125" indent="-225425">
              <a:lnSpc>
                <a:spcPct val="100000"/>
              </a:lnSpc>
              <a:spcBef>
                <a:spcPts val="140"/>
              </a:spcBef>
              <a:buFont typeface="Symbol"/>
              <a:buChar char=""/>
              <a:tabLst>
                <a:tab pos="238760" algn="l"/>
                <a:tab pos="543560" algn="l"/>
              </a:tabLst>
            </a:pPr>
            <a:r>
              <a:rPr dirty="0" sz="2100" spc="110" i="1">
                <a:latin typeface="Times New Roman"/>
                <a:cs typeface="Times New Roman"/>
              </a:rPr>
              <a:t>g</a:t>
            </a:r>
            <a:r>
              <a:rPr dirty="0" sz="2100" spc="110" i="1">
                <a:latin typeface="Times New Roman"/>
                <a:cs typeface="Times New Roman"/>
              </a:rPr>
              <a:t>	</a:t>
            </a:r>
            <a:r>
              <a:rPr dirty="0" sz="2100" spc="125" i="1">
                <a:latin typeface="Times New Roman"/>
                <a:cs typeface="Times New Roman"/>
              </a:rPr>
              <a:t>Z</a:t>
            </a:r>
            <a:endParaRPr sz="2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1367" y="1285875"/>
            <a:ext cx="5468937" cy="38766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60159" y="5410200"/>
            <a:ext cx="9648317" cy="1143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JFET</a:t>
            </a:r>
          </a:p>
        </p:txBody>
      </p:sp>
      <p:sp>
        <p:nvSpPr>
          <p:cNvPr id="5" name="object 5"/>
          <p:cNvSpPr/>
          <p:nvPr/>
        </p:nvSpPr>
        <p:spPr>
          <a:xfrm>
            <a:off x="5857002" y="2213724"/>
            <a:ext cx="3948142" cy="11012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05525" y="3556907"/>
            <a:ext cx="2408640" cy="31024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30909"/>
            <a:ext cx="568515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40" b="0">
                <a:solidFill>
                  <a:srgbClr val="404040"/>
                </a:solidFill>
                <a:latin typeface="Arial"/>
                <a:cs typeface="Arial"/>
              </a:rPr>
              <a:t>Cách </a:t>
            </a:r>
            <a:r>
              <a:rPr dirty="0" sz="4800" spc="-45" b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4800" spc="-35" b="0">
                <a:solidFill>
                  <a:srgbClr val="404040"/>
                </a:solidFill>
                <a:latin typeface="Arial"/>
                <a:cs typeface="Arial"/>
              </a:rPr>
              <a:t>cực</a:t>
            </a:r>
            <a:r>
              <a:rPr dirty="0" sz="4800" spc="-245" b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4800" spc="-40" b="0">
                <a:solidFill>
                  <a:srgbClr val="404040"/>
                </a:solidFill>
                <a:latin typeface="Arial"/>
                <a:cs typeface="Arial"/>
              </a:rPr>
              <a:t>JFET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44948" y="6557873"/>
            <a:ext cx="8185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TRỊNH LÊ</a:t>
            </a:r>
            <a:r>
              <a:rPr dirty="0" sz="9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HUY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72473" y="6546291"/>
            <a:ext cx="16002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FFFFF"/>
                </a:solidFill>
                <a:latin typeface="Times New Roman"/>
                <a:cs typeface="Times New Roman"/>
              </a:rPr>
              <a:t>23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9" y="1736787"/>
            <a:ext cx="5433695" cy="1382395"/>
          </a:xfrm>
          <a:prstGeom prst="rect">
            <a:avLst/>
          </a:prstGeom>
        </p:spPr>
        <p:txBody>
          <a:bodyPr wrap="square" lIns="0" tIns="16065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26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254">
                <a:solidFill>
                  <a:srgbClr val="404040"/>
                </a:solidFill>
                <a:latin typeface="Arial"/>
                <a:cs typeface="Arial"/>
              </a:rPr>
              <a:t>Tự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2000" spc="-145">
                <a:solidFill>
                  <a:srgbClr val="404040"/>
                </a:solidFill>
                <a:latin typeface="Arial"/>
                <a:cs typeface="Arial"/>
              </a:rPr>
              <a:t>cực</a:t>
            </a:r>
            <a:r>
              <a:rPr dirty="0" sz="2000" spc="-32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(self-bias)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45">
                <a:solidFill>
                  <a:srgbClr val="404040"/>
                </a:solidFill>
                <a:latin typeface="Arial"/>
                <a:cs typeface="Arial"/>
              </a:rPr>
              <a:t>Phân cực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nhờ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nguồn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chia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áp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(voltage-divider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bias)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50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45">
                <a:solidFill>
                  <a:srgbClr val="A6A6A6"/>
                </a:solidFill>
                <a:latin typeface="Arial"/>
                <a:cs typeface="Arial"/>
              </a:rPr>
              <a:t>Phân cực </a:t>
            </a:r>
            <a:r>
              <a:rPr dirty="0" sz="2000" spc="-90">
                <a:solidFill>
                  <a:srgbClr val="A6A6A6"/>
                </a:solidFill>
                <a:latin typeface="Arial"/>
                <a:cs typeface="Arial"/>
              </a:rPr>
              <a:t>nhờ </a:t>
            </a:r>
            <a:r>
              <a:rPr dirty="0" sz="2000" spc="-85">
                <a:solidFill>
                  <a:srgbClr val="A6A6A6"/>
                </a:solidFill>
                <a:latin typeface="Arial"/>
                <a:cs typeface="Arial"/>
              </a:rPr>
              <a:t>nguồn </a:t>
            </a:r>
            <a:r>
              <a:rPr dirty="0" sz="2000" spc="-90">
                <a:solidFill>
                  <a:srgbClr val="A6A6A6"/>
                </a:solidFill>
                <a:latin typeface="Arial"/>
                <a:cs typeface="Arial"/>
              </a:rPr>
              <a:t>dòng </a:t>
            </a:r>
            <a:r>
              <a:rPr dirty="0" sz="2000" spc="-70">
                <a:solidFill>
                  <a:srgbClr val="A6A6A6"/>
                </a:solidFill>
                <a:latin typeface="Arial"/>
                <a:cs typeface="Arial"/>
              </a:rPr>
              <a:t>(current-source</a:t>
            </a:r>
            <a:r>
              <a:rPr dirty="0" sz="2000" spc="-114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dirty="0" sz="2000" spc="-100">
                <a:solidFill>
                  <a:srgbClr val="A6A6A6"/>
                </a:solidFill>
                <a:latin typeface="Arial"/>
                <a:cs typeface="Arial"/>
              </a:rPr>
              <a:t>bias)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81" y="6400800"/>
            <a:ext cx="9903460" cy="457200"/>
          </a:xfrm>
          <a:custGeom>
            <a:avLst/>
            <a:gdLst/>
            <a:ahLst/>
            <a:cxnLst/>
            <a:rect l="l" t="t" r="r" b="b"/>
            <a:pathLst>
              <a:path w="9903460" h="457200">
                <a:moveTo>
                  <a:pt x="0" y="457200"/>
                </a:moveTo>
                <a:lnTo>
                  <a:pt x="9903460" y="457200"/>
                </a:lnTo>
                <a:lnTo>
                  <a:pt x="990346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" y="6334315"/>
            <a:ext cx="9903460" cy="64135"/>
          </a:xfrm>
          <a:custGeom>
            <a:avLst/>
            <a:gdLst/>
            <a:ahLst/>
            <a:cxnLst/>
            <a:rect l="l" t="t" r="r" b="b"/>
            <a:pathLst>
              <a:path w="9903460" h="64135">
                <a:moveTo>
                  <a:pt x="0" y="64008"/>
                </a:moveTo>
                <a:lnTo>
                  <a:pt x="9903460" y="64008"/>
                </a:lnTo>
                <a:lnTo>
                  <a:pt x="9903460" y="0"/>
                </a:lnTo>
                <a:lnTo>
                  <a:pt x="0" y="0"/>
                </a:lnTo>
                <a:lnTo>
                  <a:pt x="0" y="64008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JFET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37842" y="649152"/>
            <a:ext cx="4353560" cy="1207770"/>
          </a:xfrm>
          <a:prstGeom prst="rect">
            <a:avLst/>
          </a:prstGeom>
        </p:spPr>
        <p:txBody>
          <a:bodyPr wrap="square" lIns="0" tIns="200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dirty="0" sz="3000">
                <a:solidFill>
                  <a:srgbClr val="99CA38"/>
                </a:solidFill>
                <a:latin typeface="Times New Roman"/>
                <a:cs typeface="Times New Roman"/>
              </a:rPr>
              <a:t>Các dạng phân cực cho</a:t>
            </a:r>
            <a:r>
              <a:rPr dirty="0" sz="3000" spc="-65">
                <a:solidFill>
                  <a:srgbClr val="99CA38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99CA38"/>
                </a:solidFill>
                <a:latin typeface="Times New Roman"/>
                <a:cs typeface="Times New Roman"/>
              </a:rPr>
              <a:t>FET</a:t>
            </a:r>
            <a:endParaRPr sz="3000">
              <a:latin typeface="Times New Roman"/>
              <a:cs typeface="Times New Roman"/>
            </a:endParaRPr>
          </a:p>
          <a:p>
            <a:pPr marL="1456055">
              <a:lnSpc>
                <a:spcPct val="100000"/>
              </a:lnSpc>
              <a:spcBef>
                <a:spcPts val="1225"/>
              </a:spcBef>
            </a:pPr>
            <a:r>
              <a:rPr dirty="0" sz="2500" spc="-5">
                <a:latin typeface="Times New Roman"/>
                <a:cs typeface="Times New Roman"/>
              </a:rPr>
              <a:t>1. Phân cực cố</a:t>
            </a:r>
            <a:r>
              <a:rPr dirty="0" sz="2500" spc="5">
                <a:latin typeface="Times New Roman"/>
                <a:cs typeface="Times New Roman"/>
              </a:rPr>
              <a:t> </a:t>
            </a:r>
            <a:r>
              <a:rPr dirty="0" sz="2500" spc="-5">
                <a:latin typeface="Times New Roman"/>
                <a:cs typeface="Times New Roman"/>
              </a:rPr>
              <a:t>định: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0916" y="2209800"/>
            <a:ext cx="9030533" cy="36292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81" y="6400800"/>
            <a:ext cx="9903460" cy="457200"/>
          </a:xfrm>
          <a:custGeom>
            <a:avLst/>
            <a:gdLst/>
            <a:ahLst/>
            <a:cxnLst/>
            <a:rect l="l" t="t" r="r" b="b"/>
            <a:pathLst>
              <a:path w="9903460" h="457200">
                <a:moveTo>
                  <a:pt x="0" y="457200"/>
                </a:moveTo>
                <a:lnTo>
                  <a:pt x="9903460" y="457200"/>
                </a:lnTo>
                <a:lnTo>
                  <a:pt x="990346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" y="6334315"/>
            <a:ext cx="9903460" cy="64135"/>
          </a:xfrm>
          <a:custGeom>
            <a:avLst/>
            <a:gdLst/>
            <a:ahLst/>
            <a:cxnLst/>
            <a:rect l="l" t="t" r="r" b="b"/>
            <a:pathLst>
              <a:path w="9903460" h="64135">
                <a:moveTo>
                  <a:pt x="0" y="64008"/>
                </a:moveTo>
                <a:lnTo>
                  <a:pt x="9903460" y="64008"/>
                </a:lnTo>
                <a:lnTo>
                  <a:pt x="9903460" y="0"/>
                </a:lnTo>
                <a:lnTo>
                  <a:pt x="0" y="0"/>
                </a:lnTo>
                <a:lnTo>
                  <a:pt x="0" y="64008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60400" y="4191063"/>
            <a:ext cx="6642608" cy="2157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28290" y="2339132"/>
            <a:ext cx="9550686" cy="13415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JFET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37842" y="649152"/>
            <a:ext cx="4353560" cy="1207770"/>
          </a:xfrm>
          <a:prstGeom prst="rect">
            <a:avLst/>
          </a:prstGeom>
        </p:spPr>
        <p:txBody>
          <a:bodyPr wrap="square" lIns="0" tIns="200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dirty="0" sz="3000">
                <a:solidFill>
                  <a:srgbClr val="99CA38"/>
                </a:solidFill>
                <a:latin typeface="Times New Roman"/>
                <a:cs typeface="Times New Roman"/>
              </a:rPr>
              <a:t>Các dạng phân cực cho</a:t>
            </a:r>
            <a:r>
              <a:rPr dirty="0" sz="3000" spc="-65">
                <a:solidFill>
                  <a:srgbClr val="99CA38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99CA38"/>
                </a:solidFill>
                <a:latin typeface="Times New Roman"/>
                <a:cs typeface="Times New Roman"/>
              </a:rPr>
              <a:t>FET</a:t>
            </a:r>
            <a:endParaRPr sz="3000">
              <a:latin typeface="Times New Roman"/>
              <a:cs typeface="Times New Roman"/>
            </a:endParaRPr>
          </a:p>
          <a:p>
            <a:pPr marL="1456055">
              <a:lnSpc>
                <a:spcPct val="100000"/>
              </a:lnSpc>
              <a:spcBef>
                <a:spcPts val="1225"/>
              </a:spcBef>
            </a:pPr>
            <a:r>
              <a:rPr dirty="0" sz="2500" spc="-5">
                <a:latin typeface="Times New Roman"/>
                <a:cs typeface="Times New Roman"/>
              </a:rPr>
              <a:t>1. Phân cực cố</a:t>
            </a:r>
            <a:r>
              <a:rPr dirty="0" sz="2500" spc="5">
                <a:latin typeface="Times New Roman"/>
                <a:cs typeface="Times New Roman"/>
              </a:rPr>
              <a:t> </a:t>
            </a:r>
            <a:r>
              <a:rPr dirty="0" sz="2500" spc="-5">
                <a:latin typeface="Times New Roman"/>
                <a:cs typeface="Times New Roman"/>
              </a:rPr>
              <a:t>định: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81" y="6400800"/>
            <a:ext cx="9903460" cy="457200"/>
          </a:xfrm>
          <a:custGeom>
            <a:avLst/>
            <a:gdLst/>
            <a:ahLst/>
            <a:cxnLst/>
            <a:rect l="l" t="t" r="r" b="b"/>
            <a:pathLst>
              <a:path w="9903460" h="457200">
                <a:moveTo>
                  <a:pt x="0" y="457200"/>
                </a:moveTo>
                <a:lnTo>
                  <a:pt x="9903460" y="457200"/>
                </a:lnTo>
                <a:lnTo>
                  <a:pt x="990346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" y="6334315"/>
            <a:ext cx="9903460" cy="64135"/>
          </a:xfrm>
          <a:custGeom>
            <a:avLst/>
            <a:gdLst/>
            <a:ahLst/>
            <a:cxnLst/>
            <a:rect l="l" t="t" r="r" b="b"/>
            <a:pathLst>
              <a:path w="9903460" h="64135">
                <a:moveTo>
                  <a:pt x="0" y="64008"/>
                </a:moveTo>
                <a:lnTo>
                  <a:pt x="9903460" y="64008"/>
                </a:lnTo>
                <a:lnTo>
                  <a:pt x="9903460" y="0"/>
                </a:lnTo>
                <a:lnTo>
                  <a:pt x="0" y="0"/>
                </a:lnTo>
                <a:lnTo>
                  <a:pt x="0" y="64008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JFET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37842" y="649152"/>
            <a:ext cx="4353560" cy="1207770"/>
          </a:xfrm>
          <a:prstGeom prst="rect">
            <a:avLst/>
          </a:prstGeom>
        </p:spPr>
        <p:txBody>
          <a:bodyPr wrap="square" lIns="0" tIns="200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dirty="0" sz="3000">
                <a:solidFill>
                  <a:srgbClr val="99CA38"/>
                </a:solidFill>
                <a:latin typeface="Times New Roman"/>
                <a:cs typeface="Times New Roman"/>
              </a:rPr>
              <a:t>Các dạng phân cực cho</a:t>
            </a:r>
            <a:r>
              <a:rPr dirty="0" sz="3000" spc="-65">
                <a:solidFill>
                  <a:srgbClr val="99CA38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99CA38"/>
                </a:solidFill>
                <a:latin typeface="Times New Roman"/>
                <a:cs typeface="Times New Roman"/>
              </a:rPr>
              <a:t>FET</a:t>
            </a:r>
            <a:endParaRPr sz="3000">
              <a:latin typeface="Times New Roman"/>
              <a:cs typeface="Times New Roman"/>
            </a:endParaRPr>
          </a:p>
          <a:p>
            <a:pPr marL="1758314">
              <a:lnSpc>
                <a:spcPct val="100000"/>
              </a:lnSpc>
              <a:spcBef>
                <a:spcPts val="1225"/>
              </a:spcBef>
            </a:pPr>
            <a:r>
              <a:rPr dirty="0" sz="2500" spc="-5">
                <a:latin typeface="Times New Roman"/>
                <a:cs typeface="Times New Roman"/>
              </a:rPr>
              <a:t>2. Tự phân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 spc="-5">
                <a:latin typeface="Times New Roman"/>
                <a:cs typeface="Times New Roman"/>
              </a:rPr>
              <a:t>cực: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18021" y="2436239"/>
            <a:ext cx="8499215" cy="37421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30909"/>
            <a:ext cx="568515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40" b="0">
                <a:solidFill>
                  <a:srgbClr val="404040"/>
                </a:solidFill>
                <a:latin typeface="Arial"/>
                <a:cs typeface="Arial"/>
              </a:rPr>
              <a:t>Cách </a:t>
            </a:r>
            <a:r>
              <a:rPr dirty="0" sz="4800" spc="-45" b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4800" spc="-35" b="0">
                <a:solidFill>
                  <a:srgbClr val="404040"/>
                </a:solidFill>
                <a:latin typeface="Arial"/>
                <a:cs typeface="Arial"/>
              </a:rPr>
              <a:t>cực</a:t>
            </a:r>
            <a:r>
              <a:rPr dirty="0" sz="4800" spc="-245" b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4800" spc="-40" b="0">
                <a:solidFill>
                  <a:srgbClr val="404040"/>
                </a:solidFill>
                <a:latin typeface="Arial"/>
                <a:cs typeface="Arial"/>
              </a:rPr>
              <a:t>JFET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44948" y="6557873"/>
            <a:ext cx="8185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TRỊNH LÊ</a:t>
            </a:r>
            <a:r>
              <a:rPr dirty="0" sz="9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HUY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72473" y="6546291"/>
            <a:ext cx="16002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FFFFF"/>
                </a:solidFill>
                <a:latin typeface="Times New Roman"/>
                <a:cs typeface="Times New Roman"/>
              </a:rPr>
              <a:t>27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9" y="1855990"/>
            <a:ext cx="4221480" cy="147574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32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245" b="1">
                <a:solidFill>
                  <a:srgbClr val="404040"/>
                </a:solidFill>
                <a:latin typeface="Arial"/>
                <a:cs typeface="Arial"/>
              </a:rPr>
              <a:t>Tự </a:t>
            </a:r>
            <a:r>
              <a:rPr dirty="0" sz="2000" spc="-140" b="1">
                <a:solidFill>
                  <a:srgbClr val="404040"/>
                </a:solidFill>
                <a:latin typeface="Arial"/>
                <a:cs typeface="Arial"/>
              </a:rPr>
              <a:t>phân</a:t>
            </a:r>
            <a:r>
              <a:rPr dirty="0" sz="2000" spc="-295" b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240" b="1">
                <a:solidFill>
                  <a:srgbClr val="404040"/>
                </a:solidFill>
                <a:latin typeface="Arial"/>
                <a:cs typeface="Arial"/>
              </a:rPr>
              <a:t>cực</a:t>
            </a:r>
            <a:endParaRPr sz="2000">
              <a:latin typeface="Arial"/>
              <a:cs typeface="Arial"/>
            </a:endParaRPr>
          </a:p>
          <a:p>
            <a:pPr lvl="1" marL="396875" marR="5080" indent="-182880">
              <a:lnSpc>
                <a:spcPts val="1939"/>
              </a:lnSpc>
              <a:spcBef>
                <a:spcPts val="450"/>
              </a:spcBef>
              <a:buClr>
                <a:srgbClr val="99CA38"/>
              </a:buClr>
              <a:buFont typeface="Wingdings"/>
              <a:buChar char=""/>
              <a:tabLst>
                <a:tab pos="448309" algn="l"/>
                <a:tab pos="448945" algn="l"/>
              </a:tabLst>
            </a:pPr>
            <a:r>
              <a:rPr dirty="0" sz="1800" spc="-130">
                <a:solidFill>
                  <a:srgbClr val="404040"/>
                </a:solidFill>
                <a:latin typeface="Arial"/>
                <a:cs typeface="Arial"/>
              </a:rPr>
              <a:t>Thường </a:t>
            </a:r>
            <a:r>
              <a:rPr dirty="0" sz="1800" spc="-95">
                <a:solidFill>
                  <a:srgbClr val="404040"/>
                </a:solidFill>
                <a:latin typeface="Arial"/>
                <a:cs typeface="Arial"/>
              </a:rPr>
              <a:t>xuyên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1800" spc="-160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dụng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để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phân  </a:t>
            </a:r>
            <a:r>
              <a:rPr dirty="0" sz="1800" spc="-14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cho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transistor</a:t>
            </a:r>
            <a:r>
              <a:rPr dirty="0" sz="1800" spc="-3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290">
                <a:solidFill>
                  <a:srgbClr val="404040"/>
                </a:solidFill>
                <a:latin typeface="Arial"/>
                <a:cs typeface="Arial"/>
              </a:rPr>
              <a:t>JFET</a:t>
            </a:r>
            <a:endParaRPr sz="1800">
              <a:latin typeface="Arial"/>
              <a:cs typeface="Arial"/>
            </a:endParaRPr>
          </a:p>
          <a:p>
            <a:pPr lvl="1" marL="396875" marR="5080" indent="-182880">
              <a:lnSpc>
                <a:spcPts val="1939"/>
              </a:lnSpc>
              <a:spcBef>
                <a:spcPts val="605"/>
              </a:spcBef>
              <a:buClr>
                <a:srgbClr val="99CA38"/>
              </a:buClr>
              <a:buFont typeface="Wingdings"/>
              <a:buChar char=""/>
              <a:tabLst>
                <a:tab pos="448309" algn="l"/>
                <a:tab pos="448945" algn="l"/>
              </a:tabLst>
            </a:pPr>
            <a:r>
              <a:rPr dirty="0" sz="1800" spc="-140">
                <a:solidFill>
                  <a:srgbClr val="404040"/>
                </a:solidFill>
                <a:latin typeface="Arial"/>
                <a:cs typeface="Arial"/>
              </a:rPr>
              <a:t>Để </a:t>
            </a:r>
            <a:r>
              <a:rPr dirty="0" sz="1800" spc="-290">
                <a:solidFill>
                  <a:srgbClr val="404040"/>
                </a:solidFill>
                <a:latin typeface="Arial"/>
                <a:cs typeface="Arial"/>
              </a:rPr>
              <a:t>JFET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hoạt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động, </a:t>
            </a:r>
            <a:r>
              <a:rPr dirty="0" sz="1800" spc="-35">
                <a:solidFill>
                  <a:srgbClr val="404040"/>
                </a:solidFill>
                <a:latin typeface="Arial"/>
                <a:cs typeface="Arial"/>
              </a:rPr>
              <a:t>ta </a:t>
            </a:r>
            <a:r>
              <a:rPr dirty="0" sz="1800" spc="-120">
                <a:solidFill>
                  <a:srgbClr val="404040"/>
                </a:solidFill>
                <a:latin typeface="Arial"/>
                <a:cs typeface="Arial"/>
              </a:rPr>
              <a:t>cần 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phải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1800" spc="-135">
                <a:solidFill>
                  <a:srgbClr val="404040"/>
                </a:solidFill>
                <a:latin typeface="Arial"/>
                <a:cs typeface="Arial"/>
              </a:rPr>
              <a:t>cực 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nghịch </a:t>
            </a:r>
            <a:r>
              <a:rPr dirty="0" sz="1800" spc="-35">
                <a:solidFill>
                  <a:srgbClr val="404040"/>
                </a:solidFill>
                <a:latin typeface="Arial"/>
                <a:cs typeface="Arial"/>
              </a:rPr>
              <a:t>mối nối</a:t>
            </a:r>
            <a:r>
              <a:rPr dirty="0" sz="1800" spc="-13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110">
                <a:solidFill>
                  <a:srgbClr val="404040"/>
                </a:solidFill>
                <a:latin typeface="Arial"/>
                <a:cs typeface="Arial"/>
              </a:rPr>
              <a:t>Gate-Source.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0312" y="4001516"/>
            <a:ext cx="4022090" cy="136398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algn="just" marL="194945" marR="6350" indent="-182245">
              <a:lnSpc>
                <a:spcPts val="1939"/>
              </a:lnSpc>
              <a:spcBef>
                <a:spcPts val="345"/>
              </a:spcBef>
              <a:buClr>
                <a:srgbClr val="99CA38"/>
              </a:buClr>
              <a:buFont typeface="Wingdings"/>
              <a:buChar char=""/>
              <a:tabLst>
                <a:tab pos="247650" algn="l"/>
              </a:tabLst>
            </a:pPr>
            <a:r>
              <a:rPr dirty="0" sz="1800" spc="-20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1800" spc="-114">
                <a:solidFill>
                  <a:srgbClr val="404040"/>
                </a:solidFill>
                <a:latin typeface="Arial"/>
                <a:cs typeface="Arial"/>
              </a:rPr>
              <a:t>Gate </a:t>
            </a:r>
            <a:r>
              <a:rPr dirty="0" sz="1800" spc="-155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1800" spc="-35">
                <a:solidFill>
                  <a:srgbClr val="404040"/>
                </a:solidFill>
                <a:latin typeface="Arial"/>
                <a:cs typeface="Arial"/>
              </a:rPr>
              <a:t>nối </a:t>
            </a:r>
            <a:r>
              <a:rPr dirty="0" sz="1800" spc="-15">
                <a:solidFill>
                  <a:srgbClr val="404040"/>
                </a:solidFill>
                <a:latin typeface="Arial"/>
                <a:cs typeface="Arial"/>
              </a:rPr>
              <a:t>đất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thông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qua  </a:t>
            </a:r>
            <a:r>
              <a:rPr dirty="0" sz="1800" spc="-5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1800" spc="-15">
                <a:solidFill>
                  <a:srgbClr val="404040"/>
                </a:solidFill>
                <a:latin typeface="Arial"/>
                <a:cs typeface="Arial"/>
              </a:rPr>
              <a:t>trở</a:t>
            </a:r>
            <a:r>
              <a:rPr dirty="0" sz="1800" spc="-24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190">
                <a:solidFill>
                  <a:srgbClr val="404040"/>
                </a:solidFill>
                <a:latin typeface="Arial"/>
                <a:cs typeface="Arial"/>
              </a:rPr>
              <a:t>R</a:t>
            </a:r>
            <a:r>
              <a:rPr dirty="0" baseline="-20833" sz="1800" spc="-284">
                <a:solidFill>
                  <a:srgbClr val="404040"/>
                </a:solidFill>
                <a:latin typeface="Arial"/>
                <a:cs typeface="Arial"/>
              </a:rPr>
              <a:t>G</a:t>
            </a:r>
            <a:r>
              <a:rPr dirty="0" sz="1800" spc="-190">
                <a:solidFill>
                  <a:srgbClr val="40404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algn="just" marL="194945" marR="5080" indent="-182245">
              <a:lnSpc>
                <a:spcPct val="90000"/>
              </a:lnSpc>
              <a:spcBef>
                <a:spcPts val="580"/>
              </a:spcBef>
              <a:buClr>
                <a:srgbClr val="99CA38"/>
              </a:buClr>
              <a:buFont typeface="Wingdings"/>
              <a:buChar char=""/>
              <a:tabLst>
                <a:tab pos="247650" algn="l"/>
              </a:tabLst>
            </a:pP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1800" spc="-15">
                <a:solidFill>
                  <a:srgbClr val="404040"/>
                </a:solidFill>
                <a:latin typeface="Arial"/>
                <a:cs typeface="Arial"/>
              </a:rPr>
              <a:t>trở </a:t>
            </a:r>
            <a:r>
              <a:rPr dirty="0" sz="1800" spc="-254">
                <a:solidFill>
                  <a:srgbClr val="404040"/>
                </a:solidFill>
                <a:latin typeface="Arial"/>
                <a:cs typeface="Arial"/>
              </a:rPr>
              <a:t>R</a:t>
            </a:r>
            <a:r>
              <a:rPr dirty="0" baseline="-20833" sz="1800" spc="-382">
                <a:solidFill>
                  <a:srgbClr val="404040"/>
                </a:solidFill>
                <a:latin typeface="Arial"/>
                <a:cs typeface="Arial"/>
              </a:rPr>
              <a:t>G </a:t>
            </a:r>
            <a:r>
              <a:rPr dirty="0" sz="1800" spc="-11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tác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dụng </a:t>
            </a:r>
            <a:r>
              <a:rPr dirty="0" sz="1800" spc="-125">
                <a:solidFill>
                  <a:srgbClr val="404040"/>
                </a:solidFill>
                <a:latin typeface="Arial"/>
                <a:cs typeface="Arial"/>
              </a:rPr>
              <a:t>cách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ly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dòng  </a:t>
            </a:r>
            <a:r>
              <a:rPr dirty="0" sz="1800" spc="-125">
                <a:solidFill>
                  <a:srgbClr val="404040"/>
                </a:solidFill>
                <a:latin typeface="Arial"/>
                <a:cs typeface="Arial"/>
              </a:rPr>
              <a:t>xoay </a:t>
            </a:r>
            <a:r>
              <a:rPr dirty="0" sz="1800" spc="-75">
                <a:solidFill>
                  <a:srgbClr val="404040"/>
                </a:solidFill>
                <a:latin typeface="Arial"/>
                <a:cs typeface="Arial"/>
              </a:rPr>
              <a:t>chiều </a:t>
            </a:r>
            <a:r>
              <a:rPr dirty="0" sz="1800" spc="-254">
                <a:solidFill>
                  <a:srgbClr val="404040"/>
                </a:solidFill>
                <a:latin typeface="Arial"/>
                <a:cs typeface="Arial"/>
              </a:rPr>
              <a:t>AC </a:t>
            </a:r>
            <a:r>
              <a:rPr dirty="0" sz="1800" spc="-30">
                <a:solidFill>
                  <a:srgbClr val="404040"/>
                </a:solidFill>
                <a:latin typeface="Arial"/>
                <a:cs typeface="Arial"/>
              </a:rPr>
              <a:t>rò </a:t>
            </a:r>
            <a:r>
              <a:rPr dirty="0" sz="1800" spc="-15">
                <a:solidFill>
                  <a:srgbClr val="404040"/>
                </a:solidFill>
                <a:latin typeface="Arial"/>
                <a:cs typeface="Arial"/>
              </a:rPr>
              <a:t>từ </a:t>
            </a:r>
            <a:r>
              <a:rPr dirty="0" sz="1800" spc="-200">
                <a:solidFill>
                  <a:srgbClr val="404040"/>
                </a:solidFill>
                <a:latin typeface="Arial"/>
                <a:cs typeface="Arial"/>
              </a:rPr>
              <a:t>GND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ảnh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hưởng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đến  </a:t>
            </a:r>
            <a:r>
              <a:rPr dirty="0" sz="1800" spc="-275">
                <a:solidFill>
                  <a:srgbClr val="404040"/>
                </a:solidFill>
                <a:latin typeface="Arial"/>
                <a:cs typeface="Arial"/>
              </a:rPr>
              <a:t>JFET.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12494" y="5746800"/>
            <a:ext cx="3619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3888" sz="2700" spc="794">
                <a:solidFill>
                  <a:srgbClr val="404040"/>
                </a:solidFill>
                <a:latin typeface="Trebuchet MS"/>
                <a:cs typeface="Trebuchet MS"/>
              </a:rPr>
              <a:t>𝑽</a:t>
            </a:r>
            <a:r>
              <a:rPr dirty="0" sz="1200" spc="405">
                <a:solidFill>
                  <a:srgbClr val="404040"/>
                </a:solidFill>
                <a:latin typeface="Trebuchet MS"/>
                <a:cs typeface="Trebuchet MS"/>
              </a:rPr>
              <a:t>𝑮</a:t>
            </a:r>
            <a:r>
              <a:rPr dirty="0" sz="1200" spc="155">
                <a:solidFill>
                  <a:srgbClr val="404040"/>
                </a:solidFill>
                <a:latin typeface="Trebuchet MS"/>
                <a:cs typeface="Trebuchet MS"/>
              </a:rPr>
              <a:t>𝑺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60550" y="5690412"/>
            <a:ext cx="2455545" cy="541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030"/>
              </a:lnSpc>
              <a:spcBef>
                <a:spcPts val="100"/>
              </a:spcBef>
            </a:pPr>
            <a:r>
              <a:rPr dirty="0" sz="1800" spc="400">
                <a:solidFill>
                  <a:srgbClr val="404040"/>
                </a:solidFill>
                <a:latin typeface="Trebuchet MS"/>
                <a:cs typeface="Trebuchet MS"/>
              </a:rPr>
              <a:t>=</a:t>
            </a:r>
            <a:r>
              <a:rPr dirty="0" sz="1800" spc="3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285">
                <a:solidFill>
                  <a:srgbClr val="404040"/>
                </a:solidFill>
                <a:latin typeface="Trebuchet MS"/>
                <a:cs typeface="Trebuchet MS"/>
              </a:rPr>
              <a:t>𝑽𝑮</a:t>
            </a:r>
            <a:r>
              <a:rPr dirty="0" sz="1800" spc="-1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235">
                <a:solidFill>
                  <a:srgbClr val="404040"/>
                </a:solidFill>
                <a:latin typeface="Trebuchet MS"/>
                <a:cs typeface="Trebuchet MS"/>
              </a:rPr>
              <a:t>–</a:t>
            </a:r>
            <a:r>
              <a:rPr dirty="0" sz="1800" spc="1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190">
                <a:solidFill>
                  <a:srgbClr val="404040"/>
                </a:solidFill>
                <a:latin typeface="Trebuchet MS"/>
                <a:cs typeface="Trebuchet MS"/>
              </a:rPr>
              <a:t>𝑽𝑺</a:t>
            </a:r>
            <a:r>
              <a:rPr dirty="0" sz="1800" spc="3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400">
                <a:solidFill>
                  <a:srgbClr val="404040"/>
                </a:solidFill>
                <a:latin typeface="Trebuchet MS"/>
                <a:cs typeface="Trebuchet MS"/>
              </a:rPr>
              <a:t>=</a:t>
            </a:r>
            <a:r>
              <a:rPr dirty="0" sz="1800" spc="3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175">
                <a:solidFill>
                  <a:srgbClr val="404040"/>
                </a:solidFill>
                <a:latin typeface="Trebuchet MS"/>
                <a:cs typeface="Trebuchet MS"/>
              </a:rPr>
              <a:t>𝟎</a:t>
            </a:r>
            <a:r>
              <a:rPr dirty="0" sz="1800" spc="-1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235">
                <a:solidFill>
                  <a:srgbClr val="404040"/>
                </a:solidFill>
                <a:latin typeface="Trebuchet MS"/>
                <a:cs typeface="Trebuchet MS"/>
              </a:rPr>
              <a:t>–</a:t>
            </a:r>
            <a:r>
              <a:rPr dirty="0" sz="1800" spc="1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120">
                <a:solidFill>
                  <a:srgbClr val="404040"/>
                </a:solidFill>
                <a:latin typeface="Trebuchet MS"/>
                <a:cs typeface="Trebuchet MS"/>
              </a:rPr>
              <a:t>𝑰𝑺𝑹𝑺</a:t>
            </a:r>
            <a:endParaRPr sz="1800">
              <a:latin typeface="Trebuchet MS"/>
              <a:cs typeface="Trebuchet MS"/>
            </a:endParaRPr>
          </a:p>
          <a:p>
            <a:pPr marL="478790">
              <a:lnSpc>
                <a:spcPts val="2030"/>
              </a:lnSpc>
            </a:pPr>
            <a:r>
              <a:rPr dirty="0" sz="1800" spc="400">
                <a:solidFill>
                  <a:srgbClr val="404040"/>
                </a:solidFill>
                <a:latin typeface="Trebuchet MS"/>
                <a:cs typeface="Trebuchet MS"/>
              </a:rPr>
              <a:t>=</a:t>
            </a:r>
            <a:r>
              <a:rPr dirty="0" sz="1800" spc="3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245">
                <a:solidFill>
                  <a:srgbClr val="404040"/>
                </a:solidFill>
                <a:latin typeface="Trebuchet MS"/>
                <a:cs typeface="Trebuchet MS"/>
              </a:rPr>
              <a:t>−𝑰𝑫𝑹𝑺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457890" y="2437677"/>
            <a:ext cx="4267657" cy="31871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702686" y="3519042"/>
            <a:ext cx="292735" cy="450215"/>
          </a:xfrm>
          <a:custGeom>
            <a:avLst/>
            <a:gdLst/>
            <a:ahLst/>
            <a:cxnLst/>
            <a:rect l="l" t="t" r="r" b="b"/>
            <a:pathLst>
              <a:path w="292735" h="450214">
                <a:moveTo>
                  <a:pt x="292354" y="303911"/>
                </a:moveTo>
                <a:lnTo>
                  <a:pt x="0" y="303911"/>
                </a:lnTo>
                <a:lnTo>
                  <a:pt x="146176" y="449961"/>
                </a:lnTo>
                <a:lnTo>
                  <a:pt x="292354" y="303911"/>
                </a:lnTo>
                <a:close/>
              </a:path>
              <a:path w="292735" h="450214">
                <a:moveTo>
                  <a:pt x="219329" y="0"/>
                </a:moveTo>
                <a:lnTo>
                  <a:pt x="73151" y="0"/>
                </a:lnTo>
                <a:lnTo>
                  <a:pt x="73151" y="303911"/>
                </a:lnTo>
                <a:lnTo>
                  <a:pt x="219329" y="303911"/>
                </a:lnTo>
                <a:lnTo>
                  <a:pt x="219329" y="0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702686" y="3519042"/>
            <a:ext cx="292735" cy="450215"/>
          </a:xfrm>
          <a:custGeom>
            <a:avLst/>
            <a:gdLst/>
            <a:ahLst/>
            <a:cxnLst/>
            <a:rect l="l" t="t" r="r" b="b"/>
            <a:pathLst>
              <a:path w="292735" h="450214">
                <a:moveTo>
                  <a:pt x="0" y="303911"/>
                </a:moveTo>
                <a:lnTo>
                  <a:pt x="73151" y="303911"/>
                </a:lnTo>
                <a:lnTo>
                  <a:pt x="73151" y="0"/>
                </a:lnTo>
                <a:lnTo>
                  <a:pt x="219329" y="0"/>
                </a:lnTo>
                <a:lnTo>
                  <a:pt x="219329" y="303911"/>
                </a:lnTo>
                <a:lnTo>
                  <a:pt x="292354" y="303911"/>
                </a:lnTo>
                <a:lnTo>
                  <a:pt x="146176" y="449961"/>
                </a:lnTo>
                <a:lnTo>
                  <a:pt x="0" y="303911"/>
                </a:lnTo>
                <a:close/>
              </a:path>
            </a:pathLst>
          </a:custGeom>
          <a:ln w="15875">
            <a:solidFill>
              <a:srgbClr val="6E9425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81" y="6400800"/>
            <a:ext cx="9903460" cy="457200"/>
          </a:xfrm>
          <a:custGeom>
            <a:avLst/>
            <a:gdLst/>
            <a:ahLst/>
            <a:cxnLst/>
            <a:rect l="l" t="t" r="r" b="b"/>
            <a:pathLst>
              <a:path w="9903460" h="457200">
                <a:moveTo>
                  <a:pt x="0" y="457200"/>
                </a:moveTo>
                <a:lnTo>
                  <a:pt x="9903460" y="457200"/>
                </a:lnTo>
                <a:lnTo>
                  <a:pt x="990346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" y="6334315"/>
            <a:ext cx="9903460" cy="64135"/>
          </a:xfrm>
          <a:custGeom>
            <a:avLst/>
            <a:gdLst/>
            <a:ahLst/>
            <a:cxnLst/>
            <a:rect l="l" t="t" r="r" b="b"/>
            <a:pathLst>
              <a:path w="9903460" h="64135">
                <a:moveTo>
                  <a:pt x="0" y="64008"/>
                </a:moveTo>
                <a:lnTo>
                  <a:pt x="9903460" y="64008"/>
                </a:lnTo>
                <a:lnTo>
                  <a:pt x="9903460" y="0"/>
                </a:lnTo>
                <a:lnTo>
                  <a:pt x="0" y="0"/>
                </a:lnTo>
                <a:lnTo>
                  <a:pt x="0" y="64008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JFET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37842" y="649152"/>
            <a:ext cx="4353560" cy="1207770"/>
          </a:xfrm>
          <a:prstGeom prst="rect">
            <a:avLst/>
          </a:prstGeom>
        </p:spPr>
        <p:txBody>
          <a:bodyPr wrap="square" lIns="0" tIns="200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dirty="0" sz="3000">
                <a:solidFill>
                  <a:srgbClr val="99CA38"/>
                </a:solidFill>
                <a:latin typeface="Times New Roman"/>
                <a:cs typeface="Times New Roman"/>
              </a:rPr>
              <a:t>Các dạng phân cực cho</a:t>
            </a:r>
            <a:r>
              <a:rPr dirty="0" sz="3000" spc="-65">
                <a:solidFill>
                  <a:srgbClr val="99CA38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99CA38"/>
                </a:solidFill>
                <a:latin typeface="Times New Roman"/>
                <a:cs typeface="Times New Roman"/>
              </a:rPr>
              <a:t>FET</a:t>
            </a:r>
            <a:endParaRPr sz="3000">
              <a:latin typeface="Times New Roman"/>
              <a:cs typeface="Times New Roman"/>
            </a:endParaRPr>
          </a:p>
          <a:p>
            <a:pPr marL="1440815">
              <a:lnSpc>
                <a:spcPct val="100000"/>
              </a:lnSpc>
              <a:spcBef>
                <a:spcPts val="1225"/>
              </a:spcBef>
            </a:pPr>
            <a:r>
              <a:rPr dirty="0" sz="2500" spc="-5">
                <a:latin typeface="Times New Roman"/>
                <a:cs typeface="Times New Roman"/>
              </a:rPr>
              <a:t>2. Phân cực tự động: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35562" y="2093890"/>
            <a:ext cx="3684632" cy="6281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21557" y="3058880"/>
            <a:ext cx="7694011" cy="104533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49397" y="4500648"/>
            <a:ext cx="6048961" cy="117000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81" y="6400800"/>
            <a:ext cx="9903460" cy="457200"/>
          </a:xfrm>
          <a:custGeom>
            <a:avLst/>
            <a:gdLst/>
            <a:ahLst/>
            <a:cxnLst/>
            <a:rect l="l" t="t" r="r" b="b"/>
            <a:pathLst>
              <a:path w="9903460" h="457200">
                <a:moveTo>
                  <a:pt x="0" y="457200"/>
                </a:moveTo>
                <a:lnTo>
                  <a:pt x="9903460" y="457200"/>
                </a:lnTo>
                <a:lnTo>
                  <a:pt x="990346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" y="6334315"/>
            <a:ext cx="9903460" cy="64135"/>
          </a:xfrm>
          <a:custGeom>
            <a:avLst/>
            <a:gdLst/>
            <a:ahLst/>
            <a:cxnLst/>
            <a:rect l="l" t="t" r="r" b="b"/>
            <a:pathLst>
              <a:path w="9903460" h="64135">
                <a:moveTo>
                  <a:pt x="0" y="64008"/>
                </a:moveTo>
                <a:lnTo>
                  <a:pt x="9903460" y="64008"/>
                </a:lnTo>
                <a:lnTo>
                  <a:pt x="9903460" y="0"/>
                </a:lnTo>
                <a:lnTo>
                  <a:pt x="0" y="0"/>
                </a:lnTo>
                <a:lnTo>
                  <a:pt x="0" y="64008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JFET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37842" y="649152"/>
            <a:ext cx="4618990" cy="1207770"/>
          </a:xfrm>
          <a:prstGeom prst="rect">
            <a:avLst/>
          </a:prstGeom>
        </p:spPr>
        <p:txBody>
          <a:bodyPr wrap="square" lIns="0" tIns="200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dirty="0" sz="3000">
                <a:solidFill>
                  <a:srgbClr val="99CA38"/>
                </a:solidFill>
                <a:latin typeface="Times New Roman"/>
                <a:cs typeface="Times New Roman"/>
              </a:rPr>
              <a:t>Các dạng phân cực cho</a:t>
            </a:r>
            <a:r>
              <a:rPr dirty="0" sz="3000" spc="-30">
                <a:solidFill>
                  <a:srgbClr val="99CA38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99CA38"/>
                </a:solidFill>
                <a:latin typeface="Times New Roman"/>
                <a:cs typeface="Times New Roman"/>
              </a:rPr>
              <a:t>FET</a:t>
            </a:r>
            <a:endParaRPr sz="3000">
              <a:latin typeface="Times New Roman"/>
              <a:cs typeface="Times New Roman"/>
            </a:endParaRPr>
          </a:p>
          <a:p>
            <a:pPr marL="904240">
              <a:lnSpc>
                <a:spcPct val="100000"/>
              </a:lnSpc>
              <a:spcBef>
                <a:spcPts val="1225"/>
              </a:spcBef>
            </a:pPr>
            <a:r>
              <a:rPr dirty="0" sz="2500" spc="-5">
                <a:latin typeface="Times New Roman"/>
                <a:cs typeface="Times New Roman"/>
              </a:rPr>
              <a:t>3.Phân cực bằng </a:t>
            </a:r>
            <a:r>
              <a:rPr dirty="0" sz="2500" spc="-10">
                <a:latin typeface="Times New Roman"/>
                <a:cs typeface="Times New Roman"/>
              </a:rPr>
              <a:t>cầu </a:t>
            </a:r>
            <a:r>
              <a:rPr dirty="0" sz="2500" spc="-5">
                <a:latin typeface="Times New Roman"/>
                <a:cs typeface="Times New Roman"/>
              </a:rPr>
              <a:t>chia</a:t>
            </a:r>
            <a:r>
              <a:rPr dirty="0" sz="2500" spc="60">
                <a:latin typeface="Times New Roman"/>
                <a:cs typeface="Times New Roman"/>
              </a:rPr>
              <a:t> </a:t>
            </a:r>
            <a:r>
              <a:rPr dirty="0" sz="2500" spc="-5">
                <a:latin typeface="Times New Roman"/>
                <a:cs typeface="Times New Roman"/>
              </a:rPr>
              <a:t>thế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87900" y="2694441"/>
            <a:ext cx="8167738" cy="3154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81" y="6400800"/>
            <a:ext cx="9903460" cy="457200"/>
          </a:xfrm>
          <a:custGeom>
            <a:avLst/>
            <a:gdLst/>
            <a:ahLst/>
            <a:cxnLst/>
            <a:rect l="l" t="t" r="r" b="b"/>
            <a:pathLst>
              <a:path w="9903460" h="457200">
                <a:moveTo>
                  <a:pt x="0" y="457200"/>
                </a:moveTo>
                <a:lnTo>
                  <a:pt x="9903460" y="457200"/>
                </a:lnTo>
                <a:lnTo>
                  <a:pt x="990346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" y="6334315"/>
            <a:ext cx="9903460" cy="64135"/>
          </a:xfrm>
          <a:custGeom>
            <a:avLst/>
            <a:gdLst/>
            <a:ahLst/>
            <a:cxnLst/>
            <a:rect l="l" t="t" r="r" b="b"/>
            <a:pathLst>
              <a:path w="9903460" h="64135">
                <a:moveTo>
                  <a:pt x="0" y="64008"/>
                </a:moveTo>
                <a:lnTo>
                  <a:pt x="9903460" y="64008"/>
                </a:lnTo>
                <a:lnTo>
                  <a:pt x="9903460" y="0"/>
                </a:lnTo>
                <a:lnTo>
                  <a:pt x="0" y="0"/>
                </a:lnTo>
                <a:lnTo>
                  <a:pt x="0" y="64008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JFET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37842" y="649152"/>
            <a:ext cx="4618990" cy="1207770"/>
          </a:xfrm>
          <a:prstGeom prst="rect">
            <a:avLst/>
          </a:prstGeom>
        </p:spPr>
        <p:txBody>
          <a:bodyPr wrap="square" lIns="0" tIns="200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dirty="0" sz="3000">
                <a:solidFill>
                  <a:srgbClr val="99CA38"/>
                </a:solidFill>
                <a:latin typeface="Times New Roman"/>
                <a:cs typeface="Times New Roman"/>
              </a:rPr>
              <a:t>Các dạng phân cực cho</a:t>
            </a:r>
            <a:r>
              <a:rPr dirty="0" sz="3000" spc="-30">
                <a:solidFill>
                  <a:srgbClr val="99CA38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99CA38"/>
                </a:solidFill>
                <a:latin typeface="Times New Roman"/>
                <a:cs typeface="Times New Roman"/>
              </a:rPr>
              <a:t>FET</a:t>
            </a:r>
            <a:endParaRPr sz="3000">
              <a:latin typeface="Times New Roman"/>
              <a:cs typeface="Times New Roman"/>
            </a:endParaRPr>
          </a:p>
          <a:p>
            <a:pPr marL="904240">
              <a:lnSpc>
                <a:spcPct val="100000"/>
              </a:lnSpc>
              <a:spcBef>
                <a:spcPts val="1225"/>
              </a:spcBef>
            </a:pPr>
            <a:r>
              <a:rPr dirty="0" sz="2500" spc="-5">
                <a:latin typeface="Times New Roman"/>
                <a:cs typeface="Times New Roman"/>
              </a:rPr>
              <a:t>3.Phân cực bằng </a:t>
            </a:r>
            <a:r>
              <a:rPr dirty="0" sz="2500" spc="-10">
                <a:latin typeface="Times New Roman"/>
                <a:cs typeface="Times New Roman"/>
              </a:rPr>
              <a:t>cầu </a:t>
            </a:r>
            <a:r>
              <a:rPr dirty="0" sz="2500" spc="-5">
                <a:latin typeface="Times New Roman"/>
                <a:cs typeface="Times New Roman"/>
              </a:rPr>
              <a:t>chia</a:t>
            </a:r>
            <a:r>
              <a:rPr dirty="0" sz="2500" spc="60">
                <a:latin typeface="Times New Roman"/>
                <a:cs typeface="Times New Roman"/>
              </a:rPr>
              <a:t> </a:t>
            </a:r>
            <a:r>
              <a:rPr dirty="0" sz="2500" spc="-5">
                <a:latin typeface="Times New Roman"/>
                <a:cs typeface="Times New Roman"/>
              </a:rPr>
              <a:t>thế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6990" y="2426177"/>
            <a:ext cx="3424535" cy="16341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56042" y="4610372"/>
            <a:ext cx="3318008" cy="10376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30909"/>
            <a:ext cx="568515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40" b="0">
                <a:solidFill>
                  <a:srgbClr val="404040"/>
                </a:solidFill>
                <a:latin typeface="Arial"/>
                <a:cs typeface="Arial"/>
              </a:rPr>
              <a:t>Cách </a:t>
            </a:r>
            <a:r>
              <a:rPr dirty="0" sz="4800" spc="-45" b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4800" spc="-35" b="0">
                <a:solidFill>
                  <a:srgbClr val="404040"/>
                </a:solidFill>
                <a:latin typeface="Arial"/>
                <a:cs typeface="Arial"/>
              </a:rPr>
              <a:t>cực</a:t>
            </a:r>
            <a:r>
              <a:rPr dirty="0" sz="4800" spc="-245" b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4800" spc="-40" b="0">
                <a:solidFill>
                  <a:srgbClr val="404040"/>
                </a:solidFill>
                <a:latin typeface="Arial"/>
                <a:cs typeface="Arial"/>
              </a:rPr>
              <a:t>JFET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44948" y="6557873"/>
            <a:ext cx="8185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TRỊNH LÊ</a:t>
            </a:r>
            <a:r>
              <a:rPr dirty="0" sz="9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HUY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72473" y="6546291"/>
            <a:ext cx="16002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9" y="1855990"/>
            <a:ext cx="5258435" cy="229298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32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70" b="1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2000" spc="-235" b="1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2000" spc="-175" b="1">
                <a:solidFill>
                  <a:srgbClr val="404040"/>
                </a:solidFill>
                <a:latin typeface="Arial"/>
                <a:cs typeface="Arial"/>
              </a:rPr>
              <a:t>bằng </a:t>
            </a:r>
            <a:r>
              <a:rPr dirty="0" sz="2000" spc="-185" b="1">
                <a:solidFill>
                  <a:srgbClr val="404040"/>
                </a:solidFill>
                <a:latin typeface="Arial"/>
                <a:cs typeface="Arial"/>
              </a:rPr>
              <a:t>cầu </a:t>
            </a:r>
            <a:r>
              <a:rPr dirty="0" sz="2000" spc="-155" b="1">
                <a:solidFill>
                  <a:srgbClr val="404040"/>
                </a:solidFill>
                <a:latin typeface="Arial"/>
                <a:cs typeface="Arial"/>
              </a:rPr>
              <a:t>chia</a:t>
            </a:r>
            <a:r>
              <a:rPr dirty="0" sz="2000" spc="-140" b="1">
                <a:solidFill>
                  <a:srgbClr val="404040"/>
                </a:solidFill>
                <a:latin typeface="Arial"/>
                <a:cs typeface="Arial"/>
              </a:rPr>
              <a:t> áp</a:t>
            </a:r>
            <a:endParaRPr sz="2000">
              <a:latin typeface="Arial"/>
              <a:cs typeface="Arial"/>
            </a:endParaRPr>
          </a:p>
          <a:p>
            <a:pPr lvl="1" marL="396875" indent="-182880">
              <a:lnSpc>
                <a:spcPct val="100000"/>
              </a:lnSpc>
              <a:spcBef>
                <a:spcPts val="200"/>
              </a:spcBef>
              <a:buClr>
                <a:srgbClr val="99CA38"/>
              </a:buClr>
              <a:buFont typeface="Wingdings"/>
              <a:buChar char=""/>
              <a:tabLst>
                <a:tab pos="397510" algn="l"/>
              </a:tabLst>
            </a:pPr>
            <a:r>
              <a:rPr dirty="0" sz="1800" spc="-75">
                <a:solidFill>
                  <a:srgbClr val="404040"/>
                </a:solidFill>
                <a:latin typeface="Arial"/>
                <a:cs typeface="Arial"/>
              </a:rPr>
              <a:t>Hoạt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ổn </a:t>
            </a:r>
            <a:r>
              <a:rPr dirty="0" sz="1800" spc="-30">
                <a:solidFill>
                  <a:srgbClr val="404040"/>
                </a:solidFill>
                <a:latin typeface="Arial"/>
                <a:cs typeface="Arial"/>
              </a:rPr>
              <a:t>định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hơn </a:t>
            </a:r>
            <a:r>
              <a:rPr dirty="0" sz="1800" spc="-100">
                <a:solidFill>
                  <a:srgbClr val="404040"/>
                </a:solidFill>
                <a:latin typeface="Arial"/>
                <a:cs typeface="Arial"/>
              </a:rPr>
              <a:t>phương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pháp </a:t>
            </a:r>
            <a:r>
              <a:rPr dirty="0" sz="1800" spc="-15">
                <a:solidFill>
                  <a:srgbClr val="404040"/>
                </a:solidFill>
                <a:latin typeface="Arial"/>
                <a:cs typeface="Arial"/>
              </a:rPr>
              <a:t>tự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phân</a:t>
            </a:r>
            <a:r>
              <a:rPr dirty="0" sz="1800" spc="-26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140">
                <a:solidFill>
                  <a:srgbClr val="404040"/>
                </a:solidFill>
                <a:latin typeface="Arial"/>
                <a:cs typeface="Arial"/>
              </a:rPr>
              <a:t>cực</a:t>
            </a:r>
            <a:endParaRPr sz="1800">
              <a:latin typeface="Arial"/>
              <a:cs typeface="Arial"/>
            </a:endParaRPr>
          </a:p>
          <a:p>
            <a:pPr algn="just" lvl="1" marL="396875" marR="5715" indent="-182880">
              <a:lnSpc>
                <a:spcPts val="1939"/>
              </a:lnSpc>
              <a:spcBef>
                <a:spcPts val="635"/>
              </a:spcBef>
              <a:buClr>
                <a:srgbClr val="99CA38"/>
              </a:buClr>
              <a:buFont typeface="Wingdings"/>
              <a:buChar char=""/>
              <a:tabLst>
                <a:tab pos="397510" algn="l"/>
              </a:tabLst>
            </a:pPr>
            <a:r>
              <a:rPr dirty="0" sz="1800" spc="-250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dụng </a:t>
            </a:r>
            <a:r>
              <a:rPr dirty="0" sz="1800" spc="-5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dirty="0" sz="1800" spc="-114">
                <a:solidFill>
                  <a:srgbClr val="404040"/>
                </a:solidFill>
                <a:latin typeface="Arial"/>
                <a:cs typeface="Arial"/>
              </a:rPr>
              <a:t>cầu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1800" spc="-100">
                <a:solidFill>
                  <a:srgbClr val="404040"/>
                </a:solidFill>
                <a:latin typeface="Arial"/>
                <a:cs typeface="Arial"/>
              </a:rPr>
              <a:t>áp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để </a:t>
            </a:r>
            <a:r>
              <a:rPr dirty="0" sz="1800" spc="-120">
                <a:solidFill>
                  <a:srgbClr val="404040"/>
                </a:solidFill>
                <a:latin typeface="Arial"/>
                <a:cs typeface="Arial"/>
              </a:rPr>
              <a:t>cấp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nguồn 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cho </a:t>
            </a:r>
            <a:r>
              <a:rPr dirty="0" sz="1800" spc="-135">
                <a:solidFill>
                  <a:srgbClr val="404040"/>
                </a:solidFill>
                <a:latin typeface="Arial"/>
                <a:cs typeface="Arial"/>
              </a:rPr>
              <a:t>cực  </a:t>
            </a:r>
            <a:r>
              <a:rPr dirty="0" sz="1800" spc="-114">
                <a:solidFill>
                  <a:srgbClr val="404040"/>
                </a:solidFill>
                <a:latin typeface="Arial"/>
                <a:cs typeface="Arial"/>
              </a:rPr>
              <a:t>Gate </a:t>
            </a:r>
            <a:r>
              <a:rPr dirty="0" sz="1800" spc="-120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275">
                <a:solidFill>
                  <a:srgbClr val="404040"/>
                </a:solidFill>
                <a:latin typeface="Arial"/>
                <a:cs typeface="Arial"/>
              </a:rPr>
              <a:t>JFET.</a:t>
            </a:r>
            <a:endParaRPr sz="1800">
              <a:latin typeface="Arial"/>
              <a:cs typeface="Arial"/>
            </a:endParaRPr>
          </a:p>
          <a:p>
            <a:pPr algn="just" lvl="1" marL="396875" marR="5080" indent="-182880">
              <a:lnSpc>
                <a:spcPct val="90000"/>
              </a:lnSpc>
              <a:spcBef>
                <a:spcPts val="575"/>
              </a:spcBef>
              <a:buClr>
                <a:srgbClr val="99CA38"/>
              </a:buClr>
              <a:buFont typeface="Wingdings"/>
              <a:buChar char=""/>
              <a:tabLst>
                <a:tab pos="397510" algn="l"/>
              </a:tabLst>
            </a:pPr>
            <a:r>
              <a:rPr dirty="0" sz="1800" spc="-140">
                <a:solidFill>
                  <a:srgbClr val="404040"/>
                </a:solidFill>
                <a:latin typeface="Arial"/>
                <a:cs typeface="Arial"/>
              </a:rPr>
              <a:t>Để </a:t>
            </a:r>
            <a:r>
              <a:rPr dirty="0" sz="1800" spc="-290">
                <a:solidFill>
                  <a:srgbClr val="404040"/>
                </a:solidFill>
                <a:latin typeface="Arial"/>
                <a:cs typeface="Arial"/>
              </a:rPr>
              <a:t>JFET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hoạt 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động, </a:t>
            </a:r>
            <a:r>
              <a:rPr dirty="0" sz="1800" spc="-35">
                <a:solidFill>
                  <a:srgbClr val="404040"/>
                </a:solidFill>
                <a:latin typeface="Arial"/>
                <a:cs typeface="Arial"/>
              </a:rPr>
              <a:t>ta </a:t>
            </a:r>
            <a:r>
              <a:rPr dirty="0" sz="1800" spc="-114">
                <a:solidFill>
                  <a:srgbClr val="404040"/>
                </a:solidFill>
                <a:latin typeface="Arial"/>
                <a:cs typeface="Arial"/>
              </a:rPr>
              <a:t>cần 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phải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1800" spc="-135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nghịch </a:t>
            </a:r>
            <a:r>
              <a:rPr dirty="0" sz="1800" spc="-35">
                <a:solidFill>
                  <a:srgbClr val="404040"/>
                </a:solidFill>
                <a:latin typeface="Arial"/>
                <a:cs typeface="Arial"/>
              </a:rPr>
              <a:t>mối  nối </a:t>
            </a:r>
            <a:r>
              <a:rPr dirty="0" sz="1800" spc="-110">
                <a:solidFill>
                  <a:srgbClr val="404040"/>
                </a:solidFill>
                <a:latin typeface="Arial"/>
                <a:cs typeface="Arial"/>
              </a:rPr>
              <a:t>Gate-Source. </a:t>
            </a:r>
            <a:r>
              <a:rPr dirty="0" sz="1800" spc="-200">
                <a:solidFill>
                  <a:srgbClr val="404040"/>
                </a:solidFill>
                <a:latin typeface="Arial"/>
                <a:cs typeface="Arial"/>
              </a:rPr>
              <a:t>Tức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1800" spc="-19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dirty="0" baseline="-20833" sz="1800" spc="-284">
                <a:solidFill>
                  <a:srgbClr val="404040"/>
                </a:solidFill>
                <a:latin typeface="Arial"/>
                <a:cs typeface="Arial"/>
              </a:rPr>
              <a:t>G </a:t>
            </a:r>
            <a:r>
              <a:rPr dirty="0" sz="1800" spc="-155">
                <a:solidFill>
                  <a:srgbClr val="404040"/>
                </a:solidFill>
                <a:latin typeface="Arial"/>
                <a:cs typeface="Arial"/>
              </a:rPr>
              <a:t>&lt; </a:t>
            </a:r>
            <a:r>
              <a:rPr dirty="0" sz="1800" spc="-165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dirty="0" baseline="-20833" sz="1800" spc="-247">
                <a:solidFill>
                  <a:srgbClr val="404040"/>
                </a:solidFill>
                <a:latin typeface="Arial"/>
                <a:cs typeface="Arial"/>
              </a:rPr>
              <a:t>S</a:t>
            </a:r>
            <a:r>
              <a:rPr dirty="0" sz="1800" spc="-165">
                <a:solidFill>
                  <a:srgbClr val="404040"/>
                </a:solidFill>
                <a:latin typeface="Arial"/>
                <a:cs typeface="Arial"/>
              </a:rPr>
              <a:t>. </a:t>
            </a:r>
            <a:r>
              <a:rPr dirty="0" sz="1800" spc="-120">
                <a:solidFill>
                  <a:srgbClr val="404040"/>
                </a:solidFill>
                <a:latin typeface="Arial"/>
                <a:cs typeface="Arial"/>
              </a:rPr>
              <a:t>Do </a:t>
            </a:r>
            <a:r>
              <a:rPr dirty="0" sz="1800" spc="-50">
                <a:solidFill>
                  <a:srgbClr val="404040"/>
                </a:solidFill>
                <a:latin typeface="Arial"/>
                <a:cs typeface="Arial"/>
              </a:rPr>
              <a:t>đó,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việc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lựa </a:t>
            </a:r>
            <a:r>
              <a:rPr dirty="0" sz="1800" spc="-75">
                <a:solidFill>
                  <a:srgbClr val="404040"/>
                </a:solidFill>
                <a:latin typeface="Arial"/>
                <a:cs typeface="Arial"/>
              </a:rPr>
              <a:t>chọn  </a:t>
            </a:r>
            <a:r>
              <a:rPr dirty="0" sz="1800" spc="-15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dirty="0" sz="1800" spc="-9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1800" spc="4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1800" spc="-114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1800" spc="-145">
                <a:solidFill>
                  <a:srgbClr val="404040"/>
                </a:solidFill>
                <a:latin typeface="Arial"/>
                <a:cs typeface="Arial"/>
              </a:rPr>
              <a:t>R</a:t>
            </a:r>
            <a:r>
              <a:rPr dirty="0" baseline="-20833" sz="1800" spc="-217">
                <a:solidFill>
                  <a:srgbClr val="404040"/>
                </a:solidFill>
                <a:latin typeface="Arial"/>
                <a:cs typeface="Arial"/>
              </a:rPr>
              <a:t>1</a:t>
            </a:r>
            <a:r>
              <a:rPr dirty="0" sz="1800" spc="-145">
                <a:solidFill>
                  <a:srgbClr val="404040"/>
                </a:solidFill>
                <a:latin typeface="Arial"/>
                <a:cs typeface="Arial"/>
              </a:rPr>
              <a:t>, </a:t>
            </a:r>
            <a:r>
              <a:rPr dirty="0" sz="1800" spc="-200">
                <a:solidFill>
                  <a:srgbClr val="404040"/>
                </a:solidFill>
                <a:latin typeface="Arial"/>
                <a:cs typeface="Arial"/>
              </a:rPr>
              <a:t>R</a:t>
            </a:r>
            <a:r>
              <a:rPr dirty="0" baseline="-20833" sz="1800" spc="-300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dirty="0" sz="1800" spc="-13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1800" spc="-305">
                <a:solidFill>
                  <a:srgbClr val="404040"/>
                </a:solidFill>
                <a:latin typeface="Arial"/>
                <a:cs typeface="Arial"/>
              </a:rPr>
              <a:t>R</a:t>
            </a:r>
            <a:r>
              <a:rPr dirty="0" baseline="-20833" sz="1800" spc="-457">
                <a:solidFill>
                  <a:srgbClr val="404040"/>
                </a:solidFill>
                <a:latin typeface="Arial"/>
                <a:cs typeface="Arial"/>
              </a:rPr>
              <a:t>S </a:t>
            </a:r>
            <a:r>
              <a:rPr dirty="0" sz="1800" spc="-120">
                <a:solidFill>
                  <a:srgbClr val="404040"/>
                </a:solidFill>
                <a:latin typeface="Arial"/>
                <a:cs typeface="Arial"/>
              </a:rPr>
              <a:t>cần </a:t>
            </a:r>
            <a:r>
              <a:rPr dirty="0" sz="1800" spc="-10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1800" spc="-25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toán </a:t>
            </a:r>
            <a:r>
              <a:rPr dirty="0" sz="1800">
                <a:solidFill>
                  <a:srgbClr val="404040"/>
                </a:solidFill>
                <a:latin typeface="Arial"/>
                <a:cs typeface="Arial"/>
              </a:rPr>
              <a:t>thật 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chính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125">
                <a:solidFill>
                  <a:srgbClr val="404040"/>
                </a:solidFill>
                <a:latin typeface="Arial"/>
                <a:cs typeface="Arial"/>
              </a:rPr>
              <a:t>xác.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48457" y="4653788"/>
            <a:ext cx="1219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310">
                <a:solidFill>
                  <a:srgbClr val="404040"/>
                </a:solidFill>
                <a:latin typeface="Trebuchet MS"/>
                <a:cs typeface="Trebuchet MS"/>
              </a:rPr>
              <a:t>𝐺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05201" y="4521200"/>
            <a:ext cx="5575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3380" algn="l"/>
              </a:tabLst>
            </a:pPr>
            <a:r>
              <a:rPr dirty="0" sz="1800" spc="450">
                <a:solidFill>
                  <a:srgbClr val="404040"/>
                </a:solidFill>
                <a:latin typeface="Trebuchet MS"/>
                <a:cs typeface="Trebuchet MS"/>
              </a:rPr>
              <a:t>𝑉</a:t>
            </a:r>
            <a:r>
              <a:rPr dirty="0" sz="1800" spc="45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400">
                <a:solidFill>
                  <a:srgbClr val="404040"/>
                </a:solidFill>
                <a:latin typeface="Trebuchet MS"/>
                <a:cs typeface="Trebuchet MS"/>
              </a:rPr>
              <a:t>=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04742" y="4347464"/>
            <a:ext cx="2565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495">
                <a:solidFill>
                  <a:srgbClr val="404040"/>
                </a:solidFill>
                <a:latin typeface="Trebuchet MS"/>
                <a:cs typeface="Trebuchet MS"/>
              </a:rPr>
              <a:t>𝑅</a:t>
            </a:r>
            <a:r>
              <a:rPr dirty="0" baseline="-20833" sz="1800" spc="52">
                <a:solidFill>
                  <a:srgbClr val="404040"/>
                </a:solidFill>
                <a:latin typeface="Trebuchet MS"/>
                <a:cs typeface="Trebuchet MS"/>
              </a:rPr>
              <a:t>2</a:t>
            </a:r>
            <a:endParaRPr baseline="-20833"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53282" y="4673600"/>
            <a:ext cx="7594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40">
                <a:solidFill>
                  <a:srgbClr val="404040"/>
                </a:solidFill>
                <a:latin typeface="Trebuchet MS"/>
                <a:cs typeface="Trebuchet MS"/>
              </a:rPr>
              <a:t>𝑅</a:t>
            </a:r>
            <a:r>
              <a:rPr dirty="0" baseline="-20833" sz="1800" spc="209">
                <a:solidFill>
                  <a:srgbClr val="404040"/>
                </a:solidFill>
                <a:latin typeface="Trebuchet MS"/>
                <a:cs typeface="Trebuchet MS"/>
              </a:rPr>
              <a:t>1 </a:t>
            </a:r>
            <a:r>
              <a:rPr dirty="0" sz="1800" spc="400">
                <a:solidFill>
                  <a:srgbClr val="404040"/>
                </a:solidFill>
                <a:latin typeface="Trebuchet MS"/>
                <a:cs typeface="Trebuchet MS"/>
              </a:rPr>
              <a:t>+</a:t>
            </a:r>
            <a:r>
              <a:rPr dirty="0" sz="1800" spc="-3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140">
                <a:solidFill>
                  <a:srgbClr val="404040"/>
                </a:solidFill>
                <a:latin typeface="Trebuchet MS"/>
                <a:cs typeface="Trebuchet MS"/>
              </a:rPr>
              <a:t>𝑅</a:t>
            </a:r>
            <a:r>
              <a:rPr dirty="0" baseline="-20833" sz="1800" spc="209">
                <a:solidFill>
                  <a:srgbClr val="404040"/>
                </a:solidFill>
                <a:latin typeface="Trebuchet MS"/>
                <a:cs typeface="Trebuchet MS"/>
              </a:rPr>
              <a:t>2</a:t>
            </a:r>
            <a:endParaRPr baseline="-20833"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165348" y="4696078"/>
            <a:ext cx="733425" cy="0"/>
          </a:xfrm>
          <a:custGeom>
            <a:avLst/>
            <a:gdLst/>
            <a:ahLst/>
            <a:cxnLst/>
            <a:rect l="l" t="t" r="r" b="b"/>
            <a:pathLst>
              <a:path w="733425" h="0">
                <a:moveTo>
                  <a:pt x="0" y="0"/>
                </a:moveTo>
                <a:lnTo>
                  <a:pt x="733044" y="0"/>
                </a:lnTo>
              </a:path>
            </a:pathLst>
          </a:custGeom>
          <a:ln w="15239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924427" y="4521200"/>
            <a:ext cx="1689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450">
                <a:solidFill>
                  <a:srgbClr val="404040"/>
                </a:solidFill>
                <a:latin typeface="Trebuchet MS"/>
                <a:cs typeface="Trebuchet MS"/>
              </a:rPr>
              <a:t>𝑉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67683" y="4653788"/>
            <a:ext cx="236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455">
                <a:solidFill>
                  <a:srgbClr val="404040"/>
                </a:solidFill>
                <a:latin typeface="Trebuchet MS"/>
                <a:cs typeface="Trebuchet MS"/>
              </a:rPr>
              <a:t>𝐷𝐷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72970" y="5821476"/>
            <a:ext cx="3619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3888" sz="2700" spc="794">
                <a:solidFill>
                  <a:srgbClr val="404040"/>
                </a:solidFill>
                <a:latin typeface="Trebuchet MS"/>
                <a:cs typeface="Trebuchet MS"/>
              </a:rPr>
              <a:t>𝑽</a:t>
            </a:r>
            <a:r>
              <a:rPr dirty="0" sz="1200" spc="405">
                <a:solidFill>
                  <a:srgbClr val="404040"/>
                </a:solidFill>
                <a:latin typeface="Trebuchet MS"/>
                <a:cs typeface="Trebuchet MS"/>
              </a:rPr>
              <a:t>𝑮</a:t>
            </a:r>
            <a:r>
              <a:rPr dirty="0" sz="1200" spc="155">
                <a:solidFill>
                  <a:srgbClr val="404040"/>
                </a:solidFill>
                <a:latin typeface="Trebuchet MS"/>
                <a:cs typeface="Trebuchet MS"/>
              </a:rPr>
              <a:t>𝑺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21026" y="5231638"/>
            <a:ext cx="1969770" cy="833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4485">
              <a:lnSpc>
                <a:spcPct val="100000"/>
              </a:lnSpc>
              <a:spcBef>
                <a:spcPts val="100"/>
              </a:spcBef>
            </a:pPr>
            <a:r>
              <a:rPr dirty="0" sz="1800" spc="130">
                <a:solidFill>
                  <a:srgbClr val="404040"/>
                </a:solidFill>
                <a:latin typeface="Trebuchet MS"/>
                <a:cs typeface="Trebuchet MS"/>
              </a:rPr>
              <a:t>𝑉</a:t>
            </a:r>
            <a:r>
              <a:rPr dirty="0" baseline="-20833" sz="1800" spc="195">
                <a:solidFill>
                  <a:srgbClr val="404040"/>
                </a:solidFill>
                <a:latin typeface="Trebuchet MS"/>
                <a:cs typeface="Trebuchet MS"/>
              </a:rPr>
              <a:t>𝑆 </a:t>
            </a:r>
            <a:r>
              <a:rPr dirty="0" sz="1800" spc="400">
                <a:solidFill>
                  <a:srgbClr val="404040"/>
                </a:solidFill>
                <a:latin typeface="Trebuchet MS"/>
                <a:cs typeface="Trebuchet MS"/>
              </a:rPr>
              <a:t>=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baseline="-20833" sz="1800" spc="75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dirty="0" sz="1800" spc="5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baseline="-20833" sz="1800" spc="75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endParaRPr baseline="-20833"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39"/>
              </a:spcBef>
            </a:pPr>
            <a:r>
              <a:rPr dirty="0" sz="1800" spc="400">
                <a:solidFill>
                  <a:srgbClr val="404040"/>
                </a:solidFill>
                <a:latin typeface="Trebuchet MS"/>
                <a:cs typeface="Trebuchet MS"/>
              </a:rPr>
              <a:t>=</a:t>
            </a:r>
            <a:r>
              <a:rPr dirty="0" sz="1800" spc="3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285">
                <a:solidFill>
                  <a:srgbClr val="404040"/>
                </a:solidFill>
                <a:latin typeface="Trebuchet MS"/>
                <a:cs typeface="Trebuchet MS"/>
              </a:rPr>
              <a:t>𝑽𝑮</a:t>
            </a:r>
            <a:r>
              <a:rPr dirty="0" sz="1800" spc="-1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235">
                <a:solidFill>
                  <a:srgbClr val="404040"/>
                </a:solidFill>
                <a:latin typeface="Trebuchet MS"/>
                <a:cs typeface="Trebuchet MS"/>
              </a:rPr>
              <a:t>–</a:t>
            </a:r>
            <a:r>
              <a:rPr dirty="0" sz="1800" spc="1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190">
                <a:solidFill>
                  <a:srgbClr val="404040"/>
                </a:solidFill>
                <a:latin typeface="Trebuchet MS"/>
                <a:cs typeface="Trebuchet MS"/>
              </a:rPr>
              <a:t>𝑽𝑺</a:t>
            </a:r>
            <a:r>
              <a:rPr dirty="0" sz="18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400">
                <a:solidFill>
                  <a:srgbClr val="404040"/>
                </a:solidFill>
                <a:latin typeface="Trebuchet MS"/>
                <a:cs typeface="Trebuchet MS"/>
              </a:rPr>
              <a:t>&lt;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175">
                <a:solidFill>
                  <a:srgbClr val="404040"/>
                </a:solidFill>
                <a:latin typeface="Trebuchet MS"/>
                <a:cs typeface="Trebuchet MS"/>
              </a:rPr>
              <a:t>𝟎</a:t>
            </a:r>
            <a:r>
              <a:rPr dirty="0" sz="1800" spc="-1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140">
                <a:solidFill>
                  <a:srgbClr val="404040"/>
                </a:solidFill>
                <a:latin typeface="Trebuchet MS"/>
                <a:cs typeface="Trebuchet MS"/>
              </a:rPr>
              <a:t>(𝑽)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852233" y="1885987"/>
            <a:ext cx="2000547" cy="43748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30909"/>
            <a:ext cx="253365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55" b="0">
                <a:solidFill>
                  <a:srgbClr val="404040"/>
                </a:solidFill>
                <a:latin typeface="Arial"/>
                <a:cs typeface="Arial"/>
              </a:rPr>
              <a:t>M</a:t>
            </a:r>
            <a:r>
              <a:rPr dirty="0" sz="4800" spc="-55" b="0">
                <a:solidFill>
                  <a:srgbClr val="404040"/>
                </a:solidFill>
                <a:latin typeface="Arial"/>
                <a:cs typeface="Arial"/>
              </a:rPr>
              <a:t>O</a:t>
            </a:r>
            <a:r>
              <a:rPr dirty="0" sz="4800" spc="-50" b="0">
                <a:solidFill>
                  <a:srgbClr val="404040"/>
                </a:solidFill>
                <a:latin typeface="Arial"/>
                <a:cs typeface="Arial"/>
              </a:rPr>
              <a:t>S</a:t>
            </a:r>
            <a:r>
              <a:rPr dirty="0" sz="4800" spc="-55" b="0">
                <a:solidFill>
                  <a:srgbClr val="404040"/>
                </a:solidFill>
                <a:latin typeface="Arial"/>
                <a:cs typeface="Arial"/>
              </a:rPr>
              <a:t>F</a:t>
            </a:r>
            <a:r>
              <a:rPr dirty="0" sz="4800" spc="-50" b="0">
                <a:solidFill>
                  <a:srgbClr val="404040"/>
                </a:solidFill>
                <a:latin typeface="Arial"/>
                <a:cs typeface="Arial"/>
              </a:rPr>
              <a:t>E</a:t>
            </a:r>
            <a:r>
              <a:rPr dirty="0" sz="4800" b="0">
                <a:solidFill>
                  <a:srgbClr val="404040"/>
                </a:solidFill>
                <a:latin typeface="Arial"/>
                <a:cs typeface="Arial"/>
              </a:rPr>
              <a:t>T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44948" y="6557873"/>
            <a:ext cx="8185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TRỊNH LÊ</a:t>
            </a:r>
            <a:r>
              <a:rPr dirty="0" sz="9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HUY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72473" y="6546291"/>
            <a:ext cx="16002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FFFFF"/>
                </a:solidFill>
                <a:latin typeface="Times New Roman"/>
                <a:cs typeface="Times New Roman"/>
              </a:rPr>
              <a:t>32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89906" y="4354501"/>
            <a:ext cx="2629337" cy="14773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442592" y="4172597"/>
            <a:ext cx="3060700" cy="2070100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algn="ctr" marR="92710">
              <a:lnSpc>
                <a:spcPct val="100000"/>
              </a:lnSpc>
              <a:spcBef>
                <a:spcPts val="1155"/>
              </a:spcBef>
            </a:pPr>
            <a:r>
              <a:rPr dirty="0" sz="1600" spc="-180">
                <a:solidFill>
                  <a:srgbClr val="252525"/>
                </a:solidFill>
                <a:latin typeface="Arial"/>
                <a:cs typeface="Arial"/>
              </a:rPr>
              <a:t>D-MOSFET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469983" y="4300836"/>
            <a:ext cx="2770227" cy="15526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358003" y="4194467"/>
            <a:ext cx="3060700" cy="2070100"/>
          </a:xfrm>
          <a:prstGeom prst="rect">
            <a:avLst/>
          </a:prstGeom>
          <a:ln w="38100">
            <a:solidFill>
              <a:srgbClr val="4D671B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algn="ctr" marR="99060">
              <a:lnSpc>
                <a:spcPct val="100000"/>
              </a:lnSpc>
              <a:spcBef>
                <a:spcPts val="1025"/>
              </a:spcBef>
            </a:pPr>
            <a:r>
              <a:rPr dirty="0" sz="1600" spc="-195">
                <a:solidFill>
                  <a:srgbClr val="252525"/>
                </a:solidFill>
                <a:latin typeface="Arial"/>
                <a:cs typeface="Arial"/>
              </a:rPr>
              <a:t>E-MOSFET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07817" y="4261167"/>
            <a:ext cx="1296035" cy="1418590"/>
          </a:xfrm>
          <a:custGeom>
            <a:avLst/>
            <a:gdLst/>
            <a:ahLst/>
            <a:cxnLst/>
            <a:rect l="l" t="t" r="r" b="b"/>
            <a:pathLst>
              <a:path w="1296035" h="1418589">
                <a:moveTo>
                  <a:pt x="0" y="1418082"/>
                </a:moveTo>
                <a:lnTo>
                  <a:pt x="1296034" y="1418082"/>
                </a:lnTo>
                <a:lnTo>
                  <a:pt x="1296034" y="0"/>
                </a:lnTo>
                <a:lnTo>
                  <a:pt x="0" y="0"/>
                </a:lnTo>
                <a:lnTo>
                  <a:pt x="0" y="1418082"/>
                </a:lnTo>
                <a:close/>
              </a:path>
            </a:pathLst>
          </a:custGeom>
          <a:ln w="15875">
            <a:solidFill>
              <a:srgbClr val="6E94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019417" y="4261167"/>
            <a:ext cx="1296035" cy="1418590"/>
          </a:xfrm>
          <a:custGeom>
            <a:avLst/>
            <a:gdLst/>
            <a:ahLst/>
            <a:cxnLst/>
            <a:rect l="l" t="t" r="r" b="b"/>
            <a:pathLst>
              <a:path w="1296034" h="1418589">
                <a:moveTo>
                  <a:pt x="0" y="1418082"/>
                </a:moveTo>
                <a:lnTo>
                  <a:pt x="1296034" y="1418082"/>
                </a:lnTo>
                <a:lnTo>
                  <a:pt x="1296034" y="0"/>
                </a:lnTo>
                <a:lnTo>
                  <a:pt x="0" y="0"/>
                </a:lnTo>
                <a:lnTo>
                  <a:pt x="0" y="1418082"/>
                </a:lnTo>
                <a:close/>
              </a:path>
            </a:pathLst>
          </a:custGeom>
          <a:ln w="15875">
            <a:solidFill>
              <a:srgbClr val="6E94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60655" rIns="0" bIns="0" rtlCol="0" vert="horz">
            <a:spAutoFit/>
          </a:bodyPr>
          <a:lstStyle/>
          <a:p>
            <a:pPr marL="104139" indent="-91440">
              <a:lnSpc>
                <a:spcPct val="100000"/>
              </a:lnSpc>
              <a:spcBef>
                <a:spcPts val="126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pc="-250"/>
              <a:t>MOSFET </a:t>
            </a:r>
            <a:r>
              <a:rPr dirty="0" spc="-35"/>
              <a:t>(Metal </a:t>
            </a:r>
            <a:r>
              <a:rPr dirty="0" spc="-110"/>
              <a:t>Oxide </a:t>
            </a:r>
            <a:r>
              <a:rPr dirty="0" spc="-85"/>
              <a:t>Semiconductor </a:t>
            </a:r>
            <a:r>
              <a:rPr dirty="0" spc="-95"/>
              <a:t>Field </a:t>
            </a:r>
            <a:r>
              <a:rPr dirty="0" spc="-90"/>
              <a:t>Effect</a:t>
            </a:r>
            <a:r>
              <a:rPr dirty="0" spc="-409"/>
              <a:t> </a:t>
            </a:r>
            <a:r>
              <a:rPr dirty="0" spc="-95"/>
              <a:t>Transistor)</a:t>
            </a:r>
          </a:p>
          <a:p>
            <a:pPr marL="104139" marR="5080" indent="-91440">
              <a:lnSpc>
                <a:spcPts val="2160"/>
              </a:lnSpc>
              <a:spcBef>
                <a:spcPts val="1435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pc="-170"/>
              <a:t>Khác </a:t>
            </a:r>
            <a:r>
              <a:rPr dirty="0" spc="-90"/>
              <a:t>với </a:t>
            </a:r>
            <a:r>
              <a:rPr dirty="0" spc="-310"/>
              <a:t>JFET, </a:t>
            </a:r>
            <a:r>
              <a:rPr dirty="0" spc="-145"/>
              <a:t>cực </a:t>
            </a:r>
            <a:r>
              <a:rPr dirty="0" spc="-125"/>
              <a:t>Gate </a:t>
            </a:r>
            <a:r>
              <a:rPr dirty="0" spc="-120"/>
              <a:t>của </a:t>
            </a:r>
            <a:r>
              <a:rPr dirty="0" spc="-250"/>
              <a:t>MOSFET </a:t>
            </a:r>
            <a:r>
              <a:rPr dirty="0" spc="-95"/>
              <a:t>không </a:t>
            </a:r>
            <a:r>
              <a:rPr dirty="0" spc="-55"/>
              <a:t>kết </a:t>
            </a:r>
            <a:r>
              <a:rPr dirty="0" spc="-35"/>
              <a:t>nối </a:t>
            </a:r>
            <a:r>
              <a:rPr dirty="0" spc="-40"/>
              <a:t>trực </a:t>
            </a:r>
            <a:r>
              <a:rPr dirty="0" spc="-15"/>
              <a:t>tiếp </a:t>
            </a:r>
            <a:r>
              <a:rPr dirty="0" spc="-90"/>
              <a:t>với phần </a:t>
            </a:r>
            <a:r>
              <a:rPr dirty="0" spc="-70"/>
              <a:t>vật </a:t>
            </a:r>
            <a:r>
              <a:rPr dirty="0" spc="-35"/>
              <a:t>liệu  </a:t>
            </a:r>
            <a:r>
              <a:rPr dirty="0" spc="-95"/>
              <a:t>bán dẫn </a:t>
            </a:r>
            <a:r>
              <a:rPr dirty="0" spc="-114"/>
              <a:t>mà </a:t>
            </a:r>
            <a:r>
              <a:rPr dirty="0" spc="-110"/>
              <a:t>được </a:t>
            </a:r>
            <a:r>
              <a:rPr dirty="0" spc="-135"/>
              <a:t>cách </a:t>
            </a:r>
            <a:r>
              <a:rPr dirty="0" spc="-45"/>
              <a:t>ly </a:t>
            </a:r>
            <a:r>
              <a:rPr dirty="0" spc="-90"/>
              <a:t>nhờ </a:t>
            </a:r>
            <a:r>
              <a:rPr dirty="0" spc="-114"/>
              <a:t>vào </a:t>
            </a:r>
            <a:r>
              <a:rPr dirty="0" spc="-5"/>
              <a:t>một </a:t>
            </a:r>
            <a:r>
              <a:rPr dirty="0" spc="-70"/>
              <a:t>lớp </a:t>
            </a:r>
            <a:r>
              <a:rPr dirty="0" spc="-100"/>
              <a:t>Silicon </a:t>
            </a:r>
            <a:r>
              <a:rPr dirty="0" spc="-110"/>
              <a:t>Oxide</a:t>
            </a:r>
            <a:r>
              <a:rPr dirty="0" spc="-355"/>
              <a:t> </a:t>
            </a:r>
            <a:r>
              <a:rPr dirty="0" spc="-125"/>
              <a:t>(SiO</a:t>
            </a:r>
            <a:r>
              <a:rPr dirty="0" baseline="-21367" sz="1950" spc="-187"/>
              <a:t>2</a:t>
            </a:r>
            <a:r>
              <a:rPr dirty="0" sz="2000" spc="-125"/>
              <a:t>).</a:t>
            </a:r>
            <a:endParaRPr sz="2000"/>
          </a:p>
          <a:p>
            <a:pPr marL="104139" indent="-91440">
              <a:lnSpc>
                <a:spcPct val="100000"/>
              </a:lnSpc>
              <a:spcBef>
                <a:spcPts val="1120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pc="-220"/>
              <a:t>Có </a:t>
            </a:r>
            <a:r>
              <a:rPr dirty="0" spc="-70"/>
              <a:t>hai </a:t>
            </a:r>
            <a:r>
              <a:rPr dirty="0" spc="-45"/>
              <a:t>loại </a:t>
            </a:r>
            <a:r>
              <a:rPr dirty="0" spc="-55"/>
              <a:t>transistor</a:t>
            </a:r>
            <a:r>
              <a:rPr dirty="0" spc="-85"/>
              <a:t> </a:t>
            </a:r>
            <a:r>
              <a:rPr dirty="0" spc="-235"/>
              <a:t>MOSFET:</a:t>
            </a:r>
          </a:p>
          <a:p>
            <a:pPr lvl="1" marL="448309" indent="-234315">
              <a:lnSpc>
                <a:spcPct val="100000"/>
              </a:lnSpc>
              <a:spcBef>
                <a:spcPts val="20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229">
                <a:solidFill>
                  <a:srgbClr val="404040"/>
                </a:solidFill>
                <a:latin typeface="Arial"/>
                <a:cs typeface="Arial"/>
              </a:rPr>
              <a:t>MOSFET 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kênh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liên </a:t>
            </a:r>
            <a:r>
              <a:rPr dirty="0" sz="1800" spc="-35">
                <a:solidFill>
                  <a:srgbClr val="404040"/>
                </a:solidFill>
                <a:latin typeface="Arial"/>
                <a:cs typeface="Arial"/>
              </a:rPr>
              <a:t>tục</a:t>
            </a:r>
            <a:r>
              <a:rPr dirty="0" sz="1800" spc="-26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175">
                <a:solidFill>
                  <a:srgbClr val="404040"/>
                </a:solidFill>
                <a:latin typeface="Arial"/>
                <a:cs typeface="Arial"/>
              </a:rPr>
              <a:t>(D-MOSFET)</a:t>
            </a:r>
            <a:endParaRPr sz="1800">
              <a:latin typeface="Arial"/>
              <a:cs typeface="Arial"/>
            </a:endParaRPr>
          </a:p>
          <a:p>
            <a:pPr lvl="1" marL="448309" indent="-234315">
              <a:lnSpc>
                <a:spcPts val="1870"/>
              </a:lnSpc>
              <a:spcBef>
                <a:spcPts val="385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229">
                <a:solidFill>
                  <a:srgbClr val="404040"/>
                </a:solidFill>
                <a:latin typeface="Arial"/>
                <a:cs typeface="Arial"/>
              </a:rPr>
              <a:t>MOSFET 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kênh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gián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đoạn</a:t>
            </a:r>
            <a:r>
              <a:rPr dirty="0" sz="1800" spc="-24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190">
                <a:solidFill>
                  <a:srgbClr val="404040"/>
                </a:solidFill>
                <a:latin typeface="Arial"/>
                <a:cs typeface="Arial"/>
              </a:rPr>
              <a:t>(E-MOSFET)</a:t>
            </a:r>
            <a:endParaRPr sz="1800">
              <a:latin typeface="Arial"/>
              <a:cs typeface="Arial"/>
            </a:endParaRPr>
          </a:p>
          <a:p>
            <a:pPr marL="4472305">
              <a:lnSpc>
                <a:spcPts val="1630"/>
              </a:lnSpc>
            </a:pPr>
            <a:r>
              <a:rPr dirty="0" sz="1600" spc="-160" b="1">
                <a:solidFill>
                  <a:srgbClr val="00AF50"/>
                </a:solidFill>
                <a:latin typeface="Arial"/>
                <a:cs typeface="Arial"/>
              </a:rPr>
              <a:t>Thường </a:t>
            </a:r>
            <a:r>
              <a:rPr dirty="0" sz="1600" spc="-140" b="1">
                <a:solidFill>
                  <a:srgbClr val="00AF50"/>
                </a:solidFill>
                <a:latin typeface="Arial"/>
                <a:cs typeface="Arial"/>
              </a:rPr>
              <a:t>được </a:t>
            </a:r>
            <a:r>
              <a:rPr dirty="0" sz="1600" spc="-195" b="1">
                <a:solidFill>
                  <a:srgbClr val="00AF50"/>
                </a:solidFill>
                <a:latin typeface="Arial"/>
                <a:cs typeface="Arial"/>
              </a:rPr>
              <a:t>sử </a:t>
            </a:r>
            <a:r>
              <a:rPr dirty="0" sz="1600" spc="-150" b="1">
                <a:solidFill>
                  <a:srgbClr val="00AF50"/>
                </a:solidFill>
                <a:latin typeface="Arial"/>
                <a:cs typeface="Arial"/>
              </a:rPr>
              <a:t>dụng </a:t>
            </a:r>
            <a:r>
              <a:rPr dirty="0" sz="1600" spc="-110" b="1">
                <a:solidFill>
                  <a:srgbClr val="00AF50"/>
                </a:solidFill>
                <a:latin typeface="Arial"/>
                <a:cs typeface="Arial"/>
              </a:rPr>
              <a:t>trong </a:t>
            </a:r>
            <a:r>
              <a:rPr dirty="0" sz="1600" spc="-120" b="1">
                <a:solidFill>
                  <a:srgbClr val="00AF50"/>
                </a:solidFill>
                <a:latin typeface="Arial"/>
                <a:cs typeface="Arial"/>
              </a:rPr>
              <a:t>thực</a:t>
            </a:r>
            <a:r>
              <a:rPr dirty="0" sz="1600" spc="-140" b="1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 sz="1600" spc="-65" b="1">
                <a:solidFill>
                  <a:srgbClr val="00AF50"/>
                </a:solidFill>
                <a:latin typeface="Arial"/>
                <a:cs typeface="Arial"/>
              </a:rPr>
              <a:t>tế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30909"/>
            <a:ext cx="655129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35" b="0">
                <a:solidFill>
                  <a:srgbClr val="404040"/>
                </a:solidFill>
                <a:latin typeface="Arial"/>
                <a:cs typeface="Arial"/>
              </a:rPr>
              <a:t>Cấu tạo của</a:t>
            </a:r>
            <a:r>
              <a:rPr dirty="0" sz="4800" spc="-245" b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4800" spc="-50" b="0">
                <a:solidFill>
                  <a:srgbClr val="404040"/>
                </a:solidFill>
                <a:latin typeface="Arial"/>
                <a:cs typeface="Arial"/>
              </a:rPr>
              <a:t>D-MOSFET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44948" y="6557873"/>
            <a:ext cx="8185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TRỊNH LÊ</a:t>
            </a:r>
            <a:r>
              <a:rPr dirty="0" sz="9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HUY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72473" y="6546291"/>
            <a:ext cx="16002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FFFFF"/>
                </a:solidFill>
                <a:latin typeface="Times New Roman"/>
                <a:cs typeface="Times New Roman"/>
              </a:rPr>
              <a:t>33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9" y="1884121"/>
            <a:ext cx="8455025" cy="150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1780" indent="-259079">
              <a:lnSpc>
                <a:spcPts val="228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200">
                <a:solidFill>
                  <a:srgbClr val="404040"/>
                </a:solidFill>
                <a:latin typeface="Arial"/>
                <a:cs typeface="Arial"/>
              </a:rPr>
              <a:t>Cấu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tạo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225">
                <a:solidFill>
                  <a:srgbClr val="404040"/>
                </a:solidFill>
                <a:latin typeface="Arial"/>
                <a:cs typeface="Arial"/>
              </a:rPr>
              <a:t>D-MOSFET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bao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gồm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phần,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phần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vật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liệu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bán dẫn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loại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N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và</a:t>
            </a:r>
            <a:r>
              <a:rPr dirty="0" sz="2000" spc="24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vật</a:t>
            </a:r>
            <a:endParaRPr sz="2000">
              <a:latin typeface="Arial"/>
              <a:cs typeface="Arial"/>
            </a:endParaRPr>
          </a:p>
          <a:p>
            <a:pPr marL="104139">
              <a:lnSpc>
                <a:spcPts val="2280"/>
              </a:lnSpc>
            </a:pP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liệu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bán dẫn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loại </a:t>
            </a:r>
            <a:r>
              <a:rPr dirty="0" sz="2000" spc="-300">
                <a:solidFill>
                  <a:srgbClr val="404040"/>
                </a:solidFill>
                <a:latin typeface="Arial"/>
                <a:cs typeface="Arial"/>
              </a:rPr>
              <a:t>P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nối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với</a:t>
            </a:r>
            <a:r>
              <a:rPr dirty="0" sz="2000" spc="-40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nhau.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22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Drain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135">
                <a:solidFill>
                  <a:srgbClr val="404040"/>
                </a:solidFill>
                <a:latin typeface="Arial"/>
                <a:cs typeface="Arial"/>
              </a:rPr>
              <a:t>Source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nối trực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tiếp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vật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liệu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bán dẫn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loại</a:t>
            </a:r>
            <a:r>
              <a:rPr dirty="0" sz="2000" spc="-34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50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22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Gate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nối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gián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tiếp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vật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liệu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bán dẫn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loại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N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thông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qua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1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lớp</a:t>
            </a:r>
            <a:r>
              <a:rPr dirty="0" sz="2000" spc="-35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SiO</a:t>
            </a:r>
            <a:r>
              <a:rPr dirty="0" baseline="-21367" sz="1950" spc="-254">
                <a:solidFill>
                  <a:srgbClr val="404040"/>
                </a:solidFill>
                <a:latin typeface="Arial"/>
                <a:cs typeface="Arial"/>
              </a:rPr>
              <a:t>2</a:t>
            </a:r>
            <a:endParaRPr baseline="-21367"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34119" y="3657818"/>
            <a:ext cx="5362722" cy="25603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64870" y="5521248"/>
            <a:ext cx="13671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252525"/>
                </a:solidFill>
                <a:latin typeface="Arial"/>
                <a:cs typeface="Arial"/>
              </a:rPr>
              <a:t>Depletion</a:t>
            </a:r>
            <a:r>
              <a:rPr dirty="0" sz="1600" spc="-13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600" spc="-45">
                <a:solidFill>
                  <a:srgbClr val="252525"/>
                </a:solidFill>
                <a:latin typeface="Arial"/>
                <a:cs typeface="Arial"/>
              </a:rPr>
              <a:t>Mode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95566" y="5521248"/>
            <a:ext cx="169798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90">
                <a:solidFill>
                  <a:srgbClr val="252525"/>
                </a:solidFill>
                <a:latin typeface="Arial"/>
                <a:cs typeface="Arial"/>
              </a:rPr>
              <a:t>Enhancement</a:t>
            </a:r>
            <a:r>
              <a:rPr dirty="0" sz="1600" spc="-11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600" spc="-45">
                <a:solidFill>
                  <a:srgbClr val="252525"/>
                </a:solidFill>
                <a:latin typeface="Arial"/>
                <a:cs typeface="Arial"/>
              </a:rPr>
              <a:t>Mode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30909"/>
            <a:ext cx="667956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35" b="0">
                <a:solidFill>
                  <a:srgbClr val="404040"/>
                </a:solidFill>
                <a:latin typeface="Arial"/>
                <a:cs typeface="Arial"/>
              </a:rPr>
              <a:t>Đặc </a:t>
            </a:r>
            <a:r>
              <a:rPr dirty="0" sz="4800" spc="-40" b="0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dirty="0" sz="4800" spc="-35" b="0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dirty="0" sz="4800" spc="-250" b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4800" spc="-50" b="0">
                <a:solidFill>
                  <a:srgbClr val="404040"/>
                </a:solidFill>
                <a:latin typeface="Arial"/>
                <a:cs typeface="Arial"/>
              </a:rPr>
              <a:t>D-MOSFET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44948" y="6557873"/>
            <a:ext cx="8185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TRỊNH LÊ</a:t>
            </a:r>
            <a:r>
              <a:rPr dirty="0" sz="9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HUY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72473" y="6546291"/>
            <a:ext cx="16002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49723" y="4492031"/>
            <a:ext cx="1765821" cy="17464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794317" y="2665828"/>
            <a:ext cx="1607658" cy="16257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956172" y="4419130"/>
            <a:ext cx="3611245" cy="1845310"/>
          </a:xfrm>
          <a:prstGeom prst="rect">
            <a:avLst/>
          </a:prstGeom>
          <a:ln w="15875">
            <a:solidFill>
              <a:srgbClr val="6E9425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50">
              <a:latin typeface="Times New Roman"/>
              <a:cs typeface="Times New Roman"/>
            </a:endParaRPr>
          </a:p>
          <a:p>
            <a:pPr marL="121285">
              <a:lnSpc>
                <a:spcPct val="100000"/>
              </a:lnSpc>
            </a:pPr>
            <a:r>
              <a:rPr dirty="0" sz="1600" spc="-90">
                <a:solidFill>
                  <a:srgbClr val="252525"/>
                </a:solidFill>
                <a:latin typeface="Arial"/>
                <a:cs typeface="Arial"/>
              </a:rPr>
              <a:t>Enhancement</a:t>
            </a:r>
            <a:r>
              <a:rPr dirty="0" sz="1600" spc="-8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600" spc="-45">
                <a:solidFill>
                  <a:srgbClr val="252525"/>
                </a:solidFill>
                <a:latin typeface="Arial"/>
                <a:cs typeface="Arial"/>
              </a:rPr>
              <a:t>Mode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56172" y="2493517"/>
            <a:ext cx="3611245" cy="1845310"/>
          </a:xfrm>
          <a:prstGeom prst="rect">
            <a:avLst/>
          </a:prstGeom>
          <a:ln w="15875">
            <a:solidFill>
              <a:srgbClr val="FF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>
              <a:latin typeface="Times New Roman"/>
              <a:cs typeface="Times New Roman"/>
            </a:endParaRPr>
          </a:p>
          <a:p>
            <a:pPr marL="454025">
              <a:lnSpc>
                <a:spcPct val="100000"/>
              </a:lnSpc>
            </a:pPr>
            <a:r>
              <a:rPr dirty="0" sz="1600" spc="-50">
                <a:solidFill>
                  <a:srgbClr val="252525"/>
                </a:solidFill>
                <a:latin typeface="Arial"/>
                <a:cs typeface="Arial"/>
              </a:rPr>
              <a:t>Depletion</a:t>
            </a:r>
            <a:r>
              <a:rPr dirty="0" sz="1600" spc="-85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600" spc="-40">
                <a:solidFill>
                  <a:srgbClr val="252525"/>
                </a:solidFill>
                <a:latin typeface="Arial"/>
                <a:cs typeface="Arial"/>
              </a:rPr>
              <a:t>Mode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3465" y="3116258"/>
            <a:ext cx="5295457" cy="27452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702686" y="3429343"/>
            <a:ext cx="914400" cy="972185"/>
          </a:xfrm>
          <a:custGeom>
            <a:avLst/>
            <a:gdLst/>
            <a:ahLst/>
            <a:cxnLst/>
            <a:rect l="l" t="t" r="r" b="b"/>
            <a:pathLst>
              <a:path w="914400" h="972185">
                <a:moveTo>
                  <a:pt x="0" y="972096"/>
                </a:moveTo>
                <a:lnTo>
                  <a:pt x="914400" y="972096"/>
                </a:lnTo>
                <a:lnTo>
                  <a:pt x="914400" y="0"/>
                </a:lnTo>
                <a:lnTo>
                  <a:pt x="0" y="0"/>
                </a:lnTo>
                <a:lnTo>
                  <a:pt x="0" y="972096"/>
                </a:lnTo>
                <a:close/>
              </a:path>
            </a:pathLst>
          </a:custGeom>
          <a:ln w="15874">
            <a:solidFill>
              <a:srgbClr val="6E94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67321" y="3840314"/>
            <a:ext cx="2195830" cy="1845310"/>
          </a:xfrm>
          <a:custGeom>
            <a:avLst/>
            <a:gdLst/>
            <a:ahLst/>
            <a:cxnLst/>
            <a:rect l="l" t="t" r="r" b="b"/>
            <a:pathLst>
              <a:path w="2195830" h="1845310">
                <a:moveTo>
                  <a:pt x="0" y="1845183"/>
                </a:moveTo>
                <a:lnTo>
                  <a:pt x="2195576" y="1845183"/>
                </a:lnTo>
                <a:lnTo>
                  <a:pt x="2195576" y="0"/>
                </a:lnTo>
                <a:lnTo>
                  <a:pt x="0" y="0"/>
                </a:lnTo>
                <a:lnTo>
                  <a:pt x="0" y="1845183"/>
                </a:lnTo>
                <a:close/>
              </a:path>
            </a:pathLst>
          </a:custGeom>
          <a:ln w="158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676650" y="3823322"/>
            <a:ext cx="2195830" cy="1845310"/>
          </a:xfrm>
          <a:custGeom>
            <a:avLst/>
            <a:gdLst/>
            <a:ahLst/>
            <a:cxnLst/>
            <a:rect l="l" t="t" r="r" b="b"/>
            <a:pathLst>
              <a:path w="2195829" h="1845310">
                <a:moveTo>
                  <a:pt x="0" y="1845183"/>
                </a:moveTo>
                <a:lnTo>
                  <a:pt x="2195576" y="1845183"/>
                </a:lnTo>
                <a:lnTo>
                  <a:pt x="2195576" y="0"/>
                </a:lnTo>
                <a:lnTo>
                  <a:pt x="0" y="0"/>
                </a:lnTo>
                <a:lnTo>
                  <a:pt x="0" y="1845183"/>
                </a:lnTo>
                <a:close/>
              </a:path>
            </a:pathLst>
          </a:custGeom>
          <a:ln w="158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78839" y="1884121"/>
            <a:ext cx="8689340" cy="6191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0510" indent="-257810">
              <a:lnSpc>
                <a:spcPts val="209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275">
                <a:solidFill>
                  <a:srgbClr val="404040"/>
                </a:solidFill>
                <a:latin typeface="Arial"/>
                <a:cs typeface="Arial"/>
              </a:rPr>
              <a:t>Sự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biến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thiên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dirty="0" baseline="-21367" sz="1950" spc="-135">
                <a:solidFill>
                  <a:srgbClr val="404040"/>
                </a:solidFill>
                <a:latin typeface="Arial"/>
                <a:cs typeface="Arial"/>
              </a:rPr>
              <a:t>D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phụ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thuộc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thế</a:t>
            </a:r>
            <a:r>
              <a:rPr dirty="0" sz="2000" spc="-28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22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dirty="0" baseline="-21367" sz="1950" spc="-330">
                <a:solidFill>
                  <a:srgbClr val="404040"/>
                </a:solidFill>
                <a:latin typeface="Arial"/>
                <a:cs typeface="Arial"/>
              </a:rPr>
              <a:t>GS</a:t>
            </a:r>
            <a:endParaRPr baseline="-21367" sz="1950">
              <a:latin typeface="Arial"/>
              <a:cs typeface="Arial"/>
            </a:endParaRPr>
          </a:p>
          <a:p>
            <a:pPr algn="r" marR="5080">
              <a:lnSpc>
                <a:spcPts val="2570"/>
              </a:lnSpc>
            </a:pPr>
            <a:r>
              <a:rPr dirty="0" sz="2400">
                <a:latin typeface="Times New Roman"/>
                <a:cs typeface="Times New Roman"/>
              </a:rPr>
              <a:t>n</a:t>
            </a:r>
            <a:r>
              <a:rPr dirty="0" sz="2400" spc="-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channel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308813"/>
            <a:ext cx="6012815" cy="1379220"/>
          </a:xfrm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dirty="0" sz="4800" spc="-40" b="0">
                <a:solidFill>
                  <a:srgbClr val="404040"/>
                </a:solidFill>
                <a:latin typeface="Arial"/>
                <a:cs typeface="Arial"/>
              </a:rPr>
              <a:t>Cách </a:t>
            </a:r>
            <a:r>
              <a:rPr dirty="0" sz="4800" spc="-45" b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4800" spc="-35" b="0">
                <a:solidFill>
                  <a:srgbClr val="404040"/>
                </a:solidFill>
                <a:latin typeface="Arial"/>
                <a:cs typeface="Arial"/>
              </a:rPr>
              <a:t>cực cho</a:t>
            </a:r>
            <a:r>
              <a:rPr dirty="0" sz="4800" spc="-300" b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4800" spc="-25" b="0">
                <a:solidFill>
                  <a:srgbClr val="404040"/>
                </a:solidFill>
                <a:latin typeface="Arial"/>
                <a:cs typeface="Arial"/>
              </a:rPr>
              <a:t>D-  </a:t>
            </a:r>
            <a:r>
              <a:rPr dirty="0" sz="4800" spc="-45" b="0">
                <a:solidFill>
                  <a:srgbClr val="404040"/>
                </a:solidFill>
                <a:latin typeface="Arial"/>
                <a:cs typeface="Arial"/>
              </a:rPr>
              <a:t>MOSFET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44948" y="6557873"/>
            <a:ext cx="8185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TRỊNH LÊ</a:t>
            </a:r>
            <a:r>
              <a:rPr dirty="0" sz="9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HUY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72473" y="6546291"/>
            <a:ext cx="16002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FFFFF"/>
                </a:solidFill>
                <a:latin typeface="Times New Roman"/>
                <a:cs typeface="Times New Roman"/>
              </a:rPr>
              <a:t>35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68069" y="3368205"/>
            <a:ext cx="1454753" cy="28691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027195" y="3270598"/>
            <a:ext cx="2625772" cy="29432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78839" y="1736787"/>
            <a:ext cx="8454390" cy="1480185"/>
          </a:xfrm>
          <a:prstGeom prst="rect">
            <a:avLst/>
          </a:prstGeom>
        </p:spPr>
        <p:txBody>
          <a:bodyPr wrap="square" lIns="0" tIns="160655" rIns="0" bIns="0" rtlCol="0" vert="horz">
            <a:spAutoFit/>
          </a:bodyPr>
          <a:lstStyle/>
          <a:p>
            <a:pPr marL="104139" indent="-91440">
              <a:lnSpc>
                <a:spcPct val="100000"/>
              </a:lnSpc>
              <a:spcBef>
                <a:spcPts val="126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60">
                <a:solidFill>
                  <a:srgbClr val="404040"/>
                </a:solidFill>
                <a:latin typeface="Arial"/>
                <a:cs typeface="Arial"/>
              </a:rPr>
              <a:t>Để </a:t>
            </a:r>
            <a:r>
              <a:rPr dirty="0" sz="2000" spc="-240">
                <a:solidFill>
                  <a:srgbClr val="404040"/>
                </a:solidFill>
                <a:latin typeface="Arial"/>
                <a:cs typeface="Arial"/>
              </a:rPr>
              <a:t>E-MOSFET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hoạt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động,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ta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phải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cấp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cho </a:t>
            </a:r>
            <a:r>
              <a:rPr dirty="0" sz="2000" spc="-22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dirty="0" baseline="-21367" sz="1950" spc="-330">
                <a:solidFill>
                  <a:srgbClr val="404040"/>
                </a:solidFill>
                <a:latin typeface="Arial"/>
                <a:cs typeface="Arial"/>
              </a:rPr>
              <a:t>GS </a:t>
            </a:r>
            <a:r>
              <a:rPr dirty="0" sz="2000" spc="-5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5">
                <a:solidFill>
                  <a:srgbClr val="404040"/>
                </a:solidFill>
                <a:latin typeface="Arial"/>
                <a:cs typeface="Arial"/>
              </a:rPr>
              <a:t>trị</a:t>
            </a:r>
            <a:r>
              <a:rPr dirty="0" sz="2000" spc="-40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lớn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hơn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dirty="0" baseline="-21367" sz="1950" spc="-120">
                <a:solidFill>
                  <a:srgbClr val="404040"/>
                </a:solidFill>
                <a:latin typeface="Arial"/>
                <a:cs typeface="Arial"/>
              </a:rPr>
              <a:t>GS(off)</a:t>
            </a:r>
            <a:endParaRPr baseline="-21367" sz="1950">
              <a:latin typeface="Arial"/>
              <a:cs typeface="Arial"/>
            </a:endParaRPr>
          </a:p>
          <a:p>
            <a:pPr algn="just" marL="104139" marR="5080" indent="-91440">
              <a:lnSpc>
                <a:spcPts val="2160"/>
              </a:lnSpc>
              <a:spcBef>
                <a:spcPts val="1435"/>
              </a:spcBef>
              <a:buClr>
                <a:srgbClr val="99CA38"/>
              </a:buClr>
              <a:buFont typeface="Wingdings"/>
              <a:buChar char=""/>
              <a:tabLst>
                <a:tab pos="252729" algn="l"/>
              </a:tabLst>
            </a:pP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Vì </a:t>
            </a:r>
            <a:r>
              <a:rPr dirty="0" sz="2000" spc="-225">
                <a:solidFill>
                  <a:srgbClr val="404040"/>
                </a:solidFill>
                <a:latin typeface="Arial"/>
                <a:cs typeface="Arial"/>
              </a:rPr>
              <a:t>D-MOSFET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hoạt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dirty="0" sz="2000" spc="-22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dirty="0" baseline="-21367" sz="1950" spc="-330">
                <a:solidFill>
                  <a:srgbClr val="404040"/>
                </a:solidFill>
                <a:latin typeface="Arial"/>
                <a:cs typeface="Arial"/>
              </a:rPr>
              <a:t>GS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&lt;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0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cũng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như </a:t>
            </a:r>
            <a:r>
              <a:rPr dirty="0" sz="2000" spc="-22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dirty="0" baseline="-21367" sz="1950" spc="-330">
                <a:solidFill>
                  <a:srgbClr val="404040"/>
                </a:solidFill>
                <a:latin typeface="Arial"/>
                <a:cs typeface="Arial"/>
              </a:rPr>
              <a:t>GS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&gt;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0. </a:t>
            </a:r>
            <a:r>
              <a:rPr dirty="0" sz="2000" spc="-135">
                <a:solidFill>
                  <a:srgbClr val="404040"/>
                </a:solidFill>
                <a:latin typeface="Arial"/>
                <a:cs typeface="Arial"/>
              </a:rPr>
              <a:t>Do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đó,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trong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thực 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tế,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để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đơn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giản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hóa,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người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ta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cho </a:t>
            </a:r>
            <a:r>
              <a:rPr dirty="0" sz="2000" spc="-225">
                <a:solidFill>
                  <a:srgbClr val="404040"/>
                </a:solidFill>
                <a:latin typeface="Arial"/>
                <a:cs typeface="Arial"/>
              </a:rPr>
              <a:t>D-MOSFET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bằng </a:t>
            </a:r>
            <a:r>
              <a:rPr dirty="0" sz="2000" spc="-135">
                <a:solidFill>
                  <a:srgbClr val="404040"/>
                </a:solidFill>
                <a:latin typeface="Arial"/>
                <a:cs typeface="Arial"/>
              </a:rPr>
              <a:t>cách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nối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Gate 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xuống </a:t>
            </a:r>
            <a:r>
              <a:rPr dirty="0" sz="2000" spc="-220">
                <a:solidFill>
                  <a:srgbClr val="404040"/>
                </a:solidFill>
                <a:latin typeface="Arial"/>
                <a:cs typeface="Arial"/>
              </a:rPr>
              <a:t>GND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để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đảm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bảo </a:t>
            </a:r>
            <a:r>
              <a:rPr dirty="0" sz="2000" spc="-22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dirty="0" baseline="-21367" sz="1950" spc="-330">
                <a:solidFill>
                  <a:srgbClr val="404040"/>
                </a:solidFill>
                <a:latin typeface="Arial"/>
                <a:cs typeface="Arial"/>
              </a:rPr>
              <a:t>GS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=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0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dirty="0" baseline="-21367" sz="1950" spc="-135">
                <a:solidFill>
                  <a:srgbClr val="404040"/>
                </a:solidFill>
                <a:latin typeface="Arial"/>
                <a:cs typeface="Arial"/>
              </a:rPr>
              <a:t>D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=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dirty="0" baseline="-21367" sz="1950" spc="-270">
                <a:solidFill>
                  <a:srgbClr val="404040"/>
                </a:solidFill>
                <a:latin typeface="Arial"/>
                <a:cs typeface="Arial"/>
              </a:rPr>
              <a:t>DSS</a:t>
            </a:r>
            <a:endParaRPr baseline="-21367"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8200" y="3511169"/>
            <a:ext cx="3979799" cy="24229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203313" y="4284090"/>
            <a:ext cx="450215" cy="450215"/>
          </a:xfrm>
          <a:custGeom>
            <a:avLst/>
            <a:gdLst/>
            <a:ahLst/>
            <a:cxnLst/>
            <a:rect l="l" t="t" r="r" b="b"/>
            <a:pathLst>
              <a:path w="450215" h="450214">
                <a:moveTo>
                  <a:pt x="0" y="225043"/>
                </a:moveTo>
                <a:lnTo>
                  <a:pt x="4570" y="179676"/>
                </a:lnTo>
                <a:lnTo>
                  <a:pt x="17676" y="137427"/>
                </a:lnTo>
                <a:lnTo>
                  <a:pt x="38415" y="99200"/>
                </a:lnTo>
                <a:lnTo>
                  <a:pt x="65881" y="65897"/>
                </a:lnTo>
                <a:lnTo>
                  <a:pt x="99169" y="38422"/>
                </a:lnTo>
                <a:lnTo>
                  <a:pt x="137374" y="17678"/>
                </a:lnTo>
                <a:lnTo>
                  <a:pt x="179591" y="4570"/>
                </a:lnTo>
                <a:lnTo>
                  <a:pt x="224916" y="0"/>
                </a:lnTo>
                <a:lnTo>
                  <a:pt x="270284" y="4570"/>
                </a:lnTo>
                <a:lnTo>
                  <a:pt x="312533" y="17678"/>
                </a:lnTo>
                <a:lnTo>
                  <a:pt x="350760" y="38422"/>
                </a:lnTo>
                <a:lnTo>
                  <a:pt x="384063" y="65897"/>
                </a:lnTo>
                <a:lnTo>
                  <a:pt x="411538" y="99200"/>
                </a:lnTo>
                <a:lnTo>
                  <a:pt x="432282" y="137427"/>
                </a:lnTo>
                <a:lnTo>
                  <a:pt x="445390" y="179676"/>
                </a:lnTo>
                <a:lnTo>
                  <a:pt x="449960" y="225043"/>
                </a:lnTo>
                <a:lnTo>
                  <a:pt x="445390" y="270374"/>
                </a:lnTo>
                <a:lnTo>
                  <a:pt x="432282" y="312606"/>
                </a:lnTo>
                <a:lnTo>
                  <a:pt x="411538" y="350832"/>
                </a:lnTo>
                <a:lnTo>
                  <a:pt x="384063" y="384143"/>
                </a:lnTo>
                <a:lnTo>
                  <a:pt x="350760" y="411632"/>
                </a:lnTo>
                <a:lnTo>
                  <a:pt x="312533" y="432391"/>
                </a:lnTo>
                <a:lnTo>
                  <a:pt x="270284" y="445512"/>
                </a:lnTo>
                <a:lnTo>
                  <a:pt x="224916" y="450087"/>
                </a:lnTo>
                <a:lnTo>
                  <a:pt x="179591" y="445512"/>
                </a:lnTo>
                <a:lnTo>
                  <a:pt x="137374" y="432391"/>
                </a:lnTo>
                <a:lnTo>
                  <a:pt x="99169" y="411632"/>
                </a:lnTo>
                <a:lnTo>
                  <a:pt x="65881" y="384143"/>
                </a:lnTo>
                <a:lnTo>
                  <a:pt x="38415" y="350832"/>
                </a:lnTo>
                <a:lnTo>
                  <a:pt x="17676" y="312606"/>
                </a:lnTo>
                <a:lnTo>
                  <a:pt x="4570" y="270374"/>
                </a:lnTo>
                <a:lnTo>
                  <a:pt x="0" y="225043"/>
                </a:lnTo>
                <a:close/>
              </a:path>
            </a:pathLst>
          </a:custGeom>
          <a:ln w="15875">
            <a:solidFill>
              <a:srgbClr val="6E9425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30909"/>
            <a:ext cx="651764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35" b="0">
                <a:solidFill>
                  <a:srgbClr val="404040"/>
                </a:solidFill>
                <a:latin typeface="Arial"/>
                <a:cs typeface="Arial"/>
              </a:rPr>
              <a:t>Cấu tạo của</a:t>
            </a:r>
            <a:r>
              <a:rPr dirty="0" sz="4800" spc="-245" b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4800" spc="-50" b="0">
                <a:solidFill>
                  <a:srgbClr val="404040"/>
                </a:solidFill>
                <a:latin typeface="Arial"/>
                <a:cs typeface="Arial"/>
              </a:rPr>
              <a:t>E-MOSFET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44948" y="6557873"/>
            <a:ext cx="8185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TRỊNH LÊ</a:t>
            </a:r>
            <a:r>
              <a:rPr dirty="0" sz="9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HUY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72473" y="6546291"/>
            <a:ext cx="16002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FFFFF"/>
                </a:solidFill>
                <a:latin typeface="Times New Roman"/>
                <a:cs typeface="Times New Roman"/>
              </a:rPr>
              <a:t>36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9" y="1884121"/>
            <a:ext cx="8453755" cy="150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1780" indent="-259079">
              <a:lnSpc>
                <a:spcPts val="228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200">
                <a:solidFill>
                  <a:srgbClr val="404040"/>
                </a:solidFill>
                <a:latin typeface="Arial"/>
                <a:cs typeface="Arial"/>
              </a:rPr>
              <a:t>Cấu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tạo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225">
                <a:solidFill>
                  <a:srgbClr val="404040"/>
                </a:solidFill>
                <a:latin typeface="Arial"/>
                <a:cs typeface="Arial"/>
              </a:rPr>
              <a:t>D-MOSFET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bao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gồm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3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phần,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phần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vật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liệu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bán dẫn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loại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N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và</a:t>
            </a:r>
            <a:r>
              <a:rPr dirty="0" sz="2000" spc="18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vật</a:t>
            </a:r>
            <a:endParaRPr sz="2000">
              <a:latin typeface="Arial"/>
              <a:cs typeface="Arial"/>
            </a:endParaRPr>
          </a:p>
          <a:p>
            <a:pPr marL="104139">
              <a:lnSpc>
                <a:spcPts val="2280"/>
              </a:lnSpc>
            </a:pP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liệu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bán dẫn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loại </a:t>
            </a:r>
            <a:r>
              <a:rPr dirty="0" sz="2000" spc="-300">
                <a:solidFill>
                  <a:srgbClr val="404040"/>
                </a:solidFill>
                <a:latin typeface="Arial"/>
                <a:cs typeface="Arial"/>
              </a:rPr>
              <a:t>P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nối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với</a:t>
            </a:r>
            <a:r>
              <a:rPr dirty="0" sz="2000" spc="-40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nhau.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22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Drain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135">
                <a:solidFill>
                  <a:srgbClr val="404040"/>
                </a:solidFill>
                <a:latin typeface="Arial"/>
                <a:cs typeface="Arial"/>
              </a:rPr>
              <a:t>Source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nối trực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tiếp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vật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liệu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bán dẫn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loại</a:t>
            </a:r>
            <a:r>
              <a:rPr dirty="0" sz="2000" spc="-34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50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22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Gate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nối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gián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tiếp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vật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liệu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bán dẫn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loại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N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thông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qua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1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lớp</a:t>
            </a:r>
            <a:r>
              <a:rPr dirty="0" sz="2000" spc="-35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SiO</a:t>
            </a:r>
            <a:r>
              <a:rPr dirty="0" baseline="-21367" sz="1950" spc="-254">
                <a:solidFill>
                  <a:srgbClr val="404040"/>
                </a:solidFill>
                <a:latin typeface="Arial"/>
                <a:cs typeface="Arial"/>
              </a:rPr>
              <a:t>2</a:t>
            </a:r>
            <a:endParaRPr baseline="-21367" sz="19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73214" y="4804664"/>
            <a:ext cx="169798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90">
                <a:solidFill>
                  <a:srgbClr val="252525"/>
                </a:solidFill>
                <a:latin typeface="Arial"/>
                <a:cs typeface="Arial"/>
              </a:rPr>
              <a:t>Enhancement</a:t>
            </a:r>
            <a:r>
              <a:rPr dirty="0" sz="1600" spc="-11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600" spc="-45">
                <a:solidFill>
                  <a:srgbClr val="252525"/>
                </a:solidFill>
                <a:latin typeface="Arial"/>
                <a:cs typeface="Arial"/>
              </a:rPr>
              <a:t>Mode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71085" y="3712300"/>
            <a:ext cx="4130319" cy="24975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30909"/>
            <a:ext cx="6645909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35" b="0">
                <a:solidFill>
                  <a:srgbClr val="404040"/>
                </a:solidFill>
                <a:latin typeface="Arial"/>
                <a:cs typeface="Arial"/>
              </a:rPr>
              <a:t>Đặc </a:t>
            </a:r>
            <a:r>
              <a:rPr dirty="0" sz="4800" spc="-40" b="0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dirty="0" sz="4800" spc="-35" b="0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dirty="0" sz="4800" spc="-250" b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4800" spc="-50" b="0">
                <a:solidFill>
                  <a:srgbClr val="404040"/>
                </a:solidFill>
                <a:latin typeface="Arial"/>
                <a:cs typeface="Arial"/>
              </a:rPr>
              <a:t>E-MOSFET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44948" y="6557873"/>
            <a:ext cx="8185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TRỊNH LÊ</a:t>
            </a:r>
            <a:r>
              <a:rPr dirty="0" sz="9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HUY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72473" y="6546291"/>
            <a:ext cx="16002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FFFFF"/>
                </a:solidFill>
                <a:latin typeface="Times New Roman"/>
                <a:cs typeface="Times New Roman"/>
              </a:rPr>
              <a:t>37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9" y="1884121"/>
            <a:ext cx="674179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275">
                <a:solidFill>
                  <a:srgbClr val="404040"/>
                </a:solidFill>
                <a:latin typeface="Arial"/>
                <a:cs typeface="Arial"/>
              </a:rPr>
              <a:t>Sự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biến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thiên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dirty="0" baseline="-21367" sz="1950" spc="-135">
                <a:solidFill>
                  <a:srgbClr val="404040"/>
                </a:solidFill>
                <a:latin typeface="Arial"/>
                <a:cs typeface="Arial"/>
              </a:rPr>
              <a:t>D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phụ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thuộc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thế</a:t>
            </a:r>
            <a:r>
              <a:rPr dirty="0" sz="2000" spc="-28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22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dirty="0" baseline="-21367" sz="1950" spc="-330">
                <a:solidFill>
                  <a:srgbClr val="404040"/>
                </a:solidFill>
                <a:latin typeface="Arial"/>
                <a:cs typeface="Arial"/>
              </a:rPr>
              <a:t>GS</a:t>
            </a:r>
            <a:endParaRPr baseline="-21367"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96128" y="3206305"/>
            <a:ext cx="5585430" cy="30638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746351" y="2634451"/>
            <a:ext cx="2098800" cy="2438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85820" y="3097201"/>
            <a:ext cx="1665883" cy="22842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13930" y="2483853"/>
            <a:ext cx="3054985" cy="340804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308813"/>
            <a:ext cx="5979160" cy="1379220"/>
          </a:xfrm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dirty="0" sz="4800" spc="-40" b="0">
                <a:solidFill>
                  <a:srgbClr val="404040"/>
                </a:solidFill>
                <a:latin typeface="Arial"/>
                <a:cs typeface="Arial"/>
              </a:rPr>
              <a:t>Cách </a:t>
            </a:r>
            <a:r>
              <a:rPr dirty="0" sz="4800" spc="-45" b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4800" spc="-35" b="0">
                <a:solidFill>
                  <a:srgbClr val="404040"/>
                </a:solidFill>
                <a:latin typeface="Arial"/>
                <a:cs typeface="Arial"/>
              </a:rPr>
              <a:t>cực cho</a:t>
            </a:r>
            <a:r>
              <a:rPr dirty="0" sz="4800" spc="-295" b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4800" spc="-25" b="0">
                <a:solidFill>
                  <a:srgbClr val="404040"/>
                </a:solidFill>
                <a:latin typeface="Arial"/>
                <a:cs typeface="Arial"/>
              </a:rPr>
              <a:t>E-  </a:t>
            </a:r>
            <a:r>
              <a:rPr dirty="0" sz="4800" spc="-45" b="0">
                <a:solidFill>
                  <a:srgbClr val="404040"/>
                </a:solidFill>
                <a:latin typeface="Arial"/>
                <a:cs typeface="Arial"/>
              </a:rPr>
              <a:t>MOSFET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44948" y="6557873"/>
            <a:ext cx="8185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TRỊNH LÊ</a:t>
            </a:r>
            <a:r>
              <a:rPr dirty="0" sz="9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HUY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72473" y="6546291"/>
            <a:ext cx="16002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FFFFF"/>
                </a:solidFill>
                <a:latin typeface="Times New Roman"/>
                <a:cs typeface="Times New Roman"/>
              </a:rPr>
              <a:t>38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9" y="1736787"/>
            <a:ext cx="7503159" cy="931544"/>
          </a:xfrm>
          <a:prstGeom prst="rect">
            <a:avLst/>
          </a:prstGeom>
        </p:spPr>
        <p:txBody>
          <a:bodyPr wrap="square" lIns="0" tIns="16065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26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60">
                <a:solidFill>
                  <a:srgbClr val="404040"/>
                </a:solidFill>
                <a:latin typeface="Arial"/>
                <a:cs typeface="Arial"/>
              </a:rPr>
              <a:t>Để </a:t>
            </a:r>
            <a:r>
              <a:rPr dirty="0" sz="2000" spc="-240">
                <a:solidFill>
                  <a:srgbClr val="404040"/>
                </a:solidFill>
                <a:latin typeface="Arial"/>
                <a:cs typeface="Arial"/>
              </a:rPr>
              <a:t>E-MOSFET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hoạt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động,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ta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phải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cấp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cho </a:t>
            </a:r>
            <a:r>
              <a:rPr dirty="0" sz="2000" spc="-22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dirty="0" baseline="-21367" sz="1950" spc="-330">
                <a:solidFill>
                  <a:srgbClr val="404040"/>
                </a:solidFill>
                <a:latin typeface="Arial"/>
                <a:cs typeface="Arial"/>
              </a:rPr>
              <a:t>GS </a:t>
            </a:r>
            <a:r>
              <a:rPr dirty="0" sz="2000" spc="-5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5">
                <a:solidFill>
                  <a:srgbClr val="404040"/>
                </a:solidFill>
                <a:latin typeface="Arial"/>
                <a:cs typeface="Arial"/>
              </a:rPr>
              <a:t>trị</a:t>
            </a:r>
            <a:r>
              <a:rPr dirty="0" sz="2000" spc="-39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lớn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hơn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dirty="0" baseline="-21367" sz="1950" spc="-142">
                <a:solidFill>
                  <a:srgbClr val="404040"/>
                </a:solidFill>
                <a:latin typeface="Arial"/>
                <a:cs typeface="Arial"/>
              </a:rPr>
              <a:t>GS(th)</a:t>
            </a:r>
            <a:endParaRPr baseline="-21367" sz="195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22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dirty="0" sz="2000" spc="-135">
                <a:solidFill>
                  <a:srgbClr val="404040"/>
                </a:solidFill>
                <a:latin typeface="Arial"/>
                <a:cs typeface="Arial"/>
              </a:rPr>
              <a:t>cách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2000" spc="-145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cho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229">
                <a:solidFill>
                  <a:srgbClr val="404040"/>
                </a:solidFill>
                <a:latin typeface="Arial"/>
                <a:cs typeface="Arial"/>
              </a:rPr>
              <a:t>E-MOSFET: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3012" y="2702043"/>
            <a:ext cx="1644650" cy="5861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80"/>
              </a:lnSpc>
            </a:pPr>
            <a:r>
              <a:rPr dirty="0" sz="1800">
                <a:solidFill>
                  <a:srgbClr val="99CA38"/>
                </a:solidFill>
                <a:latin typeface="Wingdings"/>
                <a:cs typeface="Wingdings"/>
              </a:rPr>
              <a:t></a:t>
            </a:r>
            <a:r>
              <a:rPr dirty="0" sz="1800">
                <a:solidFill>
                  <a:srgbClr val="99CA38"/>
                </a:solidFill>
                <a:latin typeface="Times New Roman"/>
                <a:cs typeface="Times New Roman"/>
              </a:rPr>
              <a:t> </a:t>
            </a:r>
            <a:r>
              <a:rPr dirty="0" sz="1800" spc="-185">
                <a:solidFill>
                  <a:srgbClr val="404040"/>
                </a:solidFill>
                <a:latin typeface="Arial"/>
                <a:cs typeface="Arial"/>
              </a:rPr>
              <a:t>Cầu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phân</a:t>
            </a:r>
            <a:r>
              <a:rPr dirty="0" sz="1800" spc="-34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100">
                <a:solidFill>
                  <a:srgbClr val="404040"/>
                </a:solidFill>
                <a:latin typeface="Arial"/>
                <a:cs typeface="Arial"/>
              </a:rPr>
              <a:t>áp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4"/>
              </a:spcBef>
            </a:pPr>
            <a:r>
              <a:rPr dirty="0" sz="1800">
                <a:solidFill>
                  <a:srgbClr val="99CA38"/>
                </a:solidFill>
                <a:latin typeface="Wingdings"/>
                <a:cs typeface="Wingdings"/>
              </a:rPr>
              <a:t></a:t>
            </a:r>
            <a:r>
              <a:rPr dirty="0" sz="1800" spc="-75">
                <a:solidFill>
                  <a:srgbClr val="99CA38"/>
                </a:solidFill>
                <a:latin typeface="Times New Roman"/>
                <a:cs typeface="Times New Roman"/>
              </a:rPr>
              <a:t>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Drain-feedback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062469" y="3071444"/>
            <a:ext cx="2630417" cy="30638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892149" y="2942045"/>
            <a:ext cx="2098800" cy="2438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726158" y="3565258"/>
            <a:ext cx="3185751" cy="23342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060196" y="2722117"/>
            <a:ext cx="2653918" cy="35661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670672" y="2269489"/>
            <a:ext cx="490220" cy="3364865"/>
          </a:xfrm>
          <a:custGeom>
            <a:avLst/>
            <a:gdLst/>
            <a:ahLst/>
            <a:cxnLst/>
            <a:rect l="l" t="t" r="r" b="b"/>
            <a:pathLst>
              <a:path w="490220" h="3364865">
                <a:moveTo>
                  <a:pt x="0" y="3284220"/>
                </a:moveTo>
                <a:lnTo>
                  <a:pt x="27685" y="3364750"/>
                </a:lnTo>
                <a:lnTo>
                  <a:pt x="69158" y="3303524"/>
                </a:lnTo>
                <a:lnTo>
                  <a:pt x="48641" y="3303524"/>
                </a:lnTo>
                <a:lnTo>
                  <a:pt x="23495" y="3300095"/>
                </a:lnTo>
                <a:lnTo>
                  <a:pt x="25171" y="3287567"/>
                </a:lnTo>
                <a:lnTo>
                  <a:pt x="0" y="3284220"/>
                </a:lnTo>
                <a:close/>
              </a:path>
              <a:path w="490220" h="3364865">
                <a:moveTo>
                  <a:pt x="25171" y="3287567"/>
                </a:moveTo>
                <a:lnTo>
                  <a:pt x="23495" y="3300095"/>
                </a:lnTo>
                <a:lnTo>
                  <a:pt x="48641" y="3303524"/>
                </a:lnTo>
                <a:lnTo>
                  <a:pt x="50328" y="3290913"/>
                </a:lnTo>
                <a:lnTo>
                  <a:pt x="25171" y="3287567"/>
                </a:lnTo>
                <a:close/>
              </a:path>
              <a:path w="490220" h="3364865">
                <a:moveTo>
                  <a:pt x="50328" y="3290913"/>
                </a:moveTo>
                <a:lnTo>
                  <a:pt x="48641" y="3303524"/>
                </a:lnTo>
                <a:lnTo>
                  <a:pt x="69158" y="3303524"/>
                </a:lnTo>
                <a:lnTo>
                  <a:pt x="75437" y="3294253"/>
                </a:lnTo>
                <a:lnTo>
                  <a:pt x="50328" y="3290913"/>
                </a:lnTo>
                <a:close/>
              </a:path>
              <a:path w="490220" h="3364865">
                <a:moveTo>
                  <a:pt x="465074" y="0"/>
                </a:moveTo>
                <a:lnTo>
                  <a:pt x="25171" y="3287567"/>
                </a:lnTo>
                <a:lnTo>
                  <a:pt x="50328" y="3290913"/>
                </a:lnTo>
                <a:lnTo>
                  <a:pt x="490220" y="3429"/>
                </a:lnTo>
                <a:lnTo>
                  <a:pt x="465074" y="0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308813"/>
            <a:ext cx="5979160" cy="1379220"/>
          </a:xfrm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dirty="0" sz="4800" spc="-40" b="0">
                <a:solidFill>
                  <a:srgbClr val="404040"/>
                </a:solidFill>
                <a:latin typeface="Arial"/>
                <a:cs typeface="Arial"/>
              </a:rPr>
              <a:t>Cách </a:t>
            </a:r>
            <a:r>
              <a:rPr dirty="0" sz="4800" spc="-45" b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4800" spc="-35" b="0">
                <a:solidFill>
                  <a:srgbClr val="404040"/>
                </a:solidFill>
                <a:latin typeface="Arial"/>
                <a:cs typeface="Arial"/>
              </a:rPr>
              <a:t>cực cho</a:t>
            </a:r>
            <a:r>
              <a:rPr dirty="0" sz="4800" spc="-295" b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4800" spc="-25" b="0">
                <a:solidFill>
                  <a:srgbClr val="404040"/>
                </a:solidFill>
                <a:latin typeface="Arial"/>
                <a:cs typeface="Arial"/>
              </a:rPr>
              <a:t>E-  </a:t>
            </a:r>
            <a:r>
              <a:rPr dirty="0" sz="4800" spc="-45" b="0">
                <a:solidFill>
                  <a:srgbClr val="404040"/>
                </a:solidFill>
                <a:latin typeface="Arial"/>
                <a:cs typeface="Arial"/>
              </a:rPr>
              <a:t>MOSFET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44948" y="6557873"/>
            <a:ext cx="8185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TRỊNH LÊ</a:t>
            </a:r>
            <a:r>
              <a:rPr dirty="0" sz="9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HUY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72473" y="6546291"/>
            <a:ext cx="16002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FFFFF"/>
                </a:solidFill>
                <a:latin typeface="Times New Roman"/>
                <a:cs typeface="Times New Roman"/>
              </a:rPr>
              <a:t>39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058532" y="2512656"/>
            <a:ext cx="2333625" cy="36385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286449" y="5743261"/>
            <a:ext cx="3425268" cy="3979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78839" y="1736787"/>
            <a:ext cx="6893559" cy="2879725"/>
          </a:xfrm>
          <a:prstGeom prst="rect">
            <a:avLst/>
          </a:prstGeom>
        </p:spPr>
        <p:txBody>
          <a:bodyPr wrap="square" lIns="0" tIns="16065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26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2000" spc="-145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2000" spc="-22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dirty="0" baseline="-21367" sz="1950" spc="-330">
                <a:solidFill>
                  <a:srgbClr val="404040"/>
                </a:solidFill>
                <a:latin typeface="Arial"/>
                <a:cs typeface="Arial"/>
              </a:rPr>
              <a:t>GS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195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dirty="0" baseline="-21367" sz="1950" spc="-292">
                <a:solidFill>
                  <a:srgbClr val="404040"/>
                </a:solidFill>
                <a:latin typeface="Arial"/>
                <a:cs typeface="Arial"/>
              </a:rPr>
              <a:t>DS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240">
                <a:solidFill>
                  <a:srgbClr val="404040"/>
                </a:solidFill>
                <a:latin typeface="Arial"/>
                <a:cs typeface="Arial"/>
              </a:rPr>
              <a:t>E-MOSFET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bên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dưới?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Biết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dirty="0" baseline="-21367" sz="1950" spc="-75">
                <a:solidFill>
                  <a:srgbClr val="404040"/>
                </a:solidFill>
                <a:latin typeface="Arial"/>
                <a:cs typeface="Arial"/>
              </a:rPr>
              <a:t>D(on)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=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200mA, </a:t>
            </a:r>
            <a:r>
              <a:rPr dirty="0" sz="2000" spc="-22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dirty="0" baseline="-21367" sz="1950" spc="-330">
                <a:solidFill>
                  <a:srgbClr val="404040"/>
                </a:solidFill>
                <a:latin typeface="Arial"/>
                <a:cs typeface="Arial"/>
              </a:rPr>
              <a:t>GS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= 4V,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dirty="0" baseline="-21367" sz="1950" spc="-142">
                <a:solidFill>
                  <a:srgbClr val="404040"/>
                </a:solidFill>
                <a:latin typeface="Arial"/>
                <a:cs typeface="Arial"/>
              </a:rPr>
              <a:t>GS(th)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=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2V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300">
              <a:latin typeface="Times New Roman"/>
              <a:cs typeface="Times New Roman"/>
            </a:endParaRPr>
          </a:p>
          <a:p>
            <a:pPr marL="126364" marR="5958840">
              <a:lnSpc>
                <a:spcPct val="100000"/>
              </a:lnSpc>
              <a:spcBef>
                <a:spcPts val="5"/>
              </a:spcBef>
            </a:pPr>
            <a:r>
              <a:rPr dirty="0" sz="2400" spc="-285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dirty="0" baseline="-20833" sz="2400" spc="-427">
                <a:solidFill>
                  <a:srgbClr val="404040"/>
                </a:solidFill>
                <a:latin typeface="Arial"/>
                <a:cs typeface="Arial"/>
              </a:rPr>
              <a:t>GS </a:t>
            </a:r>
            <a:r>
              <a:rPr dirty="0" sz="2400" spc="-210">
                <a:solidFill>
                  <a:srgbClr val="404040"/>
                </a:solidFill>
                <a:latin typeface="Arial"/>
                <a:cs typeface="Arial"/>
              </a:rPr>
              <a:t>= </a:t>
            </a:r>
            <a:r>
              <a:rPr dirty="0" sz="2400" spc="-225">
                <a:solidFill>
                  <a:srgbClr val="404040"/>
                </a:solidFill>
                <a:latin typeface="Arial"/>
                <a:cs typeface="Arial"/>
              </a:rPr>
              <a:t>?  </a:t>
            </a:r>
            <a:r>
              <a:rPr dirty="0" sz="2400" spc="-355">
                <a:solidFill>
                  <a:srgbClr val="404040"/>
                </a:solidFill>
                <a:latin typeface="Arial"/>
                <a:cs typeface="Arial"/>
              </a:rPr>
              <a:t>K </a:t>
            </a:r>
            <a:r>
              <a:rPr dirty="0" sz="2400" spc="-210">
                <a:solidFill>
                  <a:srgbClr val="404040"/>
                </a:solidFill>
                <a:latin typeface="Arial"/>
                <a:cs typeface="Arial"/>
              </a:rPr>
              <a:t>=</a:t>
            </a:r>
            <a:r>
              <a:rPr dirty="0" sz="2400" spc="-24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400" spc="-225">
                <a:solidFill>
                  <a:srgbClr val="404040"/>
                </a:solidFill>
                <a:latin typeface="Arial"/>
                <a:cs typeface="Arial"/>
              </a:rPr>
              <a:t>?</a:t>
            </a:r>
            <a:endParaRPr sz="2400">
              <a:latin typeface="Arial"/>
              <a:cs typeface="Arial"/>
            </a:endParaRPr>
          </a:p>
          <a:p>
            <a:pPr marL="126364" marR="5935980">
              <a:lnSpc>
                <a:spcPct val="100000"/>
              </a:lnSpc>
            </a:pPr>
            <a:r>
              <a:rPr dirty="0" sz="2400" spc="-125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dirty="0" baseline="-20833" sz="2400" spc="-187">
                <a:solidFill>
                  <a:srgbClr val="404040"/>
                </a:solidFill>
                <a:latin typeface="Arial"/>
                <a:cs typeface="Arial"/>
              </a:rPr>
              <a:t>D </a:t>
            </a:r>
            <a:r>
              <a:rPr dirty="0" sz="2400" spc="-210">
                <a:solidFill>
                  <a:srgbClr val="404040"/>
                </a:solidFill>
                <a:latin typeface="Arial"/>
                <a:cs typeface="Arial"/>
              </a:rPr>
              <a:t>= </a:t>
            </a:r>
            <a:r>
              <a:rPr dirty="0" sz="2400" spc="-225">
                <a:solidFill>
                  <a:srgbClr val="404040"/>
                </a:solidFill>
                <a:latin typeface="Arial"/>
                <a:cs typeface="Arial"/>
              </a:rPr>
              <a:t>?  </a:t>
            </a:r>
            <a:r>
              <a:rPr dirty="0" sz="2400" spc="-254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dirty="0" baseline="-20833" sz="2400" spc="-382">
                <a:solidFill>
                  <a:srgbClr val="404040"/>
                </a:solidFill>
                <a:latin typeface="Arial"/>
                <a:cs typeface="Arial"/>
              </a:rPr>
              <a:t>DS </a:t>
            </a:r>
            <a:r>
              <a:rPr dirty="0" sz="2400" spc="-210">
                <a:solidFill>
                  <a:srgbClr val="404040"/>
                </a:solidFill>
                <a:latin typeface="Arial"/>
                <a:cs typeface="Arial"/>
              </a:rPr>
              <a:t>=</a:t>
            </a:r>
            <a:r>
              <a:rPr dirty="0" sz="2400" spc="-229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400" spc="-225">
                <a:solidFill>
                  <a:srgbClr val="404040"/>
                </a:solidFill>
                <a:latin typeface="Arial"/>
                <a:cs typeface="Arial"/>
              </a:rPr>
              <a:t>?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308813"/>
            <a:ext cx="5979160" cy="1379220"/>
          </a:xfrm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dirty="0" sz="4800" spc="-40" b="0">
                <a:solidFill>
                  <a:srgbClr val="404040"/>
                </a:solidFill>
                <a:latin typeface="Arial"/>
                <a:cs typeface="Arial"/>
              </a:rPr>
              <a:t>Cách </a:t>
            </a:r>
            <a:r>
              <a:rPr dirty="0" sz="4800" spc="-45" b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4800" spc="-35" b="0">
                <a:solidFill>
                  <a:srgbClr val="404040"/>
                </a:solidFill>
                <a:latin typeface="Arial"/>
                <a:cs typeface="Arial"/>
              </a:rPr>
              <a:t>cực cho</a:t>
            </a:r>
            <a:r>
              <a:rPr dirty="0" sz="4800" spc="-295" b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4800" spc="-25" b="0">
                <a:solidFill>
                  <a:srgbClr val="404040"/>
                </a:solidFill>
                <a:latin typeface="Arial"/>
                <a:cs typeface="Arial"/>
              </a:rPr>
              <a:t>E-  </a:t>
            </a:r>
            <a:r>
              <a:rPr dirty="0" sz="4800" spc="-45" b="0">
                <a:solidFill>
                  <a:srgbClr val="404040"/>
                </a:solidFill>
                <a:latin typeface="Arial"/>
                <a:cs typeface="Arial"/>
              </a:rPr>
              <a:t>MOSFET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44948" y="6557873"/>
            <a:ext cx="8185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TRỊNH LÊ</a:t>
            </a:r>
            <a:r>
              <a:rPr dirty="0" sz="9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HUY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72473" y="6546291"/>
            <a:ext cx="16002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FFFFF"/>
                </a:solidFill>
                <a:latin typeface="Times New Roman"/>
                <a:cs typeface="Times New Roman"/>
              </a:rPr>
              <a:t>40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9" y="1736787"/>
            <a:ext cx="7181215" cy="2513965"/>
          </a:xfrm>
          <a:prstGeom prst="rect">
            <a:avLst/>
          </a:prstGeom>
        </p:spPr>
        <p:txBody>
          <a:bodyPr wrap="square" lIns="0" tIns="16065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26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2000" spc="-145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dirty="0" baseline="-21367" sz="1950" spc="-270">
                <a:solidFill>
                  <a:srgbClr val="404040"/>
                </a:solidFill>
                <a:latin typeface="Arial"/>
                <a:cs typeface="Arial"/>
              </a:rPr>
              <a:t>GS</a:t>
            </a: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, </a:t>
            </a:r>
            <a:r>
              <a:rPr dirty="0" sz="2000" spc="-195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dirty="0" baseline="-21367" sz="1950" spc="-292">
                <a:solidFill>
                  <a:srgbClr val="404040"/>
                </a:solidFill>
                <a:latin typeface="Arial"/>
                <a:cs typeface="Arial"/>
              </a:rPr>
              <a:t>DS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dirty="0" baseline="-21367" sz="1950" spc="-135">
                <a:solidFill>
                  <a:srgbClr val="404040"/>
                </a:solidFill>
                <a:latin typeface="Arial"/>
                <a:cs typeface="Arial"/>
              </a:rPr>
              <a:t>D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240">
                <a:solidFill>
                  <a:srgbClr val="404040"/>
                </a:solidFill>
                <a:latin typeface="Arial"/>
                <a:cs typeface="Arial"/>
              </a:rPr>
              <a:t>E-MOSFET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bên</a:t>
            </a:r>
            <a:r>
              <a:rPr dirty="0" sz="2000" spc="-21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dưới?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Biết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</a:t>
            </a:r>
            <a:r>
              <a:rPr dirty="0" sz="2000" spc="-36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đo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bởi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voltmeter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5V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algn="just" marL="126364" marR="6224270">
              <a:lnSpc>
                <a:spcPct val="100000"/>
              </a:lnSpc>
              <a:spcBef>
                <a:spcPts val="1525"/>
              </a:spcBef>
            </a:pPr>
            <a:r>
              <a:rPr dirty="0" sz="2400" spc="-285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dirty="0" baseline="-20833" sz="2400" spc="-427">
                <a:solidFill>
                  <a:srgbClr val="404040"/>
                </a:solidFill>
                <a:latin typeface="Arial"/>
                <a:cs typeface="Arial"/>
              </a:rPr>
              <a:t>GS </a:t>
            </a:r>
            <a:r>
              <a:rPr dirty="0" sz="2400" spc="-210">
                <a:solidFill>
                  <a:srgbClr val="404040"/>
                </a:solidFill>
                <a:latin typeface="Arial"/>
                <a:cs typeface="Arial"/>
              </a:rPr>
              <a:t>= </a:t>
            </a:r>
            <a:r>
              <a:rPr dirty="0" sz="2400" spc="-225">
                <a:solidFill>
                  <a:srgbClr val="404040"/>
                </a:solidFill>
                <a:latin typeface="Arial"/>
                <a:cs typeface="Arial"/>
              </a:rPr>
              <a:t>?  </a:t>
            </a:r>
            <a:r>
              <a:rPr dirty="0" sz="2400" spc="-254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dirty="0" baseline="-20833" sz="2400" spc="-382">
                <a:solidFill>
                  <a:srgbClr val="404040"/>
                </a:solidFill>
                <a:latin typeface="Arial"/>
                <a:cs typeface="Arial"/>
              </a:rPr>
              <a:t>DS </a:t>
            </a:r>
            <a:r>
              <a:rPr dirty="0" sz="2400" spc="-210">
                <a:solidFill>
                  <a:srgbClr val="404040"/>
                </a:solidFill>
                <a:latin typeface="Arial"/>
                <a:cs typeface="Arial"/>
              </a:rPr>
              <a:t>= </a:t>
            </a:r>
            <a:r>
              <a:rPr dirty="0" sz="2400" spc="-225">
                <a:solidFill>
                  <a:srgbClr val="404040"/>
                </a:solidFill>
                <a:latin typeface="Arial"/>
                <a:cs typeface="Arial"/>
              </a:rPr>
              <a:t>?  </a:t>
            </a:r>
            <a:r>
              <a:rPr dirty="0" sz="2400" spc="-125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dirty="0" baseline="-20833" sz="2400" spc="-187">
                <a:solidFill>
                  <a:srgbClr val="404040"/>
                </a:solidFill>
                <a:latin typeface="Arial"/>
                <a:cs typeface="Arial"/>
              </a:rPr>
              <a:t>D </a:t>
            </a:r>
            <a:r>
              <a:rPr dirty="0" sz="2400" spc="-210">
                <a:solidFill>
                  <a:srgbClr val="404040"/>
                </a:solidFill>
                <a:latin typeface="Arial"/>
                <a:cs typeface="Arial"/>
              </a:rPr>
              <a:t>=</a:t>
            </a:r>
            <a:r>
              <a:rPr dirty="0" sz="2400" spc="-26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400" spc="-225">
                <a:solidFill>
                  <a:srgbClr val="404040"/>
                </a:solidFill>
                <a:latin typeface="Arial"/>
                <a:cs typeface="Arial"/>
              </a:rPr>
              <a:t>?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66484" y="2448471"/>
            <a:ext cx="3505199" cy="30670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30909"/>
            <a:ext cx="2082164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35" b="0">
                <a:solidFill>
                  <a:srgbClr val="404040"/>
                </a:solidFill>
                <a:latin typeface="Arial"/>
                <a:cs typeface="Arial"/>
              </a:rPr>
              <a:t>Câu</a:t>
            </a:r>
            <a:r>
              <a:rPr dirty="0" sz="4800" spc="-185" b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4800" spc="-55" b="0">
                <a:solidFill>
                  <a:srgbClr val="404040"/>
                </a:solidFill>
                <a:latin typeface="Arial"/>
                <a:cs typeface="Arial"/>
              </a:rPr>
              <a:t>hỏi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44948" y="6557873"/>
            <a:ext cx="8185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TRỊNH LÊ</a:t>
            </a:r>
            <a:r>
              <a:rPr dirty="0" sz="9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HUY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72473" y="6546291"/>
            <a:ext cx="16002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FFFFF"/>
                </a:solidFill>
                <a:latin typeface="Times New Roman"/>
                <a:cs typeface="Times New Roman"/>
              </a:rPr>
              <a:t>41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9" y="1736787"/>
            <a:ext cx="6989445" cy="3191510"/>
          </a:xfrm>
          <a:prstGeom prst="rect">
            <a:avLst/>
          </a:prstGeom>
        </p:spPr>
        <p:txBody>
          <a:bodyPr wrap="square" lIns="0" tIns="16065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26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204">
                <a:solidFill>
                  <a:srgbClr val="404040"/>
                </a:solidFill>
                <a:latin typeface="Arial"/>
                <a:cs typeface="Arial"/>
              </a:rPr>
              <a:t>Tên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3 </a:t>
            </a:r>
            <a:r>
              <a:rPr dirty="0" sz="2000" spc="-145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dirty="0" sz="2000" spc="-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295">
                <a:solidFill>
                  <a:srgbClr val="404040"/>
                </a:solidFill>
                <a:latin typeface="Arial"/>
                <a:cs typeface="Arial"/>
              </a:rPr>
              <a:t>JFET?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60">
                <a:solidFill>
                  <a:srgbClr val="404040"/>
                </a:solidFill>
                <a:latin typeface="Arial"/>
                <a:cs typeface="Arial"/>
              </a:rPr>
              <a:t>Để </a:t>
            </a:r>
            <a:r>
              <a:rPr dirty="0" sz="2000" spc="-315">
                <a:solidFill>
                  <a:srgbClr val="404040"/>
                </a:solidFill>
                <a:latin typeface="Arial"/>
                <a:cs typeface="Arial"/>
              </a:rPr>
              <a:t>JFET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kênh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N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hoạt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động,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22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dirty="0" baseline="-21367" sz="1950" spc="-330">
                <a:solidFill>
                  <a:srgbClr val="404040"/>
                </a:solidFill>
                <a:latin typeface="Arial"/>
                <a:cs typeface="Arial"/>
              </a:rPr>
              <a:t>GS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dương hay</a:t>
            </a:r>
            <a:r>
              <a:rPr dirty="0" sz="2000" spc="-38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âm?</a:t>
            </a:r>
            <a:endParaRPr sz="2000">
              <a:latin typeface="Arial"/>
              <a:cs typeface="Arial"/>
            </a:endParaRPr>
          </a:p>
          <a:p>
            <a:pPr marL="252095" indent="-239395">
              <a:lnSpc>
                <a:spcPct val="100000"/>
              </a:lnSpc>
              <a:spcBef>
                <a:spcPts val="1150"/>
              </a:spcBef>
              <a:buClr>
                <a:srgbClr val="99CA38"/>
              </a:buClr>
              <a:buFont typeface="Wingdings"/>
              <a:buChar char=""/>
              <a:tabLst>
                <a:tab pos="252729" algn="l"/>
              </a:tabLst>
            </a:pP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Dòng</a:t>
            </a:r>
            <a:r>
              <a:rPr dirty="0" sz="2000" spc="-13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trong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45">
                <a:solidFill>
                  <a:srgbClr val="404040"/>
                </a:solidFill>
                <a:latin typeface="Arial"/>
                <a:cs typeface="Arial"/>
              </a:rPr>
              <a:t>cực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Drain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sẽ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thay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đổi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như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thế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nào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khi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ta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thay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đổi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21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dirty="0" baseline="-21367" sz="1950" spc="-315">
                <a:solidFill>
                  <a:srgbClr val="404040"/>
                </a:solidFill>
                <a:latin typeface="Arial"/>
                <a:cs typeface="Arial"/>
              </a:rPr>
              <a:t>GS</a:t>
            </a:r>
            <a:r>
              <a:rPr dirty="0" sz="2000" spc="-210">
                <a:solidFill>
                  <a:srgbClr val="404040"/>
                </a:solidFill>
                <a:latin typeface="Arial"/>
                <a:cs typeface="Arial"/>
              </a:rPr>
              <a:t>?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dirty="0" sz="2000" spc="-315">
                <a:solidFill>
                  <a:srgbClr val="404040"/>
                </a:solidFill>
                <a:latin typeface="Arial"/>
                <a:cs typeface="Arial"/>
              </a:rPr>
              <a:t>JFET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kênh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n </a:t>
            </a:r>
            <a:r>
              <a:rPr dirty="0" sz="2000" spc="-10">
                <a:solidFill>
                  <a:srgbClr val="404040"/>
                </a:solidFill>
                <a:latin typeface="Arial"/>
                <a:cs typeface="Arial"/>
              </a:rPr>
              <a:t>tự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cực,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ID=8mA, </a:t>
            </a:r>
            <a:r>
              <a:rPr dirty="0" sz="2000" spc="-175">
                <a:solidFill>
                  <a:srgbClr val="404040"/>
                </a:solidFill>
                <a:latin typeface="Arial"/>
                <a:cs typeface="Arial"/>
              </a:rPr>
              <a:t>RS=1kOhm,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Tính</a:t>
            </a:r>
            <a:r>
              <a:rPr dirty="0" sz="2000" spc="-30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280">
                <a:solidFill>
                  <a:srgbClr val="404040"/>
                </a:solidFill>
                <a:latin typeface="Arial"/>
                <a:cs typeface="Arial"/>
              </a:rPr>
              <a:t>VGS?</a:t>
            </a:r>
            <a:endParaRPr sz="2000">
              <a:latin typeface="Arial"/>
              <a:cs typeface="Arial"/>
            </a:endParaRPr>
          </a:p>
          <a:p>
            <a:pPr marL="252095" indent="-239395">
              <a:lnSpc>
                <a:spcPct val="10000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"/>
              <a:tabLst>
                <a:tab pos="252729" algn="l"/>
              </a:tabLst>
            </a:pPr>
            <a:r>
              <a:rPr dirty="0" sz="2000" spc="-204">
                <a:solidFill>
                  <a:srgbClr val="404040"/>
                </a:solidFill>
                <a:latin typeface="Arial"/>
                <a:cs typeface="Arial"/>
              </a:rPr>
              <a:t>Tên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loại </a:t>
            </a:r>
            <a:r>
              <a:rPr dirty="0" sz="2000" spc="-250">
                <a:solidFill>
                  <a:srgbClr val="404040"/>
                </a:solidFill>
                <a:latin typeface="Arial"/>
                <a:cs typeface="Arial"/>
              </a:rPr>
              <a:t>MOSFET </a:t>
            </a:r>
            <a:r>
              <a:rPr dirty="0" sz="2000" spc="-160">
                <a:solidFill>
                  <a:srgbClr val="404040"/>
                </a:solidFill>
                <a:latin typeface="Arial"/>
                <a:cs typeface="Arial"/>
              </a:rPr>
              <a:t>cơ</a:t>
            </a:r>
            <a:r>
              <a:rPr dirty="0" sz="2000" spc="-28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bản?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5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Đối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dirty="0" sz="2000" spc="-240">
                <a:solidFill>
                  <a:srgbClr val="404040"/>
                </a:solidFill>
                <a:latin typeface="Arial"/>
                <a:cs typeface="Arial"/>
              </a:rPr>
              <a:t>E-MOSFET, </a:t>
            </a:r>
            <a:r>
              <a:rPr dirty="0" sz="2000" spc="-310">
                <a:solidFill>
                  <a:srgbClr val="404040"/>
                </a:solidFill>
                <a:latin typeface="Arial"/>
                <a:cs typeface="Arial"/>
              </a:rPr>
              <a:t>VGS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tăng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thì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dirty="0" sz="2000" spc="-135">
                <a:solidFill>
                  <a:srgbClr val="404040"/>
                </a:solidFill>
                <a:latin typeface="Arial"/>
                <a:cs typeface="Arial"/>
              </a:rPr>
              <a:t>ID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tăng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hay</a:t>
            </a:r>
            <a:r>
              <a:rPr dirty="0" sz="2000" spc="-24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giảm?</a:t>
            </a:r>
            <a:endParaRPr sz="2000">
              <a:latin typeface="Arial"/>
              <a:cs typeface="Arial"/>
            </a:endParaRPr>
          </a:p>
          <a:p>
            <a:pPr marL="252095" indent="-239395">
              <a:lnSpc>
                <a:spcPct val="100000"/>
              </a:lnSpc>
              <a:spcBef>
                <a:spcPts val="1160"/>
              </a:spcBef>
              <a:buClr>
                <a:srgbClr val="99CA38"/>
              </a:buClr>
              <a:buFont typeface="Wingdings"/>
              <a:buChar char=""/>
              <a:tabLst>
                <a:tab pos="252729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Đối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dirty="0" sz="2000" spc="-225">
                <a:solidFill>
                  <a:srgbClr val="404040"/>
                </a:solidFill>
                <a:latin typeface="Arial"/>
                <a:cs typeface="Arial"/>
              </a:rPr>
              <a:t>D-MOSFET, </a:t>
            </a:r>
            <a:r>
              <a:rPr dirty="0" sz="2000" spc="-310">
                <a:solidFill>
                  <a:srgbClr val="404040"/>
                </a:solidFill>
                <a:latin typeface="Arial"/>
                <a:cs typeface="Arial"/>
              </a:rPr>
              <a:t>VGS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giảm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thì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dirty="0" sz="2000" spc="-135">
                <a:solidFill>
                  <a:srgbClr val="404040"/>
                </a:solidFill>
                <a:latin typeface="Arial"/>
                <a:cs typeface="Arial"/>
              </a:rPr>
              <a:t>ID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tăng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hay</a:t>
            </a:r>
            <a:r>
              <a:rPr dirty="0" sz="2000" spc="-22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giảm?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81227" y="4343400"/>
            <a:ext cx="8023859" cy="0"/>
          </a:xfrm>
          <a:custGeom>
            <a:avLst/>
            <a:gdLst/>
            <a:ahLst/>
            <a:cxnLst/>
            <a:rect l="l" t="t" r="r" b="b"/>
            <a:pathLst>
              <a:path w="8023859" h="0">
                <a:moveTo>
                  <a:pt x="0" y="0"/>
                </a:moveTo>
                <a:lnTo>
                  <a:pt x="8023834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0584" y="3019120"/>
            <a:ext cx="4999990" cy="12458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0" spc="-40" b="0">
                <a:solidFill>
                  <a:srgbClr val="252525"/>
                </a:solidFill>
                <a:latin typeface="Arial"/>
                <a:cs typeface="Arial"/>
              </a:rPr>
              <a:t>Thank</a:t>
            </a:r>
            <a:r>
              <a:rPr dirty="0" sz="8000" spc="-185" b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8000" spc="-35" b="0">
                <a:solidFill>
                  <a:srgbClr val="252525"/>
                </a:solidFill>
                <a:latin typeface="Arial"/>
                <a:cs typeface="Arial"/>
              </a:rPr>
              <a:t>you!</a:t>
            </a:r>
            <a:endParaRPr sz="8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44948" y="6557873"/>
            <a:ext cx="8185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TRỊNH LÊ</a:t>
            </a:r>
            <a:r>
              <a:rPr dirty="0" sz="9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HUY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72473" y="6546291"/>
            <a:ext cx="16002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FFFFF"/>
                </a:solidFill>
                <a:latin typeface="Times New Roman"/>
                <a:cs typeface="Times New Roman"/>
              </a:rPr>
              <a:t>42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30909"/>
            <a:ext cx="188595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40" b="0">
                <a:solidFill>
                  <a:srgbClr val="404040"/>
                </a:solidFill>
                <a:latin typeface="Arial"/>
                <a:cs typeface="Arial"/>
              </a:rPr>
              <a:t>Bài</a:t>
            </a:r>
            <a:r>
              <a:rPr dirty="0" sz="4800" spc="-175" b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4800" spc="-35" b="0">
                <a:solidFill>
                  <a:srgbClr val="404040"/>
                </a:solidFill>
                <a:latin typeface="Arial"/>
                <a:cs typeface="Arial"/>
              </a:rPr>
              <a:t>tập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21663" y="2278561"/>
            <a:ext cx="7212246" cy="37756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544948" y="6557873"/>
            <a:ext cx="8185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TRỊNH LÊ</a:t>
            </a:r>
            <a:r>
              <a:rPr dirty="0" sz="9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HUY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72473" y="6546291"/>
            <a:ext cx="16002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FFFFF"/>
                </a:solidFill>
                <a:latin typeface="Times New Roman"/>
                <a:cs typeface="Times New Roman"/>
              </a:rPr>
              <a:t>43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Kent Bertilsson</dc:creator>
  <dc:title>PowerPoint-presentation</dc:title>
  <dcterms:created xsi:type="dcterms:W3CDTF">2019-03-22T05:59:56Z</dcterms:created>
  <dcterms:modified xsi:type="dcterms:W3CDTF">2019-03-22T05:59:56Z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2018-10-20T00:00:00Z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2019-03-22T00:00:00Z</vt:filetime>
  </property>
</Properties>
</file>