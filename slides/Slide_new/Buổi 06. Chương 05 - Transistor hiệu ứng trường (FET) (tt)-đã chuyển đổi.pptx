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7565" y="386079"/>
            <a:ext cx="4269740" cy="6052820"/>
          </a:xfrm>
          <a:custGeom>
            <a:avLst/>
            <a:gdLst/>
            <a:ahLst/>
            <a:cxnLst/>
            <a:rect l="l" t="t" r="r" b="b"/>
            <a:pathLst>
              <a:path w="4269740" h="6052820">
                <a:moveTo>
                  <a:pt x="0" y="6052820"/>
                </a:moveTo>
                <a:lnTo>
                  <a:pt x="4269486" y="6052820"/>
                </a:lnTo>
                <a:lnTo>
                  <a:pt x="4269486" y="0"/>
                </a:lnTo>
                <a:lnTo>
                  <a:pt x="0" y="0"/>
                </a:lnTo>
                <a:lnTo>
                  <a:pt x="0" y="6052820"/>
                </a:lnTo>
                <a:close/>
              </a:path>
            </a:pathLst>
          </a:custGeom>
          <a:solidFill>
            <a:srgbClr val="404040">
              <a:alpha val="8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74320" y="6553200"/>
            <a:ext cx="4459605" cy="0"/>
          </a:xfrm>
          <a:custGeom>
            <a:avLst/>
            <a:gdLst/>
            <a:ahLst/>
            <a:cxnLst/>
            <a:rect l="l" t="t" r="r" b="b"/>
            <a:pathLst>
              <a:path w="4459605" h="0">
                <a:moveTo>
                  <a:pt x="0" y="0"/>
                </a:moveTo>
                <a:lnTo>
                  <a:pt x="4459224" y="0"/>
                </a:lnTo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86969" y="284479"/>
            <a:ext cx="0" cy="6256020"/>
          </a:xfrm>
          <a:custGeom>
            <a:avLst/>
            <a:gdLst/>
            <a:ahLst/>
            <a:cxnLst/>
            <a:rect l="l" t="t" r="r" b="b"/>
            <a:pathLst>
              <a:path w="0" h="6256020">
                <a:moveTo>
                  <a:pt x="0" y="0"/>
                </a:moveTo>
                <a:lnTo>
                  <a:pt x="0" y="6256020"/>
                </a:lnTo>
              </a:path>
            </a:pathLst>
          </a:custGeom>
          <a:ln w="25298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74320" y="271779"/>
            <a:ext cx="4459605" cy="0"/>
          </a:xfrm>
          <a:custGeom>
            <a:avLst/>
            <a:gdLst/>
            <a:ahLst/>
            <a:cxnLst/>
            <a:rect l="l" t="t" r="r" b="b"/>
            <a:pathLst>
              <a:path w="4459605" h="0">
                <a:moveTo>
                  <a:pt x="0" y="0"/>
                </a:moveTo>
                <a:lnTo>
                  <a:pt x="4459224" y="0"/>
                </a:lnTo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4720907" y="284352"/>
            <a:ext cx="0" cy="6256020"/>
          </a:xfrm>
          <a:custGeom>
            <a:avLst/>
            <a:gdLst/>
            <a:ahLst/>
            <a:cxnLst/>
            <a:rect l="l" t="t" r="r" b="b"/>
            <a:pathLst>
              <a:path w="0" h="6256020">
                <a:moveTo>
                  <a:pt x="0" y="0"/>
                </a:moveTo>
                <a:lnTo>
                  <a:pt x="0" y="6255740"/>
                </a:lnTo>
              </a:path>
            </a:pathLst>
          </a:custGeom>
          <a:ln w="25273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324916" y="6477000"/>
            <a:ext cx="4358640" cy="0"/>
          </a:xfrm>
          <a:custGeom>
            <a:avLst/>
            <a:gdLst/>
            <a:ahLst/>
            <a:cxnLst/>
            <a:rect l="l" t="t" r="r" b="b"/>
            <a:pathLst>
              <a:path w="4358640" h="0">
                <a:moveTo>
                  <a:pt x="0" y="0"/>
                </a:moveTo>
                <a:lnTo>
                  <a:pt x="4358081" y="0"/>
                </a:lnTo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362864" y="386079"/>
            <a:ext cx="0" cy="6052820"/>
          </a:xfrm>
          <a:custGeom>
            <a:avLst/>
            <a:gdLst/>
            <a:ahLst/>
            <a:cxnLst/>
            <a:rect l="l" t="t" r="r" b="b"/>
            <a:pathLst>
              <a:path w="0" h="6052820">
                <a:moveTo>
                  <a:pt x="0" y="0"/>
                </a:moveTo>
                <a:lnTo>
                  <a:pt x="0" y="6052820"/>
                </a:lnTo>
              </a:path>
            </a:pathLst>
          </a:custGeom>
          <a:ln w="75895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324916" y="347979"/>
            <a:ext cx="4358640" cy="0"/>
          </a:xfrm>
          <a:custGeom>
            <a:avLst/>
            <a:gdLst/>
            <a:ahLst/>
            <a:cxnLst/>
            <a:rect l="l" t="t" r="r" b="b"/>
            <a:pathLst>
              <a:path w="4358640" h="0">
                <a:moveTo>
                  <a:pt x="0" y="0"/>
                </a:moveTo>
                <a:lnTo>
                  <a:pt x="4358081" y="0"/>
                </a:lnTo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4645025" y="385572"/>
            <a:ext cx="0" cy="6053455"/>
          </a:xfrm>
          <a:custGeom>
            <a:avLst/>
            <a:gdLst/>
            <a:ahLst/>
            <a:cxnLst/>
            <a:rect l="l" t="t" r="r" b="b"/>
            <a:pathLst>
              <a:path w="0" h="6053455">
                <a:moveTo>
                  <a:pt x="0" y="0"/>
                </a:moveTo>
                <a:lnTo>
                  <a:pt x="0" y="6053328"/>
                </a:lnTo>
              </a:path>
            </a:pathLst>
          </a:custGeom>
          <a:ln w="75946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4121" y="660908"/>
            <a:ext cx="541718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593" y="3081654"/>
            <a:ext cx="29654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5">
                <a:solidFill>
                  <a:srgbClr val="FFFFFF"/>
                </a:solidFill>
                <a:latin typeface="Arial"/>
                <a:cs typeface="Arial"/>
              </a:rPr>
              <a:t>Bài </a:t>
            </a:r>
            <a:r>
              <a:rPr dirty="0" sz="4800" spc="-114">
                <a:solidFill>
                  <a:srgbClr val="FFFFFF"/>
                </a:solidFill>
                <a:latin typeface="Arial"/>
                <a:cs typeface="Arial"/>
              </a:rPr>
              <a:t>tập</a:t>
            </a:r>
            <a:r>
              <a:rPr dirty="0" sz="4800" spc="-2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800" spc="-685">
                <a:solidFill>
                  <a:srgbClr val="FFFFFF"/>
                </a:solidFill>
                <a:latin typeface="Arial"/>
                <a:cs typeface="Arial"/>
              </a:rPr>
              <a:t>FETs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2530" y="3911346"/>
            <a:ext cx="2586990" cy="0"/>
          </a:xfrm>
          <a:custGeom>
            <a:avLst/>
            <a:gdLst/>
            <a:ahLst/>
            <a:cxnLst/>
            <a:rect l="l" t="t" r="r" b="b"/>
            <a:pathLst>
              <a:path w="2586990" h="0">
                <a:moveTo>
                  <a:pt x="0" y="0"/>
                </a:moveTo>
                <a:lnTo>
                  <a:pt x="2586735" y="0"/>
                </a:lnTo>
              </a:path>
            </a:pathLst>
          </a:custGeom>
          <a:ln w="2286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53581" y="2873325"/>
            <a:ext cx="3792093" cy="2843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Bài </a:t>
            </a:r>
            <a:r>
              <a:rPr dirty="0" spc="-60"/>
              <a:t>1: </a:t>
            </a:r>
            <a:r>
              <a:rPr dirty="0" spc="-155"/>
              <a:t>Cho </a:t>
            </a:r>
            <a:r>
              <a:rPr dirty="0" spc="-100"/>
              <a:t>mạch </a:t>
            </a:r>
            <a:r>
              <a:rPr dirty="0" spc="-85"/>
              <a:t>khuếch </a:t>
            </a:r>
            <a:r>
              <a:rPr dirty="0" spc="-45"/>
              <a:t>đại </a:t>
            </a:r>
            <a:r>
              <a:rPr dirty="0" spc="-290"/>
              <a:t>JFET </a:t>
            </a:r>
            <a:r>
              <a:rPr dirty="0" spc="-75"/>
              <a:t>kênh </a:t>
            </a:r>
            <a:r>
              <a:rPr dirty="0" spc="-60"/>
              <a:t>n </a:t>
            </a:r>
            <a:r>
              <a:rPr dirty="0" spc="-55"/>
              <a:t>( </a:t>
            </a:r>
            <a:r>
              <a:rPr dirty="0" spc="-70"/>
              <a:t>hình bên) </a:t>
            </a:r>
            <a:r>
              <a:rPr dirty="0" spc="-105"/>
              <a:t>có </a:t>
            </a:r>
            <a:r>
              <a:rPr dirty="0" spc="-145"/>
              <a:t>các  </a:t>
            </a:r>
            <a:r>
              <a:rPr dirty="0" spc="-45"/>
              <a:t>thông </a:t>
            </a:r>
            <a:r>
              <a:rPr dirty="0" spc="-125"/>
              <a:t>số </a:t>
            </a:r>
            <a:r>
              <a:rPr dirty="0" spc="-105"/>
              <a:t>sau: </a:t>
            </a:r>
            <a:r>
              <a:rPr dirty="0" spc="-170"/>
              <a:t>I</a:t>
            </a:r>
            <a:r>
              <a:rPr dirty="0" baseline="-20833" sz="1800" spc="-254"/>
              <a:t>DSS </a:t>
            </a:r>
            <a:r>
              <a:rPr dirty="0" sz="1800" spc="-155"/>
              <a:t>= </a:t>
            </a:r>
            <a:r>
              <a:rPr dirty="0" sz="1800" spc="-80"/>
              <a:t>1.65 </a:t>
            </a:r>
            <a:r>
              <a:rPr dirty="0" sz="1800" spc="-95"/>
              <a:t>mA, </a:t>
            </a:r>
            <a:r>
              <a:rPr dirty="0" sz="1800" spc="-135"/>
              <a:t>V</a:t>
            </a:r>
            <a:r>
              <a:rPr dirty="0" baseline="-20833" sz="1800" spc="-202"/>
              <a:t>Po </a:t>
            </a:r>
            <a:r>
              <a:rPr dirty="0" sz="1800" spc="-155"/>
              <a:t>= </a:t>
            </a:r>
            <a:r>
              <a:rPr dirty="0" sz="1800" spc="-110"/>
              <a:t>2V.</a:t>
            </a:r>
            <a:r>
              <a:rPr dirty="0" sz="1800" spc="-40"/>
              <a:t> </a:t>
            </a:r>
            <a:r>
              <a:rPr dirty="0" sz="1800" spc="-95"/>
              <a:t>Tính: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294121" y="1209802"/>
            <a:ext cx="566991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2410" indent="-219710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233045" algn="l"/>
              </a:tabLst>
            </a:pPr>
            <a:r>
              <a:rPr dirty="0" sz="1800" spc="-110">
                <a:latin typeface="Arial"/>
                <a:cs typeface="Arial"/>
              </a:rPr>
              <a:t>Tính </a:t>
            </a:r>
            <a:r>
              <a:rPr dirty="0" sz="1800" spc="-40">
                <a:latin typeface="Arial"/>
                <a:cs typeface="Arial"/>
              </a:rPr>
              <a:t>điện </a:t>
            </a:r>
            <a:r>
              <a:rPr dirty="0" sz="1800" spc="-20">
                <a:latin typeface="Arial"/>
                <a:cs typeface="Arial"/>
              </a:rPr>
              <a:t>thế </a:t>
            </a:r>
            <a:r>
              <a:rPr dirty="0" sz="1800" spc="-80">
                <a:latin typeface="Arial"/>
                <a:cs typeface="Arial"/>
              </a:rPr>
              <a:t>phân </a:t>
            </a:r>
            <a:r>
              <a:rPr dirty="0" sz="1800" spc="-140">
                <a:latin typeface="Arial"/>
                <a:cs typeface="Arial"/>
              </a:rPr>
              <a:t>cực </a:t>
            </a:r>
            <a:r>
              <a:rPr dirty="0" sz="1800" spc="-204">
                <a:latin typeface="Arial"/>
                <a:cs typeface="Arial"/>
              </a:rPr>
              <a:t>V</a:t>
            </a:r>
            <a:r>
              <a:rPr dirty="0" baseline="-20833" sz="1800" spc="-307">
                <a:latin typeface="Arial"/>
                <a:cs typeface="Arial"/>
              </a:rPr>
              <a:t>GS </a:t>
            </a:r>
            <a:r>
              <a:rPr dirty="0" sz="1800" spc="-30">
                <a:latin typeface="Arial"/>
                <a:cs typeface="Arial"/>
              </a:rPr>
              <a:t>theo </a:t>
            </a:r>
            <a:r>
              <a:rPr dirty="0" sz="1800" spc="-40">
                <a:latin typeface="Arial"/>
                <a:cs typeface="Arial"/>
              </a:rPr>
              <a:t>điều </a:t>
            </a:r>
            <a:r>
              <a:rPr dirty="0" sz="1800" spc="-60">
                <a:latin typeface="Arial"/>
                <a:cs typeface="Arial"/>
              </a:rPr>
              <a:t>kiện </a:t>
            </a:r>
            <a:r>
              <a:rPr dirty="0" sz="1800" spc="-204">
                <a:latin typeface="Arial"/>
                <a:cs typeface="Arial"/>
              </a:rPr>
              <a:t>V</a:t>
            </a:r>
            <a:r>
              <a:rPr dirty="0" baseline="-20833" sz="1800" spc="-307">
                <a:latin typeface="Arial"/>
                <a:cs typeface="Arial"/>
              </a:rPr>
              <a:t>GS </a:t>
            </a:r>
            <a:r>
              <a:rPr dirty="0" sz="1800" spc="-155">
                <a:latin typeface="Arial"/>
                <a:cs typeface="Arial"/>
              </a:rPr>
              <a:t>+ </a:t>
            </a:r>
            <a:r>
              <a:rPr dirty="0" sz="1800" spc="-135">
                <a:latin typeface="Arial"/>
                <a:cs typeface="Arial"/>
              </a:rPr>
              <a:t>V</a:t>
            </a:r>
            <a:r>
              <a:rPr dirty="0" baseline="-20833" sz="1800" spc="-202">
                <a:latin typeface="Arial"/>
                <a:cs typeface="Arial"/>
              </a:rPr>
              <a:t>Po </a:t>
            </a:r>
            <a:r>
              <a:rPr dirty="0" sz="1800" spc="-155">
                <a:latin typeface="Arial"/>
                <a:cs typeface="Arial"/>
              </a:rPr>
              <a:t>=</a:t>
            </a:r>
            <a:r>
              <a:rPr dirty="0" sz="1800" spc="-229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0.63.</a:t>
            </a:r>
            <a:endParaRPr sz="18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buAutoNum type="alphaLcPeriod"/>
              <a:tabLst>
                <a:tab pos="243204" algn="l"/>
              </a:tabLst>
            </a:pPr>
            <a:r>
              <a:rPr dirty="0" sz="1800" spc="-110">
                <a:latin typeface="Arial"/>
                <a:cs typeface="Arial"/>
              </a:rPr>
              <a:t>Tính </a:t>
            </a:r>
            <a:r>
              <a:rPr dirty="0" sz="1800" spc="-85">
                <a:latin typeface="Arial"/>
                <a:cs typeface="Arial"/>
              </a:rPr>
              <a:t>dòng </a:t>
            </a:r>
            <a:r>
              <a:rPr dirty="0" sz="1800" spc="-10">
                <a:latin typeface="Arial"/>
                <a:cs typeface="Arial"/>
              </a:rPr>
              <a:t>thoát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75">
                <a:latin typeface="Arial"/>
                <a:cs typeface="Arial"/>
              </a:rPr>
              <a:t>I</a:t>
            </a:r>
            <a:r>
              <a:rPr dirty="0" baseline="-20833" sz="1800" spc="-112">
                <a:latin typeface="Arial"/>
                <a:cs typeface="Arial"/>
              </a:rPr>
              <a:t>D</a:t>
            </a:r>
            <a:r>
              <a:rPr dirty="0" sz="1800" spc="-7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218440" indent="-205740">
              <a:lnSpc>
                <a:spcPct val="100000"/>
              </a:lnSpc>
              <a:buAutoNum type="alphaLcPeriod"/>
              <a:tabLst>
                <a:tab pos="219075" algn="l"/>
              </a:tabLst>
            </a:pPr>
            <a:r>
              <a:rPr dirty="0" sz="1800" spc="-110">
                <a:latin typeface="Arial"/>
                <a:cs typeface="Arial"/>
              </a:rPr>
              <a:t>Tính </a:t>
            </a:r>
            <a:r>
              <a:rPr dirty="0" sz="1800" spc="-85">
                <a:latin typeface="Arial"/>
                <a:cs typeface="Arial"/>
              </a:rPr>
              <a:t>hệ </a:t>
            </a:r>
            <a:r>
              <a:rPr dirty="0" sz="1800" spc="-125">
                <a:latin typeface="Arial"/>
                <a:cs typeface="Arial"/>
              </a:rPr>
              <a:t>số </a:t>
            </a:r>
            <a:r>
              <a:rPr dirty="0" sz="1800" spc="-35">
                <a:latin typeface="Arial"/>
                <a:cs typeface="Arial"/>
              </a:rPr>
              <a:t>truyền </a:t>
            </a:r>
            <a:r>
              <a:rPr dirty="0" sz="1800" spc="-90">
                <a:latin typeface="Arial"/>
                <a:cs typeface="Arial"/>
              </a:rPr>
              <a:t>dẫn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g</a:t>
            </a:r>
            <a:r>
              <a:rPr dirty="0" baseline="-20833" sz="1800" spc="-150">
                <a:latin typeface="Arial"/>
                <a:cs typeface="Arial"/>
              </a:rPr>
              <a:t>m</a:t>
            </a:r>
            <a:endParaRPr baseline="-20833"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572" y="488512"/>
            <a:ext cx="2216429" cy="3775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2769" y="973328"/>
            <a:ext cx="8096250" cy="2092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95"/>
              </a:spcBef>
            </a:pPr>
            <a:r>
              <a:rPr dirty="0" sz="1800">
                <a:latin typeface="Times New Roman"/>
                <a:cs typeface="Times New Roman"/>
              </a:rPr>
              <a:t>Bài 2: Cho </a:t>
            </a:r>
            <a:r>
              <a:rPr dirty="0" sz="1800" spc="-5">
                <a:latin typeface="Times New Roman"/>
                <a:cs typeface="Times New Roman"/>
              </a:rPr>
              <a:t>mạch </a:t>
            </a:r>
            <a:r>
              <a:rPr dirty="0" sz="1800">
                <a:latin typeface="Times New Roman"/>
                <a:cs typeface="Times New Roman"/>
              </a:rPr>
              <a:t>khuếch đại </a:t>
            </a:r>
            <a:r>
              <a:rPr dirty="0" sz="1800" spc="-5">
                <a:latin typeface="Times New Roman"/>
                <a:cs typeface="Times New Roman"/>
              </a:rPr>
              <a:t>JFET 2N5458 </a:t>
            </a:r>
            <a:r>
              <a:rPr dirty="0" sz="1800">
                <a:latin typeface="Times New Roman"/>
                <a:cs typeface="Times New Roman"/>
              </a:rPr>
              <a:t>( như hình bên) với các thông </a:t>
            </a:r>
            <a:r>
              <a:rPr dirty="0" sz="1800" spc="-5">
                <a:latin typeface="Times New Roman"/>
                <a:cs typeface="Times New Roman"/>
              </a:rPr>
              <a:t>số sau: I</a:t>
            </a:r>
            <a:r>
              <a:rPr dirty="0" baseline="-20833" sz="1800" spc="-7">
                <a:latin typeface="Times New Roman"/>
                <a:cs typeface="Times New Roman"/>
              </a:rPr>
              <a:t>DSS </a:t>
            </a:r>
            <a:r>
              <a:rPr dirty="0" sz="1800">
                <a:latin typeface="Times New Roman"/>
                <a:cs typeface="Times New Roman"/>
              </a:rPr>
              <a:t>=  </a:t>
            </a:r>
            <a:r>
              <a:rPr dirty="0" sz="1800" spc="-5">
                <a:latin typeface="Times New Roman"/>
                <a:cs typeface="Times New Roman"/>
              </a:rPr>
              <a:t>2mA </a:t>
            </a:r>
            <a:r>
              <a:rPr dirty="0" sz="1800">
                <a:latin typeface="Times New Roman"/>
                <a:cs typeface="Times New Roman"/>
              </a:rPr>
              <a:t>– </a:t>
            </a:r>
            <a:r>
              <a:rPr dirty="0" sz="1800" spc="-5">
                <a:latin typeface="Times New Roman"/>
                <a:cs typeface="Times New Roman"/>
              </a:rPr>
              <a:t>9mA, </a:t>
            </a:r>
            <a:r>
              <a:rPr dirty="0" sz="1800">
                <a:latin typeface="Times New Roman"/>
                <a:cs typeface="Times New Roman"/>
              </a:rPr>
              <a:t>g</a:t>
            </a:r>
            <a:r>
              <a:rPr dirty="0" baseline="-20833" sz="1800">
                <a:latin typeface="Times New Roman"/>
                <a:cs typeface="Times New Roman"/>
              </a:rPr>
              <a:t>m </a:t>
            </a:r>
            <a:r>
              <a:rPr dirty="0" sz="1800">
                <a:latin typeface="Times New Roman"/>
                <a:cs typeface="Times New Roman"/>
              </a:rPr>
              <a:t>= 1500 – 5000 </a:t>
            </a:r>
            <a:r>
              <a:rPr dirty="0" sz="1800" spc="-5">
                <a:latin typeface="Times New Roman"/>
                <a:cs typeface="Times New Roman"/>
              </a:rPr>
              <a:t>µS </a:t>
            </a:r>
            <a:r>
              <a:rPr dirty="0" sz="1800">
                <a:latin typeface="Times New Roman"/>
                <a:cs typeface="Times New Roman"/>
              </a:rPr>
              <a:t>và dòng rỉ cực cổng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GS </a:t>
            </a:r>
            <a:r>
              <a:rPr dirty="0" sz="1800">
                <a:latin typeface="Times New Roman"/>
                <a:cs typeface="Times New Roman"/>
              </a:rPr>
              <a:t>= 1nA,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D </a:t>
            </a:r>
            <a:r>
              <a:rPr dirty="0" sz="1800">
                <a:latin typeface="Times New Roman"/>
                <a:cs typeface="Times New Roman"/>
              </a:rPr>
              <a:t>= 2 kΩ, R</a:t>
            </a:r>
            <a:r>
              <a:rPr dirty="0" baseline="-20833" sz="1800">
                <a:latin typeface="Times New Roman"/>
                <a:cs typeface="Times New Roman"/>
              </a:rPr>
              <a:t>G </a:t>
            </a:r>
            <a:r>
              <a:rPr dirty="0" sz="1800">
                <a:latin typeface="Times New Roman"/>
                <a:cs typeface="Times New Roman"/>
              </a:rPr>
              <a:t>= 100  </a:t>
            </a:r>
            <a:r>
              <a:rPr dirty="0" sz="1800" spc="-5">
                <a:latin typeface="Times New Roman"/>
                <a:cs typeface="Times New Roman"/>
              </a:rPr>
              <a:t>MΩ, V</a:t>
            </a:r>
            <a:r>
              <a:rPr dirty="0" baseline="-20833" sz="1800" spc="-7">
                <a:latin typeface="Times New Roman"/>
                <a:cs typeface="Times New Roman"/>
              </a:rPr>
              <a:t>DD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15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20V.</a:t>
            </a:r>
            <a:endParaRPr sz="18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50"/>
              </a:spcBef>
              <a:buAutoNum type="alphaLcPeriod"/>
              <a:tabLst>
                <a:tab pos="229235" algn="l"/>
              </a:tabLst>
            </a:pPr>
            <a:r>
              <a:rPr dirty="0" sz="1800">
                <a:latin typeface="Times New Roman"/>
                <a:cs typeface="Times New Roman"/>
              </a:rPr>
              <a:t>Tính trị </a:t>
            </a:r>
            <a:r>
              <a:rPr dirty="0" sz="1800" spc="-5">
                <a:latin typeface="Times New Roman"/>
                <a:cs typeface="Times New Roman"/>
              </a:rPr>
              <a:t>số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GS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50"/>
              </a:spcBef>
              <a:buAutoNum type="alphaLcPeriod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Tính điện thế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DS </a:t>
            </a:r>
            <a:r>
              <a:rPr dirty="0" sz="1800">
                <a:latin typeface="Times New Roman"/>
                <a:cs typeface="Times New Roman"/>
              </a:rPr>
              <a:t>trong hai giới hạn của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DSS </a:t>
            </a:r>
            <a:r>
              <a:rPr dirty="0" sz="1800">
                <a:latin typeface="Times New Roman"/>
                <a:cs typeface="Times New Roman"/>
              </a:rPr>
              <a:t>cho ở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trên.</a:t>
            </a:r>
            <a:endParaRPr sz="18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29235" algn="l"/>
              </a:tabLst>
            </a:pPr>
            <a:r>
              <a:rPr dirty="0" sz="1800">
                <a:latin typeface="Times New Roman"/>
                <a:cs typeface="Times New Roman"/>
              </a:rPr>
              <a:t>Tính </a:t>
            </a:r>
            <a:r>
              <a:rPr dirty="0" sz="1800" spc="-5">
                <a:latin typeface="Times New Roman"/>
                <a:cs typeface="Times New Roman"/>
              </a:rPr>
              <a:t>độ </a:t>
            </a:r>
            <a:r>
              <a:rPr dirty="0" sz="1800">
                <a:latin typeface="Times New Roman"/>
                <a:cs typeface="Times New Roman"/>
              </a:rPr>
              <a:t>lợi điện thế </a:t>
            </a:r>
            <a:r>
              <a:rPr dirty="0" sz="1800" spc="-5">
                <a:latin typeface="Times New Roman"/>
                <a:cs typeface="Times New Roman"/>
              </a:rPr>
              <a:t>A</a:t>
            </a:r>
            <a:r>
              <a:rPr dirty="0" baseline="-20833" sz="1800" spc="-7">
                <a:latin typeface="Times New Roman"/>
                <a:cs typeface="Times New Roman"/>
              </a:rPr>
              <a:t>V </a:t>
            </a:r>
            <a:r>
              <a:rPr dirty="0" sz="1800">
                <a:latin typeface="Times New Roman"/>
                <a:cs typeface="Times New Roman"/>
              </a:rPr>
              <a:t>trong 3 giới hạn của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DSS </a:t>
            </a:r>
            <a:r>
              <a:rPr dirty="0" sz="1800">
                <a:latin typeface="Times New Roman"/>
                <a:cs typeface="Times New Roman"/>
              </a:rPr>
              <a:t>ở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trên.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0511" y="556957"/>
            <a:ext cx="3901749" cy="38620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1756" y="461517"/>
            <a:ext cx="7585075" cy="2092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72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Bài 3: </a:t>
            </a:r>
            <a:r>
              <a:rPr dirty="0" sz="1800" spc="-5">
                <a:latin typeface="Times New Roman"/>
                <a:cs typeface="Times New Roman"/>
              </a:rPr>
              <a:t>Cho mạch </a:t>
            </a:r>
            <a:r>
              <a:rPr dirty="0" sz="1800">
                <a:latin typeface="Times New Roman"/>
                <a:cs typeface="Times New Roman"/>
              </a:rPr>
              <a:t>khuếch đại </a:t>
            </a:r>
            <a:r>
              <a:rPr dirty="0" sz="1800" spc="-5">
                <a:latin typeface="Times New Roman"/>
                <a:cs typeface="Times New Roman"/>
              </a:rPr>
              <a:t>JFET </a:t>
            </a:r>
            <a:r>
              <a:rPr dirty="0" sz="1800">
                <a:latin typeface="Times New Roman"/>
                <a:cs typeface="Times New Roman"/>
              </a:rPr>
              <a:t>(như hình bên) với các thông </a:t>
            </a:r>
            <a:r>
              <a:rPr dirty="0" sz="1800" spc="-5">
                <a:latin typeface="Times New Roman"/>
                <a:cs typeface="Times New Roman"/>
              </a:rPr>
              <a:t>số </a:t>
            </a:r>
            <a:r>
              <a:rPr dirty="0" sz="1800">
                <a:latin typeface="Times New Roman"/>
                <a:cs typeface="Times New Roman"/>
              </a:rPr>
              <a:t>: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DSS </a:t>
            </a:r>
            <a:r>
              <a:rPr dirty="0" sz="1800">
                <a:latin typeface="Times New Roman"/>
                <a:cs typeface="Times New Roman"/>
              </a:rPr>
              <a:t>= 10 </a:t>
            </a:r>
            <a:r>
              <a:rPr dirty="0" sz="1800" spc="-10">
                <a:latin typeface="Times New Roman"/>
                <a:cs typeface="Times New Roman"/>
              </a:rPr>
              <a:t>mA, 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GS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5">
                <a:latin typeface="Times New Roman"/>
                <a:cs typeface="Times New Roman"/>
              </a:rPr>
              <a:t>0V, V</a:t>
            </a:r>
            <a:r>
              <a:rPr dirty="0" baseline="-20833" sz="1800" spc="-7">
                <a:latin typeface="Times New Roman"/>
                <a:cs typeface="Times New Roman"/>
              </a:rPr>
              <a:t>GSoff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5">
                <a:latin typeface="Times New Roman"/>
                <a:cs typeface="Times New Roman"/>
              </a:rPr>
              <a:t>-V</a:t>
            </a:r>
            <a:r>
              <a:rPr dirty="0" baseline="-20833" sz="1800" spc="-7">
                <a:latin typeface="Times New Roman"/>
                <a:cs typeface="Times New Roman"/>
              </a:rPr>
              <a:t>Po </a:t>
            </a:r>
            <a:r>
              <a:rPr dirty="0" sz="1800">
                <a:latin typeface="Times New Roman"/>
                <a:cs typeface="Times New Roman"/>
              </a:rPr>
              <a:t>= - </a:t>
            </a:r>
            <a:r>
              <a:rPr dirty="0" sz="1800" spc="-5">
                <a:latin typeface="Times New Roman"/>
                <a:cs typeface="Times New Roman"/>
              </a:rPr>
              <a:t>4V, V</a:t>
            </a:r>
            <a:r>
              <a:rPr dirty="0" baseline="-20833" sz="1800" spc="-7">
                <a:latin typeface="Times New Roman"/>
                <a:cs typeface="Times New Roman"/>
              </a:rPr>
              <a:t>i </a:t>
            </a:r>
            <a:r>
              <a:rPr dirty="0" sz="1800">
                <a:latin typeface="Times New Roman"/>
                <a:cs typeface="Times New Roman"/>
              </a:rPr>
              <a:t>= 20 </a:t>
            </a:r>
            <a:r>
              <a:rPr dirty="0" sz="1800" spc="-5">
                <a:latin typeface="Times New Roman"/>
                <a:cs typeface="Times New Roman"/>
              </a:rPr>
              <a:t>mV, V</a:t>
            </a:r>
            <a:r>
              <a:rPr dirty="0" baseline="-20833" sz="1800" spc="-7">
                <a:latin typeface="Times New Roman"/>
                <a:cs typeface="Times New Roman"/>
              </a:rPr>
              <a:t>DD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5">
                <a:latin typeface="Times New Roman"/>
                <a:cs typeface="Times New Roman"/>
              </a:rPr>
              <a:t>15V, V</a:t>
            </a:r>
            <a:r>
              <a:rPr dirty="0" baseline="-20833" sz="1800" spc="-7">
                <a:latin typeface="Times New Roman"/>
                <a:cs typeface="Times New Roman"/>
              </a:rPr>
              <a:t>GG </a:t>
            </a:r>
            <a:r>
              <a:rPr dirty="0" sz="1800">
                <a:latin typeface="Times New Roman"/>
                <a:cs typeface="Times New Roman"/>
              </a:rPr>
              <a:t>= - </a:t>
            </a:r>
            <a:r>
              <a:rPr dirty="0" sz="1800" spc="-5">
                <a:latin typeface="Times New Roman"/>
                <a:cs typeface="Times New Roman"/>
              </a:rPr>
              <a:t>1V, R</a:t>
            </a:r>
            <a:r>
              <a:rPr dirty="0" baseline="-20833" sz="1800" spc="-7">
                <a:latin typeface="Times New Roman"/>
                <a:cs typeface="Times New Roman"/>
              </a:rPr>
              <a:t>D </a:t>
            </a:r>
            <a:r>
              <a:rPr dirty="0" sz="1800">
                <a:latin typeface="Times New Roman"/>
                <a:cs typeface="Times New Roman"/>
              </a:rPr>
              <a:t>= 1.5 kΩ, 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G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16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1MΩ.</a:t>
            </a:r>
            <a:endParaRPr sz="1800">
              <a:latin typeface="Times New Roman"/>
              <a:cs typeface="Times New Roman"/>
            </a:endParaRPr>
          </a:p>
          <a:p>
            <a:pPr algn="just" marL="228600" indent="-215900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29235" algn="l"/>
              </a:tabLst>
            </a:pPr>
            <a:r>
              <a:rPr dirty="0" sz="1800">
                <a:latin typeface="Times New Roman"/>
                <a:cs typeface="Times New Roman"/>
              </a:rPr>
              <a:t>Tính trị </a:t>
            </a:r>
            <a:r>
              <a:rPr dirty="0" sz="1800" spc="-5">
                <a:latin typeface="Times New Roman"/>
                <a:cs typeface="Times New Roman"/>
              </a:rPr>
              <a:t>số </a:t>
            </a:r>
            <a:r>
              <a:rPr dirty="0" sz="1800">
                <a:latin typeface="Times New Roman"/>
                <a:cs typeface="Times New Roman"/>
              </a:rPr>
              <a:t>điểm tĩnh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Q.</a:t>
            </a:r>
            <a:endParaRPr sz="1800">
              <a:latin typeface="Times New Roman"/>
              <a:cs typeface="Times New Roman"/>
            </a:endParaRPr>
          </a:p>
          <a:p>
            <a:pPr algn="just" marL="241300" indent="-228600">
              <a:lnSpc>
                <a:spcPct val="100000"/>
              </a:lnSpc>
              <a:spcBef>
                <a:spcPts val="955"/>
              </a:spcBef>
              <a:buAutoNum type="alphaLcPeriod"/>
              <a:tabLst>
                <a:tab pos="241300" algn="l"/>
              </a:tabLst>
            </a:pPr>
            <a:r>
              <a:rPr dirty="0" sz="1800" spc="-5">
                <a:latin typeface="Times New Roman"/>
                <a:cs typeface="Times New Roman"/>
              </a:rPr>
              <a:t>Vẽ mạch </a:t>
            </a:r>
            <a:r>
              <a:rPr dirty="0" sz="1800">
                <a:latin typeface="Times New Roman"/>
                <a:cs typeface="Times New Roman"/>
              </a:rPr>
              <a:t>điện tương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đương.</a:t>
            </a:r>
            <a:endParaRPr sz="1800">
              <a:latin typeface="Times New Roman"/>
              <a:cs typeface="Times New Roman"/>
            </a:endParaRPr>
          </a:p>
          <a:p>
            <a:pPr algn="just" marL="228600" indent="-215900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29235" algn="l"/>
              </a:tabLst>
            </a:pPr>
            <a:r>
              <a:rPr dirty="0" sz="1800">
                <a:latin typeface="Times New Roman"/>
                <a:cs typeface="Times New Roman"/>
              </a:rPr>
              <a:t>Tính </a:t>
            </a:r>
            <a:r>
              <a:rPr dirty="0" sz="1800" spc="-5">
                <a:latin typeface="Times New Roman"/>
                <a:cs typeface="Times New Roman"/>
              </a:rPr>
              <a:t>A</a:t>
            </a:r>
            <a:r>
              <a:rPr dirty="0" baseline="-20833" sz="1800" spc="-7">
                <a:latin typeface="Times New Roman"/>
                <a:cs typeface="Times New Roman"/>
              </a:rPr>
              <a:t>V </a:t>
            </a:r>
            <a:r>
              <a:rPr dirty="0" sz="1800">
                <a:latin typeface="Times New Roman"/>
                <a:cs typeface="Times New Roman"/>
              </a:rPr>
              <a:t>và điện thế ra</a:t>
            </a:r>
            <a:r>
              <a:rPr dirty="0" sz="1800" spc="-17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O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584" y="433831"/>
            <a:ext cx="8779510" cy="2190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Bài 4: </a:t>
            </a:r>
            <a:r>
              <a:rPr dirty="0" sz="1800" spc="-5">
                <a:latin typeface="Times New Roman"/>
                <a:cs typeface="Times New Roman"/>
              </a:rPr>
              <a:t>Cho mạch </a:t>
            </a:r>
            <a:r>
              <a:rPr dirty="0" sz="1800">
                <a:latin typeface="Times New Roman"/>
                <a:cs typeface="Times New Roman"/>
              </a:rPr>
              <a:t>khuếch đại ( như hình bên). </a:t>
            </a:r>
            <a:r>
              <a:rPr dirty="0" sz="1800" spc="-5">
                <a:latin typeface="Times New Roman"/>
                <a:cs typeface="Times New Roman"/>
              </a:rPr>
              <a:t>JFET được </a:t>
            </a:r>
            <a:r>
              <a:rPr dirty="0" sz="1800">
                <a:latin typeface="Times New Roman"/>
                <a:cs typeface="Times New Roman"/>
              </a:rPr>
              <a:t>phân cực có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DQ </a:t>
            </a:r>
            <a:r>
              <a:rPr dirty="0" sz="1800">
                <a:latin typeface="Times New Roman"/>
                <a:cs typeface="Times New Roman"/>
              </a:rPr>
              <a:t>= 2.5 </a:t>
            </a:r>
            <a:r>
              <a:rPr dirty="0" sz="1800" spc="-5">
                <a:latin typeface="Times New Roman"/>
                <a:cs typeface="Times New Roman"/>
              </a:rPr>
              <a:t>mA, </a:t>
            </a:r>
            <a:r>
              <a:rPr dirty="0" sz="1800">
                <a:latin typeface="Times New Roman"/>
                <a:cs typeface="Times New Roman"/>
              </a:rPr>
              <a:t>g</a:t>
            </a:r>
            <a:r>
              <a:rPr dirty="0" baseline="-20833" sz="1800">
                <a:latin typeface="Times New Roman"/>
                <a:cs typeface="Times New Roman"/>
              </a:rPr>
              <a:t>m </a:t>
            </a:r>
            <a:r>
              <a:rPr dirty="0" sz="1800">
                <a:latin typeface="Times New Roman"/>
                <a:cs typeface="Times New Roman"/>
              </a:rPr>
              <a:t>= 3 </a:t>
            </a:r>
            <a:r>
              <a:rPr dirty="0" sz="1800" spc="-5">
                <a:latin typeface="Times New Roman"/>
                <a:cs typeface="Times New Roman"/>
              </a:rPr>
              <a:t>mS,  </a:t>
            </a:r>
            <a:r>
              <a:rPr dirty="0" sz="1800">
                <a:latin typeface="Times New Roman"/>
                <a:cs typeface="Times New Roman"/>
              </a:rPr>
              <a:t>r</a:t>
            </a:r>
            <a:r>
              <a:rPr dirty="0" baseline="-20833" sz="1800">
                <a:latin typeface="Times New Roman"/>
                <a:cs typeface="Times New Roman"/>
              </a:rPr>
              <a:t>d </a:t>
            </a:r>
            <a:r>
              <a:rPr dirty="0" sz="1800">
                <a:latin typeface="Times New Roman"/>
                <a:cs typeface="Times New Roman"/>
              </a:rPr>
              <a:t>= 100 kΩ,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1 </a:t>
            </a:r>
            <a:r>
              <a:rPr dirty="0" sz="1800">
                <a:latin typeface="Times New Roman"/>
                <a:cs typeface="Times New Roman"/>
              </a:rPr>
              <a:t>= 5.6 </a:t>
            </a:r>
            <a:r>
              <a:rPr dirty="0" sz="1800" spc="-5">
                <a:latin typeface="Times New Roman"/>
                <a:cs typeface="Times New Roman"/>
              </a:rPr>
              <a:t>MΩ, </a:t>
            </a:r>
            <a:r>
              <a:rPr dirty="0" sz="1800">
                <a:latin typeface="Times New Roman"/>
                <a:cs typeface="Times New Roman"/>
              </a:rPr>
              <a:t>R</a:t>
            </a:r>
            <a:r>
              <a:rPr dirty="0" baseline="-20833" sz="1800">
                <a:latin typeface="Times New Roman"/>
                <a:cs typeface="Times New Roman"/>
              </a:rPr>
              <a:t>2 </a:t>
            </a:r>
            <a:r>
              <a:rPr dirty="0" sz="1800">
                <a:latin typeface="Times New Roman"/>
                <a:cs typeface="Times New Roman"/>
              </a:rPr>
              <a:t>= 1 </a:t>
            </a:r>
            <a:r>
              <a:rPr dirty="0" sz="1800" spc="-5">
                <a:latin typeface="Times New Roman"/>
                <a:cs typeface="Times New Roman"/>
              </a:rPr>
              <a:t>MΩ, R</a:t>
            </a:r>
            <a:r>
              <a:rPr dirty="0" baseline="-20833" sz="1800" spc="-7">
                <a:latin typeface="Times New Roman"/>
                <a:cs typeface="Times New Roman"/>
              </a:rPr>
              <a:t>D </a:t>
            </a:r>
            <a:r>
              <a:rPr dirty="0" sz="1800">
                <a:latin typeface="Times New Roman"/>
                <a:cs typeface="Times New Roman"/>
              </a:rPr>
              <a:t>= 2.7 kΩ,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S </a:t>
            </a:r>
            <a:r>
              <a:rPr dirty="0" sz="1800">
                <a:latin typeface="Times New Roman"/>
                <a:cs typeface="Times New Roman"/>
              </a:rPr>
              <a:t>= 2.7 kΩ,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DD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60">
                <a:latin typeface="Times New Roman"/>
                <a:cs typeface="Times New Roman"/>
              </a:rPr>
              <a:t>24V.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Tính:</a:t>
            </a:r>
            <a:endParaRPr sz="1800">
              <a:latin typeface="Times New Roman"/>
              <a:cs typeface="Times New Roman"/>
            </a:endParaRPr>
          </a:p>
          <a:p>
            <a:pPr marL="224154" indent="-211454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24790" algn="l"/>
              </a:tabLst>
            </a:pPr>
            <a:r>
              <a:rPr dirty="0" sz="1800" spc="-20">
                <a:latin typeface="Times New Roman"/>
                <a:cs typeface="Times New Roman"/>
              </a:rPr>
              <a:t>Trị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GSQ </a:t>
            </a:r>
            <a:r>
              <a:rPr dirty="0" sz="1800">
                <a:latin typeface="Times New Roman"/>
                <a:cs typeface="Times New Roman"/>
              </a:rPr>
              <a:t>và</a:t>
            </a:r>
            <a:r>
              <a:rPr dirty="0" sz="1800" spc="-21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DSQ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36220" indent="-223520">
              <a:lnSpc>
                <a:spcPct val="100000"/>
              </a:lnSpc>
              <a:spcBef>
                <a:spcPts val="965"/>
              </a:spcBef>
              <a:buAutoNum type="alphaLcPeriod"/>
              <a:tabLst>
                <a:tab pos="236854" algn="l"/>
              </a:tabLst>
            </a:pPr>
            <a:r>
              <a:rPr dirty="0" sz="1800" spc="-5">
                <a:latin typeface="Times New Roman"/>
                <a:cs typeface="Times New Roman"/>
              </a:rPr>
              <a:t>Vẽ mạch </a:t>
            </a:r>
            <a:r>
              <a:rPr dirty="0" sz="1800">
                <a:latin typeface="Times New Roman"/>
                <a:cs typeface="Times New Roman"/>
              </a:rPr>
              <a:t>tương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đương.</a:t>
            </a:r>
            <a:endParaRPr sz="1800">
              <a:latin typeface="Times New Roman"/>
              <a:cs typeface="Times New Roman"/>
            </a:endParaRPr>
          </a:p>
          <a:p>
            <a:pPr marL="224154" indent="-211454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24790" algn="l"/>
              </a:tabLst>
            </a:pPr>
            <a:r>
              <a:rPr dirty="0" sz="1800" spc="-20">
                <a:latin typeface="Times New Roman"/>
                <a:cs typeface="Times New Roman"/>
              </a:rPr>
              <a:t>Trị </a:t>
            </a:r>
            <a:r>
              <a:rPr dirty="0" sz="1800" spc="-135">
                <a:latin typeface="Times New Roman"/>
                <a:cs typeface="Times New Roman"/>
              </a:rPr>
              <a:t>A</a:t>
            </a:r>
            <a:r>
              <a:rPr dirty="0" baseline="-20833" sz="1800" spc="-202">
                <a:latin typeface="Times New Roman"/>
                <a:cs typeface="Times New Roman"/>
              </a:rPr>
              <a:t>V</a:t>
            </a:r>
            <a:r>
              <a:rPr dirty="0" sz="1800" spc="-135">
                <a:latin typeface="Times New Roman"/>
                <a:cs typeface="Times New Roman"/>
              </a:rPr>
              <a:t>, </a:t>
            </a:r>
            <a:r>
              <a:rPr dirty="0" sz="1800">
                <a:latin typeface="Times New Roman"/>
                <a:cs typeface="Times New Roman"/>
              </a:rPr>
              <a:t>Z</a:t>
            </a:r>
            <a:r>
              <a:rPr dirty="0" baseline="-20833" sz="1800">
                <a:latin typeface="Times New Roman"/>
                <a:cs typeface="Times New Roman"/>
              </a:rPr>
              <a:t>i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28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Z</a:t>
            </a:r>
            <a:r>
              <a:rPr dirty="0" baseline="-20833" sz="1800" spc="-7">
                <a:latin typeface="Times New Roman"/>
                <a:cs typeface="Times New Roman"/>
              </a:rPr>
              <a:t>O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36220" indent="-223520">
              <a:lnSpc>
                <a:spcPct val="100000"/>
              </a:lnSpc>
              <a:spcBef>
                <a:spcPts val="915"/>
              </a:spcBef>
              <a:buAutoNum type="alphaLcPeriod"/>
              <a:tabLst>
                <a:tab pos="236854" algn="l"/>
              </a:tabLst>
            </a:pPr>
            <a:r>
              <a:rPr dirty="0" sz="1800">
                <a:latin typeface="Times New Roman"/>
                <a:cs typeface="Times New Roman"/>
              </a:rPr>
              <a:t>Tính lại </a:t>
            </a:r>
            <a:r>
              <a:rPr dirty="0" sz="1800" spc="-120">
                <a:latin typeface="Times New Roman"/>
                <a:cs typeface="Times New Roman"/>
              </a:rPr>
              <a:t>A</a:t>
            </a:r>
            <a:r>
              <a:rPr dirty="0" baseline="-20833" sz="1800" spc="-179">
                <a:latin typeface="Times New Roman"/>
                <a:cs typeface="Times New Roman"/>
              </a:rPr>
              <a:t>V </a:t>
            </a:r>
            <a:r>
              <a:rPr dirty="0" sz="1800">
                <a:latin typeface="Times New Roman"/>
                <a:cs typeface="Times New Roman"/>
              </a:rPr>
              <a:t>khi </a:t>
            </a:r>
            <a:r>
              <a:rPr dirty="0" sz="1800" spc="-5">
                <a:latin typeface="Times New Roman"/>
                <a:cs typeface="Times New Roman"/>
              </a:rPr>
              <a:t>mạch </a:t>
            </a:r>
            <a:r>
              <a:rPr dirty="0" sz="1800">
                <a:latin typeface="Times New Roman"/>
                <a:cs typeface="Times New Roman"/>
              </a:rPr>
              <a:t>có tải riêng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L </a:t>
            </a:r>
            <a:r>
              <a:rPr dirty="0" sz="1800">
                <a:latin typeface="Times New Roman"/>
                <a:cs typeface="Times New Roman"/>
              </a:rPr>
              <a:t>= 10 kΩ và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Sig </a:t>
            </a:r>
            <a:r>
              <a:rPr dirty="0" sz="1800">
                <a:latin typeface="Times New Roman"/>
                <a:cs typeface="Times New Roman"/>
              </a:rPr>
              <a:t>= 100</a:t>
            </a:r>
            <a:r>
              <a:rPr dirty="0" sz="1800" spc="-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kΩ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76288" y="999744"/>
            <a:ext cx="5039867" cy="413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214" y="440182"/>
            <a:ext cx="6793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Bài 5: </a:t>
            </a:r>
            <a:r>
              <a:rPr dirty="0" sz="1800" spc="-5">
                <a:latin typeface="Times New Roman"/>
                <a:cs typeface="Times New Roman"/>
              </a:rPr>
              <a:t>Cho mạch JFET </a:t>
            </a:r>
            <a:r>
              <a:rPr dirty="0" sz="1800">
                <a:latin typeface="Times New Roman"/>
                <a:cs typeface="Times New Roman"/>
              </a:rPr>
              <a:t>như hình vẽ. </a:t>
            </a:r>
            <a:r>
              <a:rPr dirty="0" sz="1800" spc="-5">
                <a:latin typeface="Times New Roman"/>
                <a:cs typeface="Times New Roman"/>
              </a:rPr>
              <a:t>Xác </a:t>
            </a:r>
            <a:r>
              <a:rPr dirty="0" sz="1800">
                <a:latin typeface="Times New Roman"/>
                <a:cs typeface="Times New Roman"/>
              </a:rPr>
              <a:t>định 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baseline="-20833" sz="1800" spc="-7">
                <a:latin typeface="Times New Roman"/>
                <a:cs typeface="Times New Roman"/>
              </a:rPr>
              <a:t>D</a:t>
            </a:r>
            <a:r>
              <a:rPr dirty="0" sz="1800" spc="-5">
                <a:latin typeface="Times New Roman"/>
                <a:cs typeface="Times New Roman"/>
              </a:rPr>
              <a:t>, V</a:t>
            </a:r>
            <a:r>
              <a:rPr dirty="0" baseline="-20833" sz="1800" spc="-7">
                <a:latin typeface="Times New Roman"/>
                <a:cs typeface="Times New Roman"/>
              </a:rPr>
              <a:t>S </a:t>
            </a:r>
            <a:r>
              <a:rPr dirty="0" sz="1800">
                <a:latin typeface="Times New Roman"/>
                <a:cs typeface="Times New Roman"/>
              </a:rPr>
              <a:t>và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DS</a:t>
            </a:r>
            <a:r>
              <a:rPr dirty="0" sz="1800" spc="-5">
                <a:latin typeface="Times New Roman"/>
                <a:cs typeface="Times New Roman"/>
              </a:rPr>
              <a:t>, V</a:t>
            </a:r>
            <a:r>
              <a:rPr dirty="0" baseline="-20833" sz="1800" spc="-7">
                <a:latin typeface="Times New Roman"/>
                <a:cs typeface="Times New Roman"/>
              </a:rPr>
              <a:t>G</a:t>
            </a:r>
            <a:r>
              <a:rPr dirty="0" sz="1800" spc="-5">
                <a:latin typeface="Times New Roman"/>
                <a:cs typeface="Times New Roman"/>
              </a:rPr>
              <a:t>, V</a:t>
            </a:r>
            <a:r>
              <a:rPr dirty="0" baseline="-20833" sz="1800" spc="-7">
                <a:latin typeface="Times New Roman"/>
                <a:cs typeface="Times New Roman"/>
              </a:rPr>
              <a:t>GS</a:t>
            </a:r>
            <a:r>
              <a:rPr dirty="0" sz="1800" spc="-5">
                <a:latin typeface="Times New Roman"/>
                <a:cs typeface="Times New Roman"/>
              </a:rPr>
              <a:t>,</a:t>
            </a:r>
            <a:r>
              <a:rPr dirty="0" sz="1800" spc="-16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P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8133" y="515191"/>
            <a:ext cx="3547415" cy="4174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6790" y="278679"/>
            <a:ext cx="4085987" cy="4041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300050"/>
            <a:ext cx="7800340" cy="100393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Times New Roman"/>
                <a:cs typeface="Times New Roman"/>
              </a:rPr>
              <a:t>Bài 6: </a:t>
            </a:r>
            <a:r>
              <a:rPr dirty="0" sz="1800" spc="-5">
                <a:latin typeface="Times New Roman"/>
                <a:cs typeface="Times New Roman"/>
              </a:rPr>
              <a:t>Cho mạch </a:t>
            </a:r>
            <a:r>
              <a:rPr dirty="0" sz="1800">
                <a:latin typeface="Times New Roman"/>
                <a:cs typeface="Times New Roman"/>
              </a:rPr>
              <a:t>điện như hình vẽ bên. Biết </a:t>
            </a: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1 </a:t>
            </a:r>
            <a:r>
              <a:rPr dirty="0" sz="1800">
                <a:latin typeface="Times New Roman"/>
                <a:cs typeface="Times New Roman"/>
              </a:rPr>
              <a:t>= 110 </a:t>
            </a:r>
            <a:r>
              <a:rPr dirty="0" sz="1800" spc="-5">
                <a:latin typeface="Times New Roman"/>
                <a:cs typeface="Times New Roman"/>
              </a:rPr>
              <a:t>MΩ, </a:t>
            </a:r>
            <a:r>
              <a:rPr dirty="0" sz="1800">
                <a:latin typeface="Times New Roman"/>
                <a:cs typeface="Times New Roman"/>
              </a:rPr>
              <a:t>R</a:t>
            </a:r>
            <a:r>
              <a:rPr dirty="0" baseline="-20833" sz="1800">
                <a:latin typeface="Times New Roman"/>
                <a:cs typeface="Times New Roman"/>
              </a:rPr>
              <a:t>2 </a:t>
            </a:r>
            <a:r>
              <a:rPr dirty="0" sz="1800">
                <a:latin typeface="Times New Roman"/>
                <a:cs typeface="Times New Roman"/>
              </a:rPr>
              <a:t>= 10 </a:t>
            </a:r>
            <a:r>
              <a:rPr dirty="0" sz="1800" spc="-5">
                <a:latin typeface="Times New Roman"/>
                <a:cs typeface="Times New Roman"/>
              </a:rPr>
              <a:t>MΩ, V</a:t>
            </a:r>
            <a:r>
              <a:rPr dirty="0" baseline="-20833" sz="1800" spc="-7">
                <a:latin typeface="Times New Roman"/>
                <a:cs typeface="Times New Roman"/>
              </a:rPr>
              <a:t>DD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10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18V,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800" spc="-5">
                <a:latin typeface="Times New Roman"/>
                <a:cs typeface="Times New Roman"/>
              </a:rPr>
              <a:t>R</a:t>
            </a:r>
            <a:r>
              <a:rPr dirty="0" baseline="-20833" sz="1800" spc="-7">
                <a:latin typeface="Times New Roman"/>
                <a:cs typeface="Times New Roman"/>
              </a:rPr>
              <a:t>D </a:t>
            </a:r>
            <a:r>
              <a:rPr dirty="0" sz="1800">
                <a:latin typeface="Times New Roman"/>
                <a:cs typeface="Times New Roman"/>
              </a:rPr>
              <a:t>= 1.8 </a:t>
            </a:r>
            <a:r>
              <a:rPr dirty="0" sz="1800" spc="-5">
                <a:latin typeface="Times New Roman"/>
                <a:cs typeface="Times New Roman"/>
              </a:rPr>
              <a:t>kΩ, R</a:t>
            </a:r>
            <a:r>
              <a:rPr dirty="0" baseline="-20833" sz="1800" spc="-7">
                <a:latin typeface="Times New Roman"/>
                <a:cs typeface="Times New Roman"/>
              </a:rPr>
              <a:t>S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5">
                <a:latin typeface="Times New Roman"/>
                <a:cs typeface="Times New Roman"/>
              </a:rPr>
              <a:t>750 Ω, I</a:t>
            </a:r>
            <a:r>
              <a:rPr dirty="0" baseline="-20833" sz="1800" spc="-7">
                <a:latin typeface="Times New Roman"/>
                <a:cs typeface="Times New Roman"/>
              </a:rPr>
              <a:t>DSS </a:t>
            </a:r>
            <a:r>
              <a:rPr dirty="0" sz="1800">
                <a:latin typeface="Times New Roman"/>
                <a:cs typeface="Times New Roman"/>
              </a:rPr>
              <a:t>= 6 </a:t>
            </a:r>
            <a:r>
              <a:rPr dirty="0" sz="1800" spc="-10">
                <a:latin typeface="Times New Roman"/>
                <a:cs typeface="Times New Roman"/>
              </a:rPr>
              <a:t>mA,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GS0 </a:t>
            </a:r>
            <a:r>
              <a:rPr dirty="0" sz="1800">
                <a:latin typeface="Times New Roman"/>
                <a:cs typeface="Times New Roman"/>
              </a:rPr>
              <a:t>= -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3V.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800">
                <a:latin typeface="Times New Roman"/>
                <a:cs typeface="Times New Roman"/>
              </a:rPr>
              <a:t>Tính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GSQ</a:t>
            </a:r>
            <a:r>
              <a:rPr dirty="0" sz="1800" spc="-5">
                <a:latin typeface="Times New Roman"/>
                <a:cs typeface="Times New Roman"/>
              </a:rPr>
              <a:t>, I</a:t>
            </a:r>
            <a:r>
              <a:rPr dirty="0" baseline="-20833" sz="1800" spc="-7">
                <a:latin typeface="Times New Roman"/>
                <a:cs typeface="Times New Roman"/>
              </a:rPr>
              <a:t>DQ</a:t>
            </a:r>
            <a:r>
              <a:rPr dirty="0" sz="1800" spc="-5">
                <a:latin typeface="Times New Roman"/>
                <a:cs typeface="Times New Roman"/>
              </a:rPr>
              <a:t>, V</a:t>
            </a:r>
            <a:r>
              <a:rPr dirty="0" baseline="-20833" sz="1800" spc="-7">
                <a:latin typeface="Times New Roman"/>
                <a:cs typeface="Times New Roman"/>
              </a:rPr>
              <a:t>DS</a:t>
            </a:r>
            <a:r>
              <a:rPr dirty="0" sz="1800" spc="-5">
                <a:latin typeface="Times New Roman"/>
                <a:cs typeface="Times New Roman"/>
              </a:rPr>
              <a:t>. Vẽ mạch </a:t>
            </a:r>
            <a:r>
              <a:rPr dirty="0" sz="1800">
                <a:latin typeface="Times New Roman"/>
                <a:cs typeface="Times New Roman"/>
              </a:rPr>
              <a:t>tương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đương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12607" y="510579"/>
            <a:ext cx="4062713" cy="3923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4299" y="194310"/>
            <a:ext cx="5021580" cy="16078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00">
                <a:latin typeface="Times New Roman"/>
                <a:cs typeface="Times New Roman"/>
              </a:rPr>
              <a:t>Bài 7: Cho </a:t>
            </a:r>
            <a:r>
              <a:rPr dirty="0" sz="1800" spc="-5">
                <a:latin typeface="Times New Roman"/>
                <a:cs typeface="Times New Roman"/>
              </a:rPr>
              <a:t>D-MOSFET </a:t>
            </a:r>
            <a:r>
              <a:rPr dirty="0" sz="1800">
                <a:latin typeface="Times New Roman"/>
                <a:cs typeface="Times New Roman"/>
              </a:rPr>
              <a:t>có thông </a:t>
            </a:r>
            <a:r>
              <a:rPr dirty="0" sz="1800" spc="-5">
                <a:latin typeface="Times New Roman"/>
                <a:cs typeface="Times New Roman"/>
              </a:rPr>
              <a:t>số </a:t>
            </a:r>
            <a:r>
              <a:rPr dirty="0" sz="1800">
                <a:latin typeface="Times New Roman"/>
                <a:cs typeface="Times New Roman"/>
              </a:rPr>
              <a:t>như hình vẽ.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Tính</a:t>
            </a:r>
            <a:endParaRPr sz="18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65"/>
              </a:spcBef>
              <a:buAutoNum type="alphaLcPeriod"/>
              <a:tabLst>
                <a:tab pos="229235" algn="l"/>
              </a:tabLst>
            </a:pP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DQ </a:t>
            </a:r>
            <a:r>
              <a:rPr dirty="0" sz="1800">
                <a:latin typeface="Times New Roman"/>
                <a:cs typeface="Times New Roman"/>
              </a:rPr>
              <a:t>và</a:t>
            </a:r>
            <a:r>
              <a:rPr dirty="0" sz="1800" spc="-16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GSQ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AutoNum type="alphaLcPeriod"/>
              <a:tabLst>
                <a:tab pos="241300" algn="l"/>
              </a:tabLst>
            </a:pP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DS </a:t>
            </a:r>
            <a:r>
              <a:rPr dirty="0" sz="1800">
                <a:latin typeface="Times New Roman"/>
                <a:cs typeface="Times New Roman"/>
              </a:rPr>
              <a:t>và</a:t>
            </a:r>
            <a:r>
              <a:rPr dirty="0" sz="1800" spc="-15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V</a:t>
            </a:r>
            <a:r>
              <a:rPr dirty="0" baseline="-20833" sz="1800" spc="-7">
                <a:latin typeface="Times New Roman"/>
                <a:cs typeface="Times New Roman"/>
              </a:rPr>
              <a:t>D</a:t>
            </a:r>
            <a:r>
              <a:rPr dirty="0" sz="1800" spc="-5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950"/>
              </a:spcBef>
              <a:buAutoNum type="alphaLcPeriod"/>
              <a:tabLst>
                <a:tab pos="229235" algn="l"/>
              </a:tabLst>
            </a:pPr>
            <a:r>
              <a:rPr dirty="0" sz="1800" spc="-5">
                <a:latin typeface="Times New Roman"/>
                <a:cs typeface="Times New Roman"/>
              </a:rPr>
              <a:t>Vẽ mạch </a:t>
            </a:r>
            <a:r>
              <a:rPr dirty="0" sz="1800">
                <a:latin typeface="Times New Roman"/>
                <a:cs typeface="Times New Roman"/>
              </a:rPr>
              <a:t>tương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đương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Quang Nguyên</dc:creator>
  <dc:title>Bài tập JFET</dc:title>
  <dcterms:created xsi:type="dcterms:W3CDTF">2019-03-22T06:00:46Z</dcterms:created>
  <dcterms:modified xsi:type="dcterms:W3CDTF">2019-03-22T06:00:46Z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2019-03-17T00:00:00Z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