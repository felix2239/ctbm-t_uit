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217" y="223215"/>
            <a:ext cx="1124356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75589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513080" algn="l"/>
              </a:tabLst>
            </a:pPr>
            <a:r>
              <a:rPr dirty="0" sz="4000" spc="-480">
                <a:latin typeface="Arial"/>
                <a:cs typeface="Arial"/>
              </a:rPr>
              <a:t>Số </a:t>
            </a:r>
            <a:r>
              <a:rPr dirty="0" sz="4000" spc="-204">
                <a:latin typeface="Arial"/>
                <a:cs typeface="Arial"/>
              </a:rPr>
              <a:t>lượng </a:t>
            </a:r>
            <a:r>
              <a:rPr dirty="0" sz="4000" spc="-175">
                <a:latin typeface="Arial"/>
                <a:cs typeface="Arial"/>
              </a:rPr>
              <a:t>e- </a:t>
            </a:r>
            <a:r>
              <a:rPr dirty="0" sz="4000" spc="-180">
                <a:latin typeface="Arial"/>
                <a:cs typeface="Arial"/>
              </a:rPr>
              <a:t>ngoài </a:t>
            </a:r>
            <a:r>
              <a:rPr dirty="0" sz="4000" spc="-225">
                <a:latin typeface="Arial"/>
                <a:cs typeface="Arial"/>
              </a:rPr>
              <a:t>cùng </a:t>
            </a:r>
            <a:r>
              <a:rPr dirty="0" sz="4000" spc="-250">
                <a:latin typeface="Arial"/>
                <a:cs typeface="Arial"/>
              </a:rPr>
              <a:t>của</a:t>
            </a:r>
            <a:r>
              <a:rPr dirty="0" sz="4000" spc="-680">
                <a:latin typeface="Arial"/>
                <a:cs typeface="Arial"/>
              </a:rPr>
              <a:t> </a:t>
            </a:r>
            <a:r>
              <a:rPr dirty="0" sz="4000" spc="-215">
                <a:latin typeface="Arial"/>
                <a:cs typeface="Arial"/>
              </a:rPr>
              <a:t>Silicon?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00"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4000" spc="-114">
                <a:latin typeface="Arial"/>
                <a:cs typeface="Arial"/>
              </a:rPr>
              <a:t>b.</a:t>
            </a:r>
            <a:r>
              <a:rPr dirty="0" sz="4000" spc="-720">
                <a:latin typeface="Arial"/>
                <a:cs typeface="Arial"/>
              </a:rPr>
              <a:t> </a:t>
            </a:r>
            <a:r>
              <a:rPr dirty="0" sz="4000" spc="-200">
                <a:latin typeface="Arial"/>
                <a:cs typeface="Arial"/>
              </a:rPr>
              <a:t>4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4000" spc="-210">
                <a:latin typeface="Arial"/>
                <a:cs typeface="Arial"/>
              </a:rPr>
              <a:t>c.</a:t>
            </a:r>
            <a:r>
              <a:rPr dirty="0" sz="4000" spc="-305">
                <a:latin typeface="Arial"/>
                <a:cs typeface="Arial"/>
              </a:rPr>
              <a:t> </a:t>
            </a:r>
            <a:r>
              <a:rPr dirty="0" sz="4000" spc="-200">
                <a:latin typeface="Arial"/>
                <a:cs typeface="Arial"/>
              </a:rPr>
              <a:t>5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14">
                <a:latin typeface="Arial"/>
                <a:cs typeface="Arial"/>
              </a:rPr>
              <a:t>d.</a:t>
            </a:r>
            <a:r>
              <a:rPr dirty="0" sz="4000" spc="-625">
                <a:latin typeface="Arial"/>
                <a:cs typeface="Arial"/>
              </a:rPr>
              <a:t> </a:t>
            </a:r>
            <a:r>
              <a:rPr dirty="0" sz="4000" spc="-200">
                <a:latin typeface="Arial"/>
                <a:cs typeface="Arial"/>
              </a:rPr>
              <a:t>69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45185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513080" algn="l"/>
              </a:tabLst>
            </a:pPr>
            <a:r>
              <a:rPr dirty="0" sz="4000" spc="-155">
                <a:latin typeface="Arial"/>
                <a:cs typeface="Arial"/>
              </a:rPr>
              <a:t>Electron </a:t>
            </a:r>
            <a:r>
              <a:rPr dirty="0" sz="4000" spc="-25">
                <a:latin typeface="Arial"/>
                <a:cs typeface="Arial"/>
              </a:rPr>
              <a:t>tự </a:t>
            </a:r>
            <a:r>
              <a:rPr dirty="0" sz="4000" spc="-125">
                <a:latin typeface="Arial"/>
                <a:cs typeface="Arial"/>
              </a:rPr>
              <a:t>do xuất </a:t>
            </a:r>
            <a:r>
              <a:rPr dirty="0" sz="4000" spc="-120">
                <a:latin typeface="Arial"/>
                <a:cs typeface="Arial"/>
              </a:rPr>
              <a:t>hiện nhiều </a:t>
            </a:r>
            <a:r>
              <a:rPr dirty="0" sz="4000" spc="-315">
                <a:latin typeface="Arial"/>
                <a:cs typeface="Arial"/>
              </a:rPr>
              <a:t>ở</a:t>
            </a:r>
            <a:r>
              <a:rPr dirty="0" sz="4000" spc="-844">
                <a:latin typeface="Arial"/>
                <a:cs typeface="Arial"/>
              </a:rPr>
              <a:t> </a:t>
            </a:r>
            <a:r>
              <a:rPr dirty="0" sz="4000" spc="-170">
                <a:latin typeface="Arial"/>
                <a:cs typeface="Arial"/>
              </a:rPr>
              <a:t>vùng: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2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Hạt </a:t>
            </a:r>
            <a:r>
              <a:rPr dirty="0" sz="4000" spc="-175">
                <a:latin typeface="Arial"/>
                <a:cs typeface="Arial"/>
              </a:rPr>
              <a:t>nhân </a:t>
            </a:r>
            <a:r>
              <a:rPr dirty="0" sz="4000" spc="-195">
                <a:latin typeface="Arial"/>
                <a:cs typeface="Arial"/>
              </a:rPr>
              <a:t>nguyên</a:t>
            </a:r>
            <a:r>
              <a:rPr dirty="0" sz="4000" spc="-31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tử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70">
                <a:latin typeface="Arial"/>
                <a:cs typeface="Arial"/>
              </a:rPr>
              <a:t>Giảng </a:t>
            </a:r>
            <a:r>
              <a:rPr dirty="0" sz="4000" spc="-215">
                <a:latin typeface="Arial"/>
                <a:cs typeface="Arial"/>
              </a:rPr>
              <a:t>đường</a:t>
            </a:r>
            <a:r>
              <a:rPr dirty="0" sz="4000" spc="-140">
                <a:latin typeface="Arial"/>
                <a:cs typeface="Arial"/>
              </a:rPr>
              <a:t> </a:t>
            </a:r>
            <a:r>
              <a:rPr dirty="0" sz="4000" spc="-280">
                <a:latin typeface="Arial"/>
                <a:cs typeface="Arial"/>
              </a:rPr>
              <a:t>A3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Vùng </a:t>
            </a:r>
            <a:r>
              <a:rPr dirty="0" sz="4000" spc="-190">
                <a:latin typeface="Arial"/>
                <a:cs typeface="Arial"/>
              </a:rPr>
              <a:t>dẫn</a:t>
            </a:r>
            <a:r>
              <a:rPr dirty="0" sz="4000" spc="-170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điện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250">
                <a:latin typeface="Arial"/>
                <a:cs typeface="Arial"/>
              </a:rPr>
              <a:t>Vùng </a:t>
            </a:r>
            <a:r>
              <a:rPr dirty="0" sz="4000" spc="-190">
                <a:latin typeface="Arial"/>
                <a:cs typeface="Arial"/>
              </a:rPr>
              <a:t>hóa</a:t>
            </a:r>
            <a:r>
              <a:rPr dirty="0" sz="4000" spc="-165">
                <a:latin typeface="Arial"/>
                <a:cs typeface="Arial"/>
              </a:rPr>
              <a:t> </a:t>
            </a:r>
            <a:r>
              <a:rPr dirty="0" sz="4000" spc="105">
                <a:latin typeface="Arial"/>
                <a:cs typeface="Arial"/>
              </a:rPr>
              <a:t>trị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75779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513080" algn="l"/>
              </a:tabLst>
            </a:pPr>
            <a:r>
              <a:rPr dirty="0" sz="4000" spc="-260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60">
                <a:latin typeface="Arial"/>
                <a:cs typeface="Arial"/>
              </a:rPr>
              <a:t>trong </a:t>
            </a:r>
            <a:r>
              <a:rPr dirty="0" sz="4000" spc="-95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</a:t>
            </a:r>
            <a:r>
              <a:rPr dirty="0" sz="4000" spc="-740">
                <a:latin typeface="Arial"/>
                <a:cs typeface="Arial"/>
              </a:rPr>
              <a:t> </a:t>
            </a:r>
            <a:r>
              <a:rPr dirty="0" sz="4000" spc="-155">
                <a:latin typeface="Arial"/>
                <a:cs typeface="Arial"/>
              </a:rPr>
              <a:t>là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3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</a:t>
            </a:r>
            <a:r>
              <a:rPr dirty="0" sz="4000" spc="-200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electron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</a:t>
            </a:r>
            <a:r>
              <a:rPr dirty="0" sz="4000" spc="-195">
                <a:latin typeface="Arial"/>
                <a:cs typeface="Arial"/>
              </a:rPr>
              <a:t> </a:t>
            </a:r>
            <a:r>
              <a:rPr dirty="0" sz="4000" spc="-70">
                <a:latin typeface="Arial"/>
                <a:cs typeface="Arial"/>
              </a:rPr>
              <a:t>photon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 </a:t>
            </a:r>
            <a:r>
              <a:rPr dirty="0" sz="4000" spc="-50">
                <a:latin typeface="Arial"/>
                <a:cs typeface="Arial"/>
              </a:rPr>
              <a:t>lỗ</a:t>
            </a:r>
            <a:r>
              <a:rPr dirty="0" sz="4000" spc="-150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15327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513080" algn="l"/>
              </a:tabLst>
            </a:pPr>
            <a:r>
              <a:rPr dirty="0" sz="4000" spc="-250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 </a:t>
            </a:r>
            <a:r>
              <a:rPr dirty="0" sz="4000" spc="-95">
                <a:latin typeface="Arial"/>
                <a:cs typeface="Arial"/>
              </a:rPr>
              <a:t>loại </a:t>
            </a:r>
            <a:r>
              <a:rPr dirty="0" sz="4000" spc="-310">
                <a:latin typeface="Arial"/>
                <a:cs typeface="Arial"/>
              </a:rPr>
              <a:t>N </a:t>
            </a:r>
            <a:r>
              <a:rPr dirty="0" sz="4000" spc="-235">
                <a:latin typeface="Arial"/>
                <a:cs typeface="Arial"/>
              </a:rPr>
              <a:t>có</a:t>
            </a:r>
            <a:r>
              <a:rPr dirty="0" sz="4000" spc="-440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nhiều: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4"/>
            </a:pPr>
            <a:endParaRPr sz="51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10">
                <a:latin typeface="Arial"/>
                <a:cs typeface="Arial"/>
              </a:rPr>
              <a:t>Tiền</a:t>
            </a:r>
            <a:r>
              <a:rPr dirty="0" sz="4000" spc="-225">
                <a:latin typeface="Arial"/>
                <a:cs typeface="Arial"/>
              </a:rPr>
              <a:t> </a:t>
            </a:r>
            <a:r>
              <a:rPr dirty="0" sz="4000" spc="5230"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  <a:p>
            <a:pPr lvl="1" marL="469900" indent="-457200">
              <a:lnSpc>
                <a:spcPct val="100000"/>
              </a:lnSpc>
              <a:spcBef>
                <a:spcPts val="495"/>
              </a:spcBef>
              <a:buAutoNum type="alphaLcPeriod"/>
              <a:tabLst>
                <a:tab pos="470534" algn="l"/>
              </a:tabLst>
            </a:pPr>
            <a:r>
              <a:rPr dirty="0" sz="4000" spc="-160">
                <a:latin typeface="Arial"/>
                <a:cs typeface="Arial"/>
              </a:rPr>
              <a:t>Electron </a:t>
            </a:r>
            <a:r>
              <a:rPr dirty="0" sz="4000" spc="-20">
                <a:latin typeface="Arial"/>
                <a:cs typeface="Arial"/>
              </a:rPr>
              <a:t>tự</a:t>
            </a:r>
            <a:r>
              <a:rPr dirty="0" sz="4000" spc="-275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do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Lỗ</a:t>
            </a:r>
            <a:r>
              <a:rPr dirty="0" sz="4000" spc="-204">
                <a:latin typeface="Arial"/>
                <a:cs typeface="Arial"/>
              </a:rPr>
              <a:t> </a:t>
            </a:r>
            <a:r>
              <a:rPr dirty="0" sz="4000" spc="-75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05053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513080" algn="l"/>
              </a:tabLst>
            </a:pPr>
            <a:r>
              <a:rPr dirty="0" sz="4000" spc="-165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 </a:t>
            </a:r>
            <a:r>
              <a:rPr dirty="0" sz="4000" spc="-95">
                <a:latin typeface="Arial"/>
                <a:cs typeface="Arial"/>
              </a:rPr>
              <a:t>loại </a:t>
            </a:r>
            <a:r>
              <a:rPr dirty="0" sz="4000" spc="-310">
                <a:latin typeface="Arial"/>
                <a:cs typeface="Arial"/>
              </a:rPr>
              <a:t>N </a:t>
            </a:r>
            <a:r>
              <a:rPr dirty="0" sz="4000" spc="-215">
                <a:latin typeface="Arial"/>
                <a:cs typeface="Arial"/>
              </a:rPr>
              <a:t>có</a:t>
            </a:r>
            <a:r>
              <a:rPr dirty="0" sz="4000" spc="-49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nhiều: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5"/>
            </a:pPr>
            <a:endParaRPr sz="51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80">
                <a:latin typeface="Arial"/>
                <a:cs typeface="Arial"/>
              </a:rPr>
              <a:t>Khu </a:t>
            </a:r>
            <a:r>
              <a:rPr dirty="0" sz="4000" spc="-260">
                <a:latin typeface="Arial"/>
                <a:cs typeface="Arial"/>
              </a:rPr>
              <a:t>vực </a:t>
            </a:r>
            <a:r>
              <a:rPr dirty="0" sz="4000" spc="-229">
                <a:latin typeface="Arial"/>
                <a:cs typeface="Arial"/>
              </a:rPr>
              <a:t>ngập </a:t>
            </a:r>
            <a:r>
              <a:rPr dirty="0" sz="4000" spc="40">
                <a:latin typeface="Arial"/>
                <a:cs typeface="Arial"/>
              </a:rPr>
              <a:t>lụt </a:t>
            </a:r>
            <a:r>
              <a:rPr dirty="0" sz="4000" spc="-190">
                <a:latin typeface="Arial"/>
                <a:cs typeface="Arial"/>
              </a:rPr>
              <a:t>qua </a:t>
            </a:r>
            <a:r>
              <a:rPr dirty="0" sz="4000" spc="-240">
                <a:latin typeface="Arial"/>
                <a:cs typeface="Arial"/>
              </a:rPr>
              <a:t>nửa </a:t>
            </a:r>
            <a:r>
              <a:rPr dirty="0" sz="4000" spc="-175">
                <a:latin typeface="Arial"/>
                <a:cs typeface="Arial"/>
              </a:rPr>
              <a:t>bánh </a:t>
            </a:r>
            <a:r>
              <a:rPr dirty="0" sz="4000" spc="-254">
                <a:latin typeface="Arial"/>
                <a:cs typeface="Arial"/>
              </a:rPr>
              <a:t>xe</a:t>
            </a:r>
            <a:r>
              <a:rPr dirty="0" sz="4000" spc="-434">
                <a:latin typeface="Arial"/>
                <a:cs typeface="Arial"/>
              </a:rPr>
              <a:t> </a:t>
            </a:r>
            <a:r>
              <a:rPr dirty="0" sz="4000" spc="-505"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  <a:p>
            <a:pPr lvl="1" marL="469900" indent="-457200">
              <a:lnSpc>
                <a:spcPct val="100000"/>
              </a:lnSpc>
              <a:spcBef>
                <a:spcPts val="495"/>
              </a:spcBef>
              <a:buAutoNum type="alphaLcPeriod"/>
              <a:tabLst>
                <a:tab pos="470534" algn="l"/>
              </a:tabLst>
            </a:pPr>
            <a:r>
              <a:rPr dirty="0" sz="4000" spc="-155">
                <a:latin typeface="Arial"/>
                <a:cs typeface="Arial"/>
              </a:rPr>
              <a:t>Electron </a:t>
            </a:r>
            <a:r>
              <a:rPr dirty="0" sz="4000" spc="-20">
                <a:latin typeface="Arial"/>
                <a:cs typeface="Arial"/>
              </a:rPr>
              <a:t>tự</a:t>
            </a:r>
            <a:r>
              <a:rPr dirty="0" sz="4000" spc="-27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do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Lỗ</a:t>
            </a:r>
            <a:r>
              <a:rPr dirty="0" sz="4000" spc="-204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4525" cy="511238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just"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6. </a:t>
            </a:r>
            <a:r>
              <a:rPr dirty="0" sz="4000" spc="-290">
                <a:latin typeface="Arial"/>
                <a:cs typeface="Arial"/>
              </a:rPr>
              <a:t>Với </a:t>
            </a:r>
            <a:r>
              <a:rPr dirty="0" sz="4000" spc="-130">
                <a:latin typeface="Arial"/>
                <a:cs typeface="Arial"/>
              </a:rPr>
              <a:t>mô </a:t>
            </a:r>
            <a:r>
              <a:rPr dirty="0" sz="4000" spc="-150">
                <a:latin typeface="Arial"/>
                <a:cs typeface="Arial"/>
              </a:rPr>
              <a:t>hình </a:t>
            </a:r>
            <a:r>
              <a:rPr dirty="0" sz="4000" spc="-120">
                <a:latin typeface="Arial"/>
                <a:cs typeface="Arial"/>
              </a:rPr>
              <a:t>diode thực, diode </a:t>
            </a:r>
            <a:r>
              <a:rPr dirty="0" sz="4000" spc="-229">
                <a:latin typeface="Arial"/>
                <a:cs typeface="Arial"/>
              </a:rPr>
              <a:t>được </a:t>
            </a:r>
            <a:r>
              <a:rPr dirty="0" sz="4000" spc="-17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  </a:t>
            </a:r>
            <a:r>
              <a:rPr dirty="0" sz="4000" spc="-95">
                <a:latin typeface="Arial"/>
                <a:cs typeface="Arial"/>
              </a:rPr>
              <a:t>thuân.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65">
                <a:latin typeface="Arial"/>
                <a:cs typeface="Arial"/>
              </a:rPr>
              <a:t>ta </a:t>
            </a:r>
            <a:r>
              <a:rPr dirty="0" sz="4000" spc="-150">
                <a:latin typeface="Arial"/>
                <a:cs typeface="Arial"/>
              </a:rPr>
              <a:t>tăng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180">
                <a:latin typeface="Arial"/>
                <a:cs typeface="Arial"/>
              </a:rPr>
              <a:t>phân </a:t>
            </a:r>
            <a:r>
              <a:rPr dirty="0" sz="4000" spc="-254">
                <a:latin typeface="Arial"/>
                <a:cs typeface="Arial"/>
              </a:rPr>
              <a:t>cực, </a:t>
            </a:r>
            <a:r>
              <a:rPr dirty="0" sz="4000" spc="-114">
                <a:latin typeface="Arial"/>
                <a:cs typeface="Arial"/>
              </a:rPr>
              <a:t>hiệu 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225">
                <a:latin typeface="Arial"/>
                <a:cs typeface="Arial"/>
              </a:rPr>
              <a:t>giữa </a:t>
            </a:r>
            <a:r>
              <a:rPr dirty="0" sz="4000" spc="-200">
                <a:latin typeface="Arial"/>
                <a:cs typeface="Arial"/>
              </a:rPr>
              <a:t>2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20">
                <a:latin typeface="Arial"/>
                <a:cs typeface="Arial"/>
              </a:rPr>
              <a:t>diode</a:t>
            </a:r>
            <a:r>
              <a:rPr dirty="0" sz="4000" spc="-555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algn="just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 </a:t>
            </a:r>
            <a:r>
              <a:rPr dirty="0" sz="4000" spc="-35">
                <a:latin typeface="Arial"/>
                <a:cs typeface="Arial"/>
              </a:rPr>
              <a:t>rồi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262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86435" algn="l"/>
                <a:tab pos="1651000" algn="l"/>
                <a:tab pos="2783205" algn="l"/>
                <a:tab pos="4241800" algn="l"/>
                <a:tab pos="5741670" algn="l"/>
                <a:tab pos="7705090" algn="l"/>
                <a:tab pos="8895715" algn="l"/>
                <a:tab pos="10099675" algn="l"/>
              </a:tabLst>
            </a:pPr>
            <a:r>
              <a:rPr dirty="0" sz="4000" spc="-200">
                <a:latin typeface="Arial"/>
                <a:cs typeface="Arial"/>
              </a:rPr>
              <a:t>7</a:t>
            </a:r>
            <a:r>
              <a:rPr dirty="0" sz="4000" spc="-105">
                <a:latin typeface="Arial"/>
                <a:cs typeface="Arial"/>
              </a:rPr>
              <a:t>.</a:t>
            </a:r>
            <a:r>
              <a:rPr dirty="0" sz="4000" spc="-105">
                <a:latin typeface="Arial"/>
                <a:cs typeface="Arial"/>
              </a:rPr>
              <a:t>	</a:t>
            </a:r>
            <a:r>
              <a:rPr dirty="0" sz="4000" spc="-570">
                <a:latin typeface="Arial"/>
                <a:cs typeface="Arial"/>
              </a:rPr>
              <a:t>V</a:t>
            </a:r>
            <a:r>
              <a:rPr dirty="0" sz="4000" spc="-220">
                <a:latin typeface="Arial"/>
                <a:cs typeface="Arial"/>
              </a:rPr>
              <a:t>ớ</a:t>
            </a:r>
            <a:r>
              <a:rPr dirty="0" sz="4000" spc="-75">
                <a:latin typeface="Arial"/>
                <a:cs typeface="Arial"/>
              </a:rPr>
              <a:t>i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">
                <a:latin typeface="Arial"/>
                <a:cs typeface="Arial"/>
              </a:rPr>
              <a:t>một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20">
                <a:latin typeface="Arial"/>
                <a:cs typeface="Arial"/>
              </a:rPr>
              <a:t>diod</a:t>
            </a:r>
            <a:r>
              <a:rPr dirty="0" sz="4000" spc="-130">
                <a:latin typeface="Arial"/>
                <a:cs typeface="Arial"/>
              </a:rPr>
              <a:t>e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0">
                <a:latin typeface="Arial"/>
                <a:cs typeface="Arial"/>
              </a:rPr>
              <a:t>thông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20">
                <a:latin typeface="Arial"/>
                <a:cs typeface="Arial"/>
              </a:rPr>
              <a:t>thườ</a:t>
            </a:r>
            <a:r>
              <a:rPr dirty="0" sz="4000" spc="-120">
                <a:latin typeface="Arial"/>
                <a:cs typeface="Arial"/>
              </a:rPr>
              <a:t>n</a:t>
            </a:r>
            <a:r>
              <a:rPr dirty="0" sz="4000" spc="-310">
                <a:latin typeface="Arial"/>
                <a:cs typeface="Arial"/>
              </a:rPr>
              <a:t>g</a:t>
            </a:r>
            <a:r>
              <a:rPr dirty="0" sz="4000" spc="-114">
                <a:latin typeface="Arial"/>
                <a:cs typeface="Arial"/>
              </a:rPr>
              <a:t>,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14">
                <a:latin typeface="Arial"/>
                <a:cs typeface="Arial"/>
              </a:rPr>
              <a:t>hiệ</a:t>
            </a:r>
            <a:r>
              <a:rPr dirty="0" sz="4000" spc="-135">
                <a:latin typeface="Arial"/>
                <a:cs typeface="Arial"/>
              </a:rPr>
              <a:t>u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40">
                <a:latin typeface="Arial"/>
                <a:cs typeface="Arial"/>
              </a:rPr>
              <a:t>thế  </a:t>
            </a:r>
            <a:r>
              <a:rPr dirty="0" sz="4000" spc="-260">
                <a:latin typeface="Arial"/>
                <a:cs typeface="Arial"/>
              </a:rPr>
              <a:t>ngưỡng </a:t>
            </a:r>
            <a:r>
              <a:rPr dirty="0" sz="4000" spc="-130">
                <a:latin typeface="Arial"/>
                <a:cs typeface="Arial"/>
              </a:rPr>
              <a:t>để </a:t>
            </a:r>
            <a:r>
              <a:rPr dirty="0" sz="4000" spc="-180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 </a:t>
            </a:r>
            <a:r>
              <a:rPr dirty="0" sz="4000" spc="-90">
                <a:latin typeface="Arial"/>
                <a:cs typeface="Arial"/>
              </a:rPr>
              <a:t>thuận </a:t>
            </a:r>
            <a:r>
              <a:rPr dirty="0" sz="4000" spc="-185">
                <a:latin typeface="Arial"/>
                <a:cs typeface="Arial"/>
              </a:rPr>
              <a:t>cho </a:t>
            </a:r>
            <a:r>
              <a:rPr dirty="0" sz="4000" spc="-120">
                <a:latin typeface="Arial"/>
                <a:cs typeface="Arial"/>
              </a:rPr>
              <a:t>diode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434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000" spc="-204">
                <a:latin typeface="Arial"/>
                <a:cs typeface="Arial"/>
              </a:rPr>
              <a:t>a. </a:t>
            </a:r>
            <a:r>
              <a:rPr dirty="0" sz="4000" spc="-370">
                <a:latin typeface="Arial"/>
                <a:cs typeface="Arial"/>
              </a:rPr>
              <a:t>Bé </a:t>
            </a:r>
            <a:r>
              <a:rPr dirty="0" sz="4000" spc="-195">
                <a:latin typeface="Arial"/>
                <a:cs typeface="Arial"/>
              </a:rPr>
              <a:t>hơn </a:t>
            </a:r>
            <a:r>
              <a:rPr dirty="0" sz="4000" spc="-170">
                <a:latin typeface="Arial"/>
                <a:cs typeface="Arial"/>
              </a:rPr>
              <a:t>0.3</a:t>
            </a:r>
            <a:r>
              <a:rPr dirty="0" sz="4000" spc="-315">
                <a:latin typeface="Arial"/>
                <a:cs typeface="Arial"/>
              </a:rPr>
              <a:t> </a:t>
            </a:r>
            <a:r>
              <a:rPr dirty="0" sz="4000" spc="-405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4000" spc="-120">
                <a:latin typeface="Arial"/>
                <a:cs typeface="Arial"/>
              </a:rPr>
              <a:t>b. </a:t>
            </a:r>
            <a:r>
              <a:rPr dirty="0" sz="4000" spc="-170">
                <a:latin typeface="Arial"/>
                <a:cs typeface="Arial"/>
              </a:rPr>
              <a:t>0.7</a:t>
            </a:r>
            <a:r>
              <a:rPr dirty="0" sz="4000" spc="-715">
                <a:latin typeface="Arial"/>
                <a:cs typeface="Arial"/>
              </a:rPr>
              <a:t> </a:t>
            </a:r>
            <a:r>
              <a:rPr dirty="0" sz="4000" spc="-400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 startAt="3"/>
              <a:tabLst>
                <a:tab pos="470534" algn="l"/>
              </a:tabLst>
            </a:pPr>
            <a:r>
              <a:rPr dirty="0" sz="4000" spc="-170">
                <a:latin typeface="Arial"/>
                <a:cs typeface="Arial"/>
              </a:rPr>
              <a:t>-14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5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 startAt="3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262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8. </a:t>
            </a:r>
            <a:r>
              <a:rPr dirty="0" sz="4000" spc="-27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0">
                <a:latin typeface="Arial"/>
                <a:cs typeface="Arial"/>
              </a:rPr>
              <a:t>đầu </a:t>
            </a:r>
            <a:r>
              <a:rPr dirty="0" sz="4000" spc="-210">
                <a:latin typeface="Arial"/>
                <a:cs typeface="Arial"/>
              </a:rPr>
              <a:t>vào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 </a:t>
            </a:r>
            <a:r>
              <a:rPr dirty="0" sz="4000" spc="-125">
                <a:latin typeface="Arial"/>
                <a:cs typeface="Arial"/>
              </a:rPr>
              <a:t>lưu </a:t>
            </a:r>
            <a:r>
              <a:rPr dirty="0" sz="4000" spc="-190">
                <a:latin typeface="Arial"/>
                <a:cs typeface="Arial"/>
              </a:rPr>
              <a:t>bán chu </a:t>
            </a:r>
            <a:r>
              <a:rPr dirty="0" sz="4000" spc="-210">
                <a:latin typeface="Arial"/>
                <a:cs typeface="Arial"/>
              </a:rPr>
              <a:t>kỳ 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70">
                <a:latin typeface="Arial"/>
                <a:cs typeface="Arial"/>
              </a:rPr>
              <a:t>tần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50">
                <a:latin typeface="Arial"/>
                <a:cs typeface="Arial"/>
              </a:rPr>
              <a:t>là </a:t>
            </a:r>
            <a:r>
              <a:rPr dirty="0" sz="4000" spc="-270">
                <a:latin typeface="Arial"/>
                <a:cs typeface="Arial"/>
              </a:rPr>
              <a:t>60Hz, </a:t>
            </a:r>
            <a:r>
              <a:rPr dirty="0" sz="4000" spc="-70">
                <a:latin typeface="Arial"/>
                <a:cs typeface="Arial"/>
              </a:rPr>
              <a:t>tần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3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30">
                <a:latin typeface="Arial"/>
                <a:cs typeface="Arial"/>
              </a:rPr>
              <a:t>ra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77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30Hz</a:t>
            </a:r>
            <a:endParaRPr sz="4000">
              <a:latin typeface="Arial"/>
              <a:cs typeface="Arial"/>
            </a:endParaRPr>
          </a:p>
          <a:p>
            <a:pPr marL="727710" indent="-71501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728345" algn="l"/>
              </a:tabLst>
            </a:pPr>
            <a:r>
              <a:rPr dirty="0" sz="4000" spc="-310">
                <a:latin typeface="Arial"/>
                <a:cs typeface="Arial"/>
              </a:rPr>
              <a:t>60Hz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120Hz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20">
                <a:latin typeface="Arial"/>
                <a:cs typeface="Arial"/>
              </a:rPr>
              <a:t>d.</a:t>
            </a:r>
            <a:r>
              <a:rPr dirty="0" sz="4000" spc="-685">
                <a:latin typeface="Arial"/>
                <a:cs typeface="Arial"/>
              </a:rPr>
              <a:t> </a:t>
            </a:r>
            <a:r>
              <a:rPr dirty="0" sz="4000" spc="-305">
                <a:latin typeface="Arial"/>
                <a:cs typeface="Arial"/>
              </a:rPr>
              <a:t>2.45GHz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3032" y="3476116"/>
            <a:ext cx="605790" cy="488950"/>
          </a:xfrm>
          <a:custGeom>
            <a:avLst/>
            <a:gdLst/>
            <a:ahLst/>
            <a:cxnLst/>
            <a:rect l="l" t="t" r="r" b="b"/>
            <a:pathLst>
              <a:path w="605789" h="488950">
                <a:moveTo>
                  <a:pt x="98156" y="268351"/>
                </a:moveTo>
                <a:lnTo>
                  <a:pt x="49656" y="268351"/>
                </a:lnTo>
                <a:lnTo>
                  <a:pt x="152145" y="488950"/>
                </a:lnTo>
                <a:lnTo>
                  <a:pt x="176275" y="488950"/>
                </a:lnTo>
                <a:lnTo>
                  <a:pt x="195408" y="423545"/>
                </a:lnTo>
                <a:lnTo>
                  <a:pt x="168782" y="423545"/>
                </a:lnTo>
                <a:lnTo>
                  <a:pt x="98156" y="268351"/>
                </a:lnTo>
                <a:close/>
              </a:path>
              <a:path w="605789" h="488950">
                <a:moveTo>
                  <a:pt x="605536" y="0"/>
                </a:moveTo>
                <a:lnTo>
                  <a:pt x="325119" y="0"/>
                </a:lnTo>
                <a:lnTo>
                  <a:pt x="325119" y="508"/>
                </a:lnTo>
                <a:lnTo>
                  <a:pt x="291211" y="508"/>
                </a:lnTo>
                <a:lnTo>
                  <a:pt x="168782" y="423545"/>
                </a:lnTo>
                <a:lnTo>
                  <a:pt x="195408" y="423545"/>
                </a:lnTo>
                <a:lnTo>
                  <a:pt x="309499" y="33528"/>
                </a:lnTo>
                <a:lnTo>
                  <a:pt x="605536" y="33528"/>
                </a:lnTo>
                <a:lnTo>
                  <a:pt x="605536" y="0"/>
                </a:lnTo>
                <a:close/>
              </a:path>
              <a:path w="605789" h="488950">
                <a:moveTo>
                  <a:pt x="81280" y="231267"/>
                </a:moveTo>
                <a:lnTo>
                  <a:pt x="0" y="268351"/>
                </a:lnTo>
                <a:lnTo>
                  <a:pt x="7747" y="287020"/>
                </a:lnTo>
                <a:lnTo>
                  <a:pt x="49656" y="268351"/>
                </a:lnTo>
                <a:lnTo>
                  <a:pt x="98156" y="268351"/>
                </a:lnTo>
                <a:lnTo>
                  <a:pt x="81280" y="2312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6939" y="223215"/>
            <a:ext cx="10802620" cy="516572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just"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9. </a:t>
            </a:r>
            <a:r>
              <a:rPr dirty="0" sz="4000" spc="-275">
                <a:latin typeface="Arial"/>
                <a:cs typeface="Arial"/>
              </a:rPr>
              <a:t>Tín </a:t>
            </a:r>
            <a:r>
              <a:rPr dirty="0" sz="4000" spc="-114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210">
                <a:latin typeface="Arial"/>
                <a:cs typeface="Arial"/>
              </a:rPr>
              <a:t>vào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 </a:t>
            </a:r>
            <a:r>
              <a:rPr dirty="0" sz="4000" spc="-125">
                <a:latin typeface="Arial"/>
                <a:cs typeface="Arial"/>
              </a:rPr>
              <a:t>lưu </a:t>
            </a:r>
            <a:r>
              <a:rPr dirty="0" sz="4000" spc="-85">
                <a:latin typeface="Arial"/>
                <a:cs typeface="Arial"/>
              </a:rPr>
              <a:t>toàn </a:t>
            </a:r>
            <a:r>
              <a:rPr dirty="0" sz="4000" spc="-190">
                <a:latin typeface="Arial"/>
                <a:cs typeface="Arial"/>
              </a:rPr>
              <a:t>chu </a:t>
            </a:r>
            <a:r>
              <a:rPr dirty="0" sz="4000" spc="-195">
                <a:latin typeface="Arial"/>
                <a:cs typeface="Arial"/>
              </a:rPr>
              <a:t>kỳ 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125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210">
                <a:latin typeface="Arial"/>
                <a:cs typeface="Arial"/>
              </a:rPr>
              <a:t>peak-peak </a:t>
            </a:r>
            <a:r>
              <a:rPr dirty="0" sz="4000" spc="-150">
                <a:latin typeface="Arial"/>
                <a:cs typeface="Arial"/>
              </a:rPr>
              <a:t>là </a:t>
            </a:r>
            <a:r>
              <a:rPr dirty="0" sz="4000" spc="-235">
                <a:latin typeface="Arial"/>
                <a:cs typeface="Arial"/>
              </a:rPr>
              <a:t>10V,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 </a:t>
            </a:r>
            <a:r>
              <a:rPr dirty="0" sz="4000" spc="-204">
                <a:latin typeface="Arial"/>
                <a:cs typeface="Arial"/>
              </a:rPr>
              <a:t>peak-peak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3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30">
                <a:latin typeface="Arial"/>
                <a:cs typeface="Arial"/>
              </a:rPr>
              <a:t>ra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620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4000" spc="-210">
                <a:latin typeface="Arial"/>
                <a:cs typeface="Arial"/>
              </a:rPr>
              <a:t>a.</a:t>
            </a:r>
            <a:r>
              <a:rPr dirty="0" sz="4000" spc="-445">
                <a:latin typeface="Arial"/>
                <a:cs typeface="Arial"/>
              </a:rPr>
              <a:t> </a:t>
            </a:r>
            <a:r>
              <a:rPr dirty="0" sz="4000" spc="-270">
                <a:latin typeface="Arial"/>
                <a:cs typeface="Arial"/>
              </a:rPr>
              <a:t>10V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975"/>
              </a:spcBef>
            </a:pPr>
            <a:r>
              <a:rPr dirty="0" sz="4000" spc="-114">
                <a:latin typeface="Arial"/>
                <a:cs typeface="Arial"/>
              </a:rPr>
              <a:t>b. </a:t>
            </a:r>
            <a:r>
              <a:rPr dirty="0" sz="4000" spc="-200">
                <a:latin typeface="Arial"/>
                <a:cs typeface="Arial"/>
              </a:rPr>
              <a:t>5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 spc="-150" i="1">
                <a:latin typeface="Trebuchet MS"/>
                <a:cs typeface="Trebuchet MS"/>
              </a:rPr>
              <a:t>2</a:t>
            </a:r>
            <a:r>
              <a:rPr dirty="0" sz="4000" spc="-150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480"/>
              </a:spcBef>
            </a:pPr>
            <a:r>
              <a:rPr dirty="0" sz="4000" spc="-210">
                <a:latin typeface="Arial"/>
                <a:cs typeface="Arial"/>
              </a:rPr>
              <a:t>c.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300">
                <a:latin typeface="Arial"/>
                <a:cs typeface="Arial"/>
              </a:rPr>
              <a:t>5V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14">
                <a:latin typeface="Arial"/>
                <a:cs typeface="Arial"/>
              </a:rPr>
              <a:t>d.</a:t>
            </a:r>
            <a:r>
              <a:rPr dirty="0" sz="4000" spc="-625">
                <a:latin typeface="Arial"/>
                <a:cs typeface="Arial"/>
              </a:rPr>
              <a:t> </a:t>
            </a:r>
            <a:r>
              <a:rPr dirty="0" sz="4000" spc="-229">
                <a:latin typeface="Arial"/>
                <a:cs typeface="Arial"/>
              </a:rPr>
              <a:t>0.7V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953833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10. </a:t>
            </a:r>
            <a:r>
              <a:rPr dirty="0" sz="4000" spc="-245">
                <a:latin typeface="Arial"/>
                <a:cs typeface="Arial"/>
              </a:rPr>
              <a:t>Thông </a:t>
            </a:r>
            <a:r>
              <a:rPr dirty="0" sz="4000" spc="-150">
                <a:latin typeface="Arial"/>
                <a:cs typeface="Arial"/>
              </a:rPr>
              <a:t>thường, </a:t>
            </a:r>
            <a:r>
              <a:rPr dirty="0" sz="4000" spc="-120">
                <a:latin typeface="Arial"/>
                <a:cs typeface="Arial"/>
              </a:rPr>
              <a:t>diode </a:t>
            </a:r>
            <a:r>
              <a:rPr dirty="0" sz="4000" spc="-225">
                <a:latin typeface="Arial"/>
                <a:cs typeface="Arial"/>
              </a:rPr>
              <a:t>Zener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</a:t>
            </a:r>
            <a:r>
              <a:rPr dirty="0" sz="4000" spc="-500">
                <a:latin typeface="Arial"/>
                <a:cs typeface="Arial"/>
              </a:rPr>
              <a:t> </a:t>
            </a:r>
            <a:r>
              <a:rPr dirty="0" sz="4000" spc="-85">
                <a:latin typeface="Arial"/>
                <a:cs typeface="Arial"/>
              </a:rPr>
              <a:t>khi: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 spc="-95">
                <a:latin typeface="Arial"/>
                <a:cs typeface="Arial"/>
              </a:rPr>
              <a:t>thuận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nghịch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145">
                <a:latin typeface="Arial"/>
                <a:cs typeface="Arial"/>
              </a:rPr>
              <a:t>đánh</a:t>
            </a:r>
            <a:r>
              <a:rPr dirty="0" sz="4000" spc="-380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thủng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130">
                <a:latin typeface="Arial"/>
                <a:cs typeface="Arial"/>
              </a:rPr>
              <a:t>b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300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7787"/>
            <a:ext cx="10800080" cy="45586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290"/>
              </a:lnSpc>
              <a:spcBef>
                <a:spcPts val="665"/>
              </a:spcBef>
            </a:pPr>
            <a:r>
              <a:rPr dirty="0" sz="4000" spc="-170">
                <a:latin typeface="Arial"/>
                <a:cs typeface="Arial"/>
              </a:rPr>
              <a:t>11.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45">
                <a:latin typeface="Arial"/>
                <a:cs typeface="Arial"/>
              </a:rPr>
              <a:t>ta </a:t>
            </a:r>
            <a:r>
              <a:rPr dirty="0" sz="4000" spc="-145">
                <a:latin typeface="Arial"/>
                <a:cs typeface="Arial"/>
              </a:rPr>
              <a:t>tăng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75">
                <a:latin typeface="Arial"/>
                <a:cs typeface="Arial"/>
              </a:rPr>
              <a:t>số </a:t>
            </a:r>
            <a:r>
              <a:rPr dirty="0" sz="4000" spc="-5">
                <a:latin typeface="Symbol"/>
                <a:cs typeface="Symbol"/>
              </a:rPr>
              <a:t>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10">
                <a:latin typeface="Arial"/>
                <a:cs typeface="Arial"/>
              </a:rPr>
              <a:t>một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459">
                <a:latin typeface="Arial"/>
                <a:cs typeface="Arial"/>
              </a:rPr>
              <a:t>BJT,</a:t>
            </a:r>
            <a:r>
              <a:rPr dirty="0" sz="4000" spc="-665">
                <a:latin typeface="Arial"/>
                <a:cs typeface="Arial"/>
              </a:rPr>
              <a:t> </a:t>
            </a:r>
            <a:r>
              <a:rPr dirty="0" sz="4000" spc="-180">
                <a:latin typeface="Arial"/>
                <a:cs typeface="Arial"/>
              </a:rPr>
              <a:t>dòng  </a:t>
            </a:r>
            <a:r>
              <a:rPr dirty="0" sz="4000" spc="-85">
                <a:latin typeface="Arial"/>
                <a:cs typeface="Arial"/>
              </a:rPr>
              <a:t>collector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 </a:t>
            </a:r>
            <a:r>
              <a:rPr dirty="0" sz="4000" spc="-10">
                <a:latin typeface="Arial"/>
                <a:cs typeface="Arial"/>
              </a:rPr>
              <a:t>rồi </a:t>
            </a:r>
            <a:r>
              <a:rPr dirty="0" sz="4000" spc="-180">
                <a:latin typeface="Arial"/>
                <a:cs typeface="Arial"/>
              </a:rPr>
              <a:t>không</a:t>
            </a:r>
            <a:r>
              <a:rPr dirty="0" sz="4000" spc="-310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7787"/>
            <a:ext cx="10800080" cy="45586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290"/>
              </a:lnSpc>
              <a:spcBef>
                <a:spcPts val="665"/>
              </a:spcBef>
            </a:pPr>
            <a:r>
              <a:rPr dirty="0" sz="4000" spc="-170">
                <a:latin typeface="Arial"/>
                <a:cs typeface="Arial"/>
              </a:rPr>
              <a:t>12.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65">
                <a:latin typeface="Arial"/>
                <a:cs typeface="Arial"/>
              </a:rPr>
              <a:t>ta </a:t>
            </a:r>
            <a:r>
              <a:rPr dirty="0" sz="4000" spc="-155">
                <a:latin typeface="Arial"/>
                <a:cs typeface="Arial"/>
              </a:rPr>
              <a:t>tăng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75">
                <a:latin typeface="Arial"/>
                <a:cs typeface="Arial"/>
              </a:rPr>
              <a:t>số </a:t>
            </a:r>
            <a:r>
              <a:rPr dirty="0" sz="4000" spc="-5">
                <a:latin typeface="Symbol"/>
                <a:cs typeface="Symbol"/>
              </a:rPr>
              <a:t>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10">
                <a:latin typeface="Arial"/>
                <a:cs typeface="Arial"/>
              </a:rPr>
              <a:t>một </a:t>
            </a:r>
            <a:r>
              <a:rPr dirty="0" sz="4000" spc="-100">
                <a:latin typeface="Arial"/>
                <a:cs typeface="Arial"/>
              </a:rPr>
              <a:t>transistor </a:t>
            </a:r>
            <a:r>
              <a:rPr dirty="0" sz="4000" spc="-560">
                <a:latin typeface="Arial"/>
                <a:cs typeface="Arial"/>
              </a:rPr>
              <a:t>BJT, </a:t>
            </a:r>
            <a:r>
              <a:rPr dirty="0" sz="4000" spc="-180">
                <a:latin typeface="Arial"/>
                <a:cs typeface="Arial"/>
              </a:rPr>
              <a:t>dòng  </a:t>
            </a:r>
            <a:r>
              <a:rPr dirty="0" sz="4000" spc="-100">
                <a:latin typeface="Arial"/>
                <a:cs typeface="Arial"/>
              </a:rPr>
              <a:t>collector</a:t>
            </a:r>
            <a:r>
              <a:rPr dirty="0" sz="4000" spc="-21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 </a:t>
            </a:r>
            <a:r>
              <a:rPr dirty="0" sz="4000" spc="-35">
                <a:latin typeface="Arial"/>
                <a:cs typeface="Arial"/>
              </a:rPr>
              <a:t>rồi </a:t>
            </a:r>
            <a:r>
              <a:rPr dirty="0" sz="4000" spc="-180">
                <a:latin typeface="Arial"/>
                <a:cs typeface="Arial"/>
              </a:rPr>
              <a:t>không</a:t>
            </a:r>
            <a:r>
              <a:rPr dirty="0" sz="4000" spc="-19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325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13.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135">
                <a:latin typeface="Arial"/>
                <a:cs typeface="Arial"/>
              </a:rPr>
              <a:t>chỉ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215">
                <a:latin typeface="Arial"/>
                <a:cs typeface="Arial"/>
              </a:rPr>
              <a:t>hay </a:t>
            </a:r>
            <a:r>
              <a:rPr dirty="0" sz="4000" spc="-150">
                <a:latin typeface="Arial"/>
                <a:cs typeface="Arial"/>
              </a:rPr>
              <a:t>mode, </a:t>
            </a:r>
            <a:r>
              <a:rPr dirty="0" sz="4000" spc="-20">
                <a:latin typeface="Arial"/>
                <a:cs typeface="Arial"/>
              </a:rPr>
              <a:t>cutoff  </a:t>
            </a:r>
            <a:r>
              <a:rPr dirty="0" sz="4000" spc="-260">
                <a:latin typeface="Arial"/>
                <a:cs typeface="Arial"/>
              </a:rPr>
              <a:t>và </a:t>
            </a:r>
            <a:r>
              <a:rPr dirty="0" sz="4000" spc="-95">
                <a:latin typeface="Arial"/>
                <a:cs typeface="Arial"/>
              </a:rPr>
              <a:t>saturation,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70">
                <a:latin typeface="Arial"/>
                <a:cs typeface="Arial"/>
              </a:rPr>
              <a:t>đó </a:t>
            </a:r>
            <a:r>
              <a:rPr dirty="0" sz="4000" spc="-340">
                <a:latin typeface="Arial"/>
                <a:cs typeface="Arial"/>
              </a:rPr>
              <a:t>sẽ </a:t>
            </a:r>
            <a:r>
              <a:rPr dirty="0" sz="4000" spc="-185">
                <a:latin typeface="Arial"/>
                <a:cs typeface="Arial"/>
              </a:rPr>
              <a:t>giống</a:t>
            </a:r>
            <a:r>
              <a:rPr dirty="0" sz="4000" spc="-390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như: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Tụ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điện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Mạch </a:t>
            </a:r>
            <a:r>
              <a:rPr dirty="0" sz="4000" spc="-185">
                <a:latin typeface="Arial"/>
                <a:cs typeface="Arial"/>
              </a:rPr>
              <a:t>khuếch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đại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40">
                <a:latin typeface="Arial"/>
                <a:cs typeface="Arial"/>
              </a:rPr>
              <a:t>Công</a:t>
            </a:r>
            <a:r>
              <a:rPr dirty="0" sz="4000" spc="-210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tắc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</a:t>
            </a:r>
            <a:r>
              <a:rPr dirty="0" sz="4000" spc="-28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lưu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871855" algn="l"/>
                <a:tab pos="2248535" algn="l"/>
                <a:tab pos="3596004" algn="l"/>
                <a:tab pos="5310505" algn="l"/>
                <a:tab pos="6165850" algn="l"/>
                <a:tab pos="7028180" algn="l"/>
                <a:tab pos="8031480" algn="l"/>
                <a:tab pos="8683625" algn="l"/>
                <a:tab pos="9815830" algn="l"/>
              </a:tabLst>
            </a:pPr>
            <a:r>
              <a:rPr dirty="0" sz="4000" spc="-200">
                <a:latin typeface="Arial"/>
                <a:cs typeface="Arial"/>
              </a:rPr>
              <a:t>14</a:t>
            </a:r>
            <a:r>
              <a:rPr dirty="0" sz="4000" spc="-105">
                <a:latin typeface="Arial"/>
                <a:cs typeface="Arial"/>
              </a:rPr>
              <a:t>.</a:t>
            </a:r>
            <a:r>
              <a:rPr dirty="0" sz="4000" spc="-105">
                <a:latin typeface="Arial"/>
                <a:cs typeface="Arial"/>
              </a:rPr>
              <a:t>	</a:t>
            </a:r>
            <a:r>
              <a:rPr dirty="0" sz="4000" spc="-755">
                <a:latin typeface="Arial"/>
                <a:cs typeface="Arial"/>
              </a:rPr>
              <a:t>T</a:t>
            </a:r>
            <a:r>
              <a:rPr dirty="0" sz="4000" spc="-5">
                <a:latin typeface="Arial"/>
                <a:cs typeface="Arial"/>
              </a:rPr>
              <a:t>r</a:t>
            </a:r>
            <a:r>
              <a:rPr dirty="0" sz="4000" spc="-110">
                <a:latin typeface="Arial"/>
                <a:cs typeface="Arial"/>
              </a:rPr>
              <a:t>o</a:t>
            </a:r>
            <a:r>
              <a:rPr dirty="0" sz="4000" spc="-240">
                <a:latin typeface="Arial"/>
                <a:cs typeface="Arial"/>
              </a:rPr>
              <a:t>n</a:t>
            </a:r>
            <a:r>
              <a:rPr dirty="0" sz="4000" spc="-235">
                <a:latin typeface="Arial"/>
                <a:cs typeface="Arial"/>
              </a:rPr>
              <a:t>g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225">
                <a:latin typeface="Arial"/>
                <a:cs typeface="Arial"/>
              </a:rPr>
              <a:t>mạch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85">
                <a:latin typeface="Arial"/>
                <a:cs typeface="Arial"/>
              </a:rPr>
              <a:t>khuếch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0">
                <a:latin typeface="Arial"/>
                <a:cs typeface="Arial"/>
              </a:rPr>
              <a:t>đại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530">
                <a:latin typeface="Arial"/>
                <a:cs typeface="Arial"/>
              </a:rPr>
              <a:t>CE,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70">
                <a:latin typeface="Arial"/>
                <a:cs typeface="Arial"/>
              </a:rPr>
              <a:t>nế</a:t>
            </a:r>
            <a:r>
              <a:rPr dirty="0" sz="4000" spc="-165">
                <a:latin typeface="Arial"/>
                <a:cs typeface="Arial"/>
              </a:rPr>
              <a:t>u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50">
                <a:latin typeface="Arial"/>
                <a:cs typeface="Arial"/>
              </a:rPr>
              <a:t>tụ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220">
                <a:latin typeface="Arial"/>
                <a:cs typeface="Arial"/>
              </a:rPr>
              <a:t>song  </a:t>
            </a:r>
            <a:r>
              <a:rPr dirty="0" sz="4000" spc="-260">
                <a:latin typeface="Arial"/>
                <a:cs typeface="Arial"/>
              </a:rPr>
              <a:t>song </a:t>
            </a:r>
            <a:r>
              <a:rPr dirty="0" sz="4000" spc="-180">
                <a:latin typeface="Arial"/>
                <a:cs typeface="Arial"/>
              </a:rPr>
              <a:t>với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30">
                <a:latin typeface="Arial"/>
                <a:cs typeface="Arial"/>
              </a:rPr>
              <a:t>trở </a:t>
            </a:r>
            <a:r>
              <a:rPr dirty="0" sz="4000" spc="-595">
                <a:latin typeface="Arial"/>
                <a:cs typeface="Arial"/>
              </a:rPr>
              <a:t>R</a:t>
            </a:r>
            <a:r>
              <a:rPr dirty="0" baseline="-20964" sz="3975" spc="-892">
                <a:latin typeface="Arial"/>
                <a:cs typeface="Arial"/>
              </a:rPr>
              <a:t>E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125">
                <a:latin typeface="Arial"/>
                <a:cs typeface="Arial"/>
              </a:rPr>
              <a:t>bỏ </a:t>
            </a:r>
            <a:r>
              <a:rPr dirty="0" sz="4000" spc="-40">
                <a:latin typeface="Arial"/>
                <a:cs typeface="Arial"/>
              </a:rPr>
              <a:t>đi,</a:t>
            </a:r>
            <a:r>
              <a:rPr dirty="0" sz="4000" spc="-795">
                <a:latin typeface="Arial"/>
                <a:cs typeface="Arial"/>
              </a:rPr>
              <a:t>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5">
                <a:latin typeface="Arial"/>
                <a:cs typeface="Arial"/>
              </a:rPr>
              <a:t>đại </a:t>
            </a:r>
            <a:r>
              <a:rPr dirty="0" sz="4000" spc="-220">
                <a:latin typeface="Arial"/>
                <a:cs typeface="Arial"/>
              </a:rPr>
              <a:t>áp </a:t>
            </a:r>
            <a:r>
              <a:rPr dirty="0" sz="4000" spc="-240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98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15. </a:t>
            </a:r>
            <a:r>
              <a:rPr dirty="0" sz="4000" spc="-270">
                <a:latin typeface="Arial"/>
                <a:cs typeface="Arial"/>
              </a:rPr>
              <a:t>Trong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90">
                <a:latin typeface="Arial"/>
                <a:cs typeface="Arial"/>
              </a:rPr>
              <a:t>khuếch </a:t>
            </a:r>
            <a:r>
              <a:rPr dirty="0" sz="4000" spc="-100">
                <a:latin typeface="Arial"/>
                <a:cs typeface="Arial"/>
              </a:rPr>
              <a:t>đại </a:t>
            </a:r>
            <a:r>
              <a:rPr dirty="0" sz="4000" spc="-550">
                <a:latin typeface="Arial"/>
                <a:cs typeface="Arial"/>
              </a:rPr>
              <a:t>CC, </a:t>
            </a:r>
            <a:r>
              <a:rPr dirty="0" sz="4000" spc="-165">
                <a:latin typeface="Arial"/>
                <a:cs typeface="Arial"/>
              </a:rPr>
              <a:t>nếu </a:t>
            </a:r>
            <a:r>
              <a:rPr dirty="0" sz="4000" spc="-70">
                <a:latin typeface="Arial"/>
                <a:cs typeface="Arial"/>
              </a:rPr>
              <a:t>ta </a:t>
            </a:r>
            <a:r>
              <a:rPr dirty="0" sz="4000" spc="-155">
                <a:latin typeface="Arial"/>
                <a:cs typeface="Arial"/>
              </a:rPr>
              <a:t>tăng </a:t>
            </a:r>
            <a:r>
              <a:rPr dirty="0" sz="4000" spc="-210">
                <a:latin typeface="Arial"/>
                <a:cs typeface="Arial"/>
              </a:rPr>
              <a:t>giá </a:t>
            </a:r>
            <a:r>
              <a:rPr dirty="0" sz="4000" spc="105">
                <a:latin typeface="Arial"/>
                <a:cs typeface="Arial"/>
              </a:rPr>
              <a:t>trị 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595">
                <a:latin typeface="Arial"/>
                <a:cs typeface="Arial"/>
              </a:rPr>
              <a:t>R</a:t>
            </a:r>
            <a:r>
              <a:rPr dirty="0" baseline="-20964" sz="3975" spc="-892">
                <a:latin typeface="Arial"/>
                <a:cs typeface="Arial"/>
              </a:rPr>
              <a:t>E</a:t>
            </a:r>
            <a:r>
              <a:rPr dirty="0" baseline="-20964" sz="3975" spc="-682">
                <a:latin typeface="Arial"/>
                <a:cs typeface="Arial"/>
              </a:rPr>
              <a:t> </a:t>
            </a:r>
            <a:r>
              <a:rPr dirty="0" sz="4000" spc="-114">
                <a:latin typeface="Arial"/>
                <a:cs typeface="Arial"/>
              </a:rPr>
              <a:t>lên </a:t>
            </a:r>
            <a:r>
              <a:rPr dirty="0" sz="4000" spc="-200">
                <a:latin typeface="Arial"/>
                <a:cs typeface="Arial"/>
              </a:rPr>
              <a:t>10 </a:t>
            </a:r>
            <a:r>
              <a:rPr dirty="0" sz="4000" spc="-135">
                <a:latin typeface="Arial"/>
                <a:cs typeface="Arial"/>
              </a:rPr>
              <a:t>lần,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5">
                <a:latin typeface="Arial"/>
                <a:cs typeface="Arial"/>
              </a:rPr>
              <a:t>đại </a:t>
            </a:r>
            <a:r>
              <a:rPr dirty="0" sz="4000" spc="-220">
                <a:latin typeface="Arial"/>
                <a:cs typeface="Arial"/>
              </a:rPr>
              <a:t>áp</a:t>
            </a:r>
            <a:r>
              <a:rPr dirty="0" sz="4000" spc="-59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53567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16. </a:t>
            </a:r>
            <a:r>
              <a:rPr dirty="0" sz="4000" spc="-270">
                <a:latin typeface="Arial"/>
                <a:cs typeface="Arial"/>
              </a:rPr>
              <a:t>Kênh </a:t>
            </a:r>
            <a:r>
              <a:rPr dirty="0" sz="4000" spc="-190">
                <a:latin typeface="Arial"/>
                <a:cs typeface="Arial"/>
              </a:rPr>
              <a:t>dẫn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640">
                <a:latin typeface="Arial"/>
                <a:cs typeface="Arial"/>
              </a:rPr>
              <a:t>JFET </a:t>
            </a:r>
            <a:r>
              <a:rPr dirty="0" sz="4000" spc="-229">
                <a:latin typeface="Arial"/>
                <a:cs typeface="Arial"/>
              </a:rPr>
              <a:t>được </a:t>
            </a:r>
            <a:r>
              <a:rPr dirty="0" sz="4000" spc="-120">
                <a:latin typeface="Arial"/>
                <a:cs typeface="Arial"/>
              </a:rPr>
              <a:t>biểu diễn</a:t>
            </a:r>
            <a:r>
              <a:rPr dirty="0" sz="4000" spc="-350">
                <a:latin typeface="Arial"/>
                <a:cs typeface="Arial"/>
              </a:rPr>
              <a:t> </a:t>
            </a:r>
            <a:r>
              <a:rPr dirty="0" sz="4000" spc="-30">
                <a:latin typeface="Arial"/>
                <a:cs typeface="Arial"/>
              </a:rPr>
              <a:t>từ: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165">
                <a:latin typeface="Arial"/>
                <a:cs typeface="Arial"/>
              </a:rPr>
              <a:t>gate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80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drain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00">
                <a:latin typeface="Arial"/>
                <a:cs typeface="Arial"/>
              </a:rPr>
              <a:t>source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30">
                <a:latin typeface="Arial"/>
                <a:cs typeface="Arial"/>
              </a:rPr>
              <a:t> </a:t>
            </a:r>
            <a:r>
              <a:rPr dirty="0" sz="4000" spc="-165">
                <a:latin typeface="Arial"/>
                <a:cs typeface="Arial"/>
              </a:rPr>
              <a:t>gate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100">
                <a:latin typeface="Arial"/>
                <a:cs typeface="Arial"/>
              </a:rPr>
              <a:t>drain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840">
                <a:latin typeface="Arial"/>
                <a:cs typeface="Arial"/>
              </a:rPr>
              <a:t> </a:t>
            </a:r>
            <a:r>
              <a:rPr dirty="0" sz="4000" spc="-200">
                <a:latin typeface="Arial"/>
                <a:cs typeface="Arial"/>
              </a:rPr>
              <a:t>source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10">
                <a:latin typeface="Arial"/>
                <a:cs typeface="Arial"/>
              </a:rPr>
              <a:t>vào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10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ra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9894" y="223215"/>
            <a:ext cx="405511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345">
                <a:latin typeface="Arial"/>
                <a:cs typeface="Arial"/>
              </a:rPr>
              <a:t>= </a:t>
            </a:r>
            <a:r>
              <a:rPr dirty="0" sz="4000" spc="-240">
                <a:latin typeface="Arial"/>
                <a:cs typeface="Arial"/>
              </a:rPr>
              <a:t>0V, </a:t>
            </a:r>
            <a:r>
              <a:rPr dirty="0" sz="4000" spc="-185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 spc="-190">
                <a:latin typeface="Arial"/>
                <a:cs typeface="Arial"/>
              </a:rPr>
              <a:t>I</a:t>
            </a:r>
            <a:r>
              <a:rPr dirty="0" baseline="-20964" sz="3975" spc="-284">
                <a:latin typeface="Arial"/>
                <a:cs typeface="Arial"/>
              </a:rPr>
              <a:t>D</a:t>
            </a:r>
            <a:endParaRPr baseline="-20964" sz="3975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240905">
              <a:lnSpc>
                <a:spcPct val="100000"/>
              </a:lnSpc>
              <a:spcBef>
                <a:spcPts val="95"/>
              </a:spcBef>
            </a:pPr>
            <a:r>
              <a:rPr dirty="0" spc="-185"/>
              <a:t>không </a:t>
            </a:r>
            <a:r>
              <a:rPr dirty="0" spc="-40"/>
              <a:t>đổi </a:t>
            </a:r>
            <a:r>
              <a:rPr dirty="0" spc="-95"/>
              <a:t>khi</a:t>
            </a:r>
            <a:r>
              <a:rPr dirty="0" spc="-405"/>
              <a:t> </a:t>
            </a:r>
            <a:r>
              <a:rPr dirty="0" spc="-555"/>
              <a:t>VDS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223215"/>
            <a:ext cx="2375535" cy="118364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17. </a:t>
            </a: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450">
                <a:latin typeface="Arial"/>
                <a:cs typeface="Arial"/>
              </a:rPr>
              <a:t>V</a:t>
            </a:r>
            <a:r>
              <a:rPr dirty="0" baseline="-20964" sz="3975" spc="-675">
                <a:latin typeface="Arial"/>
                <a:cs typeface="Arial"/>
              </a:rPr>
              <a:t>GS </a:t>
            </a:r>
            <a:r>
              <a:rPr dirty="0" sz="2650" spc="-450">
                <a:latin typeface="Arial"/>
                <a:cs typeface="Arial"/>
              </a:rPr>
              <a:t> </a:t>
            </a:r>
            <a:r>
              <a:rPr dirty="0" sz="4000" spc="-190">
                <a:latin typeface="Arial"/>
                <a:cs typeface="Arial"/>
              </a:rPr>
              <a:t>bằng: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058785"/>
            <a:ext cx="1525905" cy="285242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15"/>
              </a:spcBef>
              <a:buAutoNum type="alphaLcPeriod"/>
              <a:tabLst>
                <a:tab pos="470534" algn="l"/>
              </a:tabLst>
            </a:pPr>
            <a:r>
              <a:rPr dirty="0" sz="4000" spc="-300">
                <a:latin typeface="Arial"/>
                <a:cs typeface="Arial"/>
              </a:rPr>
              <a:t>0V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320">
                <a:latin typeface="Arial"/>
                <a:cs typeface="Arial"/>
              </a:rPr>
              <a:t>V</a:t>
            </a:r>
            <a:r>
              <a:rPr dirty="0" baseline="-20964" sz="3975" spc="-480">
                <a:latin typeface="Arial"/>
                <a:cs typeface="Arial"/>
              </a:rPr>
              <a:t>DD</a:t>
            </a:r>
            <a:endParaRPr baseline="-20964" sz="397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V</a:t>
            </a:r>
            <a:r>
              <a:rPr dirty="0" baseline="-20964" sz="3975" spc="-600">
                <a:latin typeface="Arial"/>
                <a:cs typeface="Arial"/>
              </a:rPr>
              <a:t>P</a:t>
            </a:r>
            <a:endParaRPr baseline="-20964" sz="397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515"/>
              </a:spcBef>
              <a:buAutoNum type="alphaLcPeriod"/>
              <a:tabLst>
                <a:tab pos="470534" algn="l"/>
              </a:tabLst>
            </a:pPr>
            <a:r>
              <a:rPr dirty="0" baseline="13888" sz="6000" spc="-607">
                <a:latin typeface="Arial"/>
                <a:cs typeface="Arial"/>
              </a:rPr>
              <a:t>V</a:t>
            </a:r>
            <a:r>
              <a:rPr dirty="0" sz="2650" spc="-170">
                <a:latin typeface="Arial"/>
                <a:cs typeface="Arial"/>
              </a:rPr>
              <a:t>GSoff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18. </a:t>
            </a: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640">
                <a:latin typeface="Arial"/>
                <a:cs typeface="Arial"/>
              </a:rPr>
              <a:t>JFET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60">
                <a:latin typeface="Arial"/>
                <a:cs typeface="Arial"/>
              </a:rPr>
              <a:t>trong </a:t>
            </a:r>
            <a:r>
              <a:rPr dirty="0" sz="4000" spc="-145">
                <a:latin typeface="Arial"/>
                <a:cs typeface="Arial"/>
              </a:rPr>
              <a:t>khu </a:t>
            </a:r>
            <a:r>
              <a:rPr dirty="0" sz="4000" spc="-260">
                <a:latin typeface="Arial"/>
                <a:cs typeface="Arial"/>
              </a:rPr>
              <a:t>vực </a:t>
            </a:r>
            <a:r>
              <a:rPr dirty="0" sz="4000" spc="-180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185">
                <a:latin typeface="Arial"/>
                <a:cs typeface="Arial"/>
              </a:rPr>
              <a:t>I</a:t>
            </a:r>
            <a:r>
              <a:rPr dirty="0" baseline="-20964" sz="3975" spc="-277">
                <a:latin typeface="Arial"/>
                <a:cs typeface="Arial"/>
              </a:rPr>
              <a:t>D 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60">
                <a:latin typeface="Arial"/>
                <a:cs typeface="Arial"/>
              </a:rPr>
              <a:t>đổi, </a:t>
            </a:r>
            <a:r>
              <a:rPr dirty="0" sz="4000" spc="-210">
                <a:latin typeface="Arial"/>
                <a:cs typeface="Arial"/>
              </a:rPr>
              <a:t>giá </a:t>
            </a:r>
            <a:r>
              <a:rPr dirty="0" sz="4000" spc="105">
                <a:latin typeface="Arial"/>
                <a:cs typeface="Arial"/>
              </a:rPr>
              <a:t>trị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40">
                <a:latin typeface="Arial"/>
                <a:cs typeface="Arial"/>
              </a:rPr>
              <a:t>đổi </a:t>
            </a:r>
            <a:r>
              <a:rPr dirty="0" sz="4000" spc="-215">
                <a:latin typeface="Arial"/>
                <a:cs typeface="Arial"/>
              </a:rPr>
              <a:t>này </a:t>
            </a:r>
            <a:r>
              <a:rPr dirty="0" sz="4000" spc="-340">
                <a:latin typeface="Arial"/>
                <a:cs typeface="Arial"/>
              </a:rPr>
              <a:t>sẽ </a:t>
            </a:r>
            <a:r>
              <a:rPr dirty="0" sz="4000" spc="-195">
                <a:latin typeface="Arial"/>
                <a:cs typeface="Arial"/>
              </a:rPr>
              <a:t>giảm</a:t>
            </a:r>
            <a:r>
              <a:rPr dirty="0" sz="4000" spc="-775">
                <a:latin typeface="Arial"/>
                <a:cs typeface="Arial"/>
              </a:rPr>
              <a:t> </a:t>
            </a:r>
            <a:r>
              <a:rPr dirty="0" sz="4000" spc="-135">
                <a:latin typeface="Arial"/>
                <a:cs typeface="Arial"/>
              </a:rPr>
              <a:t>nếu: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45">
                <a:latin typeface="Arial"/>
                <a:cs typeface="Arial"/>
              </a:rPr>
              <a:t>V</a:t>
            </a:r>
            <a:r>
              <a:rPr dirty="0" baseline="-20964" sz="3975" spc="-667">
                <a:latin typeface="Arial"/>
                <a:cs typeface="Arial"/>
              </a:rPr>
              <a:t>GS</a:t>
            </a:r>
            <a:r>
              <a:rPr dirty="0" baseline="-20964" sz="3975" spc="-615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45">
                <a:latin typeface="Arial"/>
                <a:cs typeface="Arial"/>
              </a:rPr>
              <a:t>V</a:t>
            </a:r>
            <a:r>
              <a:rPr dirty="0" baseline="-20964" sz="3975" spc="-667">
                <a:latin typeface="Arial"/>
                <a:cs typeface="Arial"/>
              </a:rPr>
              <a:t>GS</a:t>
            </a:r>
            <a:r>
              <a:rPr dirty="0" baseline="-20964" sz="3975" spc="-622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20">
                <a:latin typeface="Arial"/>
                <a:cs typeface="Arial"/>
              </a:rPr>
              <a:t>V</a:t>
            </a:r>
            <a:r>
              <a:rPr dirty="0" baseline="-20964" sz="3975" spc="-480">
                <a:latin typeface="Arial"/>
                <a:cs typeface="Arial"/>
              </a:rPr>
              <a:t>DD</a:t>
            </a:r>
            <a:r>
              <a:rPr dirty="0" baseline="-20964" sz="3975" spc="-397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09">
                <a:latin typeface="Arial"/>
                <a:cs typeface="Arial"/>
              </a:rPr>
              <a:t>V</a:t>
            </a:r>
            <a:r>
              <a:rPr dirty="0" baseline="-20964" sz="3975" spc="-615">
                <a:latin typeface="Arial"/>
                <a:cs typeface="Arial"/>
              </a:rPr>
              <a:t>DS</a:t>
            </a:r>
            <a:r>
              <a:rPr dirty="0" baseline="-20964" sz="3975" spc="-254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59790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19. </a:t>
            </a:r>
            <a:r>
              <a:rPr dirty="0" sz="4000" spc="-265">
                <a:latin typeface="Arial"/>
                <a:cs typeface="Arial"/>
              </a:rPr>
              <a:t>Tại </a:t>
            </a:r>
            <a:r>
              <a:rPr dirty="0" sz="4000" spc="-95">
                <a:latin typeface="Arial"/>
                <a:cs typeface="Arial"/>
              </a:rPr>
              <a:t>điểm </a:t>
            </a:r>
            <a:r>
              <a:rPr dirty="0" sz="4000" spc="-35">
                <a:latin typeface="Arial"/>
                <a:cs typeface="Arial"/>
              </a:rPr>
              <a:t>cutoff, </a:t>
            </a:r>
            <a:r>
              <a:rPr dirty="0" sz="4000" spc="-170">
                <a:latin typeface="Arial"/>
                <a:cs typeface="Arial"/>
              </a:rPr>
              <a:t>kênh </a:t>
            </a:r>
            <a:r>
              <a:rPr dirty="0" sz="4000" spc="-190">
                <a:latin typeface="Arial"/>
                <a:cs typeface="Arial"/>
              </a:rPr>
              <a:t>dẫn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640">
                <a:latin typeface="Arial"/>
                <a:cs typeface="Arial"/>
              </a:rPr>
              <a:t>JFET</a:t>
            </a:r>
            <a:r>
              <a:rPr dirty="0" sz="4000" spc="-540">
                <a:latin typeface="Arial"/>
                <a:cs typeface="Arial"/>
              </a:rPr>
              <a:t> </a:t>
            </a:r>
            <a:r>
              <a:rPr dirty="0" sz="4000" spc="-240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000" spc="-210">
                <a:latin typeface="Arial"/>
                <a:cs typeface="Arial"/>
              </a:rPr>
              <a:t>a.</a:t>
            </a:r>
            <a:r>
              <a:rPr dirty="0" sz="4000" spc="-445">
                <a:latin typeface="Arial"/>
                <a:cs typeface="Arial"/>
              </a:rPr>
              <a:t> </a:t>
            </a:r>
            <a:r>
              <a:rPr dirty="0" sz="4000" spc="-260">
                <a:latin typeface="Arial"/>
                <a:cs typeface="Arial"/>
              </a:rPr>
              <a:t>Hẹp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4000" spc="-114">
                <a:latin typeface="Arial"/>
                <a:cs typeface="Arial"/>
              </a:rPr>
              <a:t>b. </a:t>
            </a:r>
            <a:r>
              <a:rPr dirty="0" sz="4000" spc="-245">
                <a:latin typeface="Arial"/>
                <a:cs typeface="Arial"/>
              </a:rPr>
              <a:t>Đóng </a:t>
            </a:r>
            <a:r>
              <a:rPr dirty="0" sz="4000" spc="-170">
                <a:latin typeface="Arial"/>
                <a:cs typeface="Arial"/>
              </a:rPr>
              <a:t>hoàn </a:t>
            </a:r>
            <a:r>
              <a:rPr dirty="0" sz="4000" spc="-80">
                <a:latin typeface="Arial"/>
                <a:cs typeface="Arial"/>
              </a:rPr>
              <a:t>toàn</a:t>
            </a:r>
            <a:r>
              <a:rPr dirty="0" sz="4000" spc="-830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bởi </a:t>
            </a:r>
            <a:r>
              <a:rPr dirty="0" sz="4000" spc="-200">
                <a:latin typeface="Arial"/>
                <a:cs typeface="Arial"/>
              </a:rPr>
              <a:t>vùng </a:t>
            </a:r>
            <a:r>
              <a:rPr dirty="0" sz="4000" spc="-125">
                <a:latin typeface="Arial"/>
                <a:cs typeface="Arial"/>
              </a:rPr>
              <a:t>hiếm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 startAt="3"/>
              <a:tabLst>
                <a:tab pos="470534" algn="l"/>
              </a:tabLst>
            </a:pPr>
            <a:r>
              <a:rPr dirty="0" sz="4000" spc="-330">
                <a:latin typeface="Arial"/>
                <a:cs typeface="Arial"/>
              </a:rPr>
              <a:t>Rộng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 startAt="3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nghịch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956119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20. </a:t>
            </a:r>
            <a:r>
              <a:rPr dirty="0" sz="4000" spc="-555">
                <a:latin typeface="Arial"/>
                <a:cs typeface="Arial"/>
              </a:rPr>
              <a:t>Sự </a:t>
            </a:r>
            <a:r>
              <a:rPr dirty="0" sz="4000" spc="-235">
                <a:latin typeface="Arial"/>
                <a:cs typeface="Arial"/>
              </a:rPr>
              <a:t>khác </a:t>
            </a:r>
            <a:r>
              <a:rPr dirty="0" sz="4000" spc="-40">
                <a:latin typeface="Arial"/>
                <a:cs typeface="Arial"/>
              </a:rPr>
              <a:t>biệt </a:t>
            </a:r>
            <a:r>
              <a:rPr dirty="0" sz="4000" spc="-330">
                <a:latin typeface="Arial"/>
                <a:cs typeface="Arial"/>
              </a:rPr>
              <a:t>cơ </a:t>
            </a:r>
            <a:r>
              <a:rPr dirty="0" sz="4000" spc="-190">
                <a:latin typeface="Arial"/>
                <a:cs typeface="Arial"/>
              </a:rPr>
              <a:t>bản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505">
                <a:latin typeface="Arial"/>
                <a:cs typeface="Arial"/>
              </a:rPr>
              <a:t>MOSFET </a:t>
            </a:r>
            <a:r>
              <a:rPr dirty="0" sz="4000" spc="-290">
                <a:latin typeface="Arial"/>
                <a:cs typeface="Arial"/>
              </a:rPr>
              <a:t>và </a:t>
            </a:r>
            <a:r>
              <a:rPr dirty="0" sz="4000" spc="-640">
                <a:latin typeface="Arial"/>
                <a:cs typeface="Arial"/>
              </a:rPr>
              <a:t>JFET</a:t>
            </a:r>
            <a:r>
              <a:rPr dirty="0" sz="4000" spc="-730">
                <a:latin typeface="Arial"/>
                <a:cs typeface="Arial"/>
              </a:rPr>
              <a:t> </a:t>
            </a:r>
            <a:r>
              <a:rPr dirty="0" sz="4000" spc="-155">
                <a:latin typeface="Arial"/>
                <a:cs typeface="Arial"/>
              </a:rPr>
              <a:t>là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9">
                <a:latin typeface="Arial"/>
                <a:cs typeface="Arial"/>
              </a:rPr>
              <a:t>Tên </a:t>
            </a:r>
            <a:r>
              <a:rPr dirty="0" sz="4000" spc="-140">
                <a:latin typeface="Arial"/>
                <a:cs typeface="Arial"/>
              </a:rPr>
              <a:t>dài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hơn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509">
                <a:latin typeface="Arial"/>
                <a:cs typeface="Arial"/>
              </a:rPr>
              <a:t>MOSFET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235">
                <a:latin typeface="Arial"/>
                <a:cs typeface="Arial"/>
              </a:rPr>
              <a:t>có </a:t>
            </a:r>
            <a:r>
              <a:rPr dirty="0" sz="4000" spc="-265">
                <a:latin typeface="Arial"/>
                <a:cs typeface="Arial"/>
              </a:rPr>
              <a:t>cấu </a:t>
            </a:r>
            <a:r>
              <a:rPr dirty="0" sz="4000" spc="-40">
                <a:latin typeface="Arial"/>
                <a:cs typeface="Arial"/>
              </a:rPr>
              <a:t>trúc </a:t>
            </a:r>
            <a:r>
              <a:rPr dirty="0" sz="4000" spc="-80">
                <a:latin typeface="Arial"/>
                <a:cs typeface="Arial"/>
              </a:rPr>
              <a:t>mối </a:t>
            </a:r>
            <a:r>
              <a:rPr dirty="0" sz="4000" spc="-75">
                <a:latin typeface="Arial"/>
                <a:cs typeface="Arial"/>
              </a:rPr>
              <a:t>nối</a:t>
            </a:r>
            <a:r>
              <a:rPr dirty="0" sz="4000" spc="-755">
                <a:latin typeface="Arial"/>
                <a:cs typeface="Arial"/>
              </a:rPr>
              <a:t> </a:t>
            </a:r>
            <a:r>
              <a:rPr dirty="0" sz="4000" spc="-465">
                <a:latin typeface="Arial"/>
                <a:cs typeface="Arial"/>
              </a:rPr>
              <a:t>PN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505">
                <a:latin typeface="Arial"/>
                <a:cs typeface="Arial"/>
              </a:rPr>
              <a:t>MOSFET </a:t>
            </a:r>
            <a:r>
              <a:rPr dirty="0" sz="4000" spc="-235">
                <a:latin typeface="Arial"/>
                <a:cs typeface="Arial"/>
              </a:rPr>
              <a:t>có </a:t>
            </a:r>
            <a:r>
              <a:rPr dirty="0" sz="4000" spc="-200">
                <a:latin typeface="Arial"/>
                <a:cs typeface="Arial"/>
              </a:rPr>
              <a:t>2</a:t>
            </a:r>
            <a:r>
              <a:rPr dirty="0" sz="4000" spc="-505">
                <a:latin typeface="Arial"/>
                <a:cs typeface="Arial"/>
              </a:rPr>
              <a:t> </a:t>
            </a:r>
            <a:r>
              <a:rPr dirty="0" sz="4000" spc="-300">
                <a:latin typeface="Arial"/>
                <a:cs typeface="Arial"/>
              </a:rPr>
              <a:t>cực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b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buAutoNum type="arabicPeriod"/>
              <a:tabLst>
                <a:tab pos="514350" algn="l"/>
              </a:tabLst>
            </a:pPr>
            <a:r>
              <a:rPr dirty="0" sz="4000" spc="-265">
                <a:latin typeface="Arial"/>
                <a:cs typeface="Arial"/>
              </a:rPr>
              <a:t>Tại </a:t>
            </a:r>
            <a:r>
              <a:rPr dirty="0" sz="4000" spc="-290">
                <a:latin typeface="Arial"/>
                <a:cs typeface="Arial"/>
              </a:rPr>
              <a:t>sao </a:t>
            </a:r>
            <a:r>
              <a:rPr dirty="0" sz="4000" spc="-210">
                <a:latin typeface="Arial"/>
                <a:cs typeface="Arial"/>
              </a:rPr>
              <a:t>người </a:t>
            </a:r>
            <a:r>
              <a:rPr dirty="0" sz="4000" spc="-45">
                <a:latin typeface="Arial"/>
                <a:cs typeface="Arial"/>
              </a:rPr>
              <a:t>ta </a:t>
            </a:r>
            <a:r>
              <a:rPr dirty="0" sz="4000" spc="-180">
                <a:latin typeface="Arial"/>
                <a:cs typeface="Arial"/>
              </a:rPr>
              <a:t>không dùng </a:t>
            </a:r>
            <a:r>
              <a:rPr dirty="0" sz="4000" spc="-125">
                <a:latin typeface="Arial"/>
                <a:cs typeface="Arial"/>
              </a:rPr>
              <a:t>phổ </a:t>
            </a:r>
            <a:r>
              <a:rPr dirty="0" sz="4000" spc="-120">
                <a:latin typeface="Arial"/>
                <a:cs typeface="Arial"/>
              </a:rPr>
              <a:t>biến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150">
                <a:latin typeface="Arial"/>
                <a:cs typeface="Arial"/>
              </a:rPr>
              <a:t>germanium  </a:t>
            </a:r>
            <a:r>
              <a:rPr dirty="0" sz="4000" spc="-130">
                <a:latin typeface="Arial"/>
                <a:cs typeface="Arial"/>
              </a:rPr>
              <a:t>để </a:t>
            </a:r>
            <a:r>
              <a:rPr dirty="0" sz="4000" spc="-145">
                <a:latin typeface="Arial"/>
                <a:cs typeface="Arial"/>
              </a:rPr>
              <a:t>làm </a:t>
            </a:r>
            <a:r>
              <a:rPr dirty="0" sz="4000" spc="-315">
                <a:latin typeface="Arial"/>
                <a:cs typeface="Arial"/>
              </a:rPr>
              <a:t>các </a:t>
            </a:r>
            <a:r>
              <a:rPr dirty="0" sz="4000" spc="-55">
                <a:latin typeface="Arial"/>
                <a:cs typeface="Arial"/>
              </a:rPr>
              <a:t>linh </a:t>
            </a:r>
            <a:r>
              <a:rPr dirty="0" sz="4000" spc="-135">
                <a:latin typeface="Arial"/>
                <a:cs typeface="Arial"/>
              </a:rPr>
              <a:t>kiện </a:t>
            </a:r>
            <a:r>
              <a:rPr dirty="0" sz="4000" spc="-195">
                <a:latin typeface="Arial"/>
                <a:cs typeface="Arial"/>
              </a:rPr>
              <a:t>bán</a:t>
            </a:r>
            <a:r>
              <a:rPr dirty="0" sz="4000" spc="-495">
                <a:latin typeface="Arial"/>
                <a:cs typeface="Arial"/>
              </a:rPr>
              <a:t> </a:t>
            </a:r>
            <a:r>
              <a:rPr dirty="0" sz="4000" spc="-235">
                <a:latin typeface="Arial"/>
                <a:cs typeface="Arial"/>
              </a:rPr>
              <a:t>dẫn?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/>
            </a:pPr>
            <a:endParaRPr sz="50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Giá </a:t>
            </a:r>
            <a:r>
              <a:rPr dirty="0" sz="4000" spc="-95">
                <a:latin typeface="Arial"/>
                <a:cs typeface="Arial"/>
              </a:rPr>
              <a:t>thành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250">
                <a:latin typeface="Arial"/>
                <a:cs typeface="Arial"/>
              </a:rPr>
              <a:t>cao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195">
                <a:latin typeface="Arial"/>
                <a:cs typeface="Arial"/>
              </a:rPr>
              <a:t>Linh </a:t>
            </a:r>
            <a:r>
              <a:rPr dirty="0" sz="4000" spc="-135">
                <a:latin typeface="Arial"/>
                <a:cs typeface="Arial"/>
              </a:rPr>
              <a:t>kiện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120">
                <a:latin typeface="Arial"/>
                <a:cs typeface="Arial"/>
              </a:rPr>
              <a:t>ổn</a:t>
            </a:r>
            <a:r>
              <a:rPr dirty="0" sz="4000" spc="-530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định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440">
                <a:latin typeface="Arial"/>
                <a:cs typeface="Arial"/>
              </a:rPr>
              <a:t>Có </a:t>
            </a:r>
            <a:r>
              <a:rPr dirty="0" sz="4000" spc="-190">
                <a:latin typeface="Arial"/>
                <a:cs typeface="Arial"/>
              </a:rPr>
              <a:t>ảnh </a:t>
            </a:r>
            <a:r>
              <a:rPr dirty="0" sz="4000" spc="-240">
                <a:latin typeface="Arial"/>
                <a:cs typeface="Arial"/>
              </a:rPr>
              <a:t>hưởng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45">
                <a:latin typeface="Arial"/>
                <a:cs typeface="Arial"/>
              </a:rPr>
              <a:t>sức</a:t>
            </a:r>
            <a:r>
              <a:rPr dirty="0" sz="4000" spc="-730">
                <a:latin typeface="Arial"/>
                <a:cs typeface="Arial"/>
              </a:rPr>
              <a:t> </a:t>
            </a:r>
            <a:r>
              <a:rPr dirty="0" sz="4000" spc="-170">
                <a:latin typeface="Arial"/>
                <a:cs typeface="Arial"/>
              </a:rPr>
              <a:t>khỏe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Dễ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70">
                <a:latin typeface="Arial"/>
                <a:cs typeface="Arial"/>
              </a:rPr>
              <a:t>tan </a:t>
            </a:r>
            <a:r>
              <a:rPr dirty="0" sz="4000" spc="-235">
                <a:latin typeface="Arial"/>
                <a:cs typeface="Arial"/>
              </a:rPr>
              <a:t>chảy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50">
                <a:latin typeface="Arial"/>
                <a:cs typeface="Arial"/>
              </a:rPr>
              <a:t>nhiệt </a:t>
            </a:r>
            <a:r>
              <a:rPr dirty="0" sz="4000" spc="-70">
                <a:latin typeface="Arial"/>
                <a:cs typeface="Arial"/>
              </a:rPr>
              <a:t>độ</a:t>
            </a:r>
            <a:r>
              <a:rPr dirty="0" sz="4000" spc="-459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phòng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43534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513080" algn="l"/>
              </a:tabLst>
            </a:pPr>
            <a:r>
              <a:rPr dirty="0" sz="4000" spc="-160">
                <a:latin typeface="Arial"/>
                <a:cs typeface="Arial"/>
              </a:rPr>
              <a:t>Electron </a:t>
            </a:r>
            <a:r>
              <a:rPr dirty="0" sz="4000" spc="-25">
                <a:latin typeface="Arial"/>
                <a:cs typeface="Arial"/>
              </a:rPr>
              <a:t>tự </a:t>
            </a:r>
            <a:r>
              <a:rPr dirty="0" sz="4000" spc="-125">
                <a:latin typeface="Arial"/>
                <a:cs typeface="Arial"/>
              </a:rPr>
              <a:t>do </a:t>
            </a:r>
            <a:r>
              <a:rPr dirty="0" sz="4000" spc="-140">
                <a:latin typeface="Arial"/>
                <a:cs typeface="Arial"/>
              </a:rPr>
              <a:t>xuất </a:t>
            </a:r>
            <a:r>
              <a:rPr dirty="0" sz="4000" spc="-120">
                <a:latin typeface="Arial"/>
                <a:cs typeface="Arial"/>
              </a:rPr>
              <a:t>hiện nhiều</a:t>
            </a:r>
            <a:r>
              <a:rPr dirty="0" sz="4000" spc="-660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170">
                <a:latin typeface="Arial"/>
                <a:cs typeface="Arial"/>
              </a:rPr>
              <a:t>vùng: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2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180">
                <a:latin typeface="Arial"/>
                <a:cs typeface="Arial"/>
              </a:rPr>
              <a:t>Hạt </a:t>
            </a:r>
            <a:r>
              <a:rPr dirty="0" sz="4000" spc="-175">
                <a:latin typeface="Arial"/>
                <a:cs typeface="Arial"/>
              </a:rPr>
              <a:t>nhân </a:t>
            </a:r>
            <a:r>
              <a:rPr dirty="0" sz="4000" spc="-204">
                <a:latin typeface="Arial"/>
                <a:cs typeface="Arial"/>
              </a:rPr>
              <a:t>nguyên</a:t>
            </a:r>
            <a:r>
              <a:rPr dirty="0" sz="4000" spc="-29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tử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70">
                <a:latin typeface="Arial"/>
                <a:cs typeface="Arial"/>
              </a:rPr>
              <a:t>Giảng </a:t>
            </a:r>
            <a:r>
              <a:rPr dirty="0" sz="4000" spc="-215">
                <a:latin typeface="Arial"/>
                <a:cs typeface="Arial"/>
              </a:rPr>
              <a:t>đường</a:t>
            </a:r>
            <a:r>
              <a:rPr dirty="0" sz="4000" spc="-140">
                <a:latin typeface="Arial"/>
                <a:cs typeface="Arial"/>
              </a:rPr>
              <a:t> </a:t>
            </a:r>
            <a:r>
              <a:rPr dirty="0" sz="4000" spc="-280">
                <a:latin typeface="Arial"/>
                <a:cs typeface="Arial"/>
              </a:rPr>
              <a:t>A3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75">
                <a:latin typeface="Arial"/>
                <a:cs typeface="Arial"/>
              </a:rPr>
              <a:t>Vùng </a:t>
            </a:r>
            <a:r>
              <a:rPr dirty="0" sz="4000" spc="-190">
                <a:latin typeface="Arial"/>
                <a:cs typeface="Arial"/>
              </a:rPr>
              <a:t>dẫn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điện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275">
                <a:latin typeface="Arial"/>
                <a:cs typeface="Arial"/>
              </a:rPr>
              <a:t>Vùng </a:t>
            </a:r>
            <a:r>
              <a:rPr dirty="0" sz="4000" spc="-190">
                <a:latin typeface="Arial"/>
                <a:cs typeface="Arial"/>
              </a:rPr>
              <a:t>hóa</a:t>
            </a:r>
            <a:r>
              <a:rPr dirty="0" sz="4000" spc="-135">
                <a:latin typeface="Arial"/>
                <a:cs typeface="Arial"/>
              </a:rPr>
              <a:t> </a:t>
            </a:r>
            <a:r>
              <a:rPr dirty="0" sz="4000" spc="105">
                <a:latin typeface="Arial"/>
                <a:cs typeface="Arial"/>
              </a:rPr>
              <a:t>trị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73684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513080" algn="l"/>
              </a:tabLst>
            </a:pPr>
            <a:r>
              <a:rPr dirty="0" sz="4000" spc="-260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75">
                <a:latin typeface="Arial"/>
                <a:cs typeface="Arial"/>
              </a:rPr>
              <a:t>trong </a:t>
            </a:r>
            <a:r>
              <a:rPr dirty="0" sz="4000" spc="-130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</a:t>
            </a:r>
            <a:r>
              <a:rPr dirty="0" sz="4000" spc="-690">
                <a:latin typeface="Arial"/>
                <a:cs typeface="Arial"/>
              </a:rPr>
              <a:t> </a:t>
            </a:r>
            <a:r>
              <a:rPr dirty="0" sz="4000" spc="-155">
                <a:latin typeface="Arial"/>
                <a:cs typeface="Arial"/>
              </a:rPr>
              <a:t>là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3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</a:t>
            </a:r>
            <a:r>
              <a:rPr dirty="0" sz="4000" spc="-200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electron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</a:t>
            </a:r>
            <a:r>
              <a:rPr dirty="0" sz="4000" spc="-195">
                <a:latin typeface="Arial"/>
                <a:cs typeface="Arial"/>
              </a:rPr>
              <a:t> </a:t>
            </a:r>
            <a:r>
              <a:rPr dirty="0" sz="4000" spc="-75">
                <a:latin typeface="Arial"/>
                <a:cs typeface="Arial"/>
              </a:rPr>
              <a:t>photon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 </a:t>
            </a:r>
            <a:r>
              <a:rPr dirty="0" sz="4000" spc="-50">
                <a:latin typeface="Arial"/>
                <a:cs typeface="Arial"/>
              </a:rPr>
              <a:t>lỗ</a:t>
            </a:r>
            <a:r>
              <a:rPr dirty="0" sz="4000" spc="-150">
                <a:latin typeface="Arial"/>
                <a:cs typeface="Arial"/>
              </a:rPr>
              <a:t> </a:t>
            </a:r>
            <a:r>
              <a:rPr dirty="0" sz="4000" spc="-75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19137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513080" algn="l"/>
              </a:tabLst>
            </a:pPr>
            <a:r>
              <a:rPr dirty="0" sz="4000" spc="-165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 </a:t>
            </a:r>
            <a:r>
              <a:rPr dirty="0" sz="4000" spc="-95">
                <a:latin typeface="Arial"/>
                <a:cs typeface="Arial"/>
              </a:rPr>
              <a:t>loại </a:t>
            </a:r>
            <a:r>
              <a:rPr dirty="0" sz="4000" spc="-310">
                <a:latin typeface="Arial"/>
                <a:cs typeface="Arial"/>
              </a:rPr>
              <a:t>N </a:t>
            </a:r>
            <a:r>
              <a:rPr dirty="0" sz="4000" spc="-215">
                <a:latin typeface="Arial"/>
                <a:cs typeface="Arial"/>
              </a:rPr>
              <a:t>có</a:t>
            </a:r>
            <a:r>
              <a:rPr dirty="0" sz="4000" spc="-51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nhiều: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4"/>
            </a:pPr>
            <a:endParaRPr sz="51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10">
                <a:latin typeface="Arial"/>
                <a:cs typeface="Arial"/>
              </a:rPr>
              <a:t>Tiền</a:t>
            </a:r>
            <a:r>
              <a:rPr dirty="0" sz="4000" spc="-225">
                <a:latin typeface="Arial"/>
                <a:cs typeface="Arial"/>
              </a:rPr>
              <a:t> </a:t>
            </a:r>
            <a:r>
              <a:rPr dirty="0" sz="4000" spc="5230"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  <a:p>
            <a:pPr lvl="1" marL="469900" indent="-457200">
              <a:lnSpc>
                <a:spcPct val="100000"/>
              </a:lnSpc>
              <a:spcBef>
                <a:spcPts val="495"/>
              </a:spcBef>
              <a:buAutoNum type="alphaLcPeriod"/>
              <a:tabLst>
                <a:tab pos="470534" algn="l"/>
              </a:tabLst>
            </a:pPr>
            <a:r>
              <a:rPr dirty="0" sz="4000" spc="-155">
                <a:latin typeface="Arial"/>
                <a:cs typeface="Arial"/>
              </a:rPr>
              <a:t>Electron </a:t>
            </a:r>
            <a:r>
              <a:rPr dirty="0" sz="4000" spc="-20">
                <a:latin typeface="Arial"/>
                <a:cs typeface="Arial"/>
              </a:rPr>
              <a:t>tự</a:t>
            </a:r>
            <a:r>
              <a:rPr dirty="0" sz="4000" spc="-27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do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Lỗ</a:t>
            </a:r>
            <a:r>
              <a:rPr dirty="0" sz="4000" spc="-204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05053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513080" algn="l"/>
              </a:tabLst>
            </a:pPr>
            <a:r>
              <a:rPr dirty="0" sz="4000" spc="-165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 </a:t>
            </a:r>
            <a:r>
              <a:rPr dirty="0" sz="4000" spc="-95">
                <a:latin typeface="Arial"/>
                <a:cs typeface="Arial"/>
              </a:rPr>
              <a:t>loại </a:t>
            </a:r>
            <a:r>
              <a:rPr dirty="0" sz="4000" spc="-310">
                <a:latin typeface="Arial"/>
                <a:cs typeface="Arial"/>
              </a:rPr>
              <a:t>N </a:t>
            </a:r>
            <a:r>
              <a:rPr dirty="0" sz="4000" spc="-215">
                <a:latin typeface="Arial"/>
                <a:cs typeface="Arial"/>
              </a:rPr>
              <a:t>có</a:t>
            </a:r>
            <a:r>
              <a:rPr dirty="0" sz="4000" spc="-49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nhiều: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5"/>
            </a:pPr>
            <a:endParaRPr sz="51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80">
                <a:latin typeface="Arial"/>
                <a:cs typeface="Arial"/>
              </a:rPr>
              <a:t>Khu </a:t>
            </a:r>
            <a:r>
              <a:rPr dirty="0" sz="4000" spc="-260">
                <a:latin typeface="Arial"/>
                <a:cs typeface="Arial"/>
              </a:rPr>
              <a:t>vực </a:t>
            </a:r>
            <a:r>
              <a:rPr dirty="0" sz="4000" spc="-229">
                <a:latin typeface="Arial"/>
                <a:cs typeface="Arial"/>
              </a:rPr>
              <a:t>ngập </a:t>
            </a:r>
            <a:r>
              <a:rPr dirty="0" sz="4000" spc="40">
                <a:latin typeface="Arial"/>
                <a:cs typeface="Arial"/>
              </a:rPr>
              <a:t>lụt </a:t>
            </a:r>
            <a:r>
              <a:rPr dirty="0" sz="4000" spc="-190">
                <a:latin typeface="Arial"/>
                <a:cs typeface="Arial"/>
              </a:rPr>
              <a:t>qua </a:t>
            </a:r>
            <a:r>
              <a:rPr dirty="0" sz="4000" spc="-240">
                <a:latin typeface="Arial"/>
                <a:cs typeface="Arial"/>
              </a:rPr>
              <a:t>nửa </a:t>
            </a:r>
            <a:r>
              <a:rPr dirty="0" sz="4000" spc="-175">
                <a:latin typeface="Arial"/>
                <a:cs typeface="Arial"/>
              </a:rPr>
              <a:t>bánh </a:t>
            </a:r>
            <a:r>
              <a:rPr dirty="0" sz="4000" spc="-254">
                <a:latin typeface="Arial"/>
                <a:cs typeface="Arial"/>
              </a:rPr>
              <a:t>xe</a:t>
            </a:r>
            <a:r>
              <a:rPr dirty="0" sz="4000" spc="-434">
                <a:latin typeface="Arial"/>
                <a:cs typeface="Arial"/>
              </a:rPr>
              <a:t> </a:t>
            </a:r>
            <a:r>
              <a:rPr dirty="0" sz="4000" spc="-505"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  <a:p>
            <a:pPr lvl="1" marL="469900" indent="-457200">
              <a:lnSpc>
                <a:spcPct val="100000"/>
              </a:lnSpc>
              <a:spcBef>
                <a:spcPts val="495"/>
              </a:spcBef>
              <a:buAutoNum type="alphaLcPeriod"/>
              <a:tabLst>
                <a:tab pos="470534" algn="l"/>
              </a:tabLst>
            </a:pPr>
            <a:r>
              <a:rPr dirty="0" sz="4000" spc="-155">
                <a:latin typeface="Arial"/>
                <a:cs typeface="Arial"/>
              </a:rPr>
              <a:t>Electron </a:t>
            </a:r>
            <a:r>
              <a:rPr dirty="0" sz="4000" spc="-20">
                <a:latin typeface="Arial"/>
                <a:cs typeface="Arial"/>
              </a:rPr>
              <a:t>tự</a:t>
            </a:r>
            <a:r>
              <a:rPr dirty="0" sz="4000" spc="-27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do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Lỗ</a:t>
            </a:r>
            <a:r>
              <a:rPr dirty="0" sz="4000" spc="-204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4525" cy="511238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just"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6. </a:t>
            </a:r>
            <a:r>
              <a:rPr dirty="0" sz="4000" spc="-235">
                <a:latin typeface="Arial"/>
                <a:cs typeface="Arial"/>
              </a:rPr>
              <a:t>Với </a:t>
            </a:r>
            <a:r>
              <a:rPr dirty="0" sz="4000" spc="-130">
                <a:latin typeface="Arial"/>
                <a:cs typeface="Arial"/>
              </a:rPr>
              <a:t>mô </a:t>
            </a:r>
            <a:r>
              <a:rPr dirty="0" sz="4000" spc="-150">
                <a:latin typeface="Arial"/>
                <a:cs typeface="Arial"/>
              </a:rPr>
              <a:t>hình </a:t>
            </a:r>
            <a:r>
              <a:rPr dirty="0" sz="4000" spc="-120">
                <a:latin typeface="Arial"/>
                <a:cs typeface="Arial"/>
              </a:rPr>
              <a:t>diode thực, diode </a:t>
            </a:r>
            <a:r>
              <a:rPr dirty="0" sz="4000" spc="-229">
                <a:latin typeface="Arial"/>
                <a:cs typeface="Arial"/>
              </a:rPr>
              <a:t>được </a:t>
            </a:r>
            <a:r>
              <a:rPr dirty="0" sz="4000" spc="-17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  </a:t>
            </a:r>
            <a:r>
              <a:rPr dirty="0" sz="4000" spc="-95">
                <a:latin typeface="Arial"/>
                <a:cs typeface="Arial"/>
              </a:rPr>
              <a:t>thuân.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40">
                <a:latin typeface="Arial"/>
                <a:cs typeface="Arial"/>
              </a:rPr>
              <a:t>ta </a:t>
            </a:r>
            <a:r>
              <a:rPr dirty="0" sz="4000" spc="-140">
                <a:latin typeface="Arial"/>
                <a:cs typeface="Arial"/>
              </a:rPr>
              <a:t>tăng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180">
                <a:latin typeface="Arial"/>
                <a:cs typeface="Arial"/>
              </a:rPr>
              <a:t>phân </a:t>
            </a:r>
            <a:r>
              <a:rPr dirty="0" sz="4000" spc="-254">
                <a:latin typeface="Arial"/>
                <a:cs typeface="Arial"/>
              </a:rPr>
              <a:t>cực, </a:t>
            </a:r>
            <a:r>
              <a:rPr dirty="0" sz="4000" spc="-120">
                <a:latin typeface="Arial"/>
                <a:cs typeface="Arial"/>
              </a:rPr>
              <a:t>hiệu 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225">
                <a:latin typeface="Arial"/>
                <a:cs typeface="Arial"/>
              </a:rPr>
              <a:t>giữa </a:t>
            </a:r>
            <a:r>
              <a:rPr dirty="0" sz="4000" spc="-200">
                <a:latin typeface="Arial"/>
                <a:cs typeface="Arial"/>
              </a:rPr>
              <a:t>2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20">
                <a:latin typeface="Arial"/>
                <a:cs typeface="Arial"/>
              </a:rPr>
              <a:t>diode</a:t>
            </a:r>
            <a:r>
              <a:rPr dirty="0" sz="4000" spc="-555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algn="just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 </a:t>
            </a:r>
            <a:r>
              <a:rPr dirty="0" sz="4000" spc="-10">
                <a:latin typeface="Arial"/>
                <a:cs typeface="Arial"/>
              </a:rPr>
              <a:t>rồi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389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84530" algn="l"/>
                <a:tab pos="1669414" algn="l"/>
                <a:tab pos="2799715" algn="l"/>
                <a:tab pos="4255770" algn="l"/>
                <a:tab pos="5754370" algn="l"/>
                <a:tab pos="7709534" algn="l"/>
                <a:tab pos="8898255" algn="l"/>
                <a:tab pos="10100945" algn="l"/>
              </a:tabLst>
            </a:pPr>
            <a:r>
              <a:rPr dirty="0" sz="4000" spc="-200">
                <a:latin typeface="Arial"/>
                <a:cs typeface="Arial"/>
              </a:rPr>
              <a:t>7</a:t>
            </a:r>
            <a:r>
              <a:rPr dirty="0" sz="4000" spc="-105">
                <a:latin typeface="Arial"/>
                <a:cs typeface="Arial"/>
              </a:rPr>
              <a:t>.</a:t>
            </a:r>
            <a:r>
              <a:rPr dirty="0" sz="4000" spc="-105">
                <a:latin typeface="Arial"/>
                <a:cs typeface="Arial"/>
              </a:rPr>
              <a:t>	</a:t>
            </a:r>
            <a:r>
              <a:rPr dirty="0" sz="4000" spc="-300">
                <a:latin typeface="Arial"/>
                <a:cs typeface="Arial"/>
              </a:rPr>
              <a:t>Vớ</a:t>
            </a:r>
            <a:r>
              <a:rPr dirty="0" sz="4000" spc="-100">
                <a:latin typeface="Arial"/>
                <a:cs typeface="Arial"/>
              </a:rPr>
              <a:t>i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">
                <a:latin typeface="Arial"/>
                <a:cs typeface="Arial"/>
              </a:rPr>
              <a:t>một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20">
                <a:latin typeface="Arial"/>
                <a:cs typeface="Arial"/>
              </a:rPr>
              <a:t>diod</a:t>
            </a:r>
            <a:r>
              <a:rPr dirty="0" sz="4000" spc="-130">
                <a:latin typeface="Arial"/>
                <a:cs typeface="Arial"/>
              </a:rPr>
              <a:t>e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0">
                <a:latin typeface="Arial"/>
                <a:cs typeface="Arial"/>
              </a:rPr>
              <a:t>thông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20">
                <a:latin typeface="Arial"/>
                <a:cs typeface="Arial"/>
              </a:rPr>
              <a:t>thườ</a:t>
            </a:r>
            <a:r>
              <a:rPr dirty="0" sz="4000" spc="-120">
                <a:latin typeface="Arial"/>
                <a:cs typeface="Arial"/>
              </a:rPr>
              <a:t>n</a:t>
            </a:r>
            <a:r>
              <a:rPr dirty="0" sz="4000" spc="-355">
                <a:latin typeface="Arial"/>
                <a:cs typeface="Arial"/>
              </a:rPr>
              <a:t>g</a:t>
            </a:r>
            <a:r>
              <a:rPr dirty="0" sz="4000" spc="-114">
                <a:latin typeface="Arial"/>
                <a:cs typeface="Arial"/>
              </a:rPr>
              <a:t>,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14">
                <a:latin typeface="Arial"/>
                <a:cs typeface="Arial"/>
              </a:rPr>
              <a:t>hiệ</a:t>
            </a:r>
            <a:r>
              <a:rPr dirty="0" sz="4000" spc="-135">
                <a:latin typeface="Arial"/>
                <a:cs typeface="Arial"/>
              </a:rPr>
              <a:t>u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40">
                <a:latin typeface="Arial"/>
                <a:cs typeface="Arial"/>
              </a:rPr>
              <a:t>thế  </a:t>
            </a:r>
            <a:r>
              <a:rPr dirty="0" sz="4000" spc="-260">
                <a:latin typeface="Arial"/>
                <a:cs typeface="Arial"/>
              </a:rPr>
              <a:t>ngưỡng </a:t>
            </a:r>
            <a:r>
              <a:rPr dirty="0" sz="4000" spc="-130">
                <a:latin typeface="Arial"/>
                <a:cs typeface="Arial"/>
              </a:rPr>
              <a:t>để </a:t>
            </a:r>
            <a:r>
              <a:rPr dirty="0" sz="4000" spc="-180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 </a:t>
            </a:r>
            <a:r>
              <a:rPr dirty="0" sz="4000" spc="-90">
                <a:latin typeface="Arial"/>
                <a:cs typeface="Arial"/>
              </a:rPr>
              <a:t>thuận </a:t>
            </a:r>
            <a:r>
              <a:rPr dirty="0" sz="4000" spc="-185">
                <a:latin typeface="Arial"/>
                <a:cs typeface="Arial"/>
              </a:rPr>
              <a:t>cho </a:t>
            </a:r>
            <a:r>
              <a:rPr dirty="0" sz="4000" spc="-120">
                <a:latin typeface="Arial"/>
                <a:cs typeface="Arial"/>
              </a:rPr>
              <a:t>diode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434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000" spc="-204">
                <a:latin typeface="Arial"/>
                <a:cs typeface="Arial"/>
              </a:rPr>
              <a:t>a. </a:t>
            </a:r>
            <a:r>
              <a:rPr dirty="0" sz="4000" spc="-370">
                <a:latin typeface="Arial"/>
                <a:cs typeface="Arial"/>
              </a:rPr>
              <a:t>Bé </a:t>
            </a:r>
            <a:r>
              <a:rPr dirty="0" sz="4000" spc="-195">
                <a:latin typeface="Arial"/>
                <a:cs typeface="Arial"/>
              </a:rPr>
              <a:t>hơn </a:t>
            </a:r>
            <a:r>
              <a:rPr dirty="0" sz="4000" spc="-170">
                <a:latin typeface="Arial"/>
                <a:cs typeface="Arial"/>
              </a:rPr>
              <a:t>0.3</a:t>
            </a:r>
            <a:r>
              <a:rPr dirty="0" sz="4000" spc="-315">
                <a:latin typeface="Arial"/>
                <a:cs typeface="Arial"/>
              </a:rPr>
              <a:t> </a:t>
            </a:r>
            <a:r>
              <a:rPr dirty="0" sz="4000" spc="-405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4000" spc="-120">
                <a:latin typeface="Arial"/>
                <a:cs typeface="Arial"/>
              </a:rPr>
              <a:t>b. </a:t>
            </a:r>
            <a:r>
              <a:rPr dirty="0" sz="4000" spc="-170">
                <a:latin typeface="Arial"/>
                <a:cs typeface="Arial"/>
              </a:rPr>
              <a:t>0.7</a:t>
            </a:r>
            <a:r>
              <a:rPr dirty="0" sz="4000" spc="-715">
                <a:latin typeface="Arial"/>
                <a:cs typeface="Arial"/>
              </a:rPr>
              <a:t> </a:t>
            </a:r>
            <a:r>
              <a:rPr dirty="0" sz="4000" spc="-400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 startAt="3"/>
              <a:tabLst>
                <a:tab pos="470534" algn="l"/>
              </a:tabLst>
            </a:pPr>
            <a:r>
              <a:rPr dirty="0" sz="4000" spc="-170">
                <a:latin typeface="Arial"/>
                <a:cs typeface="Arial"/>
              </a:rPr>
              <a:t>-14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5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 startAt="3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2620" cy="4563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dirty="0" sz="4000" spc="-150">
                <a:latin typeface="Arial"/>
                <a:cs typeface="Arial"/>
              </a:rPr>
              <a:t>8. </a:t>
            </a:r>
            <a:r>
              <a:rPr dirty="0" sz="4000" spc="-27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229">
                <a:latin typeface="Arial"/>
                <a:cs typeface="Arial"/>
              </a:rPr>
              <a:t>vào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 </a:t>
            </a:r>
            <a:r>
              <a:rPr dirty="0" sz="4000" spc="-125">
                <a:latin typeface="Arial"/>
                <a:cs typeface="Arial"/>
              </a:rPr>
              <a:t>lưu </a:t>
            </a:r>
            <a:r>
              <a:rPr dirty="0" sz="4000" spc="-190">
                <a:latin typeface="Arial"/>
                <a:cs typeface="Arial"/>
              </a:rPr>
              <a:t>bán chu</a:t>
            </a:r>
            <a:r>
              <a:rPr dirty="0" sz="4000" spc="165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kỳ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ts val="4560"/>
              </a:lnSpc>
            </a:pPr>
            <a:r>
              <a:rPr dirty="0" sz="4000" spc="-235">
                <a:latin typeface="Arial"/>
                <a:cs typeface="Arial"/>
              </a:rPr>
              <a:t>có </a:t>
            </a:r>
            <a:r>
              <a:rPr dirty="0" sz="4000" spc="-85">
                <a:latin typeface="Arial"/>
                <a:cs typeface="Arial"/>
              </a:rPr>
              <a:t>tần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50">
                <a:latin typeface="Arial"/>
                <a:cs typeface="Arial"/>
              </a:rPr>
              <a:t>là </a:t>
            </a:r>
            <a:r>
              <a:rPr dirty="0" sz="4000" spc="-270">
                <a:latin typeface="Arial"/>
                <a:cs typeface="Arial"/>
              </a:rPr>
              <a:t>60Hz, </a:t>
            </a:r>
            <a:r>
              <a:rPr dirty="0" sz="4000" spc="-85">
                <a:latin typeface="Arial"/>
                <a:cs typeface="Arial"/>
              </a:rPr>
              <a:t>tần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3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70">
                <a:latin typeface="Arial"/>
                <a:cs typeface="Arial"/>
              </a:rPr>
              <a:t>ra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68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30Hz</a:t>
            </a:r>
            <a:endParaRPr sz="4000">
              <a:latin typeface="Arial"/>
              <a:cs typeface="Arial"/>
            </a:endParaRPr>
          </a:p>
          <a:p>
            <a:pPr marL="727710" indent="-71501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728345" algn="l"/>
              </a:tabLst>
            </a:pPr>
            <a:r>
              <a:rPr dirty="0" sz="4000" spc="-310">
                <a:latin typeface="Arial"/>
                <a:cs typeface="Arial"/>
              </a:rPr>
              <a:t>60Hz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120Hz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20">
                <a:latin typeface="Arial"/>
                <a:cs typeface="Arial"/>
              </a:rPr>
              <a:t>d.</a:t>
            </a:r>
            <a:r>
              <a:rPr dirty="0" sz="4000" spc="-685">
                <a:latin typeface="Arial"/>
                <a:cs typeface="Arial"/>
              </a:rPr>
              <a:t> </a:t>
            </a:r>
            <a:r>
              <a:rPr dirty="0" sz="4000" spc="-305">
                <a:latin typeface="Arial"/>
                <a:cs typeface="Arial"/>
              </a:rPr>
              <a:t>2.45GHz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3032" y="3476116"/>
            <a:ext cx="605790" cy="488950"/>
          </a:xfrm>
          <a:custGeom>
            <a:avLst/>
            <a:gdLst/>
            <a:ahLst/>
            <a:cxnLst/>
            <a:rect l="l" t="t" r="r" b="b"/>
            <a:pathLst>
              <a:path w="605789" h="488950">
                <a:moveTo>
                  <a:pt x="98156" y="268351"/>
                </a:moveTo>
                <a:lnTo>
                  <a:pt x="49656" y="268351"/>
                </a:lnTo>
                <a:lnTo>
                  <a:pt x="152145" y="488950"/>
                </a:lnTo>
                <a:lnTo>
                  <a:pt x="176275" y="488950"/>
                </a:lnTo>
                <a:lnTo>
                  <a:pt x="195408" y="423545"/>
                </a:lnTo>
                <a:lnTo>
                  <a:pt x="168782" y="423545"/>
                </a:lnTo>
                <a:lnTo>
                  <a:pt x="98156" y="268351"/>
                </a:lnTo>
                <a:close/>
              </a:path>
              <a:path w="605789" h="488950">
                <a:moveTo>
                  <a:pt x="605536" y="0"/>
                </a:moveTo>
                <a:lnTo>
                  <a:pt x="325119" y="0"/>
                </a:lnTo>
                <a:lnTo>
                  <a:pt x="325119" y="508"/>
                </a:lnTo>
                <a:lnTo>
                  <a:pt x="291211" y="508"/>
                </a:lnTo>
                <a:lnTo>
                  <a:pt x="168782" y="423545"/>
                </a:lnTo>
                <a:lnTo>
                  <a:pt x="195408" y="423545"/>
                </a:lnTo>
                <a:lnTo>
                  <a:pt x="309499" y="33528"/>
                </a:lnTo>
                <a:lnTo>
                  <a:pt x="605536" y="33528"/>
                </a:lnTo>
                <a:lnTo>
                  <a:pt x="605536" y="0"/>
                </a:lnTo>
                <a:close/>
              </a:path>
              <a:path w="605789" h="488950">
                <a:moveTo>
                  <a:pt x="81280" y="231267"/>
                </a:moveTo>
                <a:lnTo>
                  <a:pt x="0" y="268351"/>
                </a:lnTo>
                <a:lnTo>
                  <a:pt x="7747" y="287020"/>
                </a:lnTo>
                <a:lnTo>
                  <a:pt x="49656" y="268351"/>
                </a:lnTo>
                <a:lnTo>
                  <a:pt x="98156" y="268351"/>
                </a:lnTo>
                <a:lnTo>
                  <a:pt x="81280" y="2312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6939" y="223215"/>
            <a:ext cx="10802620" cy="516572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just"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9. </a:t>
            </a:r>
            <a:r>
              <a:rPr dirty="0" sz="4000" spc="-275">
                <a:latin typeface="Arial"/>
                <a:cs typeface="Arial"/>
              </a:rPr>
              <a:t>Tín </a:t>
            </a:r>
            <a:r>
              <a:rPr dirty="0" sz="4000" spc="-114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210">
                <a:latin typeface="Arial"/>
                <a:cs typeface="Arial"/>
              </a:rPr>
              <a:t>vào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 </a:t>
            </a:r>
            <a:r>
              <a:rPr dirty="0" sz="4000" spc="-125">
                <a:latin typeface="Arial"/>
                <a:cs typeface="Arial"/>
              </a:rPr>
              <a:t>lưu </a:t>
            </a:r>
            <a:r>
              <a:rPr dirty="0" sz="4000" spc="-85">
                <a:latin typeface="Arial"/>
                <a:cs typeface="Arial"/>
              </a:rPr>
              <a:t>toàn </a:t>
            </a:r>
            <a:r>
              <a:rPr dirty="0" sz="4000" spc="-190">
                <a:latin typeface="Arial"/>
                <a:cs typeface="Arial"/>
              </a:rPr>
              <a:t>chu </a:t>
            </a:r>
            <a:r>
              <a:rPr dirty="0" sz="4000" spc="-195">
                <a:latin typeface="Arial"/>
                <a:cs typeface="Arial"/>
              </a:rPr>
              <a:t>kỳ 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125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210">
                <a:latin typeface="Arial"/>
                <a:cs typeface="Arial"/>
              </a:rPr>
              <a:t>peak-peak </a:t>
            </a:r>
            <a:r>
              <a:rPr dirty="0" sz="4000" spc="-150">
                <a:latin typeface="Arial"/>
                <a:cs typeface="Arial"/>
              </a:rPr>
              <a:t>là </a:t>
            </a:r>
            <a:r>
              <a:rPr dirty="0" sz="4000" spc="-235">
                <a:latin typeface="Arial"/>
                <a:cs typeface="Arial"/>
              </a:rPr>
              <a:t>10V,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 </a:t>
            </a:r>
            <a:r>
              <a:rPr dirty="0" sz="4000" spc="-204">
                <a:latin typeface="Arial"/>
                <a:cs typeface="Arial"/>
              </a:rPr>
              <a:t>peak-peak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3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30">
                <a:latin typeface="Arial"/>
                <a:cs typeface="Arial"/>
              </a:rPr>
              <a:t>ra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620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4000" spc="-210">
                <a:latin typeface="Arial"/>
                <a:cs typeface="Arial"/>
              </a:rPr>
              <a:t>a.</a:t>
            </a:r>
            <a:r>
              <a:rPr dirty="0" sz="4000" spc="-445">
                <a:latin typeface="Arial"/>
                <a:cs typeface="Arial"/>
              </a:rPr>
              <a:t> </a:t>
            </a:r>
            <a:r>
              <a:rPr dirty="0" sz="4000" spc="-270">
                <a:latin typeface="Arial"/>
                <a:cs typeface="Arial"/>
              </a:rPr>
              <a:t>10V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975"/>
              </a:spcBef>
            </a:pPr>
            <a:r>
              <a:rPr dirty="0" sz="4000" spc="-114">
                <a:latin typeface="Arial"/>
                <a:cs typeface="Arial"/>
              </a:rPr>
              <a:t>b. </a:t>
            </a:r>
            <a:r>
              <a:rPr dirty="0" sz="4000" spc="-200">
                <a:latin typeface="Arial"/>
                <a:cs typeface="Arial"/>
              </a:rPr>
              <a:t>5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 spc="-150" i="1">
                <a:latin typeface="Trebuchet MS"/>
                <a:cs typeface="Trebuchet MS"/>
              </a:rPr>
              <a:t>2</a:t>
            </a:r>
            <a:r>
              <a:rPr dirty="0" sz="4000" spc="-150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480"/>
              </a:spcBef>
            </a:pPr>
            <a:r>
              <a:rPr dirty="0" sz="4000" spc="-210">
                <a:latin typeface="Arial"/>
                <a:cs typeface="Arial"/>
              </a:rPr>
              <a:t>c.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300">
                <a:latin typeface="Arial"/>
                <a:cs typeface="Arial"/>
              </a:rPr>
              <a:t>5V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14">
                <a:latin typeface="Arial"/>
                <a:cs typeface="Arial"/>
              </a:rPr>
              <a:t>d.</a:t>
            </a:r>
            <a:r>
              <a:rPr dirty="0" sz="4000" spc="-625">
                <a:latin typeface="Arial"/>
                <a:cs typeface="Arial"/>
              </a:rPr>
              <a:t> </a:t>
            </a:r>
            <a:r>
              <a:rPr dirty="0" sz="4000" spc="-229">
                <a:latin typeface="Arial"/>
                <a:cs typeface="Arial"/>
              </a:rPr>
              <a:t>0.7V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953262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10. </a:t>
            </a:r>
            <a:r>
              <a:rPr dirty="0" sz="4000" spc="-245">
                <a:latin typeface="Arial"/>
                <a:cs typeface="Arial"/>
              </a:rPr>
              <a:t>Thông </a:t>
            </a:r>
            <a:r>
              <a:rPr dirty="0" sz="4000" spc="-145">
                <a:latin typeface="Arial"/>
                <a:cs typeface="Arial"/>
              </a:rPr>
              <a:t>thường, </a:t>
            </a:r>
            <a:r>
              <a:rPr dirty="0" sz="4000" spc="-120">
                <a:latin typeface="Arial"/>
                <a:cs typeface="Arial"/>
              </a:rPr>
              <a:t>diode </a:t>
            </a:r>
            <a:r>
              <a:rPr dirty="0" sz="4000" spc="-235">
                <a:latin typeface="Arial"/>
                <a:cs typeface="Arial"/>
              </a:rPr>
              <a:t>Zener </a:t>
            </a:r>
            <a:r>
              <a:rPr dirty="0" sz="4000" spc="-9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</a:t>
            </a:r>
            <a:r>
              <a:rPr dirty="0" sz="4000" spc="-480">
                <a:latin typeface="Arial"/>
                <a:cs typeface="Arial"/>
              </a:rPr>
              <a:t> </a:t>
            </a:r>
            <a:r>
              <a:rPr dirty="0" sz="4000" spc="-85">
                <a:latin typeface="Arial"/>
                <a:cs typeface="Arial"/>
              </a:rPr>
              <a:t>khi: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 spc="-95">
                <a:latin typeface="Arial"/>
                <a:cs typeface="Arial"/>
              </a:rPr>
              <a:t>thuận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nghịch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145">
                <a:latin typeface="Arial"/>
                <a:cs typeface="Arial"/>
              </a:rPr>
              <a:t>đánh</a:t>
            </a:r>
            <a:r>
              <a:rPr dirty="0" sz="4000" spc="-380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thủng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130">
                <a:latin typeface="Arial"/>
                <a:cs typeface="Arial"/>
              </a:rPr>
              <a:t>b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7787"/>
            <a:ext cx="10800080" cy="45586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290"/>
              </a:lnSpc>
              <a:spcBef>
                <a:spcPts val="665"/>
              </a:spcBef>
            </a:pPr>
            <a:r>
              <a:rPr dirty="0" sz="4000" spc="-170">
                <a:latin typeface="Arial"/>
                <a:cs typeface="Arial"/>
              </a:rPr>
              <a:t>11.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65">
                <a:latin typeface="Arial"/>
                <a:cs typeface="Arial"/>
              </a:rPr>
              <a:t>ta </a:t>
            </a:r>
            <a:r>
              <a:rPr dirty="0" sz="4000" spc="-155">
                <a:latin typeface="Arial"/>
                <a:cs typeface="Arial"/>
              </a:rPr>
              <a:t>tăng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75">
                <a:latin typeface="Arial"/>
                <a:cs typeface="Arial"/>
              </a:rPr>
              <a:t>số </a:t>
            </a:r>
            <a:r>
              <a:rPr dirty="0" sz="4000" spc="-5">
                <a:latin typeface="Symbol"/>
                <a:cs typeface="Symbol"/>
              </a:rPr>
              <a:t>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10">
                <a:latin typeface="Arial"/>
                <a:cs typeface="Arial"/>
              </a:rPr>
              <a:t>một </a:t>
            </a:r>
            <a:r>
              <a:rPr dirty="0" sz="4000" spc="-100">
                <a:latin typeface="Arial"/>
                <a:cs typeface="Arial"/>
              </a:rPr>
              <a:t>transistor </a:t>
            </a:r>
            <a:r>
              <a:rPr dirty="0" sz="4000" spc="-560">
                <a:latin typeface="Arial"/>
                <a:cs typeface="Arial"/>
              </a:rPr>
              <a:t>BJT, </a:t>
            </a:r>
            <a:r>
              <a:rPr dirty="0" sz="4000" spc="-180">
                <a:latin typeface="Arial"/>
                <a:cs typeface="Arial"/>
              </a:rPr>
              <a:t>dòng  </a:t>
            </a:r>
            <a:r>
              <a:rPr dirty="0" sz="4000" spc="-100">
                <a:latin typeface="Arial"/>
                <a:cs typeface="Arial"/>
              </a:rPr>
              <a:t>collector</a:t>
            </a:r>
            <a:r>
              <a:rPr dirty="0" sz="4000" spc="-21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 </a:t>
            </a:r>
            <a:r>
              <a:rPr dirty="0" sz="4000" spc="-35">
                <a:latin typeface="Arial"/>
                <a:cs typeface="Arial"/>
              </a:rPr>
              <a:t>rồi </a:t>
            </a:r>
            <a:r>
              <a:rPr dirty="0" sz="4000" spc="-180">
                <a:latin typeface="Arial"/>
                <a:cs typeface="Arial"/>
              </a:rPr>
              <a:t>không</a:t>
            </a:r>
            <a:r>
              <a:rPr dirty="0" sz="4000" spc="-19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7787"/>
            <a:ext cx="10800080" cy="45586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290"/>
              </a:lnSpc>
              <a:spcBef>
                <a:spcPts val="665"/>
              </a:spcBef>
            </a:pPr>
            <a:r>
              <a:rPr dirty="0" sz="4000" spc="-170">
                <a:latin typeface="Arial"/>
                <a:cs typeface="Arial"/>
              </a:rPr>
              <a:t>12.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45">
                <a:latin typeface="Arial"/>
                <a:cs typeface="Arial"/>
              </a:rPr>
              <a:t>ta </a:t>
            </a:r>
            <a:r>
              <a:rPr dirty="0" sz="4000" spc="-145">
                <a:latin typeface="Arial"/>
                <a:cs typeface="Arial"/>
              </a:rPr>
              <a:t>tăng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75">
                <a:latin typeface="Arial"/>
                <a:cs typeface="Arial"/>
              </a:rPr>
              <a:t>số </a:t>
            </a:r>
            <a:r>
              <a:rPr dirty="0" sz="4000" spc="-5">
                <a:latin typeface="Symbol"/>
                <a:cs typeface="Symbol"/>
              </a:rPr>
              <a:t>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10">
                <a:latin typeface="Arial"/>
                <a:cs typeface="Arial"/>
              </a:rPr>
              <a:t>một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459">
                <a:latin typeface="Arial"/>
                <a:cs typeface="Arial"/>
              </a:rPr>
              <a:t>BJT,</a:t>
            </a:r>
            <a:r>
              <a:rPr dirty="0" sz="4000" spc="-665">
                <a:latin typeface="Arial"/>
                <a:cs typeface="Arial"/>
              </a:rPr>
              <a:t> </a:t>
            </a:r>
            <a:r>
              <a:rPr dirty="0" sz="4000" spc="-180">
                <a:latin typeface="Arial"/>
                <a:cs typeface="Arial"/>
              </a:rPr>
              <a:t>dòng  </a:t>
            </a:r>
            <a:r>
              <a:rPr dirty="0" sz="4000" spc="-85">
                <a:latin typeface="Arial"/>
                <a:cs typeface="Arial"/>
              </a:rPr>
              <a:t>collector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 </a:t>
            </a:r>
            <a:r>
              <a:rPr dirty="0" sz="4000" spc="-10">
                <a:latin typeface="Arial"/>
                <a:cs typeface="Arial"/>
              </a:rPr>
              <a:t>rồi </a:t>
            </a:r>
            <a:r>
              <a:rPr dirty="0" sz="4000" spc="-180">
                <a:latin typeface="Arial"/>
                <a:cs typeface="Arial"/>
              </a:rPr>
              <a:t>không</a:t>
            </a:r>
            <a:r>
              <a:rPr dirty="0" sz="4000" spc="-310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325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13.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135">
                <a:latin typeface="Arial"/>
                <a:cs typeface="Arial"/>
              </a:rPr>
              <a:t>chỉ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215">
                <a:latin typeface="Arial"/>
                <a:cs typeface="Arial"/>
              </a:rPr>
              <a:t>hay </a:t>
            </a:r>
            <a:r>
              <a:rPr dirty="0" sz="4000" spc="-150">
                <a:latin typeface="Arial"/>
                <a:cs typeface="Arial"/>
              </a:rPr>
              <a:t>mode, </a:t>
            </a:r>
            <a:r>
              <a:rPr dirty="0" sz="4000" spc="-20">
                <a:latin typeface="Arial"/>
                <a:cs typeface="Arial"/>
              </a:rPr>
              <a:t>cutoff  </a:t>
            </a:r>
            <a:r>
              <a:rPr dirty="0" sz="4000" spc="-260">
                <a:latin typeface="Arial"/>
                <a:cs typeface="Arial"/>
              </a:rPr>
              <a:t>và </a:t>
            </a:r>
            <a:r>
              <a:rPr dirty="0" sz="4000" spc="-95">
                <a:latin typeface="Arial"/>
                <a:cs typeface="Arial"/>
              </a:rPr>
              <a:t>saturation,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70">
                <a:latin typeface="Arial"/>
                <a:cs typeface="Arial"/>
              </a:rPr>
              <a:t>đó </a:t>
            </a:r>
            <a:r>
              <a:rPr dirty="0" sz="4000" spc="-340">
                <a:latin typeface="Arial"/>
                <a:cs typeface="Arial"/>
              </a:rPr>
              <a:t>sẽ </a:t>
            </a:r>
            <a:r>
              <a:rPr dirty="0" sz="4000" spc="-185">
                <a:latin typeface="Arial"/>
                <a:cs typeface="Arial"/>
              </a:rPr>
              <a:t>giống</a:t>
            </a:r>
            <a:r>
              <a:rPr dirty="0" sz="4000" spc="-390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như: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Tụ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điện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Mạch </a:t>
            </a:r>
            <a:r>
              <a:rPr dirty="0" sz="4000" spc="-185">
                <a:latin typeface="Arial"/>
                <a:cs typeface="Arial"/>
              </a:rPr>
              <a:t>khuếch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đại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40">
                <a:latin typeface="Arial"/>
                <a:cs typeface="Arial"/>
              </a:rPr>
              <a:t>Công</a:t>
            </a:r>
            <a:r>
              <a:rPr dirty="0" sz="4000" spc="-210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tắc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</a:t>
            </a:r>
            <a:r>
              <a:rPr dirty="0" sz="4000" spc="-28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lưu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2279015" algn="l"/>
                <a:tab pos="3622040" algn="l"/>
                <a:tab pos="8039100" algn="l"/>
              </a:tabLst>
            </a:pPr>
            <a:r>
              <a:rPr dirty="0" sz="4000" spc="-170">
                <a:latin typeface="Arial"/>
                <a:cs typeface="Arial"/>
              </a:rPr>
              <a:t>14.</a:t>
            </a:r>
            <a:r>
              <a:rPr dirty="0" sz="4000" spc="565">
                <a:latin typeface="Arial"/>
                <a:cs typeface="Arial"/>
              </a:rPr>
              <a:t> </a:t>
            </a:r>
            <a:r>
              <a:rPr dirty="0" sz="4000" spc="-210">
                <a:latin typeface="Arial"/>
                <a:cs typeface="Arial"/>
              </a:rPr>
              <a:t>Trong	</a:t>
            </a:r>
            <a:r>
              <a:rPr dirty="0" sz="4000" spc="-225">
                <a:latin typeface="Arial"/>
                <a:cs typeface="Arial"/>
              </a:rPr>
              <a:t>mạch	</a:t>
            </a:r>
            <a:r>
              <a:rPr dirty="0" sz="4000" spc="-185">
                <a:latin typeface="Arial"/>
                <a:cs typeface="Arial"/>
              </a:rPr>
              <a:t>khuếch  </a:t>
            </a:r>
            <a:r>
              <a:rPr dirty="0" sz="4000" spc="-100">
                <a:latin typeface="Arial"/>
                <a:cs typeface="Arial"/>
              </a:rPr>
              <a:t>đại</a:t>
            </a:r>
            <a:r>
              <a:rPr dirty="0" sz="4000" spc="355">
                <a:latin typeface="Arial"/>
                <a:cs typeface="Arial"/>
              </a:rPr>
              <a:t> </a:t>
            </a:r>
            <a:r>
              <a:rPr dirty="0" sz="4000" spc="-530">
                <a:latin typeface="Arial"/>
                <a:cs typeface="Arial"/>
              </a:rPr>
              <a:t>CE, 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-165">
                <a:latin typeface="Arial"/>
                <a:cs typeface="Arial"/>
              </a:rPr>
              <a:t>nếu	</a:t>
            </a:r>
            <a:r>
              <a:rPr dirty="0" sz="4000" spc="50">
                <a:latin typeface="Arial"/>
                <a:cs typeface="Arial"/>
              </a:rPr>
              <a:t>tụ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254">
                <a:latin typeface="Arial"/>
                <a:cs typeface="Arial"/>
              </a:rPr>
              <a:t>song  </a:t>
            </a:r>
            <a:r>
              <a:rPr dirty="0" sz="4000" spc="-260">
                <a:latin typeface="Arial"/>
                <a:cs typeface="Arial"/>
              </a:rPr>
              <a:t>song </a:t>
            </a:r>
            <a:r>
              <a:rPr dirty="0" sz="4000" spc="-160">
                <a:latin typeface="Arial"/>
                <a:cs typeface="Arial"/>
              </a:rPr>
              <a:t>với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10">
                <a:latin typeface="Arial"/>
                <a:cs typeface="Arial"/>
              </a:rPr>
              <a:t>trở </a:t>
            </a:r>
            <a:r>
              <a:rPr dirty="0" sz="4000" spc="-595">
                <a:latin typeface="Arial"/>
                <a:cs typeface="Arial"/>
              </a:rPr>
              <a:t>R</a:t>
            </a:r>
            <a:r>
              <a:rPr dirty="0" baseline="-20964" sz="3975" spc="-892">
                <a:latin typeface="Arial"/>
                <a:cs typeface="Arial"/>
              </a:rPr>
              <a:t>E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125">
                <a:latin typeface="Arial"/>
                <a:cs typeface="Arial"/>
              </a:rPr>
              <a:t>bỏ </a:t>
            </a:r>
            <a:r>
              <a:rPr dirty="0" sz="4000" spc="-40">
                <a:latin typeface="Arial"/>
                <a:cs typeface="Arial"/>
              </a:rPr>
              <a:t>đi,</a:t>
            </a:r>
            <a:r>
              <a:rPr dirty="0" sz="4000" spc="-840">
                <a:latin typeface="Arial"/>
                <a:cs typeface="Arial"/>
              </a:rPr>
              <a:t>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5">
                <a:latin typeface="Arial"/>
                <a:cs typeface="Arial"/>
              </a:rPr>
              <a:t>đại </a:t>
            </a:r>
            <a:r>
              <a:rPr dirty="0" sz="4000" spc="-220">
                <a:latin typeface="Arial"/>
                <a:cs typeface="Arial"/>
              </a:rPr>
              <a:t>áp </a:t>
            </a:r>
            <a:r>
              <a:rPr dirty="0" sz="4000" spc="-240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98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15. </a:t>
            </a:r>
            <a:r>
              <a:rPr dirty="0" sz="4000" spc="-210">
                <a:latin typeface="Arial"/>
                <a:cs typeface="Arial"/>
              </a:rPr>
              <a:t>Trong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0">
                <a:latin typeface="Arial"/>
                <a:cs typeface="Arial"/>
              </a:rPr>
              <a:t>đại </a:t>
            </a:r>
            <a:r>
              <a:rPr dirty="0" sz="4000" spc="-545">
                <a:latin typeface="Arial"/>
                <a:cs typeface="Arial"/>
              </a:rPr>
              <a:t>CC, </a:t>
            </a:r>
            <a:r>
              <a:rPr dirty="0" sz="4000" spc="-165">
                <a:latin typeface="Arial"/>
                <a:cs typeface="Arial"/>
              </a:rPr>
              <a:t>nếu </a:t>
            </a:r>
            <a:r>
              <a:rPr dirty="0" sz="4000" spc="-40">
                <a:latin typeface="Arial"/>
                <a:cs typeface="Arial"/>
              </a:rPr>
              <a:t>ta </a:t>
            </a:r>
            <a:r>
              <a:rPr dirty="0" sz="4000" spc="-145">
                <a:latin typeface="Arial"/>
                <a:cs typeface="Arial"/>
              </a:rPr>
              <a:t>tăng </a:t>
            </a:r>
            <a:r>
              <a:rPr dirty="0" sz="4000" spc="-210">
                <a:latin typeface="Arial"/>
                <a:cs typeface="Arial"/>
              </a:rPr>
              <a:t>giá </a:t>
            </a:r>
            <a:r>
              <a:rPr dirty="0" sz="4000" spc="105">
                <a:latin typeface="Arial"/>
                <a:cs typeface="Arial"/>
              </a:rPr>
              <a:t>trị 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595">
                <a:latin typeface="Arial"/>
                <a:cs typeface="Arial"/>
              </a:rPr>
              <a:t>R</a:t>
            </a:r>
            <a:r>
              <a:rPr dirty="0" baseline="-20964" sz="3975" spc="-892">
                <a:latin typeface="Arial"/>
                <a:cs typeface="Arial"/>
              </a:rPr>
              <a:t>E</a:t>
            </a:r>
            <a:r>
              <a:rPr dirty="0" baseline="-20964" sz="3975" spc="-682">
                <a:latin typeface="Arial"/>
                <a:cs typeface="Arial"/>
              </a:rPr>
              <a:t> </a:t>
            </a:r>
            <a:r>
              <a:rPr dirty="0" sz="4000" spc="-114">
                <a:latin typeface="Arial"/>
                <a:cs typeface="Arial"/>
              </a:rPr>
              <a:t>lên </a:t>
            </a:r>
            <a:r>
              <a:rPr dirty="0" sz="4000" spc="-200">
                <a:latin typeface="Arial"/>
                <a:cs typeface="Arial"/>
              </a:rPr>
              <a:t>10 </a:t>
            </a:r>
            <a:r>
              <a:rPr dirty="0" sz="4000" spc="-135">
                <a:latin typeface="Arial"/>
                <a:cs typeface="Arial"/>
              </a:rPr>
              <a:t>lần,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5">
                <a:latin typeface="Arial"/>
                <a:cs typeface="Arial"/>
              </a:rPr>
              <a:t>đại </a:t>
            </a:r>
            <a:r>
              <a:rPr dirty="0" sz="4000" spc="-220">
                <a:latin typeface="Arial"/>
                <a:cs typeface="Arial"/>
              </a:rPr>
              <a:t>áp</a:t>
            </a:r>
            <a:r>
              <a:rPr dirty="0" sz="4000" spc="-59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52678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16. </a:t>
            </a:r>
            <a:r>
              <a:rPr dirty="0" sz="4000" spc="-290">
                <a:latin typeface="Arial"/>
                <a:cs typeface="Arial"/>
              </a:rPr>
              <a:t>Kênh </a:t>
            </a:r>
            <a:r>
              <a:rPr dirty="0" sz="4000" spc="-190">
                <a:latin typeface="Arial"/>
                <a:cs typeface="Arial"/>
              </a:rPr>
              <a:t>dẫn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640">
                <a:latin typeface="Arial"/>
                <a:cs typeface="Arial"/>
              </a:rPr>
              <a:t>JFET </a:t>
            </a:r>
            <a:r>
              <a:rPr dirty="0" sz="4000" spc="-229">
                <a:latin typeface="Arial"/>
                <a:cs typeface="Arial"/>
              </a:rPr>
              <a:t>được </a:t>
            </a:r>
            <a:r>
              <a:rPr dirty="0" sz="4000" spc="-120">
                <a:latin typeface="Arial"/>
                <a:cs typeface="Arial"/>
              </a:rPr>
              <a:t>biểu diễn</a:t>
            </a:r>
            <a:r>
              <a:rPr dirty="0" sz="4000" spc="-320">
                <a:latin typeface="Arial"/>
                <a:cs typeface="Arial"/>
              </a:rPr>
              <a:t> </a:t>
            </a:r>
            <a:r>
              <a:rPr dirty="0" sz="4000" spc="-30">
                <a:latin typeface="Arial"/>
                <a:cs typeface="Arial"/>
              </a:rPr>
              <a:t>từ: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04">
                <a:latin typeface="Arial"/>
                <a:cs typeface="Arial"/>
              </a:rPr>
              <a:t>gate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45">
                <a:latin typeface="Arial"/>
                <a:cs typeface="Arial"/>
              </a:rPr>
              <a:t> </a:t>
            </a:r>
            <a:r>
              <a:rPr dirty="0" sz="4000" spc="-114">
                <a:latin typeface="Arial"/>
                <a:cs typeface="Arial"/>
              </a:rPr>
              <a:t>drain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10">
                <a:latin typeface="Arial"/>
                <a:cs typeface="Arial"/>
              </a:rPr>
              <a:t>source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20">
                <a:latin typeface="Arial"/>
                <a:cs typeface="Arial"/>
              </a:rPr>
              <a:t> </a:t>
            </a:r>
            <a:r>
              <a:rPr dirty="0" sz="4000" spc="-204">
                <a:latin typeface="Arial"/>
                <a:cs typeface="Arial"/>
              </a:rPr>
              <a:t>gate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114">
                <a:latin typeface="Arial"/>
                <a:cs typeface="Arial"/>
              </a:rPr>
              <a:t>drain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825">
                <a:latin typeface="Arial"/>
                <a:cs typeface="Arial"/>
              </a:rPr>
              <a:t> </a:t>
            </a:r>
            <a:r>
              <a:rPr dirty="0" sz="4000" spc="-210">
                <a:latin typeface="Arial"/>
                <a:cs typeface="Arial"/>
              </a:rPr>
              <a:t>source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35">
                <a:latin typeface="Arial"/>
                <a:cs typeface="Arial"/>
              </a:rPr>
              <a:t>vào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675">
                <a:latin typeface="Arial"/>
                <a:cs typeface="Arial"/>
              </a:rPr>
              <a:t> </a:t>
            </a:r>
            <a:r>
              <a:rPr dirty="0" sz="4000" spc="-215">
                <a:latin typeface="Arial"/>
                <a:cs typeface="Arial"/>
              </a:rPr>
              <a:t>ra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9894" y="223215"/>
            <a:ext cx="405511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345">
                <a:latin typeface="Arial"/>
                <a:cs typeface="Arial"/>
              </a:rPr>
              <a:t>= </a:t>
            </a:r>
            <a:r>
              <a:rPr dirty="0" sz="4000" spc="-240">
                <a:latin typeface="Arial"/>
                <a:cs typeface="Arial"/>
              </a:rPr>
              <a:t>0V, </a:t>
            </a:r>
            <a:r>
              <a:rPr dirty="0" sz="4000" spc="-185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 spc="-190">
                <a:latin typeface="Arial"/>
                <a:cs typeface="Arial"/>
              </a:rPr>
              <a:t>I</a:t>
            </a:r>
            <a:r>
              <a:rPr dirty="0" baseline="-20964" sz="3975" spc="-284">
                <a:latin typeface="Arial"/>
                <a:cs typeface="Arial"/>
              </a:rPr>
              <a:t>D</a:t>
            </a:r>
            <a:endParaRPr baseline="-20964" sz="3975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240905">
              <a:lnSpc>
                <a:spcPct val="100000"/>
              </a:lnSpc>
              <a:spcBef>
                <a:spcPts val="95"/>
              </a:spcBef>
            </a:pPr>
            <a:r>
              <a:rPr dirty="0" spc="-185"/>
              <a:t>không </a:t>
            </a:r>
            <a:r>
              <a:rPr dirty="0" spc="-40"/>
              <a:t>đổi </a:t>
            </a:r>
            <a:r>
              <a:rPr dirty="0" spc="-95"/>
              <a:t>khi</a:t>
            </a:r>
            <a:r>
              <a:rPr dirty="0" spc="-405"/>
              <a:t> </a:t>
            </a:r>
            <a:r>
              <a:rPr dirty="0" spc="-555"/>
              <a:t>VDS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223215"/>
            <a:ext cx="2375535" cy="118364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17. </a:t>
            </a: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450">
                <a:latin typeface="Arial"/>
                <a:cs typeface="Arial"/>
              </a:rPr>
              <a:t>V</a:t>
            </a:r>
            <a:r>
              <a:rPr dirty="0" baseline="-20964" sz="3975" spc="-675">
                <a:latin typeface="Arial"/>
                <a:cs typeface="Arial"/>
              </a:rPr>
              <a:t>GS </a:t>
            </a:r>
            <a:r>
              <a:rPr dirty="0" sz="2650" spc="-450">
                <a:latin typeface="Arial"/>
                <a:cs typeface="Arial"/>
              </a:rPr>
              <a:t> </a:t>
            </a:r>
            <a:r>
              <a:rPr dirty="0" sz="4000" spc="-190">
                <a:latin typeface="Arial"/>
                <a:cs typeface="Arial"/>
              </a:rPr>
              <a:t>bằng: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058785"/>
            <a:ext cx="1525905" cy="285242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15"/>
              </a:spcBef>
              <a:buAutoNum type="alphaLcPeriod"/>
              <a:tabLst>
                <a:tab pos="470534" algn="l"/>
              </a:tabLst>
            </a:pPr>
            <a:r>
              <a:rPr dirty="0" sz="4000" spc="-300">
                <a:latin typeface="Arial"/>
                <a:cs typeface="Arial"/>
              </a:rPr>
              <a:t>0V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320">
                <a:latin typeface="Arial"/>
                <a:cs typeface="Arial"/>
              </a:rPr>
              <a:t>V</a:t>
            </a:r>
            <a:r>
              <a:rPr dirty="0" baseline="-20964" sz="3975" spc="-480">
                <a:latin typeface="Arial"/>
                <a:cs typeface="Arial"/>
              </a:rPr>
              <a:t>DD</a:t>
            </a:r>
            <a:endParaRPr baseline="-20964" sz="397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V</a:t>
            </a:r>
            <a:r>
              <a:rPr dirty="0" baseline="-20964" sz="3975" spc="-600">
                <a:latin typeface="Arial"/>
                <a:cs typeface="Arial"/>
              </a:rPr>
              <a:t>P</a:t>
            </a:r>
            <a:endParaRPr baseline="-20964" sz="397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515"/>
              </a:spcBef>
              <a:buAutoNum type="alphaLcPeriod"/>
              <a:tabLst>
                <a:tab pos="470534" algn="l"/>
              </a:tabLst>
            </a:pPr>
            <a:r>
              <a:rPr dirty="0" baseline="13888" sz="6000" spc="-607">
                <a:latin typeface="Arial"/>
                <a:cs typeface="Arial"/>
              </a:rPr>
              <a:t>V</a:t>
            </a:r>
            <a:r>
              <a:rPr dirty="0" sz="2650" spc="-170">
                <a:latin typeface="Arial"/>
                <a:cs typeface="Arial"/>
              </a:rPr>
              <a:t>GSoff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325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18. </a:t>
            </a: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640">
                <a:latin typeface="Arial"/>
                <a:cs typeface="Arial"/>
              </a:rPr>
              <a:t>JFET </a:t>
            </a:r>
            <a:r>
              <a:rPr dirty="0" sz="4000" spc="-90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75">
                <a:latin typeface="Arial"/>
                <a:cs typeface="Arial"/>
              </a:rPr>
              <a:t>trong </a:t>
            </a:r>
            <a:r>
              <a:rPr dirty="0" sz="4000" spc="-145">
                <a:latin typeface="Arial"/>
                <a:cs typeface="Arial"/>
              </a:rPr>
              <a:t>khu </a:t>
            </a:r>
            <a:r>
              <a:rPr dirty="0" sz="4000" spc="-260">
                <a:latin typeface="Arial"/>
                <a:cs typeface="Arial"/>
              </a:rPr>
              <a:t>vực </a:t>
            </a:r>
            <a:r>
              <a:rPr dirty="0" sz="4000" spc="-180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190">
                <a:latin typeface="Arial"/>
                <a:cs typeface="Arial"/>
              </a:rPr>
              <a:t>I</a:t>
            </a:r>
            <a:r>
              <a:rPr dirty="0" baseline="-20964" sz="3975" spc="-284">
                <a:latin typeface="Arial"/>
                <a:cs typeface="Arial"/>
              </a:rPr>
              <a:t>D </a:t>
            </a:r>
            <a:r>
              <a:rPr dirty="0" sz="2650" spc="355">
                <a:latin typeface="Arial"/>
                <a:cs typeface="Arial"/>
              </a:rPr>
              <a:t>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60">
                <a:latin typeface="Arial"/>
                <a:cs typeface="Arial"/>
              </a:rPr>
              <a:t>đổi, </a:t>
            </a:r>
            <a:r>
              <a:rPr dirty="0" sz="4000" spc="-210">
                <a:latin typeface="Arial"/>
                <a:cs typeface="Arial"/>
              </a:rPr>
              <a:t>giá </a:t>
            </a:r>
            <a:r>
              <a:rPr dirty="0" sz="4000" spc="105">
                <a:latin typeface="Arial"/>
                <a:cs typeface="Arial"/>
              </a:rPr>
              <a:t>trị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40">
                <a:latin typeface="Arial"/>
                <a:cs typeface="Arial"/>
              </a:rPr>
              <a:t>đổi </a:t>
            </a:r>
            <a:r>
              <a:rPr dirty="0" sz="4000" spc="-235">
                <a:latin typeface="Arial"/>
                <a:cs typeface="Arial"/>
              </a:rPr>
              <a:t>này </a:t>
            </a:r>
            <a:r>
              <a:rPr dirty="0" sz="4000" spc="-340">
                <a:latin typeface="Arial"/>
                <a:cs typeface="Arial"/>
              </a:rPr>
              <a:t>sẽ </a:t>
            </a:r>
            <a:r>
              <a:rPr dirty="0" sz="4000" spc="-195">
                <a:latin typeface="Arial"/>
                <a:cs typeface="Arial"/>
              </a:rPr>
              <a:t>giảm</a:t>
            </a:r>
            <a:r>
              <a:rPr dirty="0" sz="4000" spc="-770">
                <a:latin typeface="Arial"/>
                <a:cs typeface="Arial"/>
              </a:rPr>
              <a:t> </a:t>
            </a:r>
            <a:r>
              <a:rPr dirty="0" sz="4000" spc="-135">
                <a:latin typeface="Arial"/>
                <a:cs typeface="Arial"/>
              </a:rPr>
              <a:t>nếu: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59">
                <a:latin typeface="Arial"/>
                <a:cs typeface="Arial"/>
              </a:rPr>
              <a:t>V</a:t>
            </a:r>
            <a:r>
              <a:rPr dirty="0" baseline="-20964" sz="3975" spc="-690">
                <a:latin typeface="Arial"/>
                <a:cs typeface="Arial"/>
              </a:rPr>
              <a:t>GS</a:t>
            </a:r>
            <a:r>
              <a:rPr dirty="0" baseline="-20964" sz="3975" spc="-569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59">
                <a:latin typeface="Arial"/>
                <a:cs typeface="Arial"/>
              </a:rPr>
              <a:t>V</a:t>
            </a:r>
            <a:r>
              <a:rPr dirty="0" baseline="-20964" sz="3975" spc="-690">
                <a:latin typeface="Arial"/>
                <a:cs typeface="Arial"/>
              </a:rPr>
              <a:t>GS</a:t>
            </a:r>
            <a:r>
              <a:rPr dirty="0" baseline="-20964" sz="3975" spc="-577">
                <a:latin typeface="Arial"/>
                <a:cs typeface="Arial"/>
              </a:rPr>
              <a:t> </a:t>
            </a:r>
            <a:r>
              <a:rPr dirty="0" sz="4000" spc="-15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20">
                <a:latin typeface="Arial"/>
                <a:cs typeface="Arial"/>
              </a:rPr>
              <a:t>V</a:t>
            </a:r>
            <a:r>
              <a:rPr dirty="0" baseline="-20964" sz="3975" spc="-480">
                <a:latin typeface="Arial"/>
                <a:cs typeface="Arial"/>
              </a:rPr>
              <a:t>DD</a:t>
            </a:r>
            <a:r>
              <a:rPr dirty="0" baseline="-20964" sz="3975" spc="-397">
                <a:latin typeface="Arial"/>
                <a:cs typeface="Arial"/>
              </a:rPr>
              <a:t> </a:t>
            </a:r>
            <a:r>
              <a:rPr dirty="0" sz="4000" spc="-15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09">
                <a:latin typeface="Arial"/>
                <a:cs typeface="Arial"/>
              </a:rPr>
              <a:t>V</a:t>
            </a:r>
            <a:r>
              <a:rPr dirty="0" baseline="-20964" sz="3975" spc="-615">
                <a:latin typeface="Arial"/>
                <a:cs typeface="Arial"/>
              </a:rPr>
              <a:t>DS</a:t>
            </a:r>
            <a:r>
              <a:rPr dirty="0" baseline="-20964" sz="3975" spc="-254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50074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19. </a:t>
            </a:r>
            <a:r>
              <a:rPr dirty="0" sz="4000" spc="-370">
                <a:latin typeface="Arial"/>
                <a:cs typeface="Arial"/>
              </a:rPr>
              <a:t>Tại </a:t>
            </a:r>
            <a:r>
              <a:rPr dirty="0" sz="4000" spc="-95">
                <a:latin typeface="Arial"/>
                <a:cs typeface="Arial"/>
              </a:rPr>
              <a:t>điểm </a:t>
            </a:r>
            <a:r>
              <a:rPr dirty="0" sz="4000" spc="-75">
                <a:latin typeface="Arial"/>
                <a:cs typeface="Arial"/>
              </a:rPr>
              <a:t>cutoff, </a:t>
            </a:r>
            <a:r>
              <a:rPr dirty="0" sz="4000" spc="-204">
                <a:latin typeface="Arial"/>
                <a:cs typeface="Arial"/>
              </a:rPr>
              <a:t>kênh </a:t>
            </a:r>
            <a:r>
              <a:rPr dirty="0" sz="4000" spc="-190">
                <a:latin typeface="Arial"/>
                <a:cs typeface="Arial"/>
              </a:rPr>
              <a:t>dẫn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640">
                <a:latin typeface="Arial"/>
                <a:cs typeface="Arial"/>
              </a:rPr>
              <a:t>JFET</a:t>
            </a:r>
            <a:r>
              <a:rPr dirty="0" sz="4000" spc="-395">
                <a:latin typeface="Arial"/>
                <a:cs typeface="Arial"/>
              </a:rPr>
              <a:t> </a:t>
            </a:r>
            <a:r>
              <a:rPr dirty="0" sz="4000" spc="-240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000" spc="-210">
                <a:latin typeface="Arial"/>
                <a:cs typeface="Arial"/>
              </a:rPr>
              <a:t>a.</a:t>
            </a:r>
            <a:r>
              <a:rPr dirty="0" sz="4000" spc="-445">
                <a:latin typeface="Arial"/>
                <a:cs typeface="Arial"/>
              </a:rPr>
              <a:t> </a:t>
            </a:r>
            <a:r>
              <a:rPr dirty="0" sz="4000" spc="-260">
                <a:latin typeface="Arial"/>
                <a:cs typeface="Arial"/>
              </a:rPr>
              <a:t>Hẹp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4000" spc="-114">
                <a:latin typeface="Arial"/>
                <a:cs typeface="Arial"/>
              </a:rPr>
              <a:t>b. </a:t>
            </a:r>
            <a:r>
              <a:rPr dirty="0" sz="4000" spc="-245">
                <a:latin typeface="Arial"/>
                <a:cs typeface="Arial"/>
              </a:rPr>
              <a:t>Đóng </a:t>
            </a:r>
            <a:r>
              <a:rPr dirty="0" sz="4000" spc="-170">
                <a:latin typeface="Arial"/>
                <a:cs typeface="Arial"/>
              </a:rPr>
              <a:t>hoàn </a:t>
            </a:r>
            <a:r>
              <a:rPr dirty="0" sz="4000" spc="-95">
                <a:latin typeface="Arial"/>
                <a:cs typeface="Arial"/>
              </a:rPr>
              <a:t>toàn</a:t>
            </a:r>
            <a:r>
              <a:rPr dirty="0" sz="4000" spc="-825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bởi </a:t>
            </a:r>
            <a:r>
              <a:rPr dirty="0" sz="4000" spc="-200">
                <a:latin typeface="Arial"/>
                <a:cs typeface="Arial"/>
              </a:rPr>
              <a:t>vùng </a:t>
            </a:r>
            <a:r>
              <a:rPr dirty="0" sz="4000" spc="-125">
                <a:latin typeface="Arial"/>
                <a:cs typeface="Arial"/>
              </a:rPr>
              <a:t>hiếm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 startAt="3"/>
              <a:tabLst>
                <a:tab pos="470534" algn="l"/>
              </a:tabLst>
            </a:pPr>
            <a:r>
              <a:rPr dirty="0" sz="4000" spc="-350">
                <a:latin typeface="Arial"/>
                <a:cs typeface="Arial"/>
              </a:rPr>
              <a:t>Rộng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 startAt="3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nghịch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957516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20. </a:t>
            </a:r>
            <a:r>
              <a:rPr dirty="0" sz="4000" spc="-555">
                <a:latin typeface="Arial"/>
                <a:cs typeface="Arial"/>
              </a:rPr>
              <a:t>Sự </a:t>
            </a:r>
            <a:r>
              <a:rPr dirty="0" sz="4000" spc="-235">
                <a:latin typeface="Arial"/>
                <a:cs typeface="Arial"/>
              </a:rPr>
              <a:t>khác </a:t>
            </a:r>
            <a:r>
              <a:rPr dirty="0" sz="4000" spc="-30">
                <a:latin typeface="Arial"/>
                <a:cs typeface="Arial"/>
              </a:rPr>
              <a:t>biệt </a:t>
            </a:r>
            <a:r>
              <a:rPr dirty="0" sz="4000" spc="-315">
                <a:latin typeface="Arial"/>
                <a:cs typeface="Arial"/>
              </a:rPr>
              <a:t>cơ </a:t>
            </a:r>
            <a:r>
              <a:rPr dirty="0" sz="4000" spc="-190">
                <a:latin typeface="Arial"/>
                <a:cs typeface="Arial"/>
              </a:rPr>
              <a:t>bản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505">
                <a:latin typeface="Arial"/>
                <a:cs typeface="Arial"/>
              </a:rPr>
              <a:t>MOSFET </a:t>
            </a:r>
            <a:r>
              <a:rPr dirty="0" sz="4000" spc="-260">
                <a:latin typeface="Arial"/>
                <a:cs typeface="Arial"/>
              </a:rPr>
              <a:t>và </a:t>
            </a:r>
            <a:r>
              <a:rPr dirty="0" sz="4000" spc="-640">
                <a:latin typeface="Arial"/>
                <a:cs typeface="Arial"/>
              </a:rPr>
              <a:t>JFET</a:t>
            </a:r>
            <a:r>
              <a:rPr dirty="0" sz="4000" spc="-805">
                <a:latin typeface="Arial"/>
                <a:cs typeface="Arial"/>
              </a:rPr>
              <a:t> </a:t>
            </a:r>
            <a:r>
              <a:rPr dirty="0" sz="4000" spc="-155">
                <a:latin typeface="Arial"/>
                <a:cs typeface="Arial"/>
              </a:rPr>
              <a:t>là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Tên </a:t>
            </a:r>
            <a:r>
              <a:rPr dirty="0" sz="4000" spc="-140">
                <a:latin typeface="Arial"/>
                <a:cs typeface="Arial"/>
              </a:rPr>
              <a:t>dài </a:t>
            </a:r>
            <a:r>
              <a:rPr dirty="0" sz="4000" spc="-195">
                <a:latin typeface="Arial"/>
                <a:cs typeface="Arial"/>
              </a:rPr>
              <a:t>hơn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509">
                <a:latin typeface="Arial"/>
                <a:cs typeface="Arial"/>
              </a:rPr>
              <a:t>MOSFET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250">
                <a:latin typeface="Arial"/>
                <a:cs typeface="Arial"/>
              </a:rPr>
              <a:t>cấu </a:t>
            </a:r>
            <a:r>
              <a:rPr dirty="0" sz="4000" spc="-40">
                <a:latin typeface="Arial"/>
                <a:cs typeface="Arial"/>
              </a:rPr>
              <a:t>trúc </a:t>
            </a:r>
            <a:r>
              <a:rPr dirty="0" sz="4000" spc="-80">
                <a:latin typeface="Arial"/>
                <a:cs typeface="Arial"/>
              </a:rPr>
              <a:t>mối </a:t>
            </a:r>
            <a:r>
              <a:rPr dirty="0" sz="4000" spc="-75">
                <a:latin typeface="Arial"/>
                <a:cs typeface="Arial"/>
              </a:rPr>
              <a:t>nối</a:t>
            </a:r>
            <a:r>
              <a:rPr dirty="0" sz="4000" spc="-805">
                <a:latin typeface="Arial"/>
                <a:cs typeface="Arial"/>
              </a:rPr>
              <a:t> </a:t>
            </a:r>
            <a:r>
              <a:rPr dirty="0" sz="4000" spc="-465">
                <a:latin typeface="Arial"/>
                <a:cs typeface="Arial"/>
              </a:rPr>
              <a:t>PN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505">
                <a:latin typeface="Arial"/>
                <a:cs typeface="Arial"/>
              </a:rPr>
              <a:t>MOSFET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200">
                <a:latin typeface="Arial"/>
                <a:cs typeface="Arial"/>
              </a:rPr>
              <a:t>2</a:t>
            </a:r>
            <a:r>
              <a:rPr dirty="0" sz="4000" spc="-525">
                <a:latin typeface="Arial"/>
                <a:cs typeface="Arial"/>
              </a:rPr>
              <a:t> </a:t>
            </a:r>
            <a:r>
              <a:rPr dirty="0" sz="4000" spc="-300">
                <a:latin typeface="Arial"/>
                <a:cs typeface="Arial"/>
              </a:rPr>
              <a:t>cực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b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buAutoNum type="arabicPeriod"/>
              <a:tabLst>
                <a:tab pos="514350" algn="l"/>
              </a:tabLst>
            </a:pPr>
            <a:r>
              <a:rPr dirty="0" sz="4000" spc="-265">
                <a:latin typeface="Arial"/>
                <a:cs typeface="Arial"/>
              </a:rPr>
              <a:t>Tại </a:t>
            </a:r>
            <a:r>
              <a:rPr dirty="0" sz="4000" spc="-290">
                <a:latin typeface="Arial"/>
                <a:cs typeface="Arial"/>
              </a:rPr>
              <a:t>sao </a:t>
            </a:r>
            <a:r>
              <a:rPr dirty="0" sz="4000" spc="-210">
                <a:latin typeface="Arial"/>
                <a:cs typeface="Arial"/>
              </a:rPr>
              <a:t>người </a:t>
            </a:r>
            <a:r>
              <a:rPr dirty="0" sz="4000" spc="-45">
                <a:latin typeface="Arial"/>
                <a:cs typeface="Arial"/>
              </a:rPr>
              <a:t>ta </a:t>
            </a:r>
            <a:r>
              <a:rPr dirty="0" sz="4000" spc="-180">
                <a:latin typeface="Arial"/>
                <a:cs typeface="Arial"/>
              </a:rPr>
              <a:t>không dùng </a:t>
            </a:r>
            <a:r>
              <a:rPr dirty="0" sz="4000" spc="-125">
                <a:latin typeface="Arial"/>
                <a:cs typeface="Arial"/>
              </a:rPr>
              <a:t>phổ </a:t>
            </a:r>
            <a:r>
              <a:rPr dirty="0" sz="4000" spc="-120">
                <a:latin typeface="Arial"/>
                <a:cs typeface="Arial"/>
              </a:rPr>
              <a:t>biến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150">
                <a:latin typeface="Arial"/>
                <a:cs typeface="Arial"/>
              </a:rPr>
              <a:t>germanium  </a:t>
            </a:r>
            <a:r>
              <a:rPr dirty="0" sz="4000" spc="-130">
                <a:latin typeface="Arial"/>
                <a:cs typeface="Arial"/>
              </a:rPr>
              <a:t>để </a:t>
            </a:r>
            <a:r>
              <a:rPr dirty="0" sz="4000" spc="-145">
                <a:latin typeface="Arial"/>
                <a:cs typeface="Arial"/>
              </a:rPr>
              <a:t>làm </a:t>
            </a:r>
            <a:r>
              <a:rPr dirty="0" sz="4000" spc="-315">
                <a:latin typeface="Arial"/>
                <a:cs typeface="Arial"/>
              </a:rPr>
              <a:t>các </a:t>
            </a:r>
            <a:r>
              <a:rPr dirty="0" sz="4000" spc="-55">
                <a:latin typeface="Arial"/>
                <a:cs typeface="Arial"/>
              </a:rPr>
              <a:t>linh </a:t>
            </a:r>
            <a:r>
              <a:rPr dirty="0" sz="4000" spc="-135">
                <a:latin typeface="Arial"/>
                <a:cs typeface="Arial"/>
              </a:rPr>
              <a:t>kiện </a:t>
            </a:r>
            <a:r>
              <a:rPr dirty="0" sz="4000" spc="-195">
                <a:latin typeface="Arial"/>
                <a:cs typeface="Arial"/>
              </a:rPr>
              <a:t>bán</a:t>
            </a:r>
            <a:r>
              <a:rPr dirty="0" sz="4000" spc="-495">
                <a:latin typeface="Arial"/>
                <a:cs typeface="Arial"/>
              </a:rPr>
              <a:t> </a:t>
            </a:r>
            <a:r>
              <a:rPr dirty="0" sz="4000" spc="-235">
                <a:latin typeface="Arial"/>
                <a:cs typeface="Arial"/>
              </a:rPr>
              <a:t>dẫn?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/>
            </a:pPr>
            <a:endParaRPr sz="50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Giá </a:t>
            </a:r>
            <a:r>
              <a:rPr dirty="0" sz="4000" spc="-95">
                <a:latin typeface="Arial"/>
                <a:cs typeface="Arial"/>
              </a:rPr>
              <a:t>thành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250">
                <a:latin typeface="Arial"/>
                <a:cs typeface="Arial"/>
              </a:rPr>
              <a:t>cao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195">
                <a:latin typeface="Arial"/>
                <a:cs typeface="Arial"/>
              </a:rPr>
              <a:t>Linh </a:t>
            </a:r>
            <a:r>
              <a:rPr dirty="0" sz="4000" spc="-135">
                <a:latin typeface="Arial"/>
                <a:cs typeface="Arial"/>
              </a:rPr>
              <a:t>kiện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120">
                <a:latin typeface="Arial"/>
                <a:cs typeface="Arial"/>
              </a:rPr>
              <a:t>ổn</a:t>
            </a:r>
            <a:r>
              <a:rPr dirty="0" sz="4000" spc="-530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định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440">
                <a:latin typeface="Arial"/>
                <a:cs typeface="Arial"/>
              </a:rPr>
              <a:t>Có </a:t>
            </a:r>
            <a:r>
              <a:rPr dirty="0" sz="4000" spc="-190">
                <a:latin typeface="Arial"/>
                <a:cs typeface="Arial"/>
              </a:rPr>
              <a:t>ảnh </a:t>
            </a:r>
            <a:r>
              <a:rPr dirty="0" sz="4000" spc="-240">
                <a:latin typeface="Arial"/>
                <a:cs typeface="Arial"/>
              </a:rPr>
              <a:t>hưởng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45">
                <a:latin typeface="Arial"/>
                <a:cs typeface="Arial"/>
              </a:rPr>
              <a:t>sức</a:t>
            </a:r>
            <a:r>
              <a:rPr dirty="0" sz="4000" spc="-730">
                <a:latin typeface="Arial"/>
                <a:cs typeface="Arial"/>
              </a:rPr>
              <a:t> </a:t>
            </a:r>
            <a:r>
              <a:rPr dirty="0" sz="4000" spc="-170">
                <a:latin typeface="Arial"/>
                <a:cs typeface="Arial"/>
              </a:rPr>
              <a:t>khỏe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Dễ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70">
                <a:latin typeface="Arial"/>
                <a:cs typeface="Arial"/>
              </a:rPr>
              <a:t>tan </a:t>
            </a:r>
            <a:r>
              <a:rPr dirty="0" sz="4000" spc="-235">
                <a:latin typeface="Arial"/>
                <a:cs typeface="Arial"/>
              </a:rPr>
              <a:t>chảy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50">
                <a:latin typeface="Arial"/>
                <a:cs typeface="Arial"/>
              </a:rPr>
              <a:t>nhiệt </a:t>
            </a:r>
            <a:r>
              <a:rPr dirty="0" sz="4000" spc="-70">
                <a:latin typeface="Arial"/>
                <a:cs typeface="Arial"/>
              </a:rPr>
              <a:t>độ</a:t>
            </a:r>
            <a:r>
              <a:rPr dirty="0" sz="4000" spc="-459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phòng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45185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513080" algn="l"/>
              </a:tabLst>
            </a:pPr>
            <a:r>
              <a:rPr dirty="0" sz="4000" spc="-155">
                <a:latin typeface="Arial"/>
                <a:cs typeface="Arial"/>
              </a:rPr>
              <a:t>Electron </a:t>
            </a:r>
            <a:r>
              <a:rPr dirty="0" sz="4000" spc="-25">
                <a:latin typeface="Arial"/>
                <a:cs typeface="Arial"/>
              </a:rPr>
              <a:t>tự </a:t>
            </a:r>
            <a:r>
              <a:rPr dirty="0" sz="4000" spc="-125">
                <a:latin typeface="Arial"/>
                <a:cs typeface="Arial"/>
              </a:rPr>
              <a:t>do xuất </a:t>
            </a:r>
            <a:r>
              <a:rPr dirty="0" sz="4000" spc="-120">
                <a:latin typeface="Arial"/>
                <a:cs typeface="Arial"/>
              </a:rPr>
              <a:t>hiện nhiều </a:t>
            </a:r>
            <a:r>
              <a:rPr dirty="0" sz="4000" spc="-315">
                <a:latin typeface="Arial"/>
                <a:cs typeface="Arial"/>
              </a:rPr>
              <a:t>ở</a:t>
            </a:r>
            <a:r>
              <a:rPr dirty="0" sz="4000" spc="-844">
                <a:latin typeface="Arial"/>
                <a:cs typeface="Arial"/>
              </a:rPr>
              <a:t> </a:t>
            </a:r>
            <a:r>
              <a:rPr dirty="0" sz="4000" spc="-170">
                <a:latin typeface="Arial"/>
                <a:cs typeface="Arial"/>
              </a:rPr>
              <a:t>vùng: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2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Hạt </a:t>
            </a:r>
            <a:r>
              <a:rPr dirty="0" sz="4000" spc="-175">
                <a:latin typeface="Arial"/>
                <a:cs typeface="Arial"/>
              </a:rPr>
              <a:t>nhân </a:t>
            </a:r>
            <a:r>
              <a:rPr dirty="0" sz="4000" spc="-195">
                <a:latin typeface="Arial"/>
                <a:cs typeface="Arial"/>
              </a:rPr>
              <a:t>nguyên</a:t>
            </a:r>
            <a:r>
              <a:rPr dirty="0" sz="4000" spc="-31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tử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70">
                <a:latin typeface="Arial"/>
                <a:cs typeface="Arial"/>
              </a:rPr>
              <a:t>Giảng </a:t>
            </a:r>
            <a:r>
              <a:rPr dirty="0" sz="4000" spc="-215">
                <a:latin typeface="Arial"/>
                <a:cs typeface="Arial"/>
              </a:rPr>
              <a:t>đường</a:t>
            </a:r>
            <a:r>
              <a:rPr dirty="0" sz="4000" spc="-140">
                <a:latin typeface="Arial"/>
                <a:cs typeface="Arial"/>
              </a:rPr>
              <a:t> </a:t>
            </a:r>
            <a:r>
              <a:rPr dirty="0" sz="4000" spc="-280">
                <a:latin typeface="Arial"/>
                <a:cs typeface="Arial"/>
              </a:rPr>
              <a:t>A3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Vùng </a:t>
            </a:r>
            <a:r>
              <a:rPr dirty="0" sz="4000" spc="-190">
                <a:latin typeface="Arial"/>
                <a:cs typeface="Arial"/>
              </a:rPr>
              <a:t>dẫn</a:t>
            </a:r>
            <a:r>
              <a:rPr dirty="0" sz="4000" spc="-170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điện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250">
                <a:latin typeface="Arial"/>
                <a:cs typeface="Arial"/>
              </a:rPr>
              <a:t>Vùng </a:t>
            </a:r>
            <a:r>
              <a:rPr dirty="0" sz="4000" spc="-190">
                <a:latin typeface="Arial"/>
                <a:cs typeface="Arial"/>
              </a:rPr>
              <a:t>hóa</a:t>
            </a:r>
            <a:r>
              <a:rPr dirty="0" sz="4000" spc="-165">
                <a:latin typeface="Arial"/>
                <a:cs typeface="Arial"/>
              </a:rPr>
              <a:t> </a:t>
            </a:r>
            <a:r>
              <a:rPr dirty="0" sz="4000" spc="105">
                <a:latin typeface="Arial"/>
                <a:cs typeface="Arial"/>
              </a:rPr>
              <a:t>trị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75779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513080" algn="l"/>
              </a:tabLst>
            </a:pPr>
            <a:r>
              <a:rPr dirty="0" sz="4000" spc="-260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60">
                <a:latin typeface="Arial"/>
                <a:cs typeface="Arial"/>
              </a:rPr>
              <a:t>trong </a:t>
            </a:r>
            <a:r>
              <a:rPr dirty="0" sz="4000" spc="-95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</a:t>
            </a:r>
            <a:r>
              <a:rPr dirty="0" sz="4000" spc="-740">
                <a:latin typeface="Arial"/>
                <a:cs typeface="Arial"/>
              </a:rPr>
              <a:t> </a:t>
            </a:r>
            <a:r>
              <a:rPr dirty="0" sz="4000" spc="-155">
                <a:latin typeface="Arial"/>
                <a:cs typeface="Arial"/>
              </a:rPr>
              <a:t>là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3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</a:t>
            </a:r>
            <a:r>
              <a:rPr dirty="0" sz="4000" spc="-200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electron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</a:t>
            </a:r>
            <a:r>
              <a:rPr dirty="0" sz="4000" spc="-195">
                <a:latin typeface="Arial"/>
                <a:cs typeface="Arial"/>
              </a:rPr>
              <a:t> </a:t>
            </a:r>
            <a:r>
              <a:rPr dirty="0" sz="4000" spc="-70">
                <a:latin typeface="Arial"/>
                <a:cs typeface="Arial"/>
              </a:rPr>
              <a:t>photon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 </a:t>
            </a:r>
            <a:r>
              <a:rPr dirty="0" sz="4000" spc="-50">
                <a:latin typeface="Arial"/>
                <a:cs typeface="Arial"/>
              </a:rPr>
              <a:t>lỗ</a:t>
            </a:r>
            <a:r>
              <a:rPr dirty="0" sz="4000" spc="-150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15327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513080" algn="l"/>
              </a:tabLst>
            </a:pPr>
            <a:r>
              <a:rPr dirty="0" sz="4000" spc="-250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 </a:t>
            </a:r>
            <a:r>
              <a:rPr dirty="0" sz="4000" spc="-95">
                <a:latin typeface="Arial"/>
                <a:cs typeface="Arial"/>
              </a:rPr>
              <a:t>loại </a:t>
            </a:r>
            <a:r>
              <a:rPr dirty="0" sz="4000" spc="-310">
                <a:latin typeface="Arial"/>
                <a:cs typeface="Arial"/>
              </a:rPr>
              <a:t>N </a:t>
            </a:r>
            <a:r>
              <a:rPr dirty="0" sz="4000" spc="-235">
                <a:latin typeface="Arial"/>
                <a:cs typeface="Arial"/>
              </a:rPr>
              <a:t>có</a:t>
            </a:r>
            <a:r>
              <a:rPr dirty="0" sz="4000" spc="-440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nhiều: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4"/>
            </a:pPr>
            <a:endParaRPr sz="51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10">
                <a:latin typeface="Arial"/>
                <a:cs typeface="Arial"/>
              </a:rPr>
              <a:t>Tiền</a:t>
            </a:r>
            <a:r>
              <a:rPr dirty="0" sz="4000" spc="-225">
                <a:latin typeface="Arial"/>
                <a:cs typeface="Arial"/>
              </a:rPr>
              <a:t> </a:t>
            </a:r>
            <a:r>
              <a:rPr dirty="0" sz="4000" spc="5230"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  <a:p>
            <a:pPr lvl="1" marL="469900" indent="-457200">
              <a:lnSpc>
                <a:spcPct val="100000"/>
              </a:lnSpc>
              <a:spcBef>
                <a:spcPts val="495"/>
              </a:spcBef>
              <a:buAutoNum type="alphaLcPeriod"/>
              <a:tabLst>
                <a:tab pos="470534" algn="l"/>
              </a:tabLst>
            </a:pPr>
            <a:r>
              <a:rPr dirty="0" sz="4000" spc="-160">
                <a:latin typeface="Arial"/>
                <a:cs typeface="Arial"/>
              </a:rPr>
              <a:t>Electron </a:t>
            </a:r>
            <a:r>
              <a:rPr dirty="0" sz="4000" spc="-20">
                <a:latin typeface="Arial"/>
                <a:cs typeface="Arial"/>
              </a:rPr>
              <a:t>tự</a:t>
            </a:r>
            <a:r>
              <a:rPr dirty="0" sz="4000" spc="-275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do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Lỗ</a:t>
            </a:r>
            <a:r>
              <a:rPr dirty="0" sz="4000" spc="-204">
                <a:latin typeface="Arial"/>
                <a:cs typeface="Arial"/>
              </a:rPr>
              <a:t> </a:t>
            </a:r>
            <a:r>
              <a:rPr dirty="0" sz="4000" spc="-75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05053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513080" algn="l"/>
              </a:tabLst>
            </a:pPr>
            <a:r>
              <a:rPr dirty="0" sz="4000" spc="-165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 </a:t>
            </a:r>
            <a:r>
              <a:rPr dirty="0" sz="4000" spc="-95">
                <a:latin typeface="Arial"/>
                <a:cs typeface="Arial"/>
              </a:rPr>
              <a:t>loại </a:t>
            </a:r>
            <a:r>
              <a:rPr dirty="0" sz="4000" spc="-310">
                <a:latin typeface="Arial"/>
                <a:cs typeface="Arial"/>
              </a:rPr>
              <a:t>N </a:t>
            </a:r>
            <a:r>
              <a:rPr dirty="0" sz="4000" spc="-215">
                <a:latin typeface="Arial"/>
                <a:cs typeface="Arial"/>
              </a:rPr>
              <a:t>có</a:t>
            </a:r>
            <a:r>
              <a:rPr dirty="0" sz="4000" spc="-49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nhiều: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5"/>
            </a:pPr>
            <a:endParaRPr sz="51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80">
                <a:latin typeface="Arial"/>
                <a:cs typeface="Arial"/>
              </a:rPr>
              <a:t>Khu </a:t>
            </a:r>
            <a:r>
              <a:rPr dirty="0" sz="4000" spc="-260">
                <a:latin typeface="Arial"/>
                <a:cs typeface="Arial"/>
              </a:rPr>
              <a:t>vực </a:t>
            </a:r>
            <a:r>
              <a:rPr dirty="0" sz="4000" spc="-229">
                <a:latin typeface="Arial"/>
                <a:cs typeface="Arial"/>
              </a:rPr>
              <a:t>ngập </a:t>
            </a:r>
            <a:r>
              <a:rPr dirty="0" sz="4000" spc="40">
                <a:latin typeface="Arial"/>
                <a:cs typeface="Arial"/>
              </a:rPr>
              <a:t>lụt </a:t>
            </a:r>
            <a:r>
              <a:rPr dirty="0" sz="4000" spc="-190">
                <a:latin typeface="Arial"/>
                <a:cs typeface="Arial"/>
              </a:rPr>
              <a:t>qua </a:t>
            </a:r>
            <a:r>
              <a:rPr dirty="0" sz="4000" spc="-240">
                <a:latin typeface="Arial"/>
                <a:cs typeface="Arial"/>
              </a:rPr>
              <a:t>nửa </a:t>
            </a:r>
            <a:r>
              <a:rPr dirty="0" sz="4000" spc="-175">
                <a:latin typeface="Arial"/>
                <a:cs typeface="Arial"/>
              </a:rPr>
              <a:t>bánh </a:t>
            </a:r>
            <a:r>
              <a:rPr dirty="0" sz="4000" spc="-254">
                <a:latin typeface="Arial"/>
                <a:cs typeface="Arial"/>
              </a:rPr>
              <a:t>xe</a:t>
            </a:r>
            <a:r>
              <a:rPr dirty="0" sz="4000" spc="-434">
                <a:latin typeface="Arial"/>
                <a:cs typeface="Arial"/>
              </a:rPr>
              <a:t> </a:t>
            </a:r>
            <a:r>
              <a:rPr dirty="0" sz="4000" spc="-505"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  <a:p>
            <a:pPr lvl="1" marL="469900" indent="-457200">
              <a:lnSpc>
                <a:spcPct val="100000"/>
              </a:lnSpc>
              <a:spcBef>
                <a:spcPts val="495"/>
              </a:spcBef>
              <a:buAutoNum type="alphaLcPeriod"/>
              <a:tabLst>
                <a:tab pos="470534" algn="l"/>
              </a:tabLst>
            </a:pPr>
            <a:r>
              <a:rPr dirty="0" sz="4000" spc="-155">
                <a:latin typeface="Arial"/>
                <a:cs typeface="Arial"/>
              </a:rPr>
              <a:t>Electron </a:t>
            </a:r>
            <a:r>
              <a:rPr dirty="0" sz="4000" spc="-20">
                <a:latin typeface="Arial"/>
                <a:cs typeface="Arial"/>
              </a:rPr>
              <a:t>tự</a:t>
            </a:r>
            <a:r>
              <a:rPr dirty="0" sz="4000" spc="-27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do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Lỗ</a:t>
            </a:r>
            <a:r>
              <a:rPr dirty="0" sz="4000" spc="-204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4525" cy="511238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just"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6. </a:t>
            </a:r>
            <a:r>
              <a:rPr dirty="0" sz="4000" spc="-290">
                <a:latin typeface="Arial"/>
                <a:cs typeface="Arial"/>
              </a:rPr>
              <a:t>Với </a:t>
            </a:r>
            <a:r>
              <a:rPr dirty="0" sz="4000" spc="-130">
                <a:latin typeface="Arial"/>
                <a:cs typeface="Arial"/>
              </a:rPr>
              <a:t>mô </a:t>
            </a:r>
            <a:r>
              <a:rPr dirty="0" sz="4000" spc="-150">
                <a:latin typeface="Arial"/>
                <a:cs typeface="Arial"/>
              </a:rPr>
              <a:t>hình </a:t>
            </a:r>
            <a:r>
              <a:rPr dirty="0" sz="4000" spc="-120">
                <a:latin typeface="Arial"/>
                <a:cs typeface="Arial"/>
              </a:rPr>
              <a:t>diode thực, diode </a:t>
            </a:r>
            <a:r>
              <a:rPr dirty="0" sz="4000" spc="-229">
                <a:latin typeface="Arial"/>
                <a:cs typeface="Arial"/>
              </a:rPr>
              <a:t>được </a:t>
            </a:r>
            <a:r>
              <a:rPr dirty="0" sz="4000" spc="-17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  </a:t>
            </a:r>
            <a:r>
              <a:rPr dirty="0" sz="4000" spc="-95">
                <a:latin typeface="Arial"/>
                <a:cs typeface="Arial"/>
              </a:rPr>
              <a:t>thuân.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65">
                <a:latin typeface="Arial"/>
                <a:cs typeface="Arial"/>
              </a:rPr>
              <a:t>ta </a:t>
            </a:r>
            <a:r>
              <a:rPr dirty="0" sz="4000" spc="-150">
                <a:latin typeface="Arial"/>
                <a:cs typeface="Arial"/>
              </a:rPr>
              <a:t>tăng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180">
                <a:latin typeface="Arial"/>
                <a:cs typeface="Arial"/>
              </a:rPr>
              <a:t>phân </a:t>
            </a:r>
            <a:r>
              <a:rPr dirty="0" sz="4000" spc="-254">
                <a:latin typeface="Arial"/>
                <a:cs typeface="Arial"/>
              </a:rPr>
              <a:t>cực, </a:t>
            </a:r>
            <a:r>
              <a:rPr dirty="0" sz="4000" spc="-114">
                <a:latin typeface="Arial"/>
                <a:cs typeface="Arial"/>
              </a:rPr>
              <a:t>hiệu 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225">
                <a:latin typeface="Arial"/>
                <a:cs typeface="Arial"/>
              </a:rPr>
              <a:t>giữa </a:t>
            </a:r>
            <a:r>
              <a:rPr dirty="0" sz="4000" spc="-200">
                <a:latin typeface="Arial"/>
                <a:cs typeface="Arial"/>
              </a:rPr>
              <a:t>2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20">
                <a:latin typeface="Arial"/>
                <a:cs typeface="Arial"/>
              </a:rPr>
              <a:t>diode</a:t>
            </a:r>
            <a:r>
              <a:rPr dirty="0" sz="4000" spc="-555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algn="just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 </a:t>
            </a:r>
            <a:r>
              <a:rPr dirty="0" sz="4000" spc="-35">
                <a:latin typeface="Arial"/>
                <a:cs typeface="Arial"/>
              </a:rPr>
              <a:t>rồi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262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86435" algn="l"/>
                <a:tab pos="1651000" algn="l"/>
                <a:tab pos="2783205" algn="l"/>
                <a:tab pos="4241800" algn="l"/>
                <a:tab pos="5741670" algn="l"/>
                <a:tab pos="7705090" algn="l"/>
                <a:tab pos="8895715" algn="l"/>
                <a:tab pos="10099675" algn="l"/>
              </a:tabLst>
            </a:pPr>
            <a:r>
              <a:rPr dirty="0" sz="4000" spc="-200">
                <a:latin typeface="Arial"/>
                <a:cs typeface="Arial"/>
              </a:rPr>
              <a:t>7</a:t>
            </a:r>
            <a:r>
              <a:rPr dirty="0" sz="4000" spc="-105">
                <a:latin typeface="Arial"/>
                <a:cs typeface="Arial"/>
              </a:rPr>
              <a:t>.</a:t>
            </a:r>
            <a:r>
              <a:rPr dirty="0" sz="4000" spc="-105">
                <a:latin typeface="Arial"/>
                <a:cs typeface="Arial"/>
              </a:rPr>
              <a:t>	</a:t>
            </a:r>
            <a:r>
              <a:rPr dirty="0" sz="4000" spc="-570">
                <a:latin typeface="Arial"/>
                <a:cs typeface="Arial"/>
              </a:rPr>
              <a:t>V</a:t>
            </a:r>
            <a:r>
              <a:rPr dirty="0" sz="4000" spc="-220">
                <a:latin typeface="Arial"/>
                <a:cs typeface="Arial"/>
              </a:rPr>
              <a:t>ớ</a:t>
            </a:r>
            <a:r>
              <a:rPr dirty="0" sz="4000" spc="-75">
                <a:latin typeface="Arial"/>
                <a:cs typeface="Arial"/>
              </a:rPr>
              <a:t>i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">
                <a:latin typeface="Arial"/>
                <a:cs typeface="Arial"/>
              </a:rPr>
              <a:t>một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20">
                <a:latin typeface="Arial"/>
                <a:cs typeface="Arial"/>
              </a:rPr>
              <a:t>diod</a:t>
            </a:r>
            <a:r>
              <a:rPr dirty="0" sz="4000" spc="-130">
                <a:latin typeface="Arial"/>
                <a:cs typeface="Arial"/>
              </a:rPr>
              <a:t>e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0">
                <a:latin typeface="Arial"/>
                <a:cs typeface="Arial"/>
              </a:rPr>
              <a:t>thông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20">
                <a:latin typeface="Arial"/>
                <a:cs typeface="Arial"/>
              </a:rPr>
              <a:t>thườ</a:t>
            </a:r>
            <a:r>
              <a:rPr dirty="0" sz="4000" spc="-120">
                <a:latin typeface="Arial"/>
                <a:cs typeface="Arial"/>
              </a:rPr>
              <a:t>n</a:t>
            </a:r>
            <a:r>
              <a:rPr dirty="0" sz="4000" spc="-310">
                <a:latin typeface="Arial"/>
                <a:cs typeface="Arial"/>
              </a:rPr>
              <a:t>g</a:t>
            </a:r>
            <a:r>
              <a:rPr dirty="0" sz="4000" spc="-114">
                <a:latin typeface="Arial"/>
                <a:cs typeface="Arial"/>
              </a:rPr>
              <a:t>,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14">
                <a:latin typeface="Arial"/>
                <a:cs typeface="Arial"/>
              </a:rPr>
              <a:t>hiệ</a:t>
            </a:r>
            <a:r>
              <a:rPr dirty="0" sz="4000" spc="-135">
                <a:latin typeface="Arial"/>
                <a:cs typeface="Arial"/>
              </a:rPr>
              <a:t>u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40">
                <a:latin typeface="Arial"/>
                <a:cs typeface="Arial"/>
              </a:rPr>
              <a:t>thế  </a:t>
            </a:r>
            <a:r>
              <a:rPr dirty="0" sz="4000" spc="-260">
                <a:latin typeface="Arial"/>
                <a:cs typeface="Arial"/>
              </a:rPr>
              <a:t>ngưỡng </a:t>
            </a:r>
            <a:r>
              <a:rPr dirty="0" sz="4000" spc="-130">
                <a:latin typeface="Arial"/>
                <a:cs typeface="Arial"/>
              </a:rPr>
              <a:t>để </a:t>
            </a:r>
            <a:r>
              <a:rPr dirty="0" sz="4000" spc="-180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 </a:t>
            </a:r>
            <a:r>
              <a:rPr dirty="0" sz="4000" spc="-90">
                <a:latin typeface="Arial"/>
                <a:cs typeface="Arial"/>
              </a:rPr>
              <a:t>thuận </a:t>
            </a:r>
            <a:r>
              <a:rPr dirty="0" sz="4000" spc="-185">
                <a:latin typeface="Arial"/>
                <a:cs typeface="Arial"/>
              </a:rPr>
              <a:t>cho </a:t>
            </a:r>
            <a:r>
              <a:rPr dirty="0" sz="4000" spc="-120">
                <a:latin typeface="Arial"/>
                <a:cs typeface="Arial"/>
              </a:rPr>
              <a:t>diode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434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000" spc="-204">
                <a:latin typeface="Arial"/>
                <a:cs typeface="Arial"/>
              </a:rPr>
              <a:t>a. </a:t>
            </a:r>
            <a:r>
              <a:rPr dirty="0" sz="4000" spc="-370">
                <a:latin typeface="Arial"/>
                <a:cs typeface="Arial"/>
              </a:rPr>
              <a:t>Bé </a:t>
            </a:r>
            <a:r>
              <a:rPr dirty="0" sz="4000" spc="-195">
                <a:latin typeface="Arial"/>
                <a:cs typeface="Arial"/>
              </a:rPr>
              <a:t>hơn </a:t>
            </a:r>
            <a:r>
              <a:rPr dirty="0" sz="4000" spc="-170">
                <a:latin typeface="Arial"/>
                <a:cs typeface="Arial"/>
              </a:rPr>
              <a:t>0.3</a:t>
            </a:r>
            <a:r>
              <a:rPr dirty="0" sz="4000" spc="-315">
                <a:latin typeface="Arial"/>
                <a:cs typeface="Arial"/>
              </a:rPr>
              <a:t> </a:t>
            </a:r>
            <a:r>
              <a:rPr dirty="0" sz="4000" spc="-405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4000" spc="-120">
                <a:latin typeface="Arial"/>
                <a:cs typeface="Arial"/>
              </a:rPr>
              <a:t>b. </a:t>
            </a:r>
            <a:r>
              <a:rPr dirty="0" sz="4000" spc="-170">
                <a:latin typeface="Arial"/>
                <a:cs typeface="Arial"/>
              </a:rPr>
              <a:t>0.7</a:t>
            </a:r>
            <a:r>
              <a:rPr dirty="0" sz="4000" spc="-715">
                <a:latin typeface="Arial"/>
                <a:cs typeface="Arial"/>
              </a:rPr>
              <a:t> </a:t>
            </a:r>
            <a:r>
              <a:rPr dirty="0" sz="4000" spc="-400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 startAt="3"/>
              <a:tabLst>
                <a:tab pos="470534" algn="l"/>
              </a:tabLst>
            </a:pPr>
            <a:r>
              <a:rPr dirty="0" sz="4000" spc="-170">
                <a:latin typeface="Arial"/>
                <a:cs typeface="Arial"/>
              </a:rPr>
              <a:t>-14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5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 startAt="3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262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8. </a:t>
            </a:r>
            <a:r>
              <a:rPr dirty="0" sz="4000" spc="-27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0">
                <a:latin typeface="Arial"/>
                <a:cs typeface="Arial"/>
              </a:rPr>
              <a:t>đầu </a:t>
            </a:r>
            <a:r>
              <a:rPr dirty="0" sz="4000" spc="-210">
                <a:latin typeface="Arial"/>
                <a:cs typeface="Arial"/>
              </a:rPr>
              <a:t>vào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 </a:t>
            </a:r>
            <a:r>
              <a:rPr dirty="0" sz="4000" spc="-125">
                <a:latin typeface="Arial"/>
                <a:cs typeface="Arial"/>
              </a:rPr>
              <a:t>lưu </a:t>
            </a:r>
            <a:r>
              <a:rPr dirty="0" sz="4000" spc="-190">
                <a:latin typeface="Arial"/>
                <a:cs typeface="Arial"/>
              </a:rPr>
              <a:t>bán chu </a:t>
            </a:r>
            <a:r>
              <a:rPr dirty="0" sz="4000" spc="-210">
                <a:latin typeface="Arial"/>
                <a:cs typeface="Arial"/>
              </a:rPr>
              <a:t>kỳ 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70">
                <a:latin typeface="Arial"/>
                <a:cs typeface="Arial"/>
              </a:rPr>
              <a:t>tần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50">
                <a:latin typeface="Arial"/>
                <a:cs typeface="Arial"/>
              </a:rPr>
              <a:t>là </a:t>
            </a:r>
            <a:r>
              <a:rPr dirty="0" sz="4000" spc="-270">
                <a:latin typeface="Arial"/>
                <a:cs typeface="Arial"/>
              </a:rPr>
              <a:t>60Hz, </a:t>
            </a:r>
            <a:r>
              <a:rPr dirty="0" sz="4000" spc="-70">
                <a:latin typeface="Arial"/>
                <a:cs typeface="Arial"/>
              </a:rPr>
              <a:t>tần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3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30">
                <a:latin typeface="Arial"/>
                <a:cs typeface="Arial"/>
              </a:rPr>
              <a:t>ra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77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30Hz</a:t>
            </a:r>
            <a:endParaRPr sz="4000">
              <a:latin typeface="Arial"/>
              <a:cs typeface="Arial"/>
            </a:endParaRPr>
          </a:p>
          <a:p>
            <a:pPr marL="727710" indent="-71501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728345" algn="l"/>
              </a:tabLst>
            </a:pPr>
            <a:r>
              <a:rPr dirty="0" sz="4000" spc="-310">
                <a:latin typeface="Arial"/>
                <a:cs typeface="Arial"/>
              </a:rPr>
              <a:t>60Hz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120Hz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20">
                <a:latin typeface="Arial"/>
                <a:cs typeface="Arial"/>
              </a:rPr>
              <a:t>d.</a:t>
            </a:r>
            <a:r>
              <a:rPr dirty="0" sz="4000" spc="-685">
                <a:latin typeface="Arial"/>
                <a:cs typeface="Arial"/>
              </a:rPr>
              <a:t> </a:t>
            </a:r>
            <a:r>
              <a:rPr dirty="0" sz="4000" spc="-305">
                <a:latin typeface="Arial"/>
                <a:cs typeface="Arial"/>
              </a:rPr>
              <a:t>2.45GHz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3032" y="3476116"/>
            <a:ext cx="605790" cy="488950"/>
          </a:xfrm>
          <a:custGeom>
            <a:avLst/>
            <a:gdLst/>
            <a:ahLst/>
            <a:cxnLst/>
            <a:rect l="l" t="t" r="r" b="b"/>
            <a:pathLst>
              <a:path w="605789" h="488950">
                <a:moveTo>
                  <a:pt x="98156" y="268351"/>
                </a:moveTo>
                <a:lnTo>
                  <a:pt x="49656" y="268351"/>
                </a:lnTo>
                <a:lnTo>
                  <a:pt x="152145" y="488950"/>
                </a:lnTo>
                <a:lnTo>
                  <a:pt x="176275" y="488950"/>
                </a:lnTo>
                <a:lnTo>
                  <a:pt x="195408" y="423545"/>
                </a:lnTo>
                <a:lnTo>
                  <a:pt x="168782" y="423545"/>
                </a:lnTo>
                <a:lnTo>
                  <a:pt x="98156" y="268351"/>
                </a:lnTo>
                <a:close/>
              </a:path>
              <a:path w="605789" h="488950">
                <a:moveTo>
                  <a:pt x="605536" y="0"/>
                </a:moveTo>
                <a:lnTo>
                  <a:pt x="325119" y="0"/>
                </a:lnTo>
                <a:lnTo>
                  <a:pt x="325119" y="508"/>
                </a:lnTo>
                <a:lnTo>
                  <a:pt x="291211" y="508"/>
                </a:lnTo>
                <a:lnTo>
                  <a:pt x="168782" y="423545"/>
                </a:lnTo>
                <a:lnTo>
                  <a:pt x="195408" y="423545"/>
                </a:lnTo>
                <a:lnTo>
                  <a:pt x="309499" y="33528"/>
                </a:lnTo>
                <a:lnTo>
                  <a:pt x="605536" y="33528"/>
                </a:lnTo>
                <a:lnTo>
                  <a:pt x="605536" y="0"/>
                </a:lnTo>
                <a:close/>
              </a:path>
              <a:path w="605789" h="488950">
                <a:moveTo>
                  <a:pt x="81280" y="231267"/>
                </a:moveTo>
                <a:lnTo>
                  <a:pt x="0" y="268351"/>
                </a:lnTo>
                <a:lnTo>
                  <a:pt x="7747" y="287020"/>
                </a:lnTo>
                <a:lnTo>
                  <a:pt x="49656" y="268351"/>
                </a:lnTo>
                <a:lnTo>
                  <a:pt x="98156" y="268351"/>
                </a:lnTo>
                <a:lnTo>
                  <a:pt x="81280" y="2312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6939" y="223215"/>
            <a:ext cx="10802620" cy="516572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just"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9. </a:t>
            </a:r>
            <a:r>
              <a:rPr dirty="0" sz="4000" spc="-275">
                <a:latin typeface="Arial"/>
                <a:cs typeface="Arial"/>
              </a:rPr>
              <a:t>Tín </a:t>
            </a:r>
            <a:r>
              <a:rPr dirty="0" sz="4000" spc="-114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210">
                <a:latin typeface="Arial"/>
                <a:cs typeface="Arial"/>
              </a:rPr>
              <a:t>vào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 </a:t>
            </a:r>
            <a:r>
              <a:rPr dirty="0" sz="4000" spc="-125">
                <a:latin typeface="Arial"/>
                <a:cs typeface="Arial"/>
              </a:rPr>
              <a:t>lưu </a:t>
            </a:r>
            <a:r>
              <a:rPr dirty="0" sz="4000" spc="-85">
                <a:latin typeface="Arial"/>
                <a:cs typeface="Arial"/>
              </a:rPr>
              <a:t>toàn </a:t>
            </a:r>
            <a:r>
              <a:rPr dirty="0" sz="4000" spc="-190">
                <a:latin typeface="Arial"/>
                <a:cs typeface="Arial"/>
              </a:rPr>
              <a:t>chu </a:t>
            </a:r>
            <a:r>
              <a:rPr dirty="0" sz="4000" spc="-195">
                <a:latin typeface="Arial"/>
                <a:cs typeface="Arial"/>
              </a:rPr>
              <a:t>kỳ 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125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210">
                <a:latin typeface="Arial"/>
                <a:cs typeface="Arial"/>
              </a:rPr>
              <a:t>peak-peak </a:t>
            </a:r>
            <a:r>
              <a:rPr dirty="0" sz="4000" spc="-150">
                <a:latin typeface="Arial"/>
                <a:cs typeface="Arial"/>
              </a:rPr>
              <a:t>là </a:t>
            </a:r>
            <a:r>
              <a:rPr dirty="0" sz="4000" spc="-235">
                <a:latin typeface="Arial"/>
                <a:cs typeface="Arial"/>
              </a:rPr>
              <a:t>10V,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 </a:t>
            </a:r>
            <a:r>
              <a:rPr dirty="0" sz="4000" spc="-204">
                <a:latin typeface="Arial"/>
                <a:cs typeface="Arial"/>
              </a:rPr>
              <a:t>peak-peak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3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30">
                <a:latin typeface="Arial"/>
                <a:cs typeface="Arial"/>
              </a:rPr>
              <a:t>ra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620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4000" spc="-210">
                <a:latin typeface="Arial"/>
                <a:cs typeface="Arial"/>
              </a:rPr>
              <a:t>a.</a:t>
            </a:r>
            <a:r>
              <a:rPr dirty="0" sz="4000" spc="-445">
                <a:latin typeface="Arial"/>
                <a:cs typeface="Arial"/>
              </a:rPr>
              <a:t> </a:t>
            </a:r>
            <a:r>
              <a:rPr dirty="0" sz="4000" spc="-270">
                <a:latin typeface="Arial"/>
                <a:cs typeface="Arial"/>
              </a:rPr>
              <a:t>10V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975"/>
              </a:spcBef>
            </a:pPr>
            <a:r>
              <a:rPr dirty="0" sz="4000" spc="-114">
                <a:latin typeface="Arial"/>
                <a:cs typeface="Arial"/>
              </a:rPr>
              <a:t>b. </a:t>
            </a:r>
            <a:r>
              <a:rPr dirty="0" sz="4000" spc="-200">
                <a:latin typeface="Arial"/>
                <a:cs typeface="Arial"/>
              </a:rPr>
              <a:t>5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 spc="-150" i="1">
                <a:latin typeface="Trebuchet MS"/>
                <a:cs typeface="Trebuchet MS"/>
              </a:rPr>
              <a:t>2</a:t>
            </a:r>
            <a:r>
              <a:rPr dirty="0" sz="4000" spc="-150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480"/>
              </a:spcBef>
            </a:pPr>
            <a:r>
              <a:rPr dirty="0" sz="4000" spc="-210">
                <a:latin typeface="Arial"/>
                <a:cs typeface="Arial"/>
              </a:rPr>
              <a:t>c.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300">
                <a:latin typeface="Arial"/>
                <a:cs typeface="Arial"/>
              </a:rPr>
              <a:t>5V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14">
                <a:latin typeface="Arial"/>
                <a:cs typeface="Arial"/>
              </a:rPr>
              <a:t>d.</a:t>
            </a:r>
            <a:r>
              <a:rPr dirty="0" sz="4000" spc="-625">
                <a:latin typeface="Arial"/>
                <a:cs typeface="Arial"/>
              </a:rPr>
              <a:t> </a:t>
            </a:r>
            <a:r>
              <a:rPr dirty="0" sz="4000" spc="-229">
                <a:latin typeface="Arial"/>
                <a:cs typeface="Arial"/>
              </a:rPr>
              <a:t>0.7V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953833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10. </a:t>
            </a:r>
            <a:r>
              <a:rPr dirty="0" sz="4000" spc="-245">
                <a:latin typeface="Arial"/>
                <a:cs typeface="Arial"/>
              </a:rPr>
              <a:t>Thông </a:t>
            </a:r>
            <a:r>
              <a:rPr dirty="0" sz="4000" spc="-150">
                <a:latin typeface="Arial"/>
                <a:cs typeface="Arial"/>
              </a:rPr>
              <a:t>thường, </a:t>
            </a:r>
            <a:r>
              <a:rPr dirty="0" sz="4000" spc="-120">
                <a:latin typeface="Arial"/>
                <a:cs typeface="Arial"/>
              </a:rPr>
              <a:t>diode </a:t>
            </a:r>
            <a:r>
              <a:rPr dirty="0" sz="4000" spc="-225">
                <a:latin typeface="Arial"/>
                <a:cs typeface="Arial"/>
              </a:rPr>
              <a:t>Zener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</a:t>
            </a:r>
            <a:r>
              <a:rPr dirty="0" sz="4000" spc="-500">
                <a:latin typeface="Arial"/>
                <a:cs typeface="Arial"/>
              </a:rPr>
              <a:t> </a:t>
            </a:r>
            <a:r>
              <a:rPr dirty="0" sz="4000" spc="-85">
                <a:latin typeface="Arial"/>
                <a:cs typeface="Arial"/>
              </a:rPr>
              <a:t>khi: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 spc="-95">
                <a:latin typeface="Arial"/>
                <a:cs typeface="Arial"/>
              </a:rPr>
              <a:t>thuận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nghịch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145">
                <a:latin typeface="Arial"/>
                <a:cs typeface="Arial"/>
              </a:rPr>
              <a:t>đánh</a:t>
            </a:r>
            <a:r>
              <a:rPr dirty="0" sz="4000" spc="-380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thủng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130">
                <a:latin typeface="Arial"/>
                <a:cs typeface="Arial"/>
              </a:rPr>
              <a:t>b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300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7787"/>
            <a:ext cx="10800080" cy="45586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290"/>
              </a:lnSpc>
              <a:spcBef>
                <a:spcPts val="665"/>
              </a:spcBef>
            </a:pPr>
            <a:r>
              <a:rPr dirty="0" sz="4000" spc="-170">
                <a:latin typeface="Arial"/>
                <a:cs typeface="Arial"/>
              </a:rPr>
              <a:t>11.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45">
                <a:latin typeface="Arial"/>
                <a:cs typeface="Arial"/>
              </a:rPr>
              <a:t>ta </a:t>
            </a:r>
            <a:r>
              <a:rPr dirty="0" sz="4000" spc="-145">
                <a:latin typeface="Arial"/>
                <a:cs typeface="Arial"/>
              </a:rPr>
              <a:t>tăng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75">
                <a:latin typeface="Arial"/>
                <a:cs typeface="Arial"/>
              </a:rPr>
              <a:t>số </a:t>
            </a:r>
            <a:r>
              <a:rPr dirty="0" sz="4000" spc="-5">
                <a:latin typeface="Symbol"/>
                <a:cs typeface="Symbol"/>
              </a:rPr>
              <a:t>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10">
                <a:latin typeface="Arial"/>
                <a:cs typeface="Arial"/>
              </a:rPr>
              <a:t>một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459">
                <a:latin typeface="Arial"/>
                <a:cs typeface="Arial"/>
              </a:rPr>
              <a:t>BJT,</a:t>
            </a:r>
            <a:r>
              <a:rPr dirty="0" sz="4000" spc="-665">
                <a:latin typeface="Arial"/>
                <a:cs typeface="Arial"/>
              </a:rPr>
              <a:t> </a:t>
            </a:r>
            <a:r>
              <a:rPr dirty="0" sz="4000" spc="-180">
                <a:latin typeface="Arial"/>
                <a:cs typeface="Arial"/>
              </a:rPr>
              <a:t>dòng  </a:t>
            </a:r>
            <a:r>
              <a:rPr dirty="0" sz="4000" spc="-85">
                <a:latin typeface="Arial"/>
                <a:cs typeface="Arial"/>
              </a:rPr>
              <a:t>collector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 </a:t>
            </a:r>
            <a:r>
              <a:rPr dirty="0" sz="4000" spc="-10">
                <a:latin typeface="Arial"/>
                <a:cs typeface="Arial"/>
              </a:rPr>
              <a:t>rồi </a:t>
            </a:r>
            <a:r>
              <a:rPr dirty="0" sz="4000" spc="-180">
                <a:latin typeface="Arial"/>
                <a:cs typeface="Arial"/>
              </a:rPr>
              <a:t>không</a:t>
            </a:r>
            <a:r>
              <a:rPr dirty="0" sz="4000" spc="-310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7787"/>
            <a:ext cx="10800080" cy="45586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290"/>
              </a:lnSpc>
              <a:spcBef>
                <a:spcPts val="665"/>
              </a:spcBef>
            </a:pPr>
            <a:r>
              <a:rPr dirty="0" sz="4000" spc="-170">
                <a:latin typeface="Arial"/>
                <a:cs typeface="Arial"/>
              </a:rPr>
              <a:t>12.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65">
                <a:latin typeface="Arial"/>
                <a:cs typeface="Arial"/>
              </a:rPr>
              <a:t>ta </a:t>
            </a:r>
            <a:r>
              <a:rPr dirty="0" sz="4000" spc="-155">
                <a:latin typeface="Arial"/>
                <a:cs typeface="Arial"/>
              </a:rPr>
              <a:t>tăng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75">
                <a:latin typeface="Arial"/>
                <a:cs typeface="Arial"/>
              </a:rPr>
              <a:t>số </a:t>
            </a:r>
            <a:r>
              <a:rPr dirty="0" sz="4000" spc="-5">
                <a:latin typeface="Symbol"/>
                <a:cs typeface="Symbol"/>
              </a:rPr>
              <a:t>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10">
                <a:latin typeface="Arial"/>
                <a:cs typeface="Arial"/>
              </a:rPr>
              <a:t>một </a:t>
            </a:r>
            <a:r>
              <a:rPr dirty="0" sz="4000" spc="-100">
                <a:latin typeface="Arial"/>
                <a:cs typeface="Arial"/>
              </a:rPr>
              <a:t>transistor </a:t>
            </a:r>
            <a:r>
              <a:rPr dirty="0" sz="4000" spc="-560">
                <a:latin typeface="Arial"/>
                <a:cs typeface="Arial"/>
              </a:rPr>
              <a:t>BJT, </a:t>
            </a:r>
            <a:r>
              <a:rPr dirty="0" sz="4000" spc="-180">
                <a:latin typeface="Arial"/>
                <a:cs typeface="Arial"/>
              </a:rPr>
              <a:t>dòng  </a:t>
            </a:r>
            <a:r>
              <a:rPr dirty="0" sz="4000" spc="-100">
                <a:latin typeface="Arial"/>
                <a:cs typeface="Arial"/>
              </a:rPr>
              <a:t>collector</a:t>
            </a:r>
            <a:r>
              <a:rPr dirty="0" sz="4000" spc="-21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 </a:t>
            </a:r>
            <a:r>
              <a:rPr dirty="0" sz="4000" spc="-35">
                <a:latin typeface="Arial"/>
                <a:cs typeface="Arial"/>
              </a:rPr>
              <a:t>rồi </a:t>
            </a:r>
            <a:r>
              <a:rPr dirty="0" sz="4000" spc="-180">
                <a:latin typeface="Arial"/>
                <a:cs typeface="Arial"/>
              </a:rPr>
              <a:t>không</a:t>
            </a:r>
            <a:r>
              <a:rPr dirty="0" sz="4000" spc="-19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325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13.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135">
                <a:latin typeface="Arial"/>
                <a:cs typeface="Arial"/>
              </a:rPr>
              <a:t>chỉ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215">
                <a:latin typeface="Arial"/>
                <a:cs typeface="Arial"/>
              </a:rPr>
              <a:t>hay </a:t>
            </a:r>
            <a:r>
              <a:rPr dirty="0" sz="4000" spc="-150">
                <a:latin typeface="Arial"/>
                <a:cs typeface="Arial"/>
              </a:rPr>
              <a:t>mode, </a:t>
            </a:r>
            <a:r>
              <a:rPr dirty="0" sz="4000" spc="-20">
                <a:latin typeface="Arial"/>
                <a:cs typeface="Arial"/>
              </a:rPr>
              <a:t>cutoff  </a:t>
            </a:r>
            <a:r>
              <a:rPr dirty="0" sz="4000" spc="-260">
                <a:latin typeface="Arial"/>
                <a:cs typeface="Arial"/>
              </a:rPr>
              <a:t>và </a:t>
            </a:r>
            <a:r>
              <a:rPr dirty="0" sz="4000" spc="-95">
                <a:latin typeface="Arial"/>
                <a:cs typeface="Arial"/>
              </a:rPr>
              <a:t>saturation,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70">
                <a:latin typeface="Arial"/>
                <a:cs typeface="Arial"/>
              </a:rPr>
              <a:t>đó </a:t>
            </a:r>
            <a:r>
              <a:rPr dirty="0" sz="4000" spc="-340">
                <a:latin typeface="Arial"/>
                <a:cs typeface="Arial"/>
              </a:rPr>
              <a:t>sẽ </a:t>
            </a:r>
            <a:r>
              <a:rPr dirty="0" sz="4000" spc="-185">
                <a:latin typeface="Arial"/>
                <a:cs typeface="Arial"/>
              </a:rPr>
              <a:t>giống</a:t>
            </a:r>
            <a:r>
              <a:rPr dirty="0" sz="4000" spc="-390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như: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Tụ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điện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Mạch </a:t>
            </a:r>
            <a:r>
              <a:rPr dirty="0" sz="4000" spc="-185">
                <a:latin typeface="Arial"/>
                <a:cs typeface="Arial"/>
              </a:rPr>
              <a:t>khuếch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đại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40">
                <a:latin typeface="Arial"/>
                <a:cs typeface="Arial"/>
              </a:rPr>
              <a:t>Công</a:t>
            </a:r>
            <a:r>
              <a:rPr dirty="0" sz="4000" spc="-210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tắc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</a:t>
            </a:r>
            <a:r>
              <a:rPr dirty="0" sz="4000" spc="-28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lưu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871855" algn="l"/>
                <a:tab pos="2248535" algn="l"/>
                <a:tab pos="3596004" algn="l"/>
                <a:tab pos="5310505" algn="l"/>
                <a:tab pos="6165850" algn="l"/>
                <a:tab pos="7028180" algn="l"/>
                <a:tab pos="8031480" algn="l"/>
                <a:tab pos="8683625" algn="l"/>
                <a:tab pos="9815830" algn="l"/>
              </a:tabLst>
            </a:pPr>
            <a:r>
              <a:rPr dirty="0" sz="4000" spc="-200">
                <a:latin typeface="Arial"/>
                <a:cs typeface="Arial"/>
              </a:rPr>
              <a:t>14</a:t>
            </a:r>
            <a:r>
              <a:rPr dirty="0" sz="4000" spc="-105">
                <a:latin typeface="Arial"/>
                <a:cs typeface="Arial"/>
              </a:rPr>
              <a:t>.</a:t>
            </a:r>
            <a:r>
              <a:rPr dirty="0" sz="4000" spc="-105">
                <a:latin typeface="Arial"/>
                <a:cs typeface="Arial"/>
              </a:rPr>
              <a:t>	</a:t>
            </a:r>
            <a:r>
              <a:rPr dirty="0" sz="4000" spc="-755">
                <a:latin typeface="Arial"/>
                <a:cs typeface="Arial"/>
              </a:rPr>
              <a:t>T</a:t>
            </a:r>
            <a:r>
              <a:rPr dirty="0" sz="4000" spc="-5">
                <a:latin typeface="Arial"/>
                <a:cs typeface="Arial"/>
              </a:rPr>
              <a:t>r</a:t>
            </a:r>
            <a:r>
              <a:rPr dirty="0" sz="4000" spc="-110">
                <a:latin typeface="Arial"/>
                <a:cs typeface="Arial"/>
              </a:rPr>
              <a:t>o</a:t>
            </a:r>
            <a:r>
              <a:rPr dirty="0" sz="4000" spc="-240">
                <a:latin typeface="Arial"/>
                <a:cs typeface="Arial"/>
              </a:rPr>
              <a:t>n</a:t>
            </a:r>
            <a:r>
              <a:rPr dirty="0" sz="4000" spc="-235">
                <a:latin typeface="Arial"/>
                <a:cs typeface="Arial"/>
              </a:rPr>
              <a:t>g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225">
                <a:latin typeface="Arial"/>
                <a:cs typeface="Arial"/>
              </a:rPr>
              <a:t>mạch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85">
                <a:latin typeface="Arial"/>
                <a:cs typeface="Arial"/>
              </a:rPr>
              <a:t>khuếch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0">
                <a:latin typeface="Arial"/>
                <a:cs typeface="Arial"/>
              </a:rPr>
              <a:t>đại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530">
                <a:latin typeface="Arial"/>
                <a:cs typeface="Arial"/>
              </a:rPr>
              <a:t>CE,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70">
                <a:latin typeface="Arial"/>
                <a:cs typeface="Arial"/>
              </a:rPr>
              <a:t>nế</a:t>
            </a:r>
            <a:r>
              <a:rPr dirty="0" sz="4000" spc="-165">
                <a:latin typeface="Arial"/>
                <a:cs typeface="Arial"/>
              </a:rPr>
              <a:t>u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50">
                <a:latin typeface="Arial"/>
                <a:cs typeface="Arial"/>
              </a:rPr>
              <a:t>tụ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220">
                <a:latin typeface="Arial"/>
                <a:cs typeface="Arial"/>
              </a:rPr>
              <a:t>song  </a:t>
            </a:r>
            <a:r>
              <a:rPr dirty="0" sz="4000" spc="-260">
                <a:latin typeface="Arial"/>
                <a:cs typeface="Arial"/>
              </a:rPr>
              <a:t>song </a:t>
            </a:r>
            <a:r>
              <a:rPr dirty="0" sz="4000" spc="-180">
                <a:latin typeface="Arial"/>
                <a:cs typeface="Arial"/>
              </a:rPr>
              <a:t>với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30">
                <a:latin typeface="Arial"/>
                <a:cs typeface="Arial"/>
              </a:rPr>
              <a:t>trở </a:t>
            </a:r>
            <a:r>
              <a:rPr dirty="0" sz="4000" spc="-595">
                <a:latin typeface="Arial"/>
                <a:cs typeface="Arial"/>
              </a:rPr>
              <a:t>R</a:t>
            </a:r>
            <a:r>
              <a:rPr dirty="0" baseline="-20964" sz="3975" spc="-892">
                <a:latin typeface="Arial"/>
                <a:cs typeface="Arial"/>
              </a:rPr>
              <a:t>E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125">
                <a:latin typeface="Arial"/>
                <a:cs typeface="Arial"/>
              </a:rPr>
              <a:t>bỏ </a:t>
            </a:r>
            <a:r>
              <a:rPr dirty="0" sz="4000" spc="-40">
                <a:latin typeface="Arial"/>
                <a:cs typeface="Arial"/>
              </a:rPr>
              <a:t>đi,</a:t>
            </a:r>
            <a:r>
              <a:rPr dirty="0" sz="4000" spc="-795">
                <a:latin typeface="Arial"/>
                <a:cs typeface="Arial"/>
              </a:rPr>
              <a:t>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5">
                <a:latin typeface="Arial"/>
                <a:cs typeface="Arial"/>
              </a:rPr>
              <a:t>đại </a:t>
            </a:r>
            <a:r>
              <a:rPr dirty="0" sz="4000" spc="-220">
                <a:latin typeface="Arial"/>
                <a:cs typeface="Arial"/>
              </a:rPr>
              <a:t>áp </a:t>
            </a:r>
            <a:r>
              <a:rPr dirty="0" sz="4000" spc="-240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98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15. </a:t>
            </a:r>
            <a:r>
              <a:rPr dirty="0" sz="4000" spc="-270">
                <a:latin typeface="Arial"/>
                <a:cs typeface="Arial"/>
              </a:rPr>
              <a:t>Trong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90">
                <a:latin typeface="Arial"/>
                <a:cs typeface="Arial"/>
              </a:rPr>
              <a:t>khuếch </a:t>
            </a:r>
            <a:r>
              <a:rPr dirty="0" sz="4000" spc="-100">
                <a:latin typeface="Arial"/>
                <a:cs typeface="Arial"/>
              </a:rPr>
              <a:t>đại </a:t>
            </a:r>
            <a:r>
              <a:rPr dirty="0" sz="4000" spc="-550">
                <a:latin typeface="Arial"/>
                <a:cs typeface="Arial"/>
              </a:rPr>
              <a:t>CC, </a:t>
            </a:r>
            <a:r>
              <a:rPr dirty="0" sz="4000" spc="-165">
                <a:latin typeface="Arial"/>
                <a:cs typeface="Arial"/>
              </a:rPr>
              <a:t>nếu </a:t>
            </a:r>
            <a:r>
              <a:rPr dirty="0" sz="4000" spc="-70">
                <a:latin typeface="Arial"/>
                <a:cs typeface="Arial"/>
              </a:rPr>
              <a:t>ta </a:t>
            </a:r>
            <a:r>
              <a:rPr dirty="0" sz="4000" spc="-155">
                <a:latin typeface="Arial"/>
                <a:cs typeface="Arial"/>
              </a:rPr>
              <a:t>tăng </a:t>
            </a:r>
            <a:r>
              <a:rPr dirty="0" sz="4000" spc="-210">
                <a:latin typeface="Arial"/>
                <a:cs typeface="Arial"/>
              </a:rPr>
              <a:t>giá </a:t>
            </a:r>
            <a:r>
              <a:rPr dirty="0" sz="4000" spc="105">
                <a:latin typeface="Arial"/>
                <a:cs typeface="Arial"/>
              </a:rPr>
              <a:t>trị 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595">
                <a:latin typeface="Arial"/>
                <a:cs typeface="Arial"/>
              </a:rPr>
              <a:t>R</a:t>
            </a:r>
            <a:r>
              <a:rPr dirty="0" baseline="-20964" sz="3975" spc="-892">
                <a:latin typeface="Arial"/>
                <a:cs typeface="Arial"/>
              </a:rPr>
              <a:t>E</a:t>
            </a:r>
            <a:r>
              <a:rPr dirty="0" baseline="-20964" sz="3975" spc="-682">
                <a:latin typeface="Arial"/>
                <a:cs typeface="Arial"/>
              </a:rPr>
              <a:t> </a:t>
            </a:r>
            <a:r>
              <a:rPr dirty="0" sz="4000" spc="-114">
                <a:latin typeface="Arial"/>
                <a:cs typeface="Arial"/>
              </a:rPr>
              <a:t>lên </a:t>
            </a:r>
            <a:r>
              <a:rPr dirty="0" sz="4000" spc="-200">
                <a:latin typeface="Arial"/>
                <a:cs typeface="Arial"/>
              </a:rPr>
              <a:t>10 </a:t>
            </a:r>
            <a:r>
              <a:rPr dirty="0" sz="4000" spc="-135">
                <a:latin typeface="Arial"/>
                <a:cs typeface="Arial"/>
              </a:rPr>
              <a:t>lần,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5">
                <a:latin typeface="Arial"/>
                <a:cs typeface="Arial"/>
              </a:rPr>
              <a:t>đại </a:t>
            </a:r>
            <a:r>
              <a:rPr dirty="0" sz="4000" spc="-220">
                <a:latin typeface="Arial"/>
                <a:cs typeface="Arial"/>
              </a:rPr>
              <a:t>áp</a:t>
            </a:r>
            <a:r>
              <a:rPr dirty="0" sz="4000" spc="-59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53567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16. </a:t>
            </a:r>
            <a:r>
              <a:rPr dirty="0" sz="4000" spc="-270">
                <a:latin typeface="Arial"/>
                <a:cs typeface="Arial"/>
              </a:rPr>
              <a:t>Kênh </a:t>
            </a:r>
            <a:r>
              <a:rPr dirty="0" sz="4000" spc="-190">
                <a:latin typeface="Arial"/>
                <a:cs typeface="Arial"/>
              </a:rPr>
              <a:t>dẫn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640">
                <a:latin typeface="Arial"/>
                <a:cs typeface="Arial"/>
              </a:rPr>
              <a:t>JFET </a:t>
            </a:r>
            <a:r>
              <a:rPr dirty="0" sz="4000" spc="-229">
                <a:latin typeface="Arial"/>
                <a:cs typeface="Arial"/>
              </a:rPr>
              <a:t>được </a:t>
            </a:r>
            <a:r>
              <a:rPr dirty="0" sz="4000" spc="-120">
                <a:latin typeface="Arial"/>
                <a:cs typeface="Arial"/>
              </a:rPr>
              <a:t>biểu diễn</a:t>
            </a:r>
            <a:r>
              <a:rPr dirty="0" sz="4000" spc="-350">
                <a:latin typeface="Arial"/>
                <a:cs typeface="Arial"/>
              </a:rPr>
              <a:t> </a:t>
            </a:r>
            <a:r>
              <a:rPr dirty="0" sz="4000" spc="-30">
                <a:latin typeface="Arial"/>
                <a:cs typeface="Arial"/>
              </a:rPr>
              <a:t>từ: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165">
                <a:latin typeface="Arial"/>
                <a:cs typeface="Arial"/>
              </a:rPr>
              <a:t>gate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80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drain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00">
                <a:latin typeface="Arial"/>
                <a:cs typeface="Arial"/>
              </a:rPr>
              <a:t>source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30">
                <a:latin typeface="Arial"/>
                <a:cs typeface="Arial"/>
              </a:rPr>
              <a:t> </a:t>
            </a:r>
            <a:r>
              <a:rPr dirty="0" sz="4000" spc="-165">
                <a:latin typeface="Arial"/>
                <a:cs typeface="Arial"/>
              </a:rPr>
              <a:t>gate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100">
                <a:latin typeface="Arial"/>
                <a:cs typeface="Arial"/>
              </a:rPr>
              <a:t>drain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840">
                <a:latin typeface="Arial"/>
                <a:cs typeface="Arial"/>
              </a:rPr>
              <a:t> </a:t>
            </a:r>
            <a:r>
              <a:rPr dirty="0" sz="4000" spc="-200">
                <a:latin typeface="Arial"/>
                <a:cs typeface="Arial"/>
              </a:rPr>
              <a:t>source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10">
                <a:latin typeface="Arial"/>
                <a:cs typeface="Arial"/>
              </a:rPr>
              <a:t>vào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10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ra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9894" y="223215"/>
            <a:ext cx="405511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345">
                <a:latin typeface="Arial"/>
                <a:cs typeface="Arial"/>
              </a:rPr>
              <a:t>= </a:t>
            </a:r>
            <a:r>
              <a:rPr dirty="0" sz="4000" spc="-240">
                <a:latin typeface="Arial"/>
                <a:cs typeface="Arial"/>
              </a:rPr>
              <a:t>0V, </a:t>
            </a:r>
            <a:r>
              <a:rPr dirty="0" sz="4000" spc="-185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 spc="-190">
                <a:latin typeface="Arial"/>
                <a:cs typeface="Arial"/>
              </a:rPr>
              <a:t>I</a:t>
            </a:r>
            <a:r>
              <a:rPr dirty="0" baseline="-20964" sz="3975" spc="-284">
                <a:latin typeface="Arial"/>
                <a:cs typeface="Arial"/>
              </a:rPr>
              <a:t>D</a:t>
            </a:r>
            <a:endParaRPr baseline="-20964" sz="3975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240905">
              <a:lnSpc>
                <a:spcPct val="100000"/>
              </a:lnSpc>
              <a:spcBef>
                <a:spcPts val="95"/>
              </a:spcBef>
            </a:pPr>
            <a:r>
              <a:rPr dirty="0" spc="-185"/>
              <a:t>không </a:t>
            </a:r>
            <a:r>
              <a:rPr dirty="0" spc="-40"/>
              <a:t>đổi </a:t>
            </a:r>
            <a:r>
              <a:rPr dirty="0" spc="-95"/>
              <a:t>khi</a:t>
            </a:r>
            <a:r>
              <a:rPr dirty="0" spc="-405"/>
              <a:t> </a:t>
            </a:r>
            <a:r>
              <a:rPr dirty="0" spc="-555"/>
              <a:t>VDS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223215"/>
            <a:ext cx="2375535" cy="118364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17. </a:t>
            </a: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450">
                <a:latin typeface="Arial"/>
                <a:cs typeface="Arial"/>
              </a:rPr>
              <a:t>V</a:t>
            </a:r>
            <a:r>
              <a:rPr dirty="0" baseline="-20964" sz="3975" spc="-675">
                <a:latin typeface="Arial"/>
                <a:cs typeface="Arial"/>
              </a:rPr>
              <a:t>GS </a:t>
            </a:r>
            <a:r>
              <a:rPr dirty="0" sz="2650" spc="-450">
                <a:latin typeface="Arial"/>
                <a:cs typeface="Arial"/>
              </a:rPr>
              <a:t> </a:t>
            </a:r>
            <a:r>
              <a:rPr dirty="0" sz="4000" spc="-190">
                <a:latin typeface="Arial"/>
                <a:cs typeface="Arial"/>
              </a:rPr>
              <a:t>bằng: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058785"/>
            <a:ext cx="1525905" cy="285242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15"/>
              </a:spcBef>
              <a:buAutoNum type="alphaLcPeriod"/>
              <a:tabLst>
                <a:tab pos="470534" algn="l"/>
              </a:tabLst>
            </a:pPr>
            <a:r>
              <a:rPr dirty="0" sz="4000" spc="-300">
                <a:latin typeface="Arial"/>
                <a:cs typeface="Arial"/>
              </a:rPr>
              <a:t>0V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320">
                <a:latin typeface="Arial"/>
                <a:cs typeface="Arial"/>
              </a:rPr>
              <a:t>V</a:t>
            </a:r>
            <a:r>
              <a:rPr dirty="0" baseline="-20964" sz="3975" spc="-480">
                <a:latin typeface="Arial"/>
                <a:cs typeface="Arial"/>
              </a:rPr>
              <a:t>DD</a:t>
            </a:r>
            <a:endParaRPr baseline="-20964" sz="397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V</a:t>
            </a:r>
            <a:r>
              <a:rPr dirty="0" baseline="-20964" sz="3975" spc="-600">
                <a:latin typeface="Arial"/>
                <a:cs typeface="Arial"/>
              </a:rPr>
              <a:t>P</a:t>
            </a:r>
            <a:endParaRPr baseline="-20964" sz="397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515"/>
              </a:spcBef>
              <a:buAutoNum type="alphaLcPeriod"/>
              <a:tabLst>
                <a:tab pos="470534" algn="l"/>
              </a:tabLst>
            </a:pPr>
            <a:r>
              <a:rPr dirty="0" baseline="13888" sz="6000" spc="-607">
                <a:latin typeface="Arial"/>
                <a:cs typeface="Arial"/>
              </a:rPr>
              <a:t>V</a:t>
            </a:r>
            <a:r>
              <a:rPr dirty="0" sz="2650" spc="-170">
                <a:latin typeface="Arial"/>
                <a:cs typeface="Arial"/>
              </a:rPr>
              <a:t>GSoff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18. </a:t>
            </a: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640">
                <a:latin typeface="Arial"/>
                <a:cs typeface="Arial"/>
              </a:rPr>
              <a:t>JFET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60">
                <a:latin typeface="Arial"/>
                <a:cs typeface="Arial"/>
              </a:rPr>
              <a:t>trong </a:t>
            </a:r>
            <a:r>
              <a:rPr dirty="0" sz="4000" spc="-145">
                <a:latin typeface="Arial"/>
                <a:cs typeface="Arial"/>
              </a:rPr>
              <a:t>khu </a:t>
            </a:r>
            <a:r>
              <a:rPr dirty="0" sz="4000" spc="-260">
                <a:latin typeface="Arial"/>
                <a:cs typeface="Arial"/>
              </a:rPr>
              <a:t>vực </a:t>
            </a:r>
            <a:r>
              <a:rPr dirty="0" sz="4000" spc="-180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185">
                <a:latin typeface="Arial"/>
                <a:cs typeface="Arial"/>
              </a:rPr>
              <a:t>I</a:t>
            </a:r>
            <a:r>
              <a:rPr dirty="0" baseline="-20964" sz="3975" spc="-277">
                <a:latin typeface="Arial"/>
                <a:cs typeface="Arial"/>
              </a:rPr>
              <a:t>D </a:t>
            </a:r>
            <a:r>
              <a:rPr dirty="0" sz="2650" spc="-185">
                <a:latin typeface="Arial"/>
                <a:cs typeface="Arial"/>
              </a:rPr>
              <a:t>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60">
                <a:latin typeface="Arial"/>
                <a:cs typeface="Arial"/>
              </a:rPr>
              <a:t>đổi, </a:t>
            </a:r>
            <a:r>
              <a:rPr dirty="0" sz="4000" spc="-210">
                <a:latin typeface="Arial"/>
                <a:cs typeface="Arial"/>
              </a:rPr>
              <a:t>giá </a:t>
            </a:r>
            <a:r>
              <a:rPr dirty="0" sz="4000" spc="105">
                <a:latin typeface="Arial"/>
                <a:cs typeface="Arial"/>
              </a:rPr>
              <a:t>trị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40">
                <a:latin typeface="Arial"/>
                <a:cs typeface="Arial"/>
              </a:rPr>
              <a:t>đổi </a:t>
            </a:r>
            <a:r>
              <a:rPr dirty="0" sz="4000" spc="-215">
                <a:latin typeface="Arial"/>
                <a:cs typeface="Arial"/>
              </a:rPr>
              <a:t>này </a:t>
            </a:r>
            <a:r>
              <a:rPr dirty="0" sz="4000" spc="-340">
                <a:latin typeface="Arial"/>
                <a:cs typeface="Arial"/>
              </a:rPr>
              <a:t>sẽ </a:t>
            </a:r>
            <a:r>
              <a:rPr dirty="0" sz="4000" spc="-195">
                <a:latin typeface="Arial"/>
                <a:cs typeface="Arial"/>
              </a:rPr>
              <a:t>giảm</a:t>
            </a:r>
            <a:r>
              <a:rPr dirty="0" sz="4000" spc="-775">
                <a:latin typeface="Arial"/>
                <a:cs typeface="Arial"/>
              </a:rPr>
              <a:t> </a:t>
            </a:r>
            <a:r>
              <a:rPr dirty="0" sz="4000" spc="-135">
                <a:latin typeface="Arial"/>
                <a:cs typeface="Arial"/>
              </a:rPr>
              <a:t>nếu: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45">
                <a:latin typeface="Arial"/>
                <a:cs typeface="Arial"/>
              </a:rPr>
              <a:t>V</a:t>
            </a:r>
            <a:r>
              <a:rPr dirty="0" baseline="-20964" sz="3975" spc="-667">
                <a:latin typeface="Arial"/>
                <a:cs typeface="Arial"/>
              </a:rPr>
              <a:t>GS</a:t>
            </a:r>
            <a:r>
              <a:rPr dirty="0" baseline="-20964" sz="3975" spc="-615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45">
                <a:latin typeface="Arial"/>
                <a:cs typeface="Arial"/>
              </a:rPr>
              <a:t>V</a:t>
            </a:r>
            <a:r>
              <a:rPr dirty="0" baseline="-20964" sz="3975" spc="-667">
                <a:latin typeface="Arial"/>
                <a:cs typeface="Arial"/>
              </a:rPr>
              <a:t>GS</a:t>
            </a:r>
            <a:r>
              <a:rPr dirty="0" baseline="-20964" sz="3975" spc="-622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20">
                <a:latin typeface="Arial"/>
                <a:cs typeface="Arial"/>
              </a:rPr>
              <a:t>V</a:t>
            </a:r>
            <a:r>
              <a:rPr dirty="0" baseline="-20964" sz="3975" spc="-480">
                <a:latin typeface="Arial"/>
                <a:cs typeface="Arial"/>
              </a:rPr>
              <a:t>DD</a:t>
            </a:r>
            <a:r>
              <a:rPr dirty="0" baseline="-20964" sz="3975" spc="-397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09">
                <a:latin typeface="Arial"/>
                <a:cs typeface="Arial"/>
              </a:rPr>
              <a:t>V</a:t>
            </a:r>
            <a:r>
              <a:rPr dirty="0" baseline="-20964" sz="3975" spc="-615">
                <a:latin typeface="Arial"/>
                <a:cs typeface="Arial"/>
              </a:rPr>
              <a:t>DS</a:t>
            </a:r>
            <a:r>
              <a:rPr dirty="0" baseline="-20964" sz="3975" spc="-254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59790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19. </a:t>
            </a:r>
            <a:r>
              <a:rPr dirty="0" sz="4000" spc="-265">
                <a:latin typeface="Arial"/>
                <a:cs typeface="Arial"/>
              </a:rPr>
              <a:t>Tại </a:t>
            </a:r>
            <a:r>
              <a:rPr dirty="0" sz="4000" spc="-95">
                <a:latin typeface="Arial"/>
                <a:cs typeface="Arial"/>
              </a:rPr>
              <a:t>điểm </a:t>
            </a:r>
            <a:r>
              <a:rPr dirty="0" sz="4000" spc="-35">
                <a:latin typeface="Arial"/>
                <a:cs typeface="Arial"/>
              </a:rPr>
              <a:t>cutoff, </a:t>
            </a:r>
            <a:r>
              <a:rPr dirty="0" sz="4000" spc="-170">
                <a:latin typeface="Arial"/>
                <a:cs typeface="Arial"/>
              </a:rPr>
              <a:t>kênh </a:t>
            </a:r>
            <a:r>
              <a:rPr dirty="0" sz="4000" spc="-190">
                <a:latin typeface="Arial"/>
                <a:cs typeface="Arial"/>
              </a:rPr>
              <a:t>dẫn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640">
                <a:latin typeface="Arial"/>
                <a:cs typeface="Arial"/>
              </a:rPr>
              <a:t>JFET</a:t>
            </a:r>
            <a:r>
              <a:rPr dirty="0" sz="4000" spc="-540">
                <a:latin typeface="Arial"/>
                <a:cs typeface="Arial"/>
              </a:rPr>
              <a:t> </a:t>
            </a:r>
            <a:r>
              <a:rPr dirty="0" sz="4000" spc="-240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000" spc="-210">
                <a:latin typeface="Arial"/>
                <a:cs typeface="Arial"/>
              </a:rPr>
              <a:t>a.</a:t>
            </a:r>
            <a:r>
              <a:rPr dirty="0" sz="4000" spc="-445">
                <a:latin typeface="Arial"/>
                <a:cs typeface="Arial"/>
              </a:rPr>
              <a:t> </a:t>
            </a:r>
            <a:r>
              <a:rPr dirty="0" sz="4000" spc="-260">
                <a:latin typeface="Arial"/>
                <a:cs typeface="Arial"/>
              </a:rPr>
              <a:t>Hẹp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4000" spc="-114">
                <a:latin typeface="Arial"/>
                <a:cs typeface="Arial"/>
              </a:rPr>
              <a:t>b. </a:t>
            </a:r>
            <a:r>
              <a:rPr dirty="0" sz="4000" spc="-245">
                <a:latin typeface="Arial"/>
                <a:cs typeface="Arial"/>
              </a:rPr>
              <a:t>Đóng </a:t>
            </a:r>
            <a:r>
              <a:rPr dirty="0" sz="4000" spc="-170">
                <a:latin typeface="Arial"/>
                <a:cs typeface="Arial"/>
              </a:rPr>
              <a:t>hoàn </a:t>
            </a:r>
            <a:r>
              <a:rPr dirty="0" sz="4000" spc="-80">
                <a:latin typeface="Arial"/>
                <a:cs typeface="Arial"/>
              </a:rPr>
              <a:t>toàn</a:t>
            </a:r>
            <a:r>
              <a:rPr dirty="0" sz="4000" spc="-830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bởi </a:t>
            </a:r>
            <a:r>
              <a:rPr dirty="0" sz="4000" spc="-200">
                <a:latin typeface="Arial"/>
                <a:cs typeface="Arial"/>
              </a:rPr>
              <a:t>vùng </a:t>
            </a:r>
            <a:r>
              <a:rPr dirty="0" sz="4000" spc="-125">
                <a:latin typeface="Arial"/>
                <a:cs typeface="Arial"/>
              </a:rPr>
              <a:t>hiếm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 startAt="3"/>
              <a:tabLst>
                <a:tab pos="470534" algn="l"/>
              </a:tabLst>
            </a:pPr>
            <a:r>
              <a:rPr dirty="0" sz="4000" spc="-330">
                <a:latin typeface="Arial"/>
                <a:cs typeface="Arial"/>
              </a:rPr>
              <a:t>Rộng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 startAt="3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nghịch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956119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20. </a:t>
            </a:r>
            <a:r>
              <a:rPr dirty="0" sz="4000" spc="-555">
                <a:latin typeface="Arial"/>
                <a:cs typeface="Arial"/>
              </a:rPr>
              <a:t>Sự </a:t>
            </a:r>
            <a:r>
              <a:rPr dirty="0" sz="4000" spc="-235">
                <a:latin typeface="Arial"/>
                <a:cs typeface="Arial"/>
              </a:rPr>
              <a:t>khác </a:t>
            </a:r>
            <a:r>
              <a:rPr dirty="0" sz="4000" spc="-40">
                <a:latin typeface="Arial"/>
                <a:cs typeface="Arial"/>
              </a:rPr>
              <a:t>biệt </a:t>
            </a:r>
            <a:r>
              <a:rPr dirty="0" sz="4000" spc="-330">
                <a:latin typeface="Arial"/>
                <a:cs typeface="Arial"/>
              </a:rPr>
              <a:t>cơ </a:t>
            </a:r>
            <a:r>
              <a:rPr dirty="0" sz="4000" spc="-190">
                <a:latin typeface="Arial"/>
                <a:cs typeface="Arial"/>
              </a:rPr>
              <a:t>bản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505">
                <a:latin typeface="Arial"/>
                <a:cs typeface="Arial"/>
              </a:rPr>
              <a:t>MOSFET </a:t>
            </a:r>
            <a:r>
              <a:rPr dirty="0" sz="4000" spc="-290">
                <a:latin typeface="Arial"/>
                <a:cs typeface="Arial"/>
              </a:rPr>
              <a:t>và </a:t>
            </a:r>
            <a:r>
              <a:rPr dirty="0" sz="4000" spc="-640">
                <a:latin typeface="Arial"/>
                <a:cs typeface="Arial"/>
              </a:rPr>
              <a:t>JFET</a:t>
            </a:r>
            <a:r>
              <a:rPr dirty="0" sz="4000" spc="-730">
                <a:latin typeface="Arial"/>
                <a:cs typeface="Arial"/>
              </a:rPr>
              <a:t> </a:t>
            </a:r>
            <a:r>
              <a:rPr dirty="0" sz="4000" spc="-155">
                <a:latin typeface="Arial"/>
                <a:cs typeface="Arial"/>
              </a:rPr>
              <a:t>là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9">
                <a:latin typeface="Arial"/>
                <a:cs typeface="Arial"/>
              </a:rPr>
              <a:t>Tên </a:t>
            </a:r>
            <a:r>
              <a:rPr dirty="0" sz="4000" spc="-140">
                <a:latin typeface="Arial"/>
                <a:cs typeface="Arial"/>
              </a:rPr>
              <a:t>dài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hơn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509">
                <a:latin typeface="Arial"/>
                <a:cs typeface="Arial"/>
              </a:rPr>
              <a:t>MOSFET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235">
                <a:latin typeface="Arial"/>
                <a:cs typeface="Arial"/>
              </a:rPr>
              <a:t>có </a:t>
            </a:r>
            <a:r>
              <a:rPr dirty="0" sz="4000" spc="-265">
                <a:latin typeface="Arial"/>
                <a:cs typeface="Arial"/>
              </a:rPr>
              <a:t>cấu </a:t>
            </a:r>
            <a:r>
              <a:rPr dirty="0" sz="4000" spc="-40">
                <a:latin typeface="Arial"/>
                <a:cs typeface="Arial"/>
              </a:rPr>
              <a:t>trúc </a:t>
            </a:r>
            <a:r>
              <a:rPr dirty="0" sz="4000" spc="-80">
                <a:latin typeface="Arial"/>
                <a:cs typeface="Arial"/>
              </a:rPr>
              <a:t>mối </a:t>
            </a:r>
            <a:r>
              <a:rPr dirty="0" sz="4000" spc="-75">
                <a:latin typeface="Arial"/>
                <a:cs typeface="Arial"/>
              </a:rPr>
              <a:t>nối</a:t>
            </a:r>
            <a:r>
              <a:rPr dirty="0" sz="4000" spc="-755">
                <a:latin typeface="Arial"/>
                <a:cs typeface="Arial"/>
              </a:rPr>
              <a:t> </a:t>
            </a:r>
            <a:r>
              <a:rPr dirty="0" sz="4000" spc="-465">
                <a:latin typeface="Arial"/>
                <a:cs typeface="Arial"/>
              </a:rPr>
              <a:t>PN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505">
                <a:latin typeface="Arial"/>
                <a:cs typeface="Arial"/>
              </a:rPr>
              <a:t>MOSFET </a:t>
            </a:r>
            <a:r>
              <a:rPr dirty="0" sz="4000" spc="-235">
                <a:latin typeface="Arial"/>
                <a:cs typeface="Arial"/>
              </a:rPr>
              <a:t>có </a:t>
            </a:r>
            <a:r>
              <a:rPr dirty="0" sz="4000" spc="-200">
                <a:latin typeface="Arial"/>
                <a:cs typeface="Arial"/>
              </a:rPr>
              <a:t>2</a:t>
            </a:r>
            <a:r>
              <a:rPr dirty="0" sz="4000" spc="-505">
                <a:latin typeface="Arial"/>
                <a:cs typeface="Arial"/>
              </a:rPr>
              <a:t> </a:t>
            </a:r>
            <a:r>
              <a:rPr dirty="0" sz="4000" spc="-300">
                <a:latin typeface="Arial"/>
                <a:cs typeface="Arial"/>
              </a:rPr>
              <a:t>cực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b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buAutoNum type="arabicPeriod"/>
              <a:tabLst>
                <a:tab pos="514350" algn="l"/>
              </a:tabLst>
            </a:pPr>
            <a:r>
              <a:rPr dirty="0" sz="4000" spc="-265">
                <a:latin typeface="Arial"/>
                <a:cs typeface="Arial"/>
              </a:rPr>
              <a:t>Tại </a:t>
            </a:r>
            <a:r>
              <a:rPr dirty="0" sz="4000" spc="-290">
                <a:latin typeface="Arial"/>
                <a:cs typeface="Arial"/>
              </a:rPr>
              <a:t>sao </a:t>
            </a:r>
            <a:r>
              <a:rPr dirty="0" sz="4000" spc="-210">
                <a:latin typeface="Arial"/>
                <a:cs typeface="Arial"/>
              </a:rPr>
              <a:t>người </a:t>
            </a:r>
            <a:r>
              <a:rPr dirty="0" sz="4000" spc="-45">
                <a:latin typeface="Arial"/>
                <a:cs typeface="Arial"/>
              </a:rPr>
              <a:t>ta </a:t>
            </a:r>
            <a:r>
              <a:rPr dirty="0" sz="4000" spc="-180">
                <a:latin typeface="Arial"/>
                <a:cs typeface="Arial"/>
              </a:rPr>
              <a:t>không dùng </a:t>
            </a:r>
            <a:r>
              <a:rPr dirty="0" sz="4000" spc="-125">
                <a:latin typeface="Arial"/>
                <a:cs typeface="Arial"/>
              </a:rPr>
              <a:t>phổ </a:t>
            </a:r>
            <a:r>
              <a:rPr dirty="0" sz="4000" spc="-120">
                <a:latin typeface="Arial"/>
                <a:cs typeface="Arial"/>
              </a:rPr>
              <a:t>biến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150">
                <a:latin typeface="Arial"/>
                <a:cs typeface="Arial"/>
              </a:rPr>
              <a:t>germanium  </a:t>
            </a:r>
            <a:r>
              <a:rPr dirty="0" sz="4000" spc="-130">
                <a:latin typeface="Arial"/>
                <a:cs typeface="Arial"/>
              </a:rPr>
              <a:t>để </a:t>
            </a:r>
            <a:r>
              <a:rPr dirty="0" sz="4000" spc="-145">
                <a:latin typeface="Arial"/>
                <a:cs typeface="Arial"/>
              </a:rPr>
              <a:t>làm </a:t>
            </a:r>
            <a:r>
              <a:rPr dirty="0" sz="4000" spc="-315">
                <a:latin typeface="Arial"/>
                <a:cs typeface="Arial"/>
              </a:rPr>
              <a:t>các </a:t>
            </a:r>
            <a:r>
              <a:rPr dirty="0" sz="4000" spc="-55">
                <a:latin typeface="Arial"/>
                <a:cs typeface="Arial"/>
              </a:rPr>
              <a:t>linh </a:t>
            </a:r>
            <a:r>
              <a:rPr dirty="0" sz="4000" spc="-135">
                <a:latin typeface="Arial"/>
                <a:cs typeface="Arial"/>
              </a:rPr>
              <a:t>kiện </a:t>
            </a:r>
            <a:r>
              <a:rPr dirty="0" sz="4000" spc="-195">
                <a:latin typeface="Arial"/>
                <a:cs typeface="Arial"/>
              </a:rPr>
              <a:t>bán</a:t>
            </a:r>
            <a:r>
              <a:rPr dirty="0" sz="4000" spc="-495">
                <a:latin typeface="Arial"/>
                <a:cs typeface="Arial"/>
              </a:rPr>
              <a:t> </a:t>
            </a:r>
            <a:r>
              <a:rPr dirty="0" sz="4000" spc="-235">
                <a:latin typeface="Arial"/>
                <a:cs typeface="Arial"/>
              </a:rPr>
              <a:t>dẫn?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/>
            </a:pPr>
            <a:endParaRPr sz="50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Giá </a:t>
            </a:r>
            <a:r>
              <a:rPr dirty="0" sz="4000" spc="-95">
                <a:latin typeface="Arial"/>
                <a:cs typeface="Arial"/>
              </a:rPr>
              <a:t>thành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250">
                <a:latin typeface="Arial"/>
                <a:cs typeface="Arial"/>
              </a:rPr>
              <a:t>cao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195">
                <a:latin typeface="Arial"/>
                <a:cs typeface="Arial"/>
              </a:rPr>
              <a:t>Linh </a:t>
            </a:r>
            <a:r>
              <a:rPr dirty="0" sz="4000" spc="-135">
                <a:latin typeface="Arial"/>
                <a:cs typeface="Arial"/>
              </a:rPr>
              <a:t>kiện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120">
                <a:latin typeface="Arial"/>
                <a:cs typeface="Arial"/>
              </a:rPr>
              <a:t>ổn</a:t>
            </a:r>
            <a:r>
              <a:rPr dirty="0" sz="4000" spc="-530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định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440">
                <a:latin typeface="Arial"/>
                <a:cs typeface="Arial"/>
              </a:rPr>
              <a:t>Có </a:t>
            </a:r>
            <a:r>
              <a:rPr dirty="0" sz="4000" spc="-190">
                <a:latin typeface="Arial"/>
                <a:cs typeface="Arial"/>
              </a:rPr>
              <a:t>ảnh </a:t>
            </a:r>
            <a:r>
              <a:rPr dirty="0" sz="4000" spc="-240">
                <a:latin typeface="Arial"/>
                <a:cs typeface="Arial"/>
              </a:rPr>
              <a:t>hưởng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45">
                <a:latin typeface="Arial"/>
                <a:cs typeface="Arial"/>
              </a:rPr>
              <a:t>sức</a:t>
            </a:r>
            <a:r>
              <a:rPr dirty="0" sz="4000" spc="-730">
                <a:latin typeface="Arial"/>
                <a:cs typeface="Arial"/>
              </a:rPr>
              <a:t> </a:t>
            </a:r>
            <a:r>
              <a:rPr dirty="0" sz="4000" spc="-170">
                <a:latin typeface="Arial"/>
                <a:cs typeface="Arial"/>
              </a:rPr>
              <a:t>khỏe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Dễ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70">
                <a:latin typeface="Arial"/>
                <a:cs typeface="Arial"/>
              </a:rPr>
              <a:t>tan </a:t>
            </a:r>
            <a:r>
              <a:rPr dirty="0" sz="4000" spc="-235">
                <a:latin typeface="Arial"/>
                <a:cs typeface="Arial"/>
              </a:rPr>
              <a:t>chảy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50">
                <a:latin typeface="Arial"/>
                <a:cs typeface="Arial"/>
              </a:rPr>
              <a:t>nhiệt </a:t>
            </a:r>
            <a:r>
              <a:rPr dirty="0" sz="4000" spc="-70">
                <a:latin typeface="Arial"/>
                <a:cs typeface="Arial"/>
              </a:rPr>
              <a:t>độ</a:t>
            </a:r>
            <a:r>
              <a:rPr dirty="0" sz="4000" spc="-459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phòng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43534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513080" algn="l"/>
              </a:tabLst>
            </a:pPr>
            <a:r>
              <a:rPr dirty="0" sz="4000" spc="-160">
                <a:latin typeface="Arial"/>
                <a:cs typeface="Arial"/>
              </a:rPr>
              <a:t>Electron </a:t>
            </a:r>
            <a:r>
              <a:rPr dirty="0" sz="4000" spc="-25">
                <a:latin typeface="Arial"/>
                <a:cs typeface="Arial"/>
              </a:rPr>
              <a:t>tự </a:t>
            </a:r>
            <a:r>
              <a:rPr dirty="0" sz="4000" spc="-125">
                <a:latin typeface="Arial"/>
                <a:cs typeface="Arial"/>
              </a:rPr>
              <a:t>do </a:t>
            </a:r>
            <a:r>
              <a:rPr dirty="0" sz="4000" spc="-140">
                <a:latin typeface="Arial"/>
                <a:cs typeface="Arial"/>
              </a:rPr>
              <a:t>xuất </a:t>
            </a:r>
            <a:r>
              <a:rPr dirty="0" sz="4000" spc="-120">
                <a:latin typeface="Arial"/>
                <a:cs typeface="Arial"/>
              </a:rPr>
              <a:t>hiện nhiều</a:t>
            </a:r>
            <a:r>
              <a:rPr dirty="0" sz="4000" spc="-660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170">
                <a:latin typeface="Arial"/>
                <a:cs typeface="Arial"/>
              </a:rPr>
              <a:t>vùng: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2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180">
                <a:latin typeface="Arial"/>
                <a:cs typeface="Arial"/>
              </a:rPr>
              <a:t>Hạt </a:t>
            </a:r>
            <a:r>
              <a:rPr dirty="0" sz="4000" spc="-175">
                <a:latin typeface="Arial"/>
                <a:cs typeface="Arial"/>
              </a:rPr>
              <a:t>nhân </a:t>
            </a:r>
            <a:r>
              <a:rPr dirty="0" sz="4000" spc="-204">
                <a:latin typeface="Arial"/>
                <a:cs typeface="Arial"/>
              </a:rPr>
              <a:t>nguyên</a:t>
            </a:r>
            <a:r>
              <a:rPr dirty="0" sz="4000" spc="-29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tử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70">
                <a:latin typeface="Arial"/>
                <a:cs typeface="Arial"/>
              </a:rPr>
              <a:t>Giảng </a:t>
            </a:r>
            <a:r>
              <a:rPr dirty="0" sz="4000" spc="-215">
                <a:latin typeface="Arial"/>
                <a:cs typeface="Arial"/>
              </a:rPr>
              <a:t>đường</a:t>
            </a:r>
            <a:r>
              <a:rPr dirty="0" sz="4000" spc="-140">
                <a:latin typeface="Arial"/>
                <a:cs typeface="Arial"/>
              </a:rPr>
              <a:t> </a:t>
            </a:r>
            <a:r>
              <a:rPr dirty="0" sz="4000" spc="-280">
                <a:latin typeface="Arial"/>
                <a:cs typeface="Arial"/>
              </a:rPr>
              <a:t>A3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75">
                <a:latin typeface="Arial"/>
                <a:cs typeface="Arial"/>
              </a:rPr>
              <a:t>Vùng </a:t>
            </a:r>
            <a:r>
              <a:rPr dirty="0" sz="4000" spc="-190">
                <a:latin typeface="Arial"/>
                <a:cs typeface="Arial"/>
              </a:rPr>
              <a:t>dẫn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điện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275">
                <a:latin typeface="Arial"/>
                <a:cs typeface="Arial"/>
              </a:rPr>
              <a:t>Vùng </a:t>
            </a:r>
            <a:r>
              <a:rPr dirty="0" sz="4000" spc="-190">
                <a:latin typeface="Arial"/>
                <a:cs typeface="Arial"/>
              </a:rPr>
              <a:t>hóa</a:t>
            </a:r>
            <a:r>
              <a:rPr dirty="0" sz="4000" spc="-135">
                <a:latin typeface="Arial"/>
                <a:cs typeface="Arial"/>
              </a:rPr>
              <a:t> </a:t>
            </a:r>
            <a:r>
              <a:rPr dirty="0" sz="4000" spc="105">
                <a:latin typeface="Arial"/>
                <a:cs typeface="Arial"/>
              </a:rPr>
              <a:t>trị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73684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513080" algn="l"/>
              </a:tabLst>
            </a:pPr>
            <a:r>
              <a:rPr dirty="0" sz="4000" spc="-260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75">
                <a:latin typeface="Arial"/>
                <a:cs typeface="Arial"/>
              </a:rPr>
              <a:t>trong </a:t>
            </a:r>
            <a:r>
              <a:rPr dirty="0" sz="4000" spc="-130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</a:t>
            </a:r>
            <a:r>
              <a:rPr dirty="0" sz="4000" spc="-690">
                <a:latin typeface="Arial"/>
                <a:cs typeface="Arial"/>
              </a:rPr>
              <a:t> </a:t>
            </a:r>
            <a:r>
              <a:rPr dirty="0" sz="4000" spc="-155">
                <a:latin typeface="Arial"/>
                <a:cs typeface="Arial"/>
              </a:rPr>
              <a:t>là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3"/>
            </a:pPr>
            <a:endParaRPr sz="505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</a:t>
            </a:r>
            <a:r>
              <a:rPr dirty="0" sz="4000" spc="-200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electron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</a:t>
            </a:r>
            <a:r>
              <a:rPr dirty="0" sz="4000" spc="-195">
                <a:latin typeface="Arial"/>
                <a:cs typeface="Arial"/>
              </a:rPr>
              <a:t> </a:t>
            </a:r>
            <a:r>
              <a:rPr dirty="0" sz="4000" spc="-75">
                <a:latin typeface="Arial"/>
                <a:cs typeface="Arial"/>
              </a:rPr>
              <a:t>photon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60">
                <a:latin typeface="Arial"/>
                <a:cs typeface="Arial"/>
              </a:rPr>
              <a:t>Dòng </a:t>
            </a:r>
            <a:r>
              <a:rPr dirty="0" sz="4000" spc="-50">
                <a:latin typeface="Arial"/>
                <a:cs typeface="Arial"/>
              </a:rPr>
              <a:t>lỗ</a:t>
            </a:r>
            <a:r>
              <a:rPr dirty="0" sz="4000" spc="-150">
                <a:latin typeface="Arial"/>
                <a:cs typeface="Arial"/>
              </a:rPr>
              <a:t> </a:t>
            </a:r>
            <a:r>
              <a:rPr dirty="0" sz="4000" spc="-75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719137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513080" algn="l"/>
              </a:tabLst>
            </a:pPr>
            <a:r>
              <a:rPr dirty="0" sz="4000" spc="-165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 </a:t>
            </a:r>
            <a:r>
              <a:rPr dirty="0" sz="4000" spc="-95">
                <a:latin typeface="Arial"/>
                <a:cs typeface="Arial"/>
              </a:rPr>
              <a:t>loại </a:t>
            </a:r>
            <a:r>
              <a:rPr dirty="0" sz="4000" spc="-310">
                <a:latin typeface="Arial"/>
                <a:cs typeface="Arial"/>
              </a:rPr>
              <a:t>N </a:t>
            </a:r>
            <a:r>
              <a:rPr dirty="0" sz="4000" spc="-215">
                <a:latin typeface="Arial"/>
                <a:cs typeface="Arial"/>
              </a:rPr>
              <a:t>có</a:t>
            </a:r>
            <a:r>
              <a:rPr dirty="0" sz="4000" spc="-51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nhiều: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4"/>
            </a:pPr>
            <a:endParaRPr sz="51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10">
                <a:latin typeface="Arial"/>
                <a:cs typeface="Arial"/>
              </a:rPr>
              <a:t>Tiền</a:t>
            </a:r>
            <a:r>
              <a:rPr dirty="0" sz="4000" spc="-225">
                <a:latin typeface="Arial"/>
                <a:cs typeface="Arial"/>
              </a:rPr>
              <a:t> </a:t>
            </a:r>
            <a:r>
              <a:rPr dirty="0" sz="4000" spc="5230"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  <a:p>
            <a:pPr lvl="1" marL="469900" indent="-457200">
              <a:lnSpc>
                <a:spcPct val="100000"/>
              </a:lnSpc>
              <a:spcBef>
                <a:spcPts val="495"/>
              </a:spcBef>
              <a:buAutoNum type="alphaLcPeriod"/>
              <a:tabLst>
                <a:tab pos="470534" algn="l"/>
              </a:tabLst>
            </a:pPr>
            <a:r>
              <a:rPr dirty="0" sz="4000" spc="-155">
                <a:latin typeface="Arial"/>
                <a:cs typeface="Arial"/>
              </a:rPr>
              <a:t>Electron </a:t>
            </a:r>
            <a:r>
              <a:rPr dirty="0" sz="4000" spc="-20">
                <a:latin typeface="Arial"/>
                <a:cs typeface="Arial"/>
              </a:rPr>
              <a:t>tự</a:t>
            </a:r>
            <a:r>
              <a:rPr dirty="0" sz="4000" spc="-27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do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Lỗ</a:t>
            </a:r>
            <a:r>
              <a:rPr dirty="0" sz="4000" spc="-204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05053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2445" indent="-49974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513080" algn="l"/>
              </a:tabLst>
            </a:pPr>
            <a:r>
              <a:rPr dirty="0" sz="4000" spc="-165">
                <a:latin typeface="Arial"/>
                <a:cs typeface="Arial"/>
              </a:rPr>
              <a:t>Vật </a:t>
            </a:r>
            <a:r>
              <a:rPr dirty="0" sz="4000" spc="-80">
                <a:latin typeface="Arial"/>
                <a:cs typeface="Arial"/>
              </a:rPr>
              <a:t>liệu </a:t>
            </a:r>
            <a:r>
              <a:rPr dirty="0" sz="4000" spc="-190">
                <a:latin typeface="Arial"/>
                <a:cs typeface="Arial"/>
              </a:rPr>
              <a:t>bán dẫn </a:t>
            </a:r>
            <a:r>
              <a:rPr dirty="0" sz="4000" spc="-95">
                <a:latin typeface="Arial"/>
                <a:cs typeface="Arial"/>
              </a:rPr>
              <a:t>loại </a:t>
            </a:r>
            <a:r>
              <a:rPr dirty="0" sz="4000" spc="-310">
                <a:latin typeface="Arial"/>
                <a:cs typeface="Arial"/>
              </a:rPr>
              <a:t>N </a:t>
            </a:r>
            <a:r>
              <a:rPr dirty="0" sz="4000" spc="-215">
                <a:latin typeface="Arial"/>
                <a:cs typeface="Arial"/>
              </a:rPr>
              <a:t>có</a:t>
            </a:r>
            <a:r>
              <a:rPr dirty="0" sz="4000" spc="-49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nhiều: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5"/>
            </a:pPr>
            <a:endParaRPr sz="5100">
              <a:latin typeface="Times New Roman"/>
              <a:cs typeface="Times New Roman"/>
            </a:endParaRPr>
          </a:p>
          <a:p>
            <a:pPr lvl="1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80">
                <a:latin typeface="Arial"/>
                <a:cs typeface="Arial"/>
              </a:rPr>
              <a:t>Khu </a:t>
            </a:r>
            <a:r>
              <a:rPr dirty="0" sz="4000" spc="-260">
                <a:latin typeface="Arial"/>
                <a:cs typeface="Arial"/>
              </a:rPr>
              <a:t>vực </a:t>
            </a:r>
            <a:r>
              <a:rPr dirty="0" sz="4000" spc="-229">
                <a:latin typeface="Arial"/>
                <a:cs typeface="Arial"/>
              </a:rPr>
              <a:t>ngập </a:t>
            </a:r>
            <a:r>
              <a:rPr dirty="0" sz="4000" spc="40">
                <a:latin typeface="Arial"/>
                <a:cs typeface="Arial"/>
              </a:rPr>
              <a:t>lụt </a:t>
            </a:r>
            <a:r>
              <a:rPr dirty="0" sz="4000" spc="-190">
                <a:latin typeface="Arial"/>
                <a:cs typeface="Arial"/>
              </a:rPr>
              <a:t>qua </a:t>
            </a:r>
            <a:r>
              <a:rPr dirty="0" sz="4000" spc="-240">
                <a:latin typeface="Arial"/>
                <a:cs typeface="Arial"/>
              </a:rPr>
              <a:t>nửa </a:t>
            </a:r>
            <a:r>
              <a:rPr dirty="0" sz="4000" spc="-175">
                <a:latin typeface="Arial"/>
                <a:cs typeface="Arial"/>
              </a:rPr>
              <a:t>bánh </a:t>
            </a:r>
            <a:r>
              <a:rPr dirty="0" sz="4000" spc="-254">
                <a:latin typeface="Arial"/>
                <a:cs typeface="Arial"/>
              </a:rPr>
              <a:t>xe</a:t>
            </a:r>
            <a:r>
              <a:rPr dirty="0" sz="4000" spc="-434">
                <a:latin typeface="Arial"/>
                <a:cs typeface="Arial"/>
              </a:rPr>
              <a:t> </a:t>
            </a:r>
            <a:r>
              <a:rPr dirty="0" sz="4000" spc="-505"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  <a:p>
            <a:pPr lvl="1" marL="469900" indent="-457200">
              <a:lnSpc>
                <a:spcPct val="100000"/>
              </a:lnSpc>
              <a:spcBef>
                <a:spcPts val="495"/>
              </a:spcBef>
              <a:buAutoNum type="alphaLcPeriod"/>
              <a:tabLst>
                <a:tab pos="470534" algn="l"/>
              </a:tabLst>
            </a:pPr>
            <a:r>
              <a:rPr dirty="0" sz="4000" spc="-155">
                <a:latin typeface="Arial"/>
                <a:cs typeface="Arial"/>
              </a:rPr>
              <a:t>Electron </a:t>
            </a:r>
            <a:r>
              <a:rPr dirty="0" sz="4000" spc="-20">
                <a:latin typeface="Arial"/>
                <a:cs typeface="Arial"/>
              </a:rPr>
              <a:t>tự</a:t>
            </a:r>
            <a:r>
              <a:rPr dirty="0" sz="4000" spc="-27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do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35">
                <a:latin typeface="Arial"/>
                <a:cs typeface="Arial"/>
              </a:rPr>
              <a:t>Lỗ</a:t>
            </a:r>
            <a:r>
              <a:rPr dirty="0" sz="4000" spc="-204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trống</a:t>
            </a:r>
            <a:endParaRPr sz="4000">
              <a:latin typeface="Arial"/>
              <a:cs typeface="Arial"/>
            </a:endParaRPr>
          </a:p>
          <a:p>
            <a:pPr lvl="1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4525" cy="511238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just"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6. </a:t>
            </a:r>
            <a:r>
              <a:rPr dirty="0" sz="4000" spc="-235">
                <a:latin typeface="Arial"/>
                <a:cs typeface="Arial"/>
              </a:rPr>
              <a:t>Với </a:t>
            </a:r>
            <a:r>
              <a:rPr dirty="0" sz="4000" spc="-130">
                <a:latin typeface="Arial"/>
                <a:cs typeface="Arial"/>
              </a:rPr>
              <a:t>mô </a:t>
            </a:r>
            <a:r>
              <a:rPr dirty="0" sz="4000" spc="-150">
                <a:latin typeface="Arial"/>
                <a:cs typeface="Arial"/>
              </a:rPr>
              <a:t>hình </a:t>
            </a:r>
            <a:r>
              <a:rPr dirty="0" sz="4000" spc="-120">
                <a:latin typeface="Arial"/>
                <a:cs typeface="Arial"/>
              </a:rPr>
              <a:t>diode thực, diode </a:t>
            </a:r>
            <a:r>
              <a:rPr dirty="0" sz="4000" spc="-229">
                <a:latin typeface="Arial"/>
                <a:cs typeface="Arial"/>
              </a:rPr>
              <a:t>được </a:t>
            </a:r>
            <a:r>
              <a:rPr dirty="0" sz="4000" spc="-17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  </a:t>
            </a:r>
            <a:r>
              <a:rPr dirty="0" sz="4000" spc="-95">
                <a:latin typeface="Arial"/>
                <a:cs typeface="Arial"/>
              </a:rPr>
              <a:t>thuân.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40">
                <a:latin typeface="Arial"/>
                <a:cs typeface="Arial"/>
              </a:rPr>
              <a:t>ta </a:t>
            </a:r>
            <a:r>
              <a:rPr dirty="0" sz="4000" spc="-140">
                <a:latin typeface="Arial"/>
                <a:cs typeface="Arial"/>
              </a:rPr>
              <a:t>tăng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180">
                <a:latin typeface="Arial"/>
                <a:cs typeface="Arial"/>
              </a:rPr>
              <a:t>phân </a:t>
            </a:r>
            <a:r>
              <a:rPr dirty="0" sz="4000" spc="-254">
                <a:latin typeface="Arial"/>
                <a:cs typeface="Arial"/>
              </a:rPr>
              <a:t>cực, </a:t>
            </a:r>
            <a:r>
              <a:rPr dirty="0" sz="4000" spc="-120">
                <a:latin typeface="Arial"/>
                <a:cs typeface="Arial"/>
              </a:rPr>
              <a:t>hiệu 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225">
                <a:latin typeface="Arial"/>
                <a:cs typeface="Arial"/>
              </a:rPr>
              <a:t>giữa </a:t>
            </a:r>
            <a:r>
              <a:rPr dirty="0" sz="4000" spc="-200">
                <a:latin typeface="Arial"/>
                <a:cs typeface="Arial"/>
              </a:rPr>
              <a:t>2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20">
                <a:latin typeface="Arial"/>
                <a:cs typeface="Arial"/>
              </a:rPr>
              <a:t>diode</a:t>
            </a:r>
            <a:r>
              <a:rPr dirty="0" sz="4000" spc="-555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algn="just"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 </a:t>
            </a:r>
            <a:r>
              <a:rPr dirty="0" sz="4000" spc="-10">
                <a:latin typeface="Arial"/>
                <a:cs typeface="Arial"/>
              </a:rPr>
              <a:t>rồi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389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84530" algn="l"/>
                <a:tab pos="1669414" algn="l"/>
                <a:tab pos="2799715" algn="l"/>
                <a:tab pos="4255770" algn="l"/>
                <a:tab pos="5754370" algn="l"/>
                <a:tab pos="7709534" algn="l"/>
                <a:tab pos="8898255" algn="l"/>
                <a:tab pos="10100945" algn="l"/>
              </a:tabLst>
            </a:pPr>
            <a:r>
              <a:rPr dirty="0" sz="4000" spc="-200">
                <a:latin typeface="Arial"/>
                <a:cs typeface="Arial"/>
              </a:rPr>
              <a:t>7</a:t>
            </a:r>
            <a:r>
              <a:rPr dirty="0" sz="4000" spc="-105">
                <a:latin typeface="Arial"/>
                <a:cs typeface="Arial"/>
              </a:rPr>
              <a:t>.</a:t>
            </a:r>
            <a:r>
              <a:rPr dirty="0" sz="4000" spc="-105">
                <a:latin typeface="Arial"/>
                <a:cs typeface="Arial"/>
              </a:rPr>
              <a:t>	</a:t>
            </a:r>
            <a:r>
              <a:rPr dirty="0" sz="4000" spc="-300">
                <a:latin typeface="Arial"/>
                <a:cs typeface="Arial"/>
              </a:rPr>
              <a:t>Vớ</a:t>
            </a:r>
            <a:r>
              <a:rPr dirty="0" sz="4000" spc="-100">
                <a:latin typeface="Arial"/>
                <a:cs typeface="Arial"/>
              </a:rPr>
              <a:t>i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">
                <a:latin typeface="Arial"/>
                <a:cs typeface="Arial"/>
              </a:rPr>
              <a:t>một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20">
                <a:latin typeface="Arial"/>
                <a:cs typeface="Arial"/>
              </a:rPr>
              <a:t>diod</a:t>
            </a:r>
            <a:r>
              <a:rPr dirty="0" sz="4000" spc="-130">
                <a:latin typeface="Arial"/>
                <a:cs typeface="Arial"/>
              </a:rPr>
              <a:t>e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0">
                <a:latin typeface="Arial"/>
                <a:cs typeface="Arial"/>
              </a:rPr>
              <a:t>thông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20">
                <a:latin typeface="Arial"/>
                <a:cs typeface="Arial"/>
              </a:rPr>
              <a:t>thườ</a:t>
            </a:r>
            <a:r>
              <a:rPr dirty="0" sz="4000" spc="-120">
                <a:latin typeface="Arial"/>
                <a:cs typeface="Arial"/>
              </a:rPr>
              <a:t>n</a:t>
            </a:r>
            <a:r>
              <a:rPr dirty="0" sz="4000" spc="-355">
                <a:latin typeface="Arial"/>
                <a:cs typeface="Arial"/>
              </a:rPr>
              <a:t>g</a:t>
            </a:r>
            <a:r>
              <a:rPr dirty="0" sz="4000" spc="-114">
                <a:latin typeface="Arial"/>
                <a:cs typeface="Arial"/>
              </a:rPr>
              <a:t>,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14">
                <a:latin typeface="Arial"/>
                <a:cs typeface="Arial"/>
              </a:rPr>
              <a:t>hiệ</a:t>
            </a:r>
            <a:r>
              <a:rPr dirty="0" sz="4000" spc="-135">
                <a:latin typeface="Arial"/>
                <a:cs typeface="Arial"/>
              </a:rPr>
              <a:t>u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40">
                <a:latin typeface="Arial"/>
                <a:cs typeface="Arial"/>
              </a:rPr>
              <a:t>thế  </a:t>
            </a:r>
            <a:r>
              <a:rPr dirty="0" sz="4000" spc="-260">
                <a:latin typeface="Arial"/>
                <a:cs typeface="Arial"/>
              </a:rPr>
              <a:t>ngưỡng </a:t>
            </a:r>
            <a:r>
              <a:rPr dirty="0" sz="4000" spc="-130">
                <a:latin typeface="Arial"/>
                <a:cs typeface="Arial"/>
              </a:rPr>
              <a:t>để </a:t>
            </a:r>
            <a:r>
              <a:rPr dirty="0" sz="4000" spc="-180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 </a:t>
            </a:r>
            <a:r>
              <a:rPr dirty="0" sz="4000" spc="-90">
                <a:latin typeface="Arial"/>
                <a:cs typeface="Arial"/>
              </a:rPr>
              <a:t>thuận </a:t>
            </a:r>
            <a:r>
              <a:rPr dirty="0" sz="4000" spc="-185">
                <a:latin typeface="Arial"/>
                <a:cs typeface="Arial"/>
              </a:rPr>
              <a:t>cho </a:t>
            </a:r>
            <a:r>
              <a:rPr dirty="0" sz="4000" spc="-120">
                <a:latin typeface="Arial"/>
                <a:cs typeface="Arial"/>
              </a:rPr>
              <a:t>diode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434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000" spc="-204">
                <a:latin typeface="Arial"/>
                <a:cs typeface="Arial"/>
              </a:rPr>
              <a:t>a. </a:t>
            </a:r>
            <a:r>
              <a:rPr dirty="0" sz="4000" spc="-370">
                <a:latin typeface="Arial"/>
                <a:cs typeface="Arial"/>
              </a:rPr>
              <a:t>Bé </a:t>
            </a:r>
            <a:r>
              <a:rPr dirty="0" sz="4000" spc="-195">
                <a:latin typeface="Arial"/>
                <a:cs typeface="Arial"/>
              </a:rPr>
              <a:t>hơn </a:t>
            </a:r>
            <a:r>
              <a:rPr dirty="0" sz="4000" spc="-170">
                <a:latin typeface="Arial"/>
                <a:cs typeface="Arial"/>
              </a:rPr>
              <a:t>0.3</a:t>
            </a:r>
            <a:r>
              <a:rPr dirty="0" sz="4000" spc="-315">
                <a:latin typeface="Arial"/>
                <a:cs typeface="Arial"/>
              </a:rPr>
              <a:t> </a:t>
            </a:r>
            <a:r>
              <a:rPr dirty="0" sz="4000" spc="-405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4000" spc="-120">
                <a:latin typeface="Arial"/>
                <a:cs typeface="Arial"/>
              </a:rPr>
              <a:t>b. </a:t>
            </a:r>
            <a:r>
              <a:rPr dirty="0" sz="4000" spc="-170">
                <a:latin typeface="Arial"/>
                <a:cs typeface="Arial"/>
              </a:rPr>
              <a:t>0.7</a:t>
            </a:r>
            <a:r>
              <a:rPr dirty="0" sz="4000" spc="-715">
                <a:latin typeface="Arial"/>
                <a:cs typeface="Arial"/>
              </a:rPr>
              <a:t> </a:t>
            </a:r>
            <a:r>
              <a:rPr dirty="0" sz="4000" spc="-400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 startAt="3"/>
              <a:tabLst>
                <a:tab pos="470534" algn="l"/>
              </a:tabLst>
            </a:pPr>
            <a:r>
              <a:rPr dirty="0" sz="4000" spc="-170">
                <a:latin typeface="Arial"/>
                <a:cs typeface="Arial"/>
              </a:rPr>
              <a:t>-14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5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 startAt="3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2620" cy="4563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dirty="0" sz="4000" spc="-150">
                <a:latin typeface="Arial"/>
                <a:cs typeface="Arial"/>
              </a:rPr>
              <a:t>8. </a:t>
            </a:r>
            <a:r>
              <a:rPr dirty="0" sz="4000" spc="-27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229">
                <a:latin typeface="Arial"/>
                <a:cs typeface="Arial"/>
              </a:rPr>
              <a:t>vào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 </a:t>
            </a:r>
            <a:r>
              <a:rPr dirty="0" sz="4000" spc="-125">
                <a:latin typeface="Arial"/>
                <a:cs typeface="Arial"/>
              </a:rPr>
              <a:t>lưu </a:t>
            </a:r>
            <a:r>
              <a:rPr dirty="0" sz="4000" spc="-190">
                <a:latin typeface="Arial"/>
                <a:cs typeface="Arial"/>
              </a:rPr>
              <a:t>bán chu</a:t>
            </a:r>
            <a:r>
              <a:rPr dirty="0" sz="4000" spc="165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kỳ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ts val="4560"/>
              </a:lnSpc>
            </a:pPr>
            <a:r>
              <a:rPr dirty="0" sz="4000" spc="-235">
                <a:latin typeface="Arial"/>
                <a:cs typeface="Arial"/>
              </a:rPr>
              <a:t>có </a:t>
            </a:r>
            <a:r>
              <a:rPr dirty="0" sz="4000" spc="-85">
                <a:latin typeface="Arial"/>
                <a:cs typeface="Arial"/>
              </a:rPr>
              <a:t>tần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50">
                <a:latin typeface="Arial"/>
                <a:cs typeface="Arial"/>
              </a:rPr>
              <a:t>là </a:t>
            </a:r>
            <a:r>
              <a:rPr dirty="0" sz="4000" spc="-270">
                <a:latin typeface="Arial"/>
                <a:cs typeface="Arial"/>
              </a:rPr>
              <a:t>60Hz, </a:t>
            </a:r>
            <a:r>
              <a:rPr dirty="0" sz="4000" spc="-85">
                <a:latin typeface="Arial"/>
                <a:cs typeface="Arial"/>
              </a:rPr>
              <a:t>tần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3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70">
                <a:latin typeface="Arial"/>
                <a:cs typeface="Arial"/>
              </a:rPr>
              <a:t>ra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685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30Hz</a:t>
            </a:r>
            <a:endParaRPr sz="4000">
              <a:latin typeface="Arial"/>
              <a:cs typeface="Arial"/>
            </a:endParaRPr>
          </a:p>
          <a:p>
            <a:pPr marL="727710" indent="-71501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728345" algn="l"/>
              </a:tabLst>
            </a:pPr>
            <a:r>
              <a:rPr dirty="0" sz="4000" spc="-310">
                <a:latin typeface="Arial"/>
                <a:cs typeface="Arial"/>
              </a:rPr>
              <a:t>60Hz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120Hz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20">
                <a:latin typeface="Arial"/>
                <a:cs typeface="Arial"/>
              </a:rPr>
              <a:t>d.</a:t>
            </a:r>
            <a:r>
              <a:rPr dirty="0" sz="4000" spc="-685">
                <a:latin typeface="Arial"/>
                <a:cs typeface="Arial"/>
              </a:rPr>
              <a:t> </a:t>
            </a:r>
            <a:r>
              <a:rPr dirty="0" sz="4000" spc="-305">
                <a:latin typeface="Arial"/>
                <a:cs typeface="Arial"/>
              </a:rPr>
              <a:t>2.45GHz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3032" y="3476116"/>
            <a:ext cx="605790" cy="488950"/>
          </a:xfrm>
          <a:custGeom>
            <a:avLst/>
            <a:gdLst/>
            <a:ahLst/>
            <a:cxnLst/>
            <a:rect l="l" t="t" r="r" b="b"/>
            <a:pathLst>
              <a:path w="605789" h="488950">
                <a:moveTo>
                  <a:pt x="98156" y="268351"/>
                </a:moveTo>
                <a:lnTo>
                  <a:pt x="49656" y="268351"/>
                </a:lnTo>
                <a:lnTo>
                  <a:pt x="152145" y="488950"/>
                </a:lnTo>
                <a:lnTo>
                  <a:pt x="176275" y="488950"/>
                </a:lnTo>
                <a:lnTo>
                  <a:pt x="195408" y="423545"/>
                </a:lnTo>
                <a:lnTo>
                  <a:pt x="168782" y="423545"/>
                </a:lnTo>
                <a:lnTo>
                  <a:pt x="98156" y="268351"/>
                </a:lnTo>
                <a:close/>
              </a:path>
              <a:path w="605789" h="488950">
                <a:moveTo>
                  <a:pt x="605536" y="0"/>
                </a:moveTo>
                <a:lnTo>
                  <a:pt x="325119" y="0"/>
                </a:lnTo>
                <a:lnTo>
                  <a:pt x="325119" y="508"/>
                </a:lnTo>
                <a:lnTo>
                  <a:pt x="291211" y="508"/>
                </a:lnTo>
                <a:lnTo>
                  <a:pt x="168782" y="423545"/>
                </a:lnTo>
                <a:lnTo>
                  <a:pt x="195408" y="423545"/>
                </a:lnTo>
                <a:lnTo>
                  <a:pt x="309499" y="33528"/>
                </a:lnTo>
                <a:lnTo>
                  <a:pt x="605536" y="33528"/>
                </a:lnTo>
                <a:lnTo>
                  <a:pt x="605536" y="0"/>
                </a:lnTo>
                <a:close/>
              </a:path>
              <a:path w="605789" h="488950">
                <a:moveTo>
                  <a:pt x="81280" y="231267"/>
                </a:moveTo>
                <a:lnTo>
                  <a:pt x="0" y="268351"/>
                </a:lnTo>
                <a:lnTo>
                  <a:pt x="7747" y="287020"/>
                </a:lnTo>
                <a:lnTo>
                  <a:pt x="49656" y="268351"/>
                </a:lnTo>
                <a:lnTo>
                  <a:pt x="98156" y="268351"/>
                </a:lnTo>
                <a:lnTo>
                  <a:pt x="81280" y="2312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6939" y="223215"/>
            <a:ext cx="10802620" cy="516572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just"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50">
                <a:latin typeface="Arial"/>
                <a:cs typeface="Arial"/>
              </a:rPr>
              <a:t>9. </a:t>
            </a:r>
            <a:r>
              <a:rPr dirty="0" sz="4000" spc="-275">
                <a:latin typeface="Arial"/>
                <a:cs typeface="Arial"/>
              </a:rPr>
              <a:t>Tín </a:t>
            </a:r>
            <a:r>
              <a:rPr dirty="0" sz="4000" spc="-114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210">
                <a:latin typeface="Arial"/>
                <a:cs typeface="Arial"/>
              </a:rPr>
              <a:t>vào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 </a:t>
            </a:r>
            <a:r>
              <a:rPr dirty="0" sz="4000" spc="-125">
                <a:latin typeface="Arial"/>
                <a:cs typeface="Arial"/>
              </a:rPr>
              <a:t>lưu </a:t>
            </a:r>
            <a:r>
              <a:rPr dirty="0" sz="4000" spc="-85">
                <a:latin typeface="Arial"/>
                <a:cs typeface="Arial"/>
              </a:rPr>
              <a:t>toàn </a:t>
            </a:r>
            <a:r>
              <a:rPr dirty="0" sz="4000" spc="-190">
                <a:latin typeface="Arial"/>
                <a:cs typeface="Arial"/>
              </a:rPr>
              <a:t>chu </a:t>
            </a:r>
            <a:r>
              <a:rPr dirty="0" sz="4000" spc="-195">
                <a:latin typeface="Arial"/>
                <a:cs typeface="Arial"/>
              </a:rPr>
              <a:t>kỳ 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125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</a:t>
            </a:r>
            <a:r>
              <a:rPr dirty="0" sz="4000" spc="-210">
                <a:latin typeface="Arial"/>
                <a:cs typeface="Arial"/>
              </a:rPr>
              <a:t>peak-peak </a:t>
            </a:r>
            <a:r>
              <a:rPr dirty="0" sz="4000" spc="-150">
                <a:latin typeface="Arial"/>
                <a:cs typeface="Arial"/>
              </a:rPr>
              <a:t>là </a:t>
            </a:r>
            <a:r>
              <a:rPr dirty="0" sz="4000" spc="-235">
                <a:latin typeface="Arial"/>
                <a:cs typeface="Arial"/>
              </a:rPr>
              <a:t>10V,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45">
                <a:latin typeface="Arial"/>
                <a:cs typeface="Arial"/>
              </a:rPr>
              <a:t>thế  </a:t>
            </a:r>
            <a:r>
              <a:rPr dirty="0" sz="4000" spc="-204">
                <a:latin typeface="Arial"/>
                <a:cs typeface="Arial"/>
              </a:rPr>
              <a:t>peak-peak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35">
                <a:latin typeface="Arial"/>
                <a:cs typeface="Arial"/>
              </a:rPr>
              <a:t>tín </a:t>
            </a:r>
            <a:r>
              <a:rPr dirty="0" sz="4000" spc="-120">
                <a:latin typeface="Arial"/>
                <a:cs typeface="Arial"/>
              </a:rPr>
              <a:t>hiệu </a:t>
            </a:r>
            <a:r>
              <a:rPr dirty="0" sz="4000" spc="-155">
                <a:latin typeface="Arial"/>
                <a:cs typeface="Arial"/>
              </a:rPr>
              <a:t>đầu </a:t>
            </a:r>
            <a:r>
              <a:rPr dirty="0" sz="4000" spc="-130">
                <a:latin typeface="Arial"/>
                <a:cs typeface="Arial"/>
              </a:rPr>
              <a:t>ra </a:t>
            </a:r>
            <a:r>
              <a:rPr dirty="0" sz="4000" spc="-340">
                <a:latin typeface="Arial"/>
                <a:cs typeface="Arial"/>
              </a:rPr>
              <a:t>sẽ</a:t>
            </a:r>
            <a:r>
              <a:rPr dirty="0" sz="4000" spc="-620">
                <a:latin typeface="Arial"/>
                <a:cs typeface="Arial"/>
              </a:rPr>
              <a:t> </a:t>
            </a:r>
            <a:r>
              <a:rPr dirty="0" sz="4000" spc="-110">
                <a:latin typeface="Arial"/>
                <a:cs typeface="Arial"/>
              </a:rPr>
              <a:t>là: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4000" spc="-210">
                <a:latin typeface="Arial"/>
                <a:cs typeface="Arial"/>
              </a:rPr>
              <a:t>a.</a:t>
            </a:r>
            <a:r>
              <a:rPr dirty="0" sz="4000" spc="-445">
                <a:latin typeface="Arial"/>
                <a:cs typeface="Arial"/>
              </a:rPr>
              <a:t> </a:t>
            </a:r>
            <a:r>
              <a:rPr dirty="0" sz="4000" spc="-270">
                <a:latin typeface="Arial"/>
                <a:cs typeface="Arial"/>
              </a:rPr>
              <a:t>10V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975"/>
              </a:spcBef>
            </a:pPr>
            <a:r>
              <a:rPr dirty="0" sz="4000" spc="-114">
                <a:latin typeface="Arial"/>
                <a:cs typeface="Arial"/>
              </a:rPr>
              <a:t>b. </a:t>
            </a:r>
            <a:r>
              <a:rPr dirty="0" sz="4000" spc="-200">
                <a:latin typeface="Arial"/>
                <a:cs typeface="Arial"/>
              </a:rPr>
              <a:t>5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 spc="-150" i="1">
                <a:latin typeface="Trebuchet MS"/>
                <a:cs typeface="Trebuchet MS"/>
              </a:rPr>
              <a:t>2</a:t>
            </a:r>
            <a:r>
              <a:rPr dirty="0" sz="4000" spc="-150">
                <a:latin typeface="Arial"/>
                <a:cs typeface="Arial"/>
              </a:rPr>
              <a:t>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480"/>
              </a:spcBef>
            </a:pPr>
            <a:r>
              <a:rPr dirty="0" sz="4000" spc="-210">
                <a:latin typeface="Arial"/>
                <a:cs typeface="Arial"/>
              </a:rPr>
              <a:t>c.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300">
                <a:latin typeface="Arial"/>
                <a:cs typeface="Arial"/>
              </a:rPr>
              <a:t>5V</a:t>
            </a:r>
            <a:endParaRPr sz="4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30"/>
              </a:spcBef>
            </a:pPr>
            <a:r>
              <a:rPr dirty="0" sz="4000" spc="-114">
                <a:latin typeface="Arial"/>
                <a:cs typeface="Arial"/>
              </a:rPr>
              <a:t>d.</a:t>
            </a:r>
            <a:r>
              <a:rPr dirty="0" sz="4000" spc="-625">
                <a:latin typeface="Arial"/>
                <a:cs typeface="Arial"/>
              </a:rPr>
              <a:t> </a:t>
            </a:r>
            <a:r>
              <a:rPr dirty="0" sz="4000" spc="-229">
                <a:latin typeface="Arial"/>
                <a:cs typeface="Arial"/>
              </a:rPr>
              <a:t>0.7V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953262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10. </a:t>
            </a:r>
            <a:r>
              <a:rPr dirty="0" sz="4000" spc="-245">
                <a:latin typeface="Arial"/>
                <a:cs typeface="Arial"/>
              </a:rPr>
              <a:t>Thông </a:t>
            </a:r>
            <a:r>
              <a:rPr dirty="0" sz="4000" spc="-145">
                <a:latin typeface="Arial"/>
                <a:cs typeface="Arial"/>
              </a:rPr>
              <a:t>thường, </a:t>
            </a:r>
            <a:r>
              <a:rPr dirty="0" sz="4000" spc="-120">
                <a:latin typeface="Arial"/>
                <a:cs typeface="Arial"/>
              </a:rPr>
              <a:t>diode </a:t>
            </a:r>
            <a:r>
              <a:rPr dirty="0" sz="4000" spc="-235">
                <a:latin typeface="Arial"/>
                <a:cs typeface="Arial"/>
              </a:rPr>
              <a:t>Zener </a:t>
            </a:r>
            <a:r>
              <a:rPr dirty="0" sz="4000" spc="-9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</a:t>
            </a:r>
            <a:r>
              <a:rPr dirty="0" sz="4000" spc="-480">
                <a:latin typeface="Arial"/>
                <a:cs typeface="Arial"/>
              </a:rPr>
              <a:t> </a:t>
            </a:r>
            <a:r>
              <a:rPr dirty="0" sz="4000" spc="-85">
                <a:latin typeface="Arial"/>
                <a:cs typeface="Arial"/>
              </a:rPr>
              <a:t>khi: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 spc="-95">
                <a:latin typeface="Arial"/>
                <a:cs typeface="Arial"/>
              </a:rPr>
              <a:t>thuận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nghịch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145">
                <a:latin typeface="Arial"/>
                <a:cs typeface="Arial"/>
              </a:rPr>
              <a:t>đánh</a:t>
            </a:r>
            <a:r>
              <a:rPr dirty="0" sz="4000" spc="-380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thủng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130">
                <a:latin typeface="Arial"/>
                <a:cs typeface="Arial"/>
              </a:rPr>
              <a:t>b </a:t>
            </a:r>
            <a:r>
              <a:rPr dirty="0" sz="4000" spc="-290">
                <a:latin typeface="Arial"/>
                <a:cs typeface="Arial"/>
              </a:rPr>
              <a:t>và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315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7787"/>
            <a:ext cx="10800080" cy="45586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290"/>
              </a:lnSpc>
              <a:spcBef>
                <a:spcPts val="665"/>
              </a:spcBef>
            </a:pPr>
            <a:r>
              <a:rPr dirty="0" sz="4000" spc="-170">
                <a:latin typeface="Arial"/>
                <a:cs typeface="Arial"/>
              </a:rPr>
              <a:t>11.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65">
                <a:latin typeface="Arial"/>
                <a:cs typeface="Arial"/>
              </a:rPr>
              <a:t>ta </a:t>
            </a:r>
            <a:r>
              <a:rPr dirty="0" sz="4000" spc="-155">
                <a:latin typeface="Arial"/>
                <a:cs typeface="Arial"/>
              </a:rPr>
              <a:t>tăng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75">
                <a:latin typeface="Arial"/>
                <a:cs typeface="Arial"/>
              </a:rPr>
              <a:t>số </a:t>
            </a:r>
            <a:r>
              <a:rPr dirty="0" sz="4000" spc="-5">
                <a:latin typeface="Symbol"/>
                <a:cs typeface="Symbol"/>
              </a:rPr>
              <a:t>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10">
                <a:latin typeface="Arial"/>
                <a:cs typeface="Arial"/>
              </a:rPr>
              <a:t>một </a:t>
            </a:r>
            <a:r>
              <a:rPr dirty="0" sz="4000" spc="-100">
                <a:latin typeface="Arial"/>
                <a:cs typeface="Arial"/>
              </a:rPr>
              <a:t>transistor </a:t>
            </a:r>
            <a:r>
              <a:rPr dirty="0" sz="4000" spc="-560">
                <a:latin typeface="Arial"/>
                <a:cs typeface="Arial"/>
              </a:rPr>
              <a:t>BJT, </a:t>
            </a:r>
            <a:r>
              <a:rPr dirty="0" sz="4000" spc="-180">
                <a:latin typeface="Arial"/>
                <a:cs typeface="Arial"/>
              </a:rPr>
              <a:t>dòng  </a:t>
            </a:r>
            <a:r>
              <a:rPr dirty="0" sz="4000" spc="-100">
                <a:latin typeface="Arial"/>
                <a:cs typeface="Arial"/>
              </a:rPr>
              <a:t>collector</a:t>
            </a:r>
            <a:r>
              <a:rPr dirty="0" sz="4000" spc="-21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Tăng </a:t>
            </a:r>
            <a:r>
              <a:rPr dirty="0" sz="4000" spc="-35">
                <a:latin typeface="Arial"/>
                <a:cs typeface="Arial"/>
              </a:rPr>
              <a:t>rồi </a:t>
            </a:r>
            <a:r>
              <a:rPr dirty="0" sz="4000" spc="-180">
                <a:latin typeface="Arial"/>
                <a:cs typeface="Arial"/>
              </a:rPr>
              <a:t>không</a:t>
            </a:r>
            <a:r>
              <a:rPr dirty="0" sz="4000" spc="-19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7787"/>
            <a:ext cx="10800080" cy="45586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290"/>
              </a:lnSpc>
              <a:spcBef>
                <a:spcPts val="665"/>
              </a:spcBef>
            </a:pPr>
            <a:r>
              <a:rPr dirty="0" sz="4000" spc="-170">
                <a:latin typeface="Arial"/>
                <a:cs typeface="Arial"/>
              </a:rPr>
              <a:t>12.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45">
                <a:latin typeface="Arial"/>
                <a:cs typeface="Arial"/>
              </a:rPr>
              <a:t>ta </a:t>
            </a:r>
            <a:r>
              <a:rPr dirty="0" sz="4000" spc="-145">
                <a:latin typeface="Arial"/>
                <a:cs typeface="Arial"/>
              </a:rPr>
              <a:t>tăng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75">
                <a:latin typeface="Arial"/>
                <a:cs typeface="Arial"/>
              </a:rPr>
              <a:t>số </a:t>
            </a:r>
            <a:r>
              <a:rPr dirty="0" sz="4000" spc="-5">
                <a:latin typeface="Symbol"/>
                <a:cs typeface="Symbol"/>
              </a:rPr>
              <a:t>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10">
                <a:latin typeface="Arial"/>
                <a:cs typeface="Arial"/>
              </a:rPr>
              <a:t>một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459">
                <a:latin typeface="Arial"/>
                <a:cs typeface="Arial"/>
              </a:rPr>
              <a:t>BJT,</a:t>
            </a:r>
            <a:r>
              <a:rPr dirty="0" sz="4000" spc="-665">
                <a:latin typeface="Arial"/>
                <a:cs typeface="Arial"/>
              </a:rPr>
              <a:t> </a:t>
            </a:r>
            <a:r>
              <a:rPr dirty="0" sz="4000" spc="-180">
                <a:latin typeface="Arial"/>
                <a:cs typeface="Arial"/>
              </a:rPr>
              <a:t>dòng  </a:t>
            </a:r>
            <a:r>
              <a:rPr dirty="0" sz="4000" spc="-85">
                <a:latin typeface="Arial"/>
                <a:cs typeface="Arial"/>
              </a:rPr>
              <a:t>collector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 </a:t>
            </a:r>
            <a:r>
              <a:rPr dirty="0" sz="4000" spc="-10">
                <a:latin typeface="Arial"/>
                <a:cs typeface="Arial"/>
              </a:rPr>
              <a:t>rồi </a:t>
            </a:r>
            <a:r>
              <a:rPr dirty="0" sz="4000" spc="-180">
                <a:latin typeface="Arial"/>
                <a:cs typeface="Arial"/>
              </a:rPr>
              <a:t>không</a:t>
            </a:r>
            <a:r>
              <a:rPr dirty="0" sz="4000" spc="-310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325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13. </a:t>
            </a:r>
            <a:r>
              <a:rPr dirty="0" sz="4000" spc="-225">
                <a:latin typeface="Arial"/>
                <a:cs typeface="Arial"/>
              </a:rPr>
              <a:t>Nếu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135">
                <a:latin typeface="Arial"/>
                <a:cs typeface="Arial"/>
              </a:rPr>
              <a:t>chỉ </a:t>
            </a:r>
            <a:r>
              <a:rPr dirty="0" sz="4000" spc="-85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315">
                <a:latin typeface="Arial"/>
                <a:cs typeface="Arial"/>
              </a:rPr>
              <a:t>ở </a:t>
            </a:r>
            <a:r>
              <a:rPr dirty="0" sz="4000" spc="-215">
                <a:latin typeface="Arial"/>
                <a:cs typeface="Arial"/>
              </a:rPr>
              <a:t>hay </a:t>
            </a:r>
            <a:r>
              <a:rPr dirty="0" sz="4000" spc="-150">
                <a:latin typeface="Arial"/>
                <a:cs typeface="Arial"/>
              </a:rPr>
              <a:t>mode, </a:t>
            </a:r>
            <a:r>
              <a:rPr dirty="0" sz="4000" spc="-20">
                <a:latin typeface="Arial"/>
                <a:cs typeface="Arial"/>
              </a:rPr>
              <a:t>cutoff  </a:t>
            </a:r>
            <a:r>
              <a:rPr dirty="0" sz="4000" spc="-260">
                <a:latin typeface="Arial"/>
                <a:cs typeface="Arial"/>
              </a:rPr>
              <a:t>và </a:t>
            </a:r>
            <a:r>
              <a:rPr dirty="0" sz="4000" spc="-95">
                <a:latin typeface="Arial"/>
                <a:cs typeface="Arial"/>
              </a:rPr>
              <a:t>saturation, </a:t>
            </a:r>
            <a:r>
              <a:rPr dirty="0" sz="4000" spc="-85">
                <a:latin typeface="Arial"/>
                <a:cs typeface="Arial"/>
              </a:rPr>
              <a:t>transistor </a:t>
            </a:r>
            <a:r>
              <a:rPr dirty="0" sz="4000" spc="-70">
                <a:latin typeface="Arial"/>
                <a:cs typeface="Arial"/>
              </a:rPr>
              <a:t>đó </a:t>
            </a:r>
            <a:r>
              <a:rPr dirty="0" sz="4000" spc="-340">
                <a:latin typeface="Arial"/>
                <a:cs typeface="Arial"/>
              </a:rPr>
              <a:t>sẽ </a:t>
            </a:r>
            <a:r>
              <a:rPr dirty="0" sz="4000" spc="-185">
                <a:latin typeface="Arial"/>
                <a:cs typeface="Arial"/>
              </a:rPr>
              <a:t>giống</a:t>
            </a:r>
            <a:r>
              <a:rPr dirty="0" sz="4000" spc="-390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như: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Tụ</a:t>
            </a:r>
            <a:r>
              <a:rPr dirty="0" sz="4000" spc="-220">
                <a:latin typeface="Arial"/>
                <a:cs typeface="Arial"/>
              </a:rPr>
              <a:t> </a:t>
            </a:r>
            <a:r>
              <a:rPr dirty="0" sz="4000" spc="-90">
                <a:latin typeface="Arial"/>
                <a:cs typeface="Arial"/>
              </a:rPr>
              <a:t>điện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Mạch </a:t>
            </a:r>
            <a:r>
              <a:rPr dirty="0" sz="4000" spc="-185">
                <a:latin typeface="Arial"/>
                <a:cs typeface="Arial"/>
              </a:rPr>
              <a:t>khuếch</a:t>
            </a:r>
            <a:r>
              <a:rPr dirty="0" sz="4000" spc="-285">
                <a:latin typeface="Arial"/>
                <a:cs typeface="Arial"/>
              </a:rPr>
              <a:t> </a:t>
            </a:r>
            <a:r>
              <a:rPr dirty="0" sz="4000" spc="-100">
                <a:latin typeface="Arial"/>
                <a:cs typeface="Arial"/>
              </a:rPr>
              <a:t>đại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40">
                <a:latin typeface="Arial"/>
                <a:cs typeface="Arial"/>
              </a:rPr>
              <a:t>Công</a:t>
            </a:r>
            <a:r>
              <a:rPr dirty="0" sz="4000" spc="-210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tắc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165">
                <a:latin typeface="Arial"/>
                <a:cs typeface="Arial"/>
              </a:rPr>
              <a:t>Mạch </a:t>
            </a:r>
            <a:r>
              <a:rPr dirty="0" sz="4000" spc="-135">
                <a:latin typeface="Arial"/>
                <a:cs typeface="Arial"/>
              </a:rPr>
              <a:t>chỉnh</a:t>
            </a:r>
            <a:r>
              <a:rPr dirty="0" sz="4000" spc="-280">
                <a:latin typeface="Arial"/>
                <a:cs typeface="Arial"/>
              </a:rPr>
              <a:t> </a:t>
            </a:r>
            <a:r>
              <a:rPr dirty="0" sz="4000" spc="-125">
                <a:latin typeface="Arial"/>
                <a:cs typeface="Arial"/>
              </a:rPr>
              <a:t>lưu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350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2279015" algn="l"/>
                <a:tab pos="3622040" algn="l"/>
                <a:tab pos="8039100" algn="l"/>
              </a:tabLst>
            </a:pPr>
            <a:r>
              <a:rPr dirty="0" sz="4000" spc="-170">
                <a:latin typeface="Arial"/>
                <a:cs typeface="Arial"/>
              </a:rPr>
              <a:t>14.</a:t>
            </a:r>
            <a:r>
              <a:rPr dirty="0" sz="4000" spc="565">
                <a:latin typeface="Arial"/>
                <a:cs typeface="Arial"/>
              </a:rPr>
              <a:t> </a:t>
            </a:r>
            <a:r>
              <a:rPr dirty="0" sz="4000" spc="-210">
                <a:latin typeface="Arial"/>
                <a:cs typeface="Arial"/>
              </a:rPr>
              <a:t>Trong	</a:t>
            </a:r>
            <a:r>
              <a:rPr dirty="0" sz="4000" spc="-225">
                <a:latin typeface="Arial"/>
                <a:cs typeface="Arial"/>
              </a:rPr>
              <a:t>mạch	</a:t>
            </a:r>
            <a:r>
              <a:rPr dirty="0" sz="4000" spc="-185">
                <a:latin typeface="Arial"/>
                <a:cs typeface="Arial"/>
              </a:rPr>
              <a:t>khuếch  </a:t>
            </a:r>
            <a:r>
              <a:rPr dirty="0" sz="4000" spc="-100">
                <a:latin typeface="Arial"/>
                <a:cs typeface="Arial"/>
              </a:rPr>
              <a:t>đại</a:t>
            </a:r>
            <a:r>
              <a:rPr dirty="0" sz="4000" spc="355">
                <a:latin typeface="Arial"/>
                <a:cs typeface="Arial"/>
              </a:rPr>
              <a:t> </a:t>
            </a:r>
            <a:r>
              <a:rPr dirty="0" sz="4000" spc="-530">
                <a:latin typeface="Arial"/>
                <a:cs typeface="Arial"/>
              </a:rPr>
              <a:t>CE, 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-165">
                <a:latin typeface="Arial"/>
                <a:cs typeface="Arial"/>
              </a:rPr>
              <a:t>nếu	</a:t>
            </a:r>
            <a:r>
              <a:rPr dirty="0" sz="4000" spc="50">
                <a:latin typeface="Arial"/>
                <a:cs typeface="Arial"/>
              </a:rPr>
              <a:t>tụ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254">
                <a:latin typeface="Arial"/>
                <a:cs typeface="Arial"/>
              </a:rPr>
              <a:t>song  </a:t>
            </a:r>
            <a:r>
              <a:rPr dirty="0" sz="4000" spc="-260">
                <a:latin typeface="Arial"/>
                <a:cs typeface="Arial"/>
              </a:rPr>
              <a:t>song </a:t>
            </a:r>
            <a:r>
              <a:rPr dirty="0" sz="4000" spc="-160">
                <a:latin typeface="Arial"/>
                <a:cs typeface="Arial"/>
              </a:rPr>
              <a:t>với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10">
                <a:latin typeface="Arial"/>
                <a:cs typeface="Arial"/>
              </a:rPr>
              <a:t>trở </a:t>
            </a:r>
            <a:r>
              <a:rPr dirty="0" sz="4000" spc="-595">
                <a:latin typeface="Arial"/>
                <a:cs typeface="Arial"/>
              </a:rPr>
              <a:t>R</a:t>
            </a:r>
            <a:r>
              <a:rPr dirty="0" baseline="-20964" sz="3975" spc="-892">
                <a:latin typeface="Arial"/>
                <a:cs typeface="Arial"/>
              </a:rPr>
              <a:t>E </a:t>
            </a:r>
            <a:r>
              <a:rPr dirty="0" sz="4000" spc="-50">
                <a:latin typeface="Arial"/>
                <a:cs typeface="Arial"/>
              </a:rPr>
              <a:t>bị </a:t>
            </a:r>
            <a:r>
              <a:rPr dirty="0" sz="4000" spc="-125">
                <a:latin typeface="Arial"/>
                <a:cs typeface="Arial"/>
              </a:rPr>
              <a:t>bỏ </a:t>
            </a:r>
            <a:r>
              <a:rPr dirty="0" sz="4000" spc="-40">
                <a:latin typeface="Arial"/>
                <a:cs typeface="Arial"/>
              </a:rPr>
              <a:t>đi,</a:t>
            </a:r>
            <a:r>
              <a:rPr dirty="0" sz="4000" spc="-840">
                <a:latin typeface="Arial"/>
                <a:cs typeface="Arial"/>
              </a:rPr>
              <a:t>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5">
                <a:latin typeface="Arial"/>
                <a:cs typeface="Arial"/>
              </a:rPr>
              <a:t>đại </a:t>
            </a:r>
            <a:r>
              <a:rPr dirty="0" sz="4000" spc="-220">
                <a:latin typeface="Arial"/>
                <a:cs typeface="Arial"/>
              </a:rPr>
              <a:t>áp </a:t>
            </a:r>
            <a:r>
              <a:rPr dirty="0" sz="4000" spc="-240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198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15. </a:t>
            </a:r>
            <a:r>
              <a:rPr dirty="0" sz="4000" spc="-210">
                <a:latin typeface="Arial"/>
                <a:cs typeface="Arial"/>
              </a:rPr>
              <a:t>Trong </a:t>
            </a:r>
            <a:r>
              <a:rPr dirty="0" sz="4000" spc="-225">
                <a:latin typeface="Arial"/>
                <a:cs typeface="Arial"/>
              </a:rPr>
              <a:t>mạch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0">
                <a:latin typeface="Arial"/>
                <a:cs typeface="Arial"/>
              </a:rPr>
              <a:t>đại </a:t>
            </a:r>
            <a:r>
              <a:rPr dirty="0" sz="4000" spc="-545">
                <a:latin typeface="Arial"/>
                <a:cs typeface="Arial"/>
              </a:rPr>
              <a:t>CC, </a:t>
            </a:r>
            <a:r>
              <a:rPr dirty="0" sz="4000" spc="-165">
                <a:latin typeface="Arial"/>
                <a:cs typeface="Arial"/>
              </a:rPr>
              <a:t>nếu </a:t>
            </a:r>
            <a:r>
              <a:rPr dirty="0" sz="4000" spc="-40">
                <a:latin typeface="Arial"/>
                <a:cs typeface="Arial"/>
              </a:rPr>
              <a:t>ta </a:t>
            </a:r>
            <a:r>
              <a:rPr dirty="0" sz="4000" spc="-145">
                <a:latin typeface="Arial"/>
                <a:cs typeface="Arial"/>
              </a:rPr>
              <a:t>tăng </a:t>
            </a:r>
            <a:r>
              <a:rPr dirty="0" sz="4000" spc="-210">
                <a:latin typeface="Arial"/>
                <a:cs typeface="Arial"/>
              </a:rPr>
              <a:t>giá </a:t>
            </a:r>
            <a:r>
              <a:rPr dirty="0" sz="4000" spc="105">
                <a:latin typeface="Arial"/>
                <a:cs typeface="Arial"/>
              </a:rPr>
              <a:t>trị 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595">
                <a:latin typeface="Arial"/>
                <a:cs typeface="Arial"/>
              </a:rPr>
              <a:t>R</a:t>
            </a:r>
            <a:r>
              <a:rPr dirty="0" baseline="-20964" sz="3975" spc="-892">
                <a:latin typeface="Arial"/>
                <a:cs typeface="Arial"/>
              </a:rPr>
              <a:t>E</a:t>
            </a:r>
            <a:r>
              <a:rPr dirty="0" baseline="-20964" sz="3975" spc="-682">
                <a:latin typeface="Arial"/>
                <a:cs typeface="Arial"/>
              </a:rPr>
              <a:t> </a:t>
            </a:r>
            <a:r>
              <a:rPr dirty="0" sz="4000" spc="-114">
                <a:latin typeface="Arial"/>
                <a:cs typeface="Arial"/>
              </a:rPr>
              <a:t>lên </a:t>
            </a:r>
            <a:r>
              <a:rPr dirty="0" sz="4000" spc="-200">
                <a:latin typeface="Arial"/>
                <a:cs typeface="Arial"/>
              </a:rPr>
              <a:t>10 </a:t>
            </a:r>
            <a:r>
              <a:rPr dirty="0" sz="4000" spc="-135">
                <a:latin typeface="Arial"/>
                <a:cs typeface="Arial"/>
              </a:rPr>
              <a:t>lần, </a:t>
            </a:r>
            <a:r>
              <a:rPr dirty="0" sz="4000" spc="-185">
                <a:latin typeface="Arial"/>
                <a:cs typeface="Arial"/>
              </a:rPr>
              <a:t>hệ </a:t>
            </a:r>
            <a:r>
              <a:rPr dirty="0" sz="4000" spc="-280">
                <a:latin typeface="Arial"/>
                <a:cs typeface="Arial"/>
              </a:rPr>
              <a:t>số </a:t>
            </a:r>
            <a:r>
              <a:rPr dirty="0" sz="4000" spc="-185">
                <a:latin typeface="Arial"/>
                <a:cs typeface="Arial"/>
              </a:rPr>
              <a:t>khuếch </a:t>
            </a:r>
            <a:r>
              <a:rPr dirty="0" sz="4000" spc="-105">
                <a:latin typeface="Arial"/>
                <a:cs typeface="Arial"/>
              </a:rPr>
              <a:t>đại </a:t>
            </a:r>
            <a:r>
              <a:rPr dirty="0" sz="4000" spc="-220">
                <a:latin typeface="Arial"/>
                <a:cs typeface="Arial"/>
              </a:rPr>
              <a:t>áp</a:t>
            </a:r>
            <a:r>
              <a:rPr dirty="0" sz="4000" spc="-590">
                <a:latin typeface="Arial"/>
                <a:cs typeface="Arial"/>
              </a:rPr>
              <a:t> </a:t>
            </a:r>
            <a:r>
              <a:rPr dirty="0" sz="4000" spc="-245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325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254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265">
                <a:latin typeface="Arial"/>
                <a:cs typeface="Arial"/>
              </a:rPr>
              <a:t>Không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40">
                <a:latin typeface="Arial"/>
                <a:cs typeface="Arial"/>
              </a:rPr>
              <a:t>đổi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0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310">
                <a:latin typeface="Arial"/>
                <a:cs typeface="Arial"/>
              </a:rPr>
              <a:t>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526780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16. </a:t>
            </a:r>
            <a:r>
              <a:rPr dirty="0" sz="4000" spc="-290">
                <a:latin typeface="Arial"/>
                <a:cs typeface="Arial"/>
              </a:rPr>
              <a:t>Kênh </a:t>
            </a:r>
            <a:r>
              <a:rPr dirty="0" sz="4000" spc="-190">
                <a:latin typeface="Arial"/>
                <a:cs typeface="Arial"/>
              </a:rPr>
              <a:t>dẫn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640">
                <a:latin typeface="Arial"/>
                <a:cs typeface="Arial"/>
              </a:rPr>
              <a:t>JFET </a:t>
            </a:r>
            <a:r>
              <a:rPr dirty="0" sz="4000" spc="-229">
                <a:latin typeface="Arial"/>
                <a:cs typeface="Arial"/>
              </a:rPr>
              <a:t>được </a:t>
            </a:r>
            <a:r>
              <a:rPr dirty="0" sz="4000" spc="-120">
                <a:latin typeface="Arial"/>
                <a:cs typeface="Arial"/>
              </a:rPr>
              <a:t>biểu diễn</a:t>
            </a:r>
            <a:r>
              <a:rPr dirty="0" sz="4000" spc="-320">
                <a:latin typeface="Arial"/>
                <a:cs typeface="Arial"/>
              </a:rPr>
              <a:t> </a:t>
            </a:r>
            <a:r>
              <a:rPr dirty="0" sz="4000" spc="-30">
                <a:latin typeface="Arial"/>
                <a:cs typeface="Arial"/>
              </a:rPr>
              <a:t>từ: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04">
                <a:latin typeface="Arial"/>
                <a:cs typeface="Arial"/>
              </a:rPr>
              <a:t>gate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45">
                <a:latin typeface="Arial"/>
                <a:cs typeface="Arial"/>
              </a:rPr>
              <a:t> </a:t>
            </a:r>
            <a:r>
              <a:rPr dirty="0" sz="4000" spc="-114">
                <a:latin typeface="Arial"/>
                <a:cs typeface="Arial"/>
              </a:rPr>
              <a:t>drain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10">
                <a:latin typeface="Arial"/>
                <a:cs typeface="Arial"/>
              </a:rPr>
              <a:t>source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720">
                <a:latin typeface="Arial"/>
                <a:cs typeface="Arial"/>
              </a:rPr>
              <a:t> </a:t>
            </a:r>
            <a:r>
              <a:rPr dirty="0" sz="4000" spc="-204">
                <a:latin typeface="Arial"/>
                <a:cs typeface="Arial"/>
              </a:rPr>
              <a:t>gate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114">
                <a:latin typeface="Arial"/>
                <a:cs typeface="Arial"/>
              </a:rPr>
              <a:t>drain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825">
                <a:latin typeface="Arial"/>
                <a:cs typeface="Arial"/>
              </a:rPr>
              <a:t> </a:t>
            </a:r>
            <a:r>
              <a:rPr dirty="0" sz="4000" spc="-210">
                <a:latin typeface="Arial"/>
                <a:cs typeface="Arial"/>
              </a:rPr>
              <a:t>source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50">
                <a:latin typeface="Arial"/>
                <a:cs typeface="Arial"/>
              </a:rPr>
              <a:t>Cực </a:t>
            </a:r>
            <a:r>
              <a:rPr dirty="0" sz="4000" spc="-235">
                <a:latin typeface="Arial"/>
                <a:cs typeface="Arial"/>
              </a:rPr>
              <a:t>vào </a:t>
            </a:r>
            <a:r>
              <a:rPr dirty="0" sz="4000" spc="-130">
                <a:latin typeface="Arial"/>
                <a:cs typeface="Arial"/>
              </a:rPr>
              <a:t>đến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675">
                <a:latin typeface="Arial"/>
                <a:cs typeface="Arial"/>
              </a:rPr>
              <a:t> </a:t>
            </a:r>
            <a:r>
              <a:rPr dirty="0" sz="4000" spc="-215">
                <a:latin typeface="Arial"/>
                <a:cs typeface="Arial"/>
              </a:rPr>
              <a:t>ra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9894" y="223215"/>
            <a:ext cx="405511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345">
                <a:latin typeface="Arial"/>
                <a:cs typeface="Arial"/>
              </a:rPr>
              <a:t>= </a:t>
            </a:r>
            <a:r>
              <a:rPr dirty="0" sz="4000" spc="-240">
                <a:latin typeface="Arial"/>
                <a:cs typeface="Arial"/>
              </a:rPr>
              <a:t>0V, </a:t>
            </a:r>
            <a:r>
              <a:rPr dirty="0" sz="4000" spc="-185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 spc="-190">
                <a:latin typeface="Arial"/>
                <a:cs typeface="Arial"/>
              </a:rPr>
              <a:t>I</a:t>
            </a:r>
            <a:r>
              <a:rPr dirty="0" baseline="-20964" sz="3975" spc="-284">
                <a:latin typeface="Arial"/>
                <a:cs typeface="Arial"/>
              </a:rPr>
              <a:t>D</a:t>
            </a:r>
            <a:endParaRPr baseline="-20964" sz="3975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240905">
              <a:lnSpc>
                <a:spcPct val="100000"/>
              </a:lnSpc>
              <a:spcBef>
                <a:spcPts val="95"/>
              </a:spcBef>
            </a:pPr>
            <a:r>
              <a:rPr dirty="0" spc="-185"/>
              <a:t>không </a:t>
            </a:r>
            <a:r>
              <a:rPr dirty="0" spc="-40"/>
              <a:t>đổi </a:t>
            </a:r>
            <a:r>
              <a:rPr dirty="0" spc="-95"/>
              <a:t>khi</a:t>
            </a:r>
            <a:r>
              <a:rPr dirty="0" spc="-405"/>
              <a:t> </a:t>
            </a:r>
            <a:r>
              <a:rPr dirty="0" spc="-555"/>
              <a:t>VDS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223215"/>
            <a:ext cx="2375535" cy="118364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17. </a:t>
            </a: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450">
                <a:latin typeface="Arial"/>
                <a:cs typeface="Arial"/>
              </a:rPr>
              <a:t>V</a:t>
            </a:r>
            <a:r>
              <a:rPr dirty="0" baseline="-20964" sz="3975" spc="-675">
                <a:latin typeface="Arial"/>
                <a:cs typeface="Arial"/>
              </a:rPr>
              <a:t>GS </a:t>
            </a:r>
            <a:r>
              <a:rPr dirty="0" sz="2650" spc="-450">
                <a:latin typeface="Arial"/>
                <a:cs typeface="Arial"/>
              </a:rPr>
              <a:t> </a:t>
            </a:r>
            <a:r>
              <a:rPr dirty="0" sz="4000" spc="-190">
                <a:latin typeface="Arial"/>
                <a:cs typeface="Arial"/>
              </a:rPr>
              <a:t>bằng: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058785"/>
            <a:ext cx="1525905" cy="285242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15"/>
              </a:spcBef>
              <a:buAutoNum type="alphaLcPeriod"/>
              <a:tabLst>
                <a:tab pos="470534" algn="l"/>
              </a:tabLst>
            </a:pPr>
            <a:r>
              <a:rPr dirty="0" sz="4000" spc="-300">
                <a:latin typeface="Arial"/>
                <a:cs typeface="Arial"/>
              </a:rPr>
              <a:t>0V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320">
                <a:latin typeface="Arial"/>
                <a:cs typeface="Arial"/>
              </a:rPr>
              <a:t>V</a:t>
            </a:r>
            <a:r>
              <a:rPr dirty="0" baseline="-20964" sz="3975" spc="-480">
                <a:latin typeface="Arial"/>
                <a:cs typeface="Arial"/>
              </a:rPr>
              <a:t>DD</a:t>
            </a:r>
            <a:endParaRPr baseline="-20964" sz="397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00">
                <a:latin typeface="Arial"/>
                <a:cs typeface="Arial"/>
              </a:rPr>
              <a:t>V</a:t>
            </a:r>
            <a:r>
              <a:rPr dirty="0" baseline="-20964" sz="3975" spc="-600">
                <a:latin typeface="Arial"/>
                <a:cs typeface="Arial"/>
              </a:rPr>
              <a:t>P</a:t>
            </a:r>
            <a:endParaRPr baseline="-20964" sz="397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515"/>
              </a:spcBef>
              <a:buAutoNum type="alphaLcPeriod"/>
              <a:tabLst>
                <a:tab pos="470534" algn="l"/>
              </a:tabLst>
            </a:pPr>
            <a:r>
              <a:rPr dirty="0" baseline="13888" sz="6000" spc="-607">
                <a:latin typeface="Arial"/>
                <a:cs typeface="Arial"/>
              </a:rPr>
              <a:t>V</a:t>
            </a:r>
            <a:r>
              <a:rPr dirty="0" sz="2650" spc="-170">
                <a:latin typeface="Arial"/>
                <a:cs typeface="Arial"/>
              </a:rPr>
              <a:t>GSoff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10803255" cy="456311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170">
                <a:latin typeface="Arial"/>
                <a:cs typeface="Arial"/>
              </a:rPr>
              <a:t>18. </a:t>
            </a:r>
            <a:r>
              <a:rPr dirty="0" sz="4000" spc="-229">
                <a:latin typeface="Arial"/>
                <a:cs typeface="Arial"/>
              </a:rPr>
              <a:t>Khi </a:t>
            </a:r>
            <a:r>
              <a:rPr dirty="0" sz="4000" spc="-640">
                <a:latin typeface="Arial"/>
                <a:cs typeface="Arial"/>
              </a:rPr>
              <a:t>JFET </a:t>
            </a:r>
            <a:r>
              <a:rPr dirty="0" sz="4000" spc="-90">
                <a:latin typeface="Arial"/>
                <a:cs typeface="Arial"/>
              </a:rPr>
              <a:t>hoạt </a:t>
            </a:r>
            <a:r>
              <a:rPr dirty="0" sz="4000" spc="-155">
                <a:latin typeface="Arial"/>
                <a:cs typeface="Arial"/>
              </a:rPr>
              <a:t>động </a:t>
            </a:r>
            <a:r>
              <a:rPr dirty="0" sz="4000" spc="-75">
                <a:latin typeface="Arial"/>
                <a:cs typeface="Arial"/>
              </a:rPr>
              <a:t>trong </a:t>
            </a:r>
            <a:r>
              <a:rPr dirty="0" sz="4000" spc="-145">
                <a:latin typeface="Arial"/>
                <a:cs typeface="Arial"/>
              </a:rPr>
              <a:t>khu </a:t>
            </a:r>
            <a:r>
              <a:rPr dirty="0" sz="4000" spc="-260">
                <a:latin typeface="Arial"/>
                <a:cs typeface="Arial"/>
              </a:rPr>
              <a:t>vực </a:t>
            </a:r>
            <a:r>
              <a:rPr dirty="0" sz="4000" spc="-180">
                <a:latin typeface="Arial"/>
                <a:cs typeface="Arial"/>
              </a:rPr>
              <a:t>dòng </a:t>
            </a:r>
            <a:r>
              <a:rPr dirty="0" sz="4000" spc="-90">
                <a:latin typeface="Arial"/>
                <a:cs typeface="Arial"/>
              </a:rPr>
              <a:t>điện </a:t>
            </a:r>
            <a:r>
              <a:rPr dirty="0" sz="4000" spc="-190">
                <a:latin typeface="Arial"/>
                <a:cs typeface="Arial"/>
              </a:rPr>
              <a:t>I</a:t>
            </a:r>
            <a:r>
              <a:rPr dirty="0" baseline="-20964" sz="3975" spc="-284">
                <a:latin typeface="Arial"/>
                <a:cs typeface="Arial"/>
              </a:rPr>
              <a:t>D </a:t>
            </a:r>
            <a:r>
              <a:rPr dirty="0" sz="2650" spc="355">
                <a:latin typeface="Arial"/>
                <a:cs typeface="Arial"/>
              </a:rPr>
              <a:t>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60">
                <a:latin typeface="Arial"/>
                <a:cs typeface="Arial"/>
              </a:rPr>
              <a:t>đổi, </a:t>
            </a:r>
            <a:r>
              <a:rPr dirty="0" sz="4000" spc="-210">
                <a:latin typeface="Arial"/>
                <a:cs typeface="Arial"/>
              </a:rPr>
              <a:t>giá </a:t>
            </a:r>
            <a:r>
              <a:rPr dirty="0" sz="4000" spc="105">
                <a:latin typeface="Arial"/>
                <a:cs typeface="Arial"/>
              </a:rPr>
              <a:t>trị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40">
                <a:latin typeface="Arial"/>
                <a:cs typeface="Arial"/>
              </a:rPr>
              <a:t>đổi </a:t>
            </a:r>
            <a:r>
              <a:rPr dirty="0" sz="4000" spc="-235">
                <a:latin typeface="Arial"/>
                <a:cs typeface="Arial"/>
              </a:rPr>
              <a:t>này </a:t>
            </a:r>
            <a:r>
              <a:rPr dirty="0" sz="4000" spc="-340">
                <a:latin typeface="Arial"/>
                <a:cs typeface="Arial"/>
              </a:rPr>
              <a:t>sẽ </a:t>
            </a:r>
            <a:r>
              <a:rPr dirty="0" sz="4000" spc="-195">
                <a:latin typeface="Arial"/>
                <a:cs typeface="Arial"/>
              </a:rPr>
              <a:t>giảm</a:t>
            </a:r>
            <a:r>
              <a:rPr dirty="0" sz="4000" spc="-770">
                <a:latin typeface="Arial"/>
                <a:cs typeface="Arial"/>
              </a:rPr>
              <a:t> </a:t>
            </a:r>
            <a:r>
              <a:rPr dirty="0" sz="4000" spc="-135">
                <a:latin typeface="Arial"/>
                <a:cs typeface="Arial"/>
              </a:rPr>
              <a:t>nếu: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459">
                <a:latin typeface="Arial"/>
                <a:cs typeface="Arial"/>
              </a:rPr>
              <a:t>V</a:t>
            </a:r>
            <a:r>
              <a:rPr dirty="0" baseline="-20964" sz="3975" spc="-690">
                <a:latin typeface="Arial"/>
                <a:cs typeface="Arial"/>
              </a:rPr>
              <a:t>GS</a:t>
            </a:r>
            <a:r>
              <a:rPr dirty="0" baseline="-20964" sz="3975" spc="-569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459">
                <a:latin typeface="Arial"/>
                <a:cs typeface="Arial"/>
              </a:rPr>
              <a:t>V</a:t>
            </a:r>
            <a:r>
              <a:rPr dirty="0" baseline="-20964" sz="3975" spc="-690">
                <a:latin typeface="Arial"/>
                <a:cs typeface="Arial"/>
              </a:rPr>
              <a:t>GS</a:t>
            </a:r>
            <a:r>
              <a:rPr dirty="0" baseline="-20964" sz="3975" spc="-577">
                <a:latin typeface="Arial"/>
                <a:cs typeface="Arial"/>
              </a:rPr>
              <a:t> </a:t>
            </a:r>
            <a:r>
              <a:rPr dirty="0" sz="4000" spc="-15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320">
                <a:latin typeface="Arial"/>
                <a:cs typeface="Arial"/>
              </a:rPr>
              <a:t>V</a:t>
            </a:r>
            <a:r>
              <a:rPr dirty="0" baseline="-20964" sz="3975" spc="-480">
                <a:latin typeface="Arial"/>
                <a:cs typeface="Arial"/>
              </a:rPr>
              <a:t>DD</a:t>
            </a:r>
            <a:r>
              <a:rPr dirty="0" baseline="-20964" sz="3975" spc="-397">
                <a:latin typeface="Arial"/>
                <a:cs typeface="Arial"/>
              </a:rPr>
              <a:t> </a:t>
            </a:r>
            <a:r>
              <a:rPr dirty="0" sz="4000" spc="-150">
                <a:latin typeface="Arial"/>
                <a:cs typeface="Arial"/>
              </a:rPr>
              <a:t>tăng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409">
                <a:latin typeface="Arial"/>
                <a:cs typeface="Arial"/>
              </a:rPr>
              <a:t>V</a:t>
            </a:r>
            <a:r>
              <a:rPr dirty="0" baseline="-20964" sz="3975" spc="-615">
                <a:latin typeface="Arial"/>
                <a:cs typeface="Arial"/>
              </a:rPr>
              <a:t>DS</a:t>
            </a:r>
            <a:r>
              <a:rPr dirty="0" baseline="-20964" sz="3975" spc="-254">
                <a:latin typeface="Arial"/>
                <a:cs typeface="Arial"/>
              </a:rPr>
              <a:t> </a:t>
            </a:r>
            <a:r>
              <a:rPr dirty="0" sz="4000" spc="-195">
                <a:latin typeface="Arial"/>
                <a:cs typeface="Arial"/>
              </a:rPr>
              <a:t>giảm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850074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19. </a:t>
            </a:r>
            <a:r>
              <a:rPr dirty="0" sz="4000" spc="-370">
                <a:latin typeface="Arial"/>
                <a:cs typeface="Arial"/>
              </a:rPr>
              <a:t>Tại </a:t>
            </a:r>
            <a:r>
              <a:rPr dirty="0" sz="4000" spc="-95">
                <a:latin typeface="Arial"/>
                <a:cs typeface="Arial"/>
              </a:rPr>
              <a:t>điểm </a:t>
            </a:r>
            <a:r>
              <a:rPr dirty="0" sz="4000" spc="-75">
                <a:latin typeface="Arial"/>
                <a:cs typeface="Arial"/>
              </a:rPr>
              <a:t>cutoff, </a:t>
            </a:r>
            <a:r>
              <a:rPr dirty="0" sz="4000" spc="-204">
                <a:latin typeface="Arial"/>
                <a:cs typeface="Arial"/>
              </a:rPr>
              <a:t>kênh </a:t>
            </a:r>
            <a:r>
              <a:rPr dirty="0" sz="4000" spc="-190">
                <a:latin typeface="Arial"/>
                <a:cs typeface="Arial"/>
              </a:rPr>
              <a:t>dẫn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640">
                <a:latin typeface="Arial"/>
                <a:cs typeface="Arial"/>
              </a:rPr>
              <a:t>JFET</a:t>
            </a:r>
            <a:r>
              <a:rPr dirty="0" sz="4000" spc="-395">
                <a:latin typeface="Arial"/>
                <a:cs typeface="Arial"/>
              </a:rPr>
              <a:t> </a:t>
            </a:r>
            <a:r>
              <a:rPr dirty="0" sz="4000" spc="-240">
                <a:latin typeface="Arial"/>
                <a:cs typeface="Arial"/>
              </a:rPr>
              <a:t>sẽ: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000" spc="-210">
                <a:latin typeface="Arial"/>
                <a:cs typeface="Arial"/>
              </a:rPr>
              <a:t>a.</a:t>
            </a:r>
            <a:r>
              <a:rPr dirty="0" sz="4000" spc="-445">
                <a:latin typeface="Arial"/>
                <a:cs typeface="Arial"/>
              </a:rPr>
              <a:t> </a:t>
            </a:r>
            <a:r>
              <a:rPr dirty="0" sz="4000" spc="-260">
                <a:latin typeface="Arial"/>
                <a:cs typeface="Arial"/>
              </a:rPr>
              <a:t>Hẹp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4000" spc="-114">
                <a:latin typeface="Arial"/>
                <a:cs typeface="Arial"/>
              </a:rPr>
              <a:t>b. </a:t>
            </a:r>
            <a:r>
              <a:rPr dirty="0" sz="4000" spc="-245">
                <a:latin typeface="Arial"/>
                <a:cs typeface="Arial"/>
              </a:rPr>
              <a:t>Đóng </a:t>
            </a:r>
            <a:r>
              <a:rPr dirty="0" sz="4000" spc="-170">
                <a:latin typeface="Arial"/>
                <a:cs typeface="Arial"/>
              </a:rPr>
              <a:t>hoàn </a:t>
            </a:r>
            <a:r>
              <a:rPr dirty="0" sz="4000" spc="-95">
                <a:latin typeface="Arial"/>
                <a:cs typeface="Arial"/>
              </a:rPr>
              <a:t>toàn</a:t>
            </a:r>
            <a:r>
              <a:rPr dirty="0" sz="4000" spc="-825">
                <a:latin typeface="Arial"/>
                <a:cs typeface="Arial"/>
              </a:rPr>
              <a:t> </a:t>
            </a:r>
            <a:r>
              <a:rPr dirty="0" sz="4000" spc="-140">
                <a:latin typeface="Arial"/>
                <a:cs typeface="Arial"/>
              </a:rPr>
              <a:t>bởi </a:t>
            </a:r>
            <a:r>
              <a:rPr dirty="0" sz="4000" spc="-200">
                <a:latin typeface="Arial"/>
                <a:cs typeface="Arial"/>
              </a:rPr>
              <a:t>vùng </a:t>
            </a:r>
            <a:r>
              <a:rPr dirty="0" sz="4000" spc="-125">
                <a:latin typeface="Arial"/>
                <a:cs typeface="Arial"/>
              </a:rPr>
              <a:t>hiếm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 startAt="3"/>
              <a:tabLst>
                <a:tab pos="470534" algn="l"/>
              </a:tabLst>
            </a:pPr>
            <a:r>
              <a:rPr dirty="0" sz="4000" spc="-350">
                <a:latin typeface="Arial"/>
                <a:cs typeface="Arial"/>
              </a:rPr>
              <a:t>Rộng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 startAt="3"/>
              <a:tabLst>
                <a:tab pos="470534" algn="l"/>
              </a:tabLst>
            </a:pPr>
            <a:r>
              <a:rPr dirty="0" sz="4000" spc="-295">
                <a:latin typeface="Arial"/>
                <a:cs typeface="Arial"/>
              </a:rPr>
              <a:t>Phân </a:t>
            </a:r>
            <a:r>
              <a:rPr dirty="0" sz="4000" spc="-300">
                <a:latin typeface="Arial"/>
                <a:cs typeface="Arial"/>
              </a:rPr>
              <a:t>cực</a:t>
            </a:r>
            <a:r>
              <a:rPr dirty="0" sz="4000" spc="-145">
                <a:latin typeface="Arial"/>
                <a:cs typeface="Arial"/>
              </a:rPr>
              <a:t> </a:t>
            </a:r>
            <a:r>
              <a:rPr dirty="0" sz="4000" spc="-175">
                <a:latin typeface="Arial"/>
                <a:cs typeface="Arial"/>
              </a:rPr>
              <a:t>nghịch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15"/>
            <a:ext cx="9575165" cy="401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70">
                <a:latin typeface="Arial"/>
                <a:cs typeface="Arial"/>
              </a:rPr>
              <a:t>20. </a:t>
            </a:r>
            <a:r>
              <a:rPr dirty="0" sz="4000" spc="-555">
                <a:latin typeface="Arial"/>
                <a:cs typeface="Arial"/>
              </a:rPr>
              <a:t>Sự </a:t>
            </a:r>
            <a:r>
              <a:rPr dirty="0" sz="4000" spc="-235">
                <a:latin typeface="Arial"/>
                <a:cs typeface="Arial"/>
              </a:rPr>
              <a:t>khác </a:t>
            </a:r>
            <a:r>
              <a:rPr dirty="0" sz="4000" spc="-30">
                <a:latin typeface="Arial"/>
                <a:cs typeface="Arial"/>
              </a:rPr>
              <a:t>biệt </a:t>
            </a:r>
            <a:r>
              <a:rPr dirty="0" sz="4000" spc="-315">
                <a:latin typeface="Arial"/>
                <a:cs typeface="Arial"/>
              </a:rPr>
              <a:t>cơ </a:t>
            </a:r>
            <a:r>
              <a:rPr dirty="0" sz="4000" spc="-190">
                <a:latin typeface="Arial"/>
                <a:cs typeface="Arial"/>
              </a:rPr>
              <a:t>bản </a:t>
            </a:r>
            <a:r>
              <a:rPr dirty="0" sz="4000" spc="-250">
                <a:latin typeface="Arial"/>
                <a:cs typeface="Arial"/>
              </a:rPr>
              <a:t>của </a:t>
            </a:r>
            <a:r>
              <a:rPr dirty="0" sz="4000" spc="-505">
                <a:latin typeface="Arial"/>
                <a:cs typeface="Arial"/>
              </a:rPr>
              <a:t>MOSFET </a:t>
            </a:r>
            <a:r>
              <a:rPr dirty="0" sz="4000" spc="-260">
                <a:latin typeface="Arial"/>
                <a:cs typeface="Arial"/>
              </a:rPr>
              <a:t>và </a:t>
            </a:r>
            <a:r>
              <a:rPr dirty="0" sz="4000" spc="-640">
                <a:latin typeface="Arial"/>
                <a:cs typeface="Arial"/>
              </a:rPr>
              <a:t>JFET</a:t>
            </a:r>
            <a:r>
              <a:rPr dirty="0" sz="4000" spc="-805">
                <a:latin typeface="Arial"/>
                <a:cs typeface="Arial"/>
              </a:rPr>
              <a:t> </a:t>
            </a:r>
            <a:r>
              <a:rPr dirty="0" sz="4000" spc="-155">
                <a:latin typeface="Arial"/>
                <a:cs typeface="Arial"/>
              </a:rPr>
              <a:t>là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4000" spc="-290">
                <a:latin typeface="Arial"/>
                <a:cs typeface="Arial"/>
              </a:rPr>
              <a:t>Tên </a:t>
            </a:r>
            <a:r>
              <a:rPr dirty="0" sz="4000" spc="-140">
                <a:latin typeface="Arial"/>
                <a:cs typeface="Arial"/>
              </a:rPr>
              <a:t>dài </a:t>
            </a:r>
            <a:r>
              <a:rPr dirty="0" sz="4000" spc="-195">
                <a:latin typeface="Arial"/>
                <a:cs typeface="Arial"/>
              </a:rPr>
              <a:t>hơn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AutoNum type="alphaLcPeriod"/>
              <a:tabLst>
                <a:tab pos="470534" algn="l"/>
              </a:tabLst>
            </a:pPr>
            <a:r>
              <a:rPr dirty="0" sz="4000" spc="-509">
                <a:latin typeface="Arial"/>
                <a:cs typeface="Arial"/>
              </a:rPr>
              <a:t>MOSFET </a:t>
            </a:r>
            <a:r>
              <a:rPr dirty="0" sz="4000" spc="-180">
                <a:latin typeface="Arial"/>
                <a:cs typeface="Arial"/>
              </a:rPr>
              <a:t>không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250">
                <a:latin typeface="Arial"/>
                <a:cs typeface="Arial"/>
              </a:rPr>
              <a:t>cấu </a:t>
            </a:r>
            <a:r>
              <a:rPr dirty="0" sz="4000" spc="-40">
                <a:latin typeface="Arial"/>
                <a:cs typeface="Arial"/>
              </a:rPr>
              <a:t>trúc </a:t>
            </a:r>
            <a:r>
              <a:rPr dirty="0" sz="4000" spc="-80">
                <a:latin typeface="Arial"/>
                <a:cs typeface="Arial"/>
              </a:rPr>
              <a:t>mối </a:t>
            </a:r>
            <a:r>
              <a:rPr dirty="0" sz="4000" spc="-75">
                <a:latin typeface="Arial"/>
                <a:cs typeface="Arial"/>
              </a:rPr>
              <a:t>nối</a:t>
            </a:r>
            <a:r>
              <a:rPr dirty="0" sz="4000" spc="-805">
                <a:latin typeface="Arial"/>
                <a:cs typeface="Arial"/>
              </a:rPr>
              <a:t> </a:t>
            </a:r>
            <a:r>
              <a:rPr dirty="0" sz="4000" spc="-465">
                <a:latin typeface="Arial"/>
                <a:cs typeface="Arial"/>
              </a:rPr>
              <a:t>PN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lphaLcPeriod"/>
              <a:tabLst>
                <a:tab pos="470534" algn="l"/>
              </a:tabLst>
            </a:pPr>
            <a:r>
              <a:rPr dirty="0" sz="4000" spc="-505">
                <a:latin typeface="Arial"/>
                <a:cs typeface="Arial"/>
              </a:rPr>
              <a:t>MOSFET </a:t>
            </a:r>
            <a:r>
              <a:rPr dirty="0" sz="4000" spc="-215">
                <a:latin typeface="Arial"/>
                <a:cs typeface="Arial"/>
              </a:rPr>
              <a:t>có </a:t>
            </a:r>
            <a:r>
              <a:rPr dirty="0" sz="4000" spc="-200">
                <a:latin typeface="Arial"/>
                <a:cs typeface="Arial"/>
              </a:rPr>
              <a:t>2</a:t>
            </a:r>
            <a:r>
              <a:rPr dirty="0" sz="4000" spc="-525">
                <a:latin typeface="Arial"/>
                <a:cs typeface="Arial"/>
              </a:rPr>
              <a:t> </a:t>
            </a:r>
            <a:r>
              <a:rPr dirty="0" sz="4000" spc="-300">
                <a:latin typeface="Arial"/>
                <a:cs typeface="Arial"/>
              </a:rPr>
              <a:t>cực</a:t>
            </a:r>
            <a:endParaRPr sz="4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lphaLcPeriod"/>
              <a:tabLst>
                <a:tab pos="470534" algn="l"/>
              </a:tabLst>
            </a:pPr>
            <a:r>
              <a:rPr dirty="0" sz="4000" spc="-315">
                <a:latin typeface="Arial"/>
                <a:cs typeface="Arial"/>
              </a:rPr>
              <a:t>a </a:t>
            </a:r>
            <a:r>
              <a:rPr dirty="0" sz="4000" spc="-260">
                <a:latin typeface="Arial"/>
                <a:cs typeface="Arial"/>
              </a:rPr>
              <a:t>và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-130">
                <a:latin typeface="Arial"/>
                <a:cs typeface="Arial"/>
              </a:rPr>
              <a:t>b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 Huy Trinh</dc:creator>
  <dc:title>Présentation PowerPoint</dc:title>
  <dcterms:created xsi:type="dcterms:W3CDTF">2019-03-22T06:01:09Z</dcterms:created>
  <dcterms:modified xsi:type="dcterms:W3CDTF">2019-03-22T06:01:09Z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