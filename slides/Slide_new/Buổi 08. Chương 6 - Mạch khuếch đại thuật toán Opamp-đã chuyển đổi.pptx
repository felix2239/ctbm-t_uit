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9906000" cy="6858000"/>
  <p:notesSz cx="9906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0584" y="286892"/>
            <a:ext cx="7964830" cy="137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47" y="6400799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199"/>
                </a:moveTo>
                <a:lnTo>
                  <a:pt x="9902952" y="457199"/>
                </a:lnTo>
                <a:lnTo>
                  <a:pt x="9902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7"/>
                </a:moveTo>
                <a:lnTo>
                  <a:pt x="9902952" y="64007"/>
                </a:lnTo>
                <a:lnTo>
                  <a:pt x="9902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47" y="6400799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199"/>
                </a:moveTo>
                <a:lnTo>
                  <a:pt x="9902952" y="457199"/>
                </a:lnTo>
                <a:lnTo>
                  <a:pt x="9902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7"/>
                </a:moveTo>
                <a:lnTo>
                  <a:pt x="9902952" y="64007"/>
                </a:lnTo>
                <a:lnTo>
                  <a:pt x="9902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751715" y="2028833"/>
            <a:ext cx="7648950" cy="39151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799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0" y="457199"/>
                </a:moveTo>
                <a:lnTo>
                  <a:pt x="9906000" y="457199"/>
                </a:lnTo>
                <a:lnTo>
                  <a:pt x="9906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6000" cy="67310"/>
          </a:xfrm>
          <a:custGeom>
            <a:avLst/>
            <a:gdLst/>
            <a:ahLst/>
            <a:cxnLst/>
            <a:rect l="l" t="t" r="r" b="b"/>
            <a:pathLst>
              <a:path w="9906000" h="67310">
                <a:moveTo>
                  <a:pt x="0" y="67055"/>
                </a:moveTo>
                <a:lnTo>
                  <a:pt x="9906000" y="67055"/>
                </a:lnTo>
                <a:lnTo>
                  <a:pt x="9906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69263" y="1737360"/>
            <a:ext cx="8098155" cy="0"/>
          </a:xfrm>
          <a:custGeom>
            <a:avLst/>
            <a:gdLst/>
            <a:ahLst/>
            <a:cxnLst/>
            <a:rect l="l" t="t" r="r" b="b"/>
            <a:pathLst>
              <a:path w="8098155" h="0">
                <a:moveTo>
                  <a:pt x="0" y="0"/>
                </a:moveTo>
                <a:lnTo>
                  <a:pt x="8098155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84" y="286892"/>
            <a:ext cx="7964830" cy="137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4877" y="1660939"/>
            <a:ext cx="8413115" cy="2634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45329" y="6570624"/>
            <a:ext cx="81851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859773" y="6561198"/>
            <a:ext cx="1854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32.png"/><Relationship Id="rId33" Type="http://schemas.openxmlformats.org/officeDocument/2006/relationships/image" Target="../media/image33.png"/><Relationship Id="rId34" Type="http://schemas.openxmlformats.org/officeDocument/2006/relationships/image" Target="../media/image34.png"/><Relationship Id="rId35" Type="http://schemas.openxmlformats.org/officeDocument/2006/relationships/image" Target="../media/image35.png"/><Relationship Id="rId36" Type="http://schemas.openxmlformats.org/officeDocument/2006/relationships/image" Target="../media/image36.png"/><Relationship Id="rId37" Type="http://schemas.openxmlformats.org/officeDocument/2006/relationships/image" Target="../media/image37.png"/><Relationship Id="rId38" Type="http://schemas.openxmlformats.org/officeDocument/2006/relationships/image" Target="../media/image38.png"/><Relationship Id="rId39" Type="http://schemas.openxmlformats.org/officeDocument/2006/relationships/image" Target="../media/image39.png"/><Relationship Id="rId40" Type="http://schemas.openxmlformats.org/officeDocument/2006/relationships/image" Target="../media/image40.png"/><Relationship Id="rId41" Type="http://schemas.openxmlformats.org/officeDocument/2006/relationships/image" Target="../media/image41.png"/><Relationship Id="rId42" Type="http://schemas.openxmlformats.org/officeDocument/2006/relationships/image" Target="../media/image42.png"/><Relationship Id="rId43" Type="http://schemas.openxmlformats.org/officeDocument/2006/relationships/image" Target="../media/image43.png"/><Relationship Id="rId44" Type="http://schemas.openxmlformats.org/officeDocument/2006/relationships/image" Target="../media/image44.png"/><Relationship Id="rId45" Type="http://schemas.openxmlformats.org/officeDocument/2006/relationships/image" Target="../media/image4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4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5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6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8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9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0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1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2.jpg"/><Relationship Id="rId3" Type="http://schemas.openxmlformats.org/officeDocument/2006/relationships/image" Target="../media/image63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4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Relationship Id="rId4" Type="http://schemas.openxmlformats.org/officeDocument/2006/relationships/image" Target="../media/image67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Relationship Id="rId3" Type="http://schemas.openxmlformats.org/officeDocument/2006/relationships/image" Target="../media/image75.png"/><Relationship Id="rId4" Type="http://schemas.openxmlformats.org/officeDocument/2006/relationships/image" Target="../media/image76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jpg"/><Relationship Id="rId3" Type="http://schemas.openxmlformats.org/officeDocument/2006/relationships/image" Target="../media/image78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jpg"/><Relationship Id="rId3" Type="http://schemas.openxmlformats.org/officeDocument/2006/relationships/image" Target="../media/image80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291840" cy="6858000"/>
          </a:xfrm>
          <a:custGeom>
            <a:avLst/>
            <a:gdLst/>
            <a:ahLst/>
            <a:cxnLst/>
            <a:rect l="l" t="t" r="r" b="b"/>
            <a:pathLst>
              <a:path w="3291840" h="6858000">
                <a:moveTo>
                  <a:pt x="0" y="6858000"/>
                </a:moveTo>
                <a:lnTo>
                  <a:pt x="3291840" y="6858000"/>
                </a:lnTo>
                <a:lnTo>
                  <a:pt x="32918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0860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51815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9831" y="2141220"/>
            <a:ext cx="1978914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55064" y="2141220"/>
            <a:ext cx="819150" cy="10066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20084" y="510540"/>
            <a:ext cx="6139434" cy="13388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70020" y="1168908"/>
            <a:ext cx="5426202" cy="13388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084701" y="670001"/>
            <a:ext cx="5223510" cy="1416050"/>
          </a:xfrm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262255" marR="5080" indent="-250190">
              <a:lnSpc>
                <a:spcPts val="5190"/>
              </a:lnSpc>
              <a:spcBef>
                <a:spcPts val="750"/>
              </a:spcBef>
            </a:pPr>
            <a:r>
              <a:rPr dirty="0" spc="-5" b="1">
                <a:latin typeface="Times New Roman"/>
                <a:cs typeface="Times New Roman"/>
              </a:rPr>
              <a:t>CÁC </a:t>
            </a:r>
            <a:r>
              <a:rPr dirty="0" b="1">
                <a:latin typeface="Times New Roman"/>
                <a:cs typeface="Times New Roman"/>
              </a:rPr>
              <a:t>THIẾT BỊ</a:t>
            </a:r>
            <a:r>
              <a:rPr dirty="0" spc="-375" b="1">
                <a:latin typeface="Times New Roman"/>
                <a:cs typeface="Times New Roman"/>
              </a:rPr>
              <a:t> </a:t>
            </a:r>
            <a:r>
              <a:rPr dirty="0" spc="-5" b="1">
                <a:latin typeface="Times New Roman"/>
                <a:cs typeface="Times New Roman"/>
              </a:rPr>
              <a:t>VÀ  </a:t>
            </a:r>
            <a:r>
              <a:rPr dirty="0" b="1">
                <a:latin typeface="Times New Roman"/>
                <a:cs typeface="Times New Roman"/>
              </a:rPr>
              <a:t>MẠCH </a:t>
            </a:r>
            <a:r>
              <a:rPr dirty="0" spc="-5" b="1">
                <a:latin typeface="Times New Roman"/>
                <a:cs typeface="Times New Roman"/>
              </a:rPr>
              <a:t>ĐIỆN</a:t>
            </a:r>
            <a:r>
              <a:rPr dirty="0" spc="-16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TỬ</a:t>
            </a:r>
          </a:p>
        </p:txBody>
      </p:sp>
      <p:sp>
        <p:nvSpPr>
          <p:cNvPr id="9" name="object 9"/>
          <p:cNvSpPr/>
          <p:nvPr/>
        </p:nvSpPr>
        <p:spPr>
          <a:xfrm>
            <a:off x="318515" y="2868180"/>
            <a:ext cx="837438" cy="5112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00683" y="2868180"/>
            <a:ext cx="995934" cy="511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42872" y="2868180"/>
            <a:ext cx="604265" cy="511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90344" y="2868180"/>
            <a:ext cx="822197" cy="51128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8515" y="3115068"/>
            <a:ext cx="742950" cy="5112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04672" y="3115068"/>
            <a:ext cx="582929" cy="51128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82039" y="3115068"/>
            <a:ext cx="375678" cy="51128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52144" y="3115068"/>
            <a:ext cx="753618" cy="51128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2043" y="3569220"/>
            <a:ext cx="407682" cy="39698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9412" y="3557028"/>
            <a:ext cx="553974" cy="42899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69263" y="3557028"/>
            <a:ext cx="517410" cy="42899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74063" y="3557028"/>
            <a:ext cx="438137" cy="42899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98091" y="3557028"/>
            <a:ext cx="538721" cy="42899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21179" y="3557028"/>
            <a:ext cx="573786" cy="42899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80844" y="3557028"/>
            <a:ext cx="532638" cy="42899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9412" y="3762768"/>
            <a:ext cx="488429" cy="42899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61060" y="3762768"/>
            <a:ext cx="314693" cy="42899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18972" y="3762768"/>
            <a:ext cx="630173" cy="42899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52043" y="4157484"/>
            <a:ext cx="407682" cy="39698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29412" y="4145292"/>
            <a:ext cx="531126" cy="42899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46403" y="4145292"/>
            <a:ext cx="534149" cy="42899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266444" y="4145292"/>
            <a:ext cx="467118" cy="42899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519427" y="4145292"/>
            <a:ext cx="619506" cy="42899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926335" y="4145292"/>
            <a:ext cx="659130" cy="42899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372867" y="4145292"/>
            <a:ext cx="532638" cy="42899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29412" y="4351032"/>
            <a:ext cx="488429" cy="42899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61060" y="4351032"/>
            <a:ext cx="314693" cy="428993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918972" y="4351032"/>
            <a:ext cx="630173" cy="428993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52043" y="4747272"/>
            <a:ext cx="407682" cy="39698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29412" y="4735080"/>
            <a:ext cx="531126" cy="42899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46403" y="4735080"/>
            <a:ext cx="718566" cy="42899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453896" y="4735080"/>
            <a:ext cx="435114" cy="42899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674876" y="4735080"/>
            <a:ext cx="454913" cy="42899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917192" y="4735080"/>
            <a:ext cx="555498" cy="42899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257044" y="4735080"/>
            <a:ext cx="532638" cy="428993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29412" y="4940820"/>
            <a:ext cx="488429" cy="428993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61060" y="4940820"/>
            <a:ext cx="314693" cy="42899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918972" y="4940820"/>
            <a:ext cx="630173" cy="428993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50291" y="1999488"/>
            <a:ext cx="2331085" cy="3235960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3600" spc="-405">
                <a:solidFill>
                  <a:srgbClr val="FFFFFF"/>
                </a:solidFill>
                <a:latin typeface="Arial"/>
                <a:cs typeface="Arial"/>
              </a:rPr>
              <a:t>Chương</a:t>
            </a:r>
            <a:r>
              <a:rPr dirty="0" sz="3600" spc="-3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18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2050"/>
              </a:lnSpc>
              <a:spcBef>
                <a:spcPts val="969"/>
              </a:spcBef>
            </a:pPr>
            <a:r>
              <a:rPr dirty="0" sz="1800" spc="-105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800" spc="-150" b="1">
                <a:solidFill>
                  <a:srgbClr val="FFFFFF"/>
                </a:solidFill>
                <a:latin typeface="Arial"/>
                <a:cs typeface="Arial"/>
              </a:rPr>
              <a:t>khuếch </a:t>
            </a:r>
            <a:r>
              <a:rPr dirty="0" sz="1800" spc="-90" b="1">
                <a:solidFill>
                  <a:srgbClr val="FFFFFF"/>
                </a:solidFill>
                <a:latin typeface="Arial"/>
                <a:cs typeface="Arial"/>
              </a:rPr>
              <a:t>đại</a:t>
            </a:r>
            <a:r>
              <a:rPr dirty="0" sz="180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Arial"/>
                <a:cs typeface="Arial"/>
              </a:rPr>
              <a:t>thuật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50"/>
              </a:lnSpc>
            </a:pPr>
            <a:r>
              <a:rPr dirty="0" sz="1800" spc="-95" b="1">
                <a:solidFill>
                  <a:srgbClr val="FFFFFF"/>
                </a:solidFill>
                <a:latin typeface="Arial"/>
                <a:cs typeface="Arial"/>
              </a:rPr>
              <a:t>toán</a:t>
            </a:r>
            <a:r>
              <a:rPr dirty="0" sz="18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5" b="1">
                <a:solidFill>
                  <a:srgbClr val="FFFFFF"/>
                </a:solidFill>
                <a:latin typeface="Arial"/>
                <a:cs typeface="Arial"/>
              </a:rPr>
              <a:t>Op-Amp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ts val="1710"/>
              </a:lnSpc>
              <a:spcBef>
                <a:spcPts val="125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170" b="1">
                <a:solidFill>
                  <a:srgbClr val="FFFFFF"/>
                </a:solidFill>
                <a:latin typeface="Arial"/>
                <a:cs typeface="Arial"/>
              </a:rPr>
              <a:t>Cấu </a:t>
            </a:r>
            <a:r>
              <a:rPr dirty="0" sz="1500" spc="-70" b="1">
                <a:solidFill>
                  <a:srgbClr val="FFFFFF"/>
                </a:solidFill>
                <a:latin typeface="Arial"/>
                <a:cs typeface="Arial"/>
              </a:rPr>
              <a:t>tạo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và đặc </a:t>
            </a:r>
            <a:r>
              <a:rPr dirty="0" sz="1500" spc="-65" b="1">
                <a:solidFill>
                  <a:srgbClr val="FFFFFF"/>
                </a:solidFill>
                <a:latin typeface="Arial"/>
                <a:cs typeface="Arial"/>
              </a:rPr>
              <a:t>tính</a:t>
            </a:r>
            <a:r>
              <a:rPr dirty="0" sz="1500" spc="-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Arial"/>
                <a:cs typeface="Arial"/>
              </a:rPr>
              <a:t>của</a:t>
            </a:r>
            <a:endParaRPr sz="1500">
              <a:latin typeface="Arial"/>
              <a:cs typeface="Arial"/>
            </a:endParaRPr>
          </a:p>
          <a:p>
            <a:pPr algn="ctr" marR="1061720">
              <a:lnSpc>
                <a:spcPts val="1710"/>
              </a:lnSpc>
            </a:pPr>
            <a:r>
              <a:rPr dirty="0" sz="1500" spc="-120" b="1">
                <a:solidFill>
                  <a:srgbClr val="FFFFFF"/>
                </a:solidFill>
                <a:latin typeface="Arial"/>
                <a:cs typeface="Arial"/>
              </a:rPr>
              <a:t>Op-Amp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ts val="1710"/>
              </a:lnSpc>
              <a:spcBef>
                <a:spcPts val="1215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200" b="1">
                <a:solidFill>
                  <a:srgbClr val="FFFFFF"/>
                </a:solidFill>
                <a:latin typeface="Arial"/>
                <a:cs typeface="Arial"/>
              </a:rPr>
              <a:t>Các </a:t>
            </a:r>
            <a:r>
              <a:rPr dirty="0" sz="1500" spc="-140" b="1">
                <a:solidFill>
                  <a:srgbClr val="FFFFFF"/>
                </a:solidFill>
                <a:latin typeface="Arial"/>
                <a:cs typeface="Arial"/>
              </a:rPr>
              <a:t>chế </a:t>
            </a: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độ </a:t>
            </a:r>
            <a:r>
              <a:rPr dirty="0" sz="1500" spc="-80" b="1">
                <a:solidFill>
                  <a:srgbClr val="FFFFFF"/>
                </a:solidFill>
                <a:latin typeface="Arial"/>
                <a:cs typeface="Arial"/>
              </a:rPr>
              <a:t>hoạt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động</a:t>
            </a:r>
            <a:r>
              <a:rPr dirty="0" sz="1500" spc="-1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Arial"/>
                <a:cs typeface="Arial"/>
              </a:rPr>
              <a:t>của</a:t>
            </a:r>
            <a:endParaRPr sz="1500">
              <a:latin typeface="Arial"/>
              <a:cs typeface="Arial"/>
            </a:endParaRPr>
          </a:p>
          <a:p>
            <a:pPr algn="ctr" marR="1061720">
              <a:lnSpc>
                <a:spcPts val="1710"/>
              </a:lnSpc>
            </a:pPr>
            <a:r>
              <a:rPr dirty="0" sz="1500" spc="-120" b="1">
                <a:solidFill>
                  <a:srgbClr val="FFFFFF"/>
                </a:solidFill>
                <a:latin typeface="Arial"/>
                <a:cs typeface="Arial"/>
              </a:rPr>
              <a:t>Op-Amp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ts val="1710"/>
              </a:lnSpc>
              <a:spcBef>
                <a:spcPts val="122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200" b="1">
                <a:solidFill>
                  <a:srgbClr val="FFFFFF"/>
                </a:solidFill>
                <a:latin typeface="Arial"/>
                <a:cs typeface="Arial"/>
              </a:rPr>
              <a:t>Các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thông </a:t>
            </a:r>
            <a:r>
              <a:rPr dirty="0" sz="1500" spc="-175" b="1">
                <a:solidFill>
                  <a:srgbClr val="FFFFFF"/>
                </a:solidFill>
                <a:latin typeface="Arial"/>
                <a:cs typeface="Arial"/>
              </a:rPr>
              <a:t>số cơ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bản</a:t>
            </a:r>
            <a:r>
              <a:rPr dirty="0" sz="1500" spc="-2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Arial"/>
                <a:cs typeface="Arial"/>
              </a:rPr>
              <a:t>của</a:t>
            </a:r>
            <a:endParaRPr sz="1500">
              <a:latin typeface="Arial"/>
              <a:cs typeface="Arial"/>
            </a:endParaRPr>
          </a:p>
          <a:p>
            <a:pPr algn="ctr" marR="1061720">
              <a:lnSpc>
                <a:spcPts val="1710"/>
              </a:lnSpc>
            </a:pPr>
            <a:r>
              <a:rPr dirty="0" sz="1500" spc="-120" b="1">
                <a:solidFill>
                  <a:srgbClr val="FFFFFF"/>
                </a:solidFill>
                <a:latin typeface="Arial"/>
                <a:cs typeface="Arial"/>
              </a:rPr>
              <a:t>Op-Amp</a:t>
            </a:r>
            <a:endParaRPr sz="15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979926" y="6558178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939530" y="6546595"/>
            <a:ext cx="927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455F51"/>
                </a:solid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783835" y="3159251"/>
            <a:ext cx="1770888" cy="1427988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617069" y="3151493"/>
            <a:ext cx="1666701" cy="1334192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216344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Mục</a:t>
            </a:r>
            <a:r>
              <a:rPr dirty="0" spc="-430"/>
              <a:t> </a:t>
            </a:r>
            <a:r>
              <a:rPr dirty="0" spc="-100"/>
              <a:t>tiêu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7739380" cy="138239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Nắm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185" b="1">
                <a:solidFill>
                  <a:srgbClr val="404040"/>
                </a:solidFill>
                <a:latin typeface="Arial"/>
                <a:cs typeface="Arial"/>
              </a:rPr>
              <a:t>cấu </a:t>
            </a:r>
            <a:r>
              <a:rPr dirty="0" sz="2000" spc="-80" b="1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65" b="1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dirty="0" sz="2000" spc="-85" b="1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thuật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toán</a:t>
            </a:r>
            <a:r>
              <a:rPr dirty="0" sz="2000" spc="-2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5" b="1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Nắm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180" b="1">
                <a:solidFill>
                  <a:srgbClr val="404040"/>
                </a:solidFill>
                <a:latin typeface="Arial"/>
                <a:cs typeface="Arial"/>
              </a:rPr>
              <a:t>chế </a:t>
            </a:r>
            <a:r>
              <a:rPr dirty="0" sz="2000" spc="-114" b="1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100" b="1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165" b="1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2000" spc="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5" b="1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Nắm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140" b="1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229" b="1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215" b="1">
                <a:solidFill>
                  <a:srgbClr val="404040"/>
                </a:solidFill>
                <a:latin typeface="Arial"/>
                <a:cs typeface="Arial"/>
              </a:rPr>
              <a:t>cơ </a:t>
            </a:r>
            <a:r>
              <a:rPr dirty="0" sz="2000" spc="-140" b="1">
                <a:solidFill>
                  <a:srgbClr val="404040"/>
                </a:solidFill>
                <a:latin typeface="Arial"/>
                <a:cs typeface="Arial"/>
              </a:rPr>
              <a:t>bản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55" b="1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pc="-530"/>
              <a:t>Cấu </a:t>
            </a:r>
            <a:r>
              <a:rPr dirty="0" spc="-150"/>
              <a:t>tạo </a:t>
            </a:r>
            <a:r>
              <a:rPr dirty="0" spc="-409"/>
              <a:t>và </a:t>
            </a:r>
            <a:r>
              <a:rPr dirty="0" spc="-315"/>
              <a:t>đặc </a:t>
            </a:r>
            <a:r>
              <a:rPr dirty="0" spc="-140"/>
              <a:t>tính </a:t>
            </a:r>
            <a:r>
              <a:rPr dirty="0" spc="-350"/>
              <a:t>của </a:t>
            </a:r>
            <a:r>
              <a:rPr dirty="0" spc="-325"/>
              <a:t>mạch  </a:t>
            </a:r>
            <a:r>
              <a:rPr dirty="0" spc="-285"/>
              <a:t>khuếch </a:t>
            </a:r>
            <a:r>
              <a:rPr dirty="0" spc="-195"/>
              <a:t>đại </a:t>
            </a:r>
            <a:r>
              <a:rPr dirty="0" spc="-100"/>
              <a:t>thuật </a:t>
            </a:r>
            <a:r>
              <a:rPr dirty="0" spc="-180"/>
              <a:t>toán</a:t>
            </a:r>
            <a:r>
              <a:rPr dirty="0" spc="-869"/>
              <a:t> </a:t>
            </a:r>
            <a:r>
              <a:rPr dirty="0" spc="-340"/>
              <a:t>Op-Amp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94592"/>
            <a:ext cx="8408035" cy="10287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400" spc="-145" b="1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400" spc="-200" b="1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400" spc="-110" b="1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400" spc="-100" b="1">
                <a:solidFill>
                  <a:srgbClr val="404040"/>
                </a:solidFill>
                <a:latin typeface="Arial"/>
                <a:cs typeface="Arial"/>
              </a:rPr>
              <a:t>thuật </a:t>
            </a:r>
            <a:r>
              <a:rPr dirty="0" sz="2400" spc="-125" b="1">
                <a:solidFill>
                  <a:srgbClr val="404040"/>
                </a:solidFill>
                <a:latin typeface="Arial"/>
                <a:cs typeface="Arial"/>
              </a:rPr>
              <a:t>toán</a:t>
            </a:r>
            <a:r>
              <a:rPr dirty="0" sz="2400" spc="-85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190" b="1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400">
              <a:latin typeface="Arial"/>
              <a:cs typeface="Arial"/>
            </a:endParaRPr>
          </a:p>
          <a:p>
            <a:pPr marL="271780" indent="-259079">
              <a:lnSpc>
                <a:spcPct val="100000"/>
              </a:lnSpc>
              <a:spcBef>
                <a:spcPts val="119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tử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khả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năng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chênh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lệch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hai</a:t>
            </a:r>
            <a:r>
              <a:rPr dirty="0" sz="2000" spc="1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584" y="2665933"/>
            <a:ext cx="14192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dirty="0" sz="2000" spc="-2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vào.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3089430"/>
            <a:ext cx="5229225" cy="19513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 có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5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cổng:</a:t>
            </a:r>
            <a:endParaRPr sz="2000">
              <a:latin typeface="Arial"/>
              <a:cs typeface="Arial"/>
            </a:endParaRPr>
          </a:p>
          <a:p>
            <a:pPr lvl="1" marL="448309" indent="-23431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1800" spc="-50">
                <a:solidFill>
                  <a:srgbClr val="404040"/>
                </a:solidFill>
                <a:latin typeface="Arial"/>
                <a:cs typeface="Arial"/>
              </a:rPr>
              <a:t>(Inverting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Input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Terminal)</a:t>
            </a:r>
            <a:endParaRPr sz="1800">
              <a:latin typeface="Arial"/>
              <a:cs typeface="Arial"/>
            </a:endParaRPr>
          </a:p>
          <a:p>
            <a:pPr lvl="1" marL="448309" indent="-234315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(Non-Inverting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Input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Terminal)</a:t>
            </a:r>
            <a:endParaRPr sz="1800">
              <a:latin typeface="Arial"/>
              <a:cs typeface="Arial"/>
            </a:endParaRPr>
          </a:p>
          <a:p>
            <a:pPr lvl="1" marL="448309" indent="-23431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âm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(Supply 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Voltage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–</a:t>
            </a:r>
            <a:r>
              <a:rPr dirty="0" sz="1800" spc="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Terminal)</a:t>
            </a:r>
            <a:endParaRPr sz="1800">
              <a:latin typeface="Arial"/>
              <a:cs typeface="Arial"/>
            </a:endParaRPr>
          </a:p>
          <a:p>
            <a:pPr lvl="1" marL="448309" indent="-234315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dương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(Supply 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Voltage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+</a:t>
            </a:r>
            <a:r>
              <a:rPr dirty="0" sz="1800" spc="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Terminal)</a:t>
            </a:r>
            <a:endParaRPr sz="1800">
              <a:latin typeface="Arial"/>
              <a:cs typeface="Arial"/>
            </a:endParaRPr>
          </a:p>
          <a:p>
            <a:pPr lvl="1" marL="448309" indent="-234315">
              <a:lnSpc>
                <a:spcPct val="100000"/>
              </a:lnSpc>
              <a:spcBef>
                <a:spcPts val="38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(Output</a:t>
            </a:r>
            <a:r>
              <a:rPr dirty="0" sz="1800" spc="-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Terminal)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9" y="5186298"/>
            <a:ext cx="8407400" cy="605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1780" indent="-259079">
              <a:lnSpc>
                <a:spcPts val="2280"/>
              </a:lnSpc>
              <a:spcBef>
                <a:spcPts val="10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Hầu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hết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Op-Amp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khoảng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-Vcc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đến </a:t>
            </a:r>
            <a:r>
              <a:rPr dirty="0" sz="2000" spc="-200">
                <a:solidFill>
                  <a:srgbClr val="404040"/>
                </a:solidFill>
                <a:latin typeface="Arial"/>
                <a:cs typeface="Arial"/>
              </a:rPr>
              <a:t>+Vcc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Vcc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(supply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voltage)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</a:t>
            </a:r>
            <a:r>
              <a:rPr dirty="0" sz="2000" spc="-4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Op-Amp.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64518" y="3124542"/>
            <a:ext cx="2186782" cy="17507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364473" y="2780157"/>
            <a:ext cx="4813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+</a:t>
            </a:r>
            <a:r>
              <a:rPr dirty="0" sz="1600" spc="-10">
                <a:latin typeface="Times New Roman"/>
                <a:cs typeface="Times New Roman"/>
              </a:rPr>
              <a:t>Vcc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9" name="object 9"/>
          <p:cNvSpPr txBox="1"/>
          <p:nvPr/>
        </p:nvSpPr>
        <p:spPr>
          <a:xfrm>
            <a:off x="8395207" y="4812284"/>
            <a:ext cx="4191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imes New Roman"/>
                <a:cs typeface="Times New Roman"/>
              </a:rPr>
              <a:t>-Vcc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60946" y="3322066"/>
            <a:ext cx="76962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0815" marR="5080" indent="-15875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In</a:t>
            </a:r>
            <a:r>
              <a:rPr dirty="0" sz="1600">
                <a:latin typeface="Times New Roman"/>
                <a:cs typeface="Times New Roman"/>
              </a:rPr>
              <a:t>v</a:t>
            </a:r>
            <a:r>
              <a:rPr dirty="0" sz="1600" spc="-5">
                <a:latin typeface="Times New Roman"/>
                <a:cs typeface="Times New Roman"/>
              </a:rPr>
              <a:t>erting  </a:t>
            </a:r>
            <a:r>
              <a:rPr dirty="0" sz="1600" spc="-5">
                <a:latin typeface="Times New Roman"/>
                <a:cs typeface="Times New Roman"/>
              </a:rPr>
              <a:t>Input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75272" y="3996944"/>
            <a:ext cx="118745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Non-Inverting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600" spc="-5">
                <a:latin typeface="Times New Roman"/>
                <a:cs typeface="Times New Roman"/>
              </a:rPr>
              <a:t>Input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02065" y="3597021"/>
            <a:ext cx="5905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imes New Roman"/>
                <a:cs typeface="Times New Roman"/>
              </a:rPr>
              <a:t>O</a:t>
            </a:r>
            <a:r>
              <a:rPr dirty="0" sz="1600" spc="-5">
                <a:latin typeface="Times New Roman"/>
                <a:cs typeface="Times New Roman"/>
              </a:rPr>
              <a:t>ut</a:t>
            </a:r>
            <a:r>
              <a:rPr dirty="0" sz="1600">
                <a:latin typeface="Times New Roman"/>
                <a:cs typeface="Times New Roman"/>
              </a:rPr>
              <a:t>p</a:t>
            </a:r>
            <a:r>
              <a:rPr dirty="0" sz="1600" spc="-5">
                <a:latin typeface="Times New Roman"/>
                <a:cs typeface="Times New Roman"/>
              </a:rPr>
              <a:t>ut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pc="-530"/>
              <a:t>Cấu </a:t>
            </a:r>
            <a:r>
              <a:rPr dirty="0" spc="-150"/>
              <a:t>tạo </a:t>
            </a:r>
            <a:r>
              <a:rPr dirty="0" spc="-409"/>
              <a:t>và </a:t>
            </a:r>
            <a:r>
              <a:rPr dirty="0" spc="-315"/>
              <a:t>đặc </a:t>
            </a:r>
            <a:r>
              <a:rPr dirty="0" spc="-140"/>
              <a:t>tính </a:t>
            </a:r>
            <a:r>
              <a:rPr dirty="0" spc="-350"/>
              <a:t>của </a:t>
            </a:r>
            <a:r>
              <a:rPr dirty="0" spc="-325"/>
              <a:t>mạch  </a:t>
            </a:r>
            <a:r>
              <a:rPr dirty="0" spc="-285"/>
              <a:t>khuếch </a:t>
            </a:r>
            <a:r>
              <a:rPr dirty="0" spc="-195"/>
              <a:t>đại </a:t>
            </a:r>
            <a:r>
              <a:rPr dirty="0" spc="-100"/>
              <a:t>thuật </a:t>
            </a:r>
            <a:r>
              <a:rPr dirty="0" spc="-180"/>
              <a:t>toán</a:t>
            </a:r>
            <a:r>
              <a:rPr dirty="0" spc="-869"/>
              <a:t> </a:t>
            </a:r>
            <a:r>
              <a:rPr dirty="0" spc="-340"/>
              <a:t>Op-Amp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94592"/>
            <a:ext cx="7981950" cy="2836545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400" spc="-145" b="1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400" spc="-200" b="1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400" spc="-110" b="1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400" spc="-100" b="1">
                <a:solidFill>
                  <a:srgbClr val="404040"/>
                </a:solidFill>
                <a:latin typeface="Arial"/>
                <a:cs typeface="Arial"/>
              </a:rPr>
              <a:t>thuật </a:t>
            </a:r>
            <a:r>
              <a:rPr dirty="0" sz="2400" spc="-125" b="1">
                <a:solidFill>
                  <a:srgbClr val="404040"/>
                </a:solidFill>
                <a:latin typeface="Arial"/>
                <a:cs typeface="Arial"/>
              </a:rPr>
              <a:t>toán </a:t>
            </a:r>
            <a:r>
              <a:rPr dirty="0" sz="2400" spc="-190" b="1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2400" spc="-145" b="1">
                <a:solidFill>
                  <a:srgbClr val="404040"/>
                </a:solidFill>
                <a:latin typeface="Arial"/>
                <a:cs typeface="Arial"/>
              </a:rPr>
              <a:t>lý</a:t>
            </a:r>
            <a:r>
              <a:rPr dirty="0" sz="2400" spc="-25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170" b="1">
                <a:solidFill>
                  <a:srgbClr val="404040"/>
                </a:solidFill>
                <a:latin typeface="Arial"/>
                <a:cs typeface="Arial"/>
              </a:rPr>
              <a:t>tưởng</a:t>
            </a:r>
            <a:endParaRPr sz="24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9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vô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cùng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vô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cùng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(không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bị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ảnh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hưởng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bởi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trở</a:t>
            </a:r>
            <a:r>
              <a:rPr dirty="0" sz="2000" spc="-3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nguồn)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bằng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(không </a:t>
            </a:r>
            <a:r>
              <a:rPr dirty="0" sz="2000" spc="-165">
                <a:solidFill>
                  <a:srgbClr val="404040"/>
                </a:solidFill>
                <a:latin typeface="Arial"/>
                <a:cs typeface="Arial"/>
              </a:rPr>
              <a:t>gây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ảnh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hưởng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lên</a:t>
            </a:r>
            <a:r>
              <a:rPr dirty="0" sz="2000" spc="-2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tải)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Băng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là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vô</a:t>
            </a:r>
            <a:r>
              <a:rPr dirty="0" sz="2000" spc="-3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cùng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Offset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voltage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bằng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không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29546" y="3767177"/>
            <a:ext cx="3912379" cy="25421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pc="-530"/>
              <a:t>Cấu </a:t>
            </a:r>
            <a:r>
              <a:rPr dirty="0" spc="-150"/>
              <a:t>tạo </a:t>
            </a:r>
            <a:r>
              <a:rPr dirty="0" spc="-375"/>
              <a:t>và </a:t>
            </a:r>
            <a:r>
              <a:rPr dirty="0" spc="-315"/>
              <a:t>đặc </a:t>
            </a:r>
            <a:r>
              <a:rPr dirty="0" spc="-140"/>
              <a:t>tính </a:t>
            </a:r>
            <a:r>
              <a:rPr dirty="0" spc="-350"/>
              <a:t>của </a:t>
            </a:r>
            <a:r>
              <a:rPr dirty="0" spc="-325"/>
              <a:t>mạch  </a:t>
            </a:r>
            <a:r>
              <a:rPr dirty="0" spc="-285"/>
              <a:t>khuếch </a:t>
            </a:r>
            <a:r>
              <a:rPr dirty="0" spc="-195"/>
              <a:t>đại </a:t>
            </a:r>
            <a:r>
              <a:rPr dirty="0" spc="-100"/>
              <a:t>thuật </a:t>
            </a:r>
            <a:r>
              <a:rPr dirty="0" spc="-170"/>
              <a:t>toán</a:t>
            </a:r>
            <a:r>
              <a:rPr dirty="0" spc="-865"/>
              <a:t> </a:t>
            </a:r>
            <a:r>
              <a:rPr dirty="0" spc="-340"/>
              <a:t>Op-Amp</a:t>
            </a:r>
          </a:p>
        </p:txBody>
      </p:sp>
      <p:sp>
        <p:nvSpPr>
          <p:cNvPr id="3" name="object 3"/>
          <p:cNvSpPr/>
          <p:nvPr/>
        </p:nvSpPr>
        <p:spPr>
          <a:xfrm>
            <a:off x="5682072" y="2459556"/>
            <a:ext cx="4081518" cy="2623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8839" y="1694592"/>
            <a:ext cx="5702300" cy="32893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400" spc="-145" b="1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400" spc="-200" b="1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400" spc="-110" b="1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400" spc="-100" b="1">
                <a:solidFill>
                  <a:srgbClr val="404040"/>
                </a:solidFill>
                <a:latin typeface="Arial"/>
                <a:cs typeface="Arial"/>
              </a:rPr>
              <a:t>thuật </a:t>
            </a:r>
            <a:r>
              <a:rPr dirty="0" sz="2400" spc="-125" b="1">
                <a:solidFill>
                  <a:srgbClr val="404040"/>
                </a:solidFill>
                <a:latin typeface="Arial"/>
                <a:cs typeface="Arial"/>
              </a:rPr>
              <a:t>toán </a:t>
            </a:r>
            <a:r>
              <a:rPr dirty="0" sz="2400" spc="-190" b="1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2400" spc="-170" b="1">
                <a:solidFill>
                  <a:srgbClr val="404040"/>
                </a:solidFill>
                <a:latin typeface="Arial"/>
                <a:cs typeface="Arial"/>
              </a:rPr>
              <a:t>thực</a:t>
            </a:r>
            <a:r>
              <a:rPr dirty="0" sz="2400" spc="-50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80" b="1">
                <a:solidFill>
                  <a:srgbClr val="404040"/>
                </a:solidFill>
                <a:latin typeface="Arial"/>
                <a:cs typeface="Arial"/>
              </a:rPr>
              <a:t>tế</a:t>
            </a:r>
            <a:endParaRPr sz="24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9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áp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lớn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vào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lớn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bé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Băng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giới</a:t>
            </a:r>
            <a:r>
              <a:rPr dirty="0" sz="2000" spc="-2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hạn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Xuất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áp</a:t>
            </a: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bù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Xuất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hiện nhiễu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2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pc="-530"/>
              <a:t>Cấu </a:t>
            </a:r>
            <a:r>
              <a:rPr dirty="0" spc="-150"/>
              <a:t>tạo </a:t>
            </a:r>
            <a:r>
              <a:rPr dirty="0" spc="-409"/>
              <a:t>và </a:t>
            </a:r>
            <a:r>
              <a:rPr dirty="0" spc="-315"/>
              <a:t>đặc </a:t>
            </a:r>
            <a:r>
              <a:rPr dirty="0" spc="-140"/>
              <a:t>tính </a:t>
            </a:r>
            <a:r>
              <a:rPr dirty="0" spc="-350"/>
              <a:t>của </a:t>
            </a:r>
            <a:r>
              <a:rPr dirty="0" spc="-325"/>
              <a:t>mạch  </a:t>
            </a:r>
            <a:r>
              <a:rPr dirty="0" spc="-285"/>
              <a:t>khuếch </a:t>
            </a:r>
            <a:r>
              <a:rPr dirty="0" spc="-195"/>
              <a:t>đại </a:t>
            </a:r>
            <a:r>
              <a:rPr dirty="0" spc="-100"/>
              <a:t>thuật </a:t>
            </a:r>
            <a:r>
              <a:rPr dirty="0" spc="-180"/>
              <a:t>toán</a:t>
            </a:r>
            <a:r>
              <a:rPr dirty="0" spc="-869"/>
              <a:t> </a:t>
            </a:r>
            <a:r>
              <a:rPr dirty="0" spc="-340"/>
              <a:t>Op-Amp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75282"/>
            <a:ext cx="5702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45" b="1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400" spc="-200" b="1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400" spc="-110" b="1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400" spc="-100" b="1">
                <a:solidFill>
                  <a:srgbClr val="404040"/>
                </a:solidFill>
                <a:latin typeface="Arial"/>
                <a:cs typeface="Arial"/>
              </a:rPr>
              <a:t>thuật </a:t>
            </a:r>
            <a:r>
              <a:rPr dirty="0" sz="2400" spc="-125" b="1">
                <a:solidFill>
                  <a:srgbClr val="404040"/>
                </a:solidFill>
                <a:latin typeface="Arial"/>
                <a:cs typeface="Arial"/>
              </a:rPr>
              <a:t>toán </a:t>
            </a:r>
            <a:r>
              <a:rPr dirty="0" sz="2400" spc="-190" b="1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2400" spc="-170" b="1">
                <a:solidFill>
                  <a:srgbClr val="404040"/>
                </a:solidFill>
                <a:latin typeface="Arial"/>
                <a:cs typeface="Arial"/>
              </a:rPr>
              <a:t>thực</a:t>
            </a:r>
            <a:r>
              <a:rPr dirty="0" sz="2400" spc="-50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80" b="1">
                <a:solidFill>
                  <a:srgbClr val="404040"/>
                </a:solidFill>
                <a:latin typeface="Arial"/>
                <a:cs typeface="Arial"/>
              </a:rPr>
              <a:t>tế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0748" y="2854451"/>
            <a:ext cx="9004300" cy="2908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pc="-530"/>
              <a:t>Cấu </a:t>
            </a:r>
            <a:r>
              <a:rPr dirty="0" spc="-150"/>
              <a:t>tạo </a:t>
            </a:r>
            <a:r>
              <a:rPr dirty="0" spc="-375"/>
              <a:t>và </a:t>
            </a:r>
            <a:r>
              <a:rPr dirty="0" spc="-315"/>
              <a:t>đặc </a:t>
            </a:r>
            <a:r>
              <a:rPr dirty="0" spc="-140"/>
              <a:t>tính </a:t>
            </a:r>
            <a:r>
              <a:rPr dirty="0" spc="-350"/>
              <a:t>của </a:t>
            </a:r>
            <a:r>
              <a:rPr dirty="0" spc="-325"/>
              <a:t>mạch  </a:t>
            </a:r>
            <a:r>
              <a:rPr dirty="0" spc="-285"/>
              <a:t>khuếch </a:t>
            </a:r>
            <a:r>
              <a:rPr dirty="0" spc="-195"/>
              <a:t>đại </a:t>
            </a:r>
            <a:r>
              <a:rPr dirty="0" spc="-100"/>
              <a:t>thuật </a:t>
            </a:r>
            <a:r>
              <a:rPr dirty="0" spc="-170"/>
              <a:t>toán</a:t>
            </a:r>
            <a:r>
              <a:rPr dirty="0" spc="-865"/>
              <a:t> </a:t>
            </a:r>
            <a:r>
              <a:rPr dirty="0" spc="-340"/>
              <a:t>Op-Amp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75282"/>
            <a:ext cx="5702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45" b="1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400" spc="-200" b="1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400" spc="-110" b="1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400" spc="-100" b="1">
                <a:solidFill>
                  <a:srgbClr val="404040"/>
                </a:solidFill>
                <a:latin typeface="Arial"/>
                <a:cs typeface="Arial"/>
              </a:rPr>
              <a:t>thuật </a:t>
            </a:r>
            <a:r>
              <a:rPr dirty="0" sz="2400" spc="-125" b="1">
                <a:solidFill>
                  <a:srgbClr val="404040"/>
                </a:solidFill>
                <a:latin typeface="Arial"/>
                <a:cs typeface="Arial"/>
              </a:rPr>
              <a:t>toán </a:t>
            </a:r>
            <a:r>
              <a:rPr dirty="0" sz="2400" spc="-190" b="1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2400" spc="-170" b="1">
                <a:solidFill>
                  <a:srgbClr val="404040"/>
                </a:solidFill>
                <a:latin typeface="Arial"/>
                <a:cs typeface="Arial"/>
              </a:rPr>
              <a:t>thực</a:t>
            </a:r>
            <a:r>
              <a:rPr dirty="0" sz="2400" spc="-50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80" b="1">
                <a:solidFill>
                  <a:srgbClr val="404040"/>
                </a:solidFill>
                <a:latin typeface="Arial"/>
                <a:cs typeface="Arial"/>
              </a:rPr>
              <a:t>tế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16380" y="2348483"/>
            <a:ext cx="6524244" cy="4015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8053" y="4241419"/>
            <a:ext cx="140335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0000FF"/>
                </a:solidFill>
                <a:latin typeface="Times New Roman"/>
                <a:cs typeface="Times New Roman"/>
              </a:rPr>
              <a:t>Mạch</a:t>
            </a:r>
            <a:r>
              <a:rPr dirty="0" sz="2000" spc="-7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FF"/>
                </a:solidFill>
                <a:latin typeface="Times New Roman"/>
                <a:cs typeface="Times New Roman"/>
              </a:rPr>
              <a:t>khuếch  đại vi</a:t>
            </a:r>
            <a:r>
              <a:rPr dirty="0" sz="2000" spc="-5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000FF"/>
                </a:solidFill>
                <a:latin typeface="Times New Roman"/>
                <a:cs typeface="Times New Roman"/>
              </a:rPr>
              <a:t>sai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7759954" y="5356656"/>
            <a:ext cx="140335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4970" marR="5080" indent="-382905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DF13EF"/>
                </a:solidFill>
                <a:latin typeface="Times New Roman"/>
                <a:cs typeface="Times New Roman"/>
              </a:rPr>
              <a:t>Mạch</a:t>
            </a:r>
            <a:r>
              <a:rPr dirty="0" sz="2000" spc="-70">
                <a:solidFill>
                  <a:srgbClr val="DF13E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DF13EF"/>
                </a:solidFill>
                <a:latin typeface="Times New Roman"/>
                <a:cs typeface="Times New Roman"/>
              </a:rPr>
              <a:t>khuếch  đại</a:t>
            </a:r>
            <a:r>
              <a:rPr dirty="0" sz="2000" spc="-25">
                <a:solidFill>
                  <a:srgbClr val="DF13EF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DF13EF"/>
                </a:solidFill>
                <a:latin typeface="Times New Roman"/>
                <a:cs typeface="Times New Roman"/>
              </a:rPr>
              <a:t>áp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84997" y="3048762"/>
            <a:ext cx="140398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9079" marR="5080" indent="-247015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96DBFA"/>
                </a:solidFill>
                <a:latin typeface="Times New Roman"/>
                <a:cs typeface="Times New Roman"/>
              </a:rPr>
              <a:t>Mạch</a:t>
            </a:r>
            <a:r>
              <a:rPr dirty="0" sz="2000" spc="-70">
                <a:solidFill>
                  <a:srgbClr val="96DBFA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96DBFA"/>
                </a:solidFill>
                <a:latin typeface="Times New Roman"/>
                <a:cs typeface="Times New Roman"/>
              </a:rPr>
              <a:t>khuếch  đại</a:t>
            </a:r>
            <a:r>
              <a:rPr dirty="0" sz="2000" spc="-35">
                <a:solidFill>
                  <a:srgbClr val="96DBFA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96DBFA"/>
                </a:solidFill>
                <a:latin typeface="Times New Roman"/>
                <a:cs typeface="Times New Roman"/>
              </a:rPr>
              <a:t>dòng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49530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315"/>
              <a:t>chế </a:t>
            </a:r>
            <a:r>
              <a:rPr dirty="0" spc="-145"/>
              <a:t>độ </a:t>
            </a:r>
            <a:r>
              <a:rPr dirty="0" spc="-170"/>
              <a:t>hoạt </a:t>
            </a:r>
            <a:r>
              <a:rPr dirty="0" spc="-250"/>
              <a:t>động</a:t>
            </a:r>
            <a:r>
              <a:rPr dirty="0" spc="-555"/>
              <a:t> </a:t>
            </a:r>
            <a:r>
              <a:rPr dirty="0" spc="-365"/>
              <a:t>của</a:t>
            </a:r>
          </a:p>
          <a:p>
            <a:pPr algn="ctr" marL="5588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  <p:sp>
        <p:nvSpPr>
          <p:cNvPr id="3" name="object 3"/>
          <p:cNvSpPr/>
          <p:nvPr/>
        </p:nvSpPr>
        <p:spPr>
          <a:xfrm>
            <a:off x="1053083" y="2640696"/>
            <a:ext cx="7723643" cy="3485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0375" y="1903933"/>
            <a:ext cx="22777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Mạch </a:t>
            </a:r>
            <a:r>
              <a:rPr dirty="0" sz="2400" spc="-5" b="1">
                <a:latin typeface="Times New Roman"/>
                <a:cs typeface="Times New Roman"/>
              </a:rPr>
              <a:t>khuếch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đại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7" y="6400799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199"/>
                </a:moveTo>
                <a:lnTo>
                  <a:pt x="9902952" y="457199"/>
                </a:lnTo>
                <a:lnTo>
                  <a:pt x="9902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333744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7"/>
                </a:moveTo>
                <a:lnTo>
                  <a:pt x="9902952" y="64007"/>
                </a:lnTo>
                <a:lnTo>
                  <a:pt x="9902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08690" y="1716435"/>
            <a:ext cx="8115672" cy="1743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09977" y="3512896"/>
            <a:ext cx="960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Thực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tế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24268" y="3443096"/>
            <a:ext cx="11569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Lý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tưởng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77948" y="176529"/>
            <a:ext cx="6203950" cy="13792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315"/>
              <a:t>chế </a:t>
            </a:r>
            <a:r>
              <a:rPr dirty="0" spc="-145"/>
              <a:t>độ </a:t>
            </a:r>
            <a:r>
              <a:rPr dirty="0" spc="-170"/>
              <a:t>hoạt </a:t>
            </a:r>
            <a:r>
              <a:rPr dirty="0" spc="-250"/>
              <a:t>động</a:t>
            </a:r>
            <a:r>
              <a:rPr dirty="0" spc="-585"/>
              <a:t> </a:t>
            </a:r>
            <a:r>
              <a:rPr dirty="0" spc="-350"/>
              <a:t>của</a:t>
            </a:r>
          </a:p>
          <a:p>
            <a:pPr algn="ctr" marL="254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9280" y="4102989"/>
            <a:ext cx="81711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Khi </a:t>
            </a:r>
            <a:r>
              <a:rPr dirty="0" sz="2400">
                <a:latin typeface="Times New Roman"/>
                <a:cs typeface="Times New Roman"/>
              </a:rPr>
              <a:t>đầu ra để hở </a:t>
            </a:r>
            <a:r>
              <a:rPr dirty="0" sz="2400" spc="-5">
                <a:latin typeface="Times New Roman"/>
                <a:cs typeface="Times New Roman"/>
              </a:rPr>
              <a:t>mạch </a:t>
            </a:r>
            <a:r>
              <a:rPr dirty="0" sz="2400">
                <a:latin typeface="Times New Roman"/>
                <a:cs typeface="Times New Roman"/>
              </a:rPr>
              <a:t>thì v</a:t>
            </a:r>
            <a:r>
              <a:rPr dirty="0" baseline="-20833" sz="2400">
                <a:latin typeface="Times New Roman"/>
                <a:cs typeface="Times New Roman"/>
              </a:rPr>
              <a:t>2 </a:t>
            </a:r>
            <a:r>
              <a:rPr dirty="0" sz="2400">
                <a:latin typeface="Times New Roman"/>
                <a:cs typeface="Times New Roman"/>
              </a:rPr>
              <a:t>= </a:t>
            </a:r>
            <a:r>
              <a:rPr dirty="0" sz="2400" spc="-5">
                <a:latin typeface="Times New Roman"/>
                <a:cs typeface="Times New Roman"/>
              </a:rPr>
              <a:t>k.v</a:t>
            </a:r>
            <a:r>
              <a:rPr dirty="0" baseline="-20833" sz="2400" spc="-7">
                <a:latin typeface="Times New Roman"/>
                <a:cs typeface="Times New Roman"/>
              </a:rPr>
              <a:t>1 </a:t>
            </a:r>
            <a:r>
              <a:rPr dirty="0" sz="2400">
                <a:latin typeface="Times New Roman"/>
                <a:cs typeface="Times New Roman"/>
              </a:rPr>
              <a:t>với k =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v </a:t>
            </a:r>
            <a:r>
              <a:rPr dirty="0" sz="2400">
                <a:latin typeface="Times New Roman"/>
                <a:cs typeface="Times New Roman"/>
              </a:rPr>
              <a:t>là hệ </a:t>
            </a:r>
            <a:r>
              <a:rPr dirty="0" sz="2400" spc="-5">
                <a:latin typeface="Times New Roman"/>
                <a:cs typeface="Times New Roman"/>
              </a:rPr>
              <a:t>số </a:t>
            </a:r>
            <a:r>
              <a:rPr dirty="0" sz="2400">
                <a:latin typeface="Times New Roman"/>
                <a:cs typeface="Times New Roman"/>
              </a:rPr>
              <a:t>khuếch</a:t>
            </a:r>
            <a:r>
              <a:rPr dirty="0" sz="2400" spc="-2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đại.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0376" y="4613539"/>
            <a:ext cx="7611598" cy="16672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948" y="176529"/>
            <a:ext cx="6203950" cy="13792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315"/>
              <a:t>chế </a:t>
            </a:r>
            <a:r>
              <a:rPr dirty="0" spc="-145"/>
              <a:t>độ </a:t>
            </a:r>
            <a:r>
              <a:rPr dirty="0" spc="-170"/>
              <a:t>hoạt </a:t>
            </a:r>
            <a:r>
              <a:rPr dirty="0" spc="-250"/>
              <a:t>động</a:t>
            </a:r>
            <a:r>
              <a:rPr dirty="0" spc="-585"/>
              <a:t> </a:t>
            </a:r>
            <a:r>
              <a:rPr dirty="0" spc="-350"/>
              <a:t>của</a:t>
            </a:r>
          </a:p>
          <a:p>
            <a:pPr algn="ctr" marL="254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  <p:sp>
        <p:nvSpPr>
          <p:cNvPr id="3" name="object 3"/>
          <p:cNvSpPr/>
          <p:nvPr/>
        </p:nvSpPr>
        <p:spPr>
          <a:xfrm>
            <a:off x="1811280" y="1824215"/>
            <a:ext cx="7801345" cy="43335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7489" y="1426590"/>
            <a:ext cx="975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Ví dụ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07089" y="1629155"/>
            <a:ext cx="8039472" cy="45045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3631" y="1426590"/>
            <a:ext cx="9747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Ví dụ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77948" y="176529"/>
            <a:ext cx="620395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2096135" marR="5080" indent="-2084070">
              <a:lnSpc>
                <a:spcPts val="4900"/>
              </a:lnSpc>
              <a:spcBef>
                <a:spcPts val="980"/>
              </a:spcBef>
            </a:pPr>
            <a:r>
              <a:rPr dirty="0" spc="-595"/>
              <a:t>Các </a:t>
            </a:r>
            <a:r>
              <a:rPr dirty="0" spc="-315"/>
              <a:t>chế </a:t>
            </a:r>
            <a:r>
              <a:rPr dirty="0" spc="-145"/>
              <a:t>độ </a:t>
            </a:r>
            <a:r>
              <a:rPr dirty="0" spc="-170"/>
              <a:t>hoạt </a:t>
            </a:r>
            <a:r>
              <a:rPr dirty="0" spc="-250"/>
              <a:t>động</a:t>
            </a:r>
            <a:r>
              <a:rPr dirty="0" spc="-585"/>
              <a:t> </a:t>
            </a:r>
            <a:r>
              <a:rPr dirty="0" spc="-350"/>
              <a:t>của  </a:t>
            </a:r>
            <a:r>
              <a:rPr dirty="0" spc="-340"/>
              <a:t>Op-Amp</a:t>
            </a:r>
          </a:p>
        </p:txBody>
      </p:sp>
      <p:sp>
        <p:nvSpPr>
          <p:cNvPr id="5" name="object 5"/>
          <p:cNvSpPr/>
          <p:nvPr/>
        </p:nvSpPr>
        <p:spPr>
          <a:xfrm>
            <a:off x="7788402" y="4959858"/>
            <a:ext cx="901065" cy="855344"/>
          </a:xfrm>
          <a:custGeom>
            <a:avLst/>
            <a:gdLst/>
            <a:ahLst/>
            <a:cxnLst/>
            <a:rect l="l" t="t" r="r" b="b"/>
            <a:pathLst>
              <a:path w="901065" h="855345">
                <a:moveTo>
                  <a:pt x="0" y="854963"/>
                </a:moveTo>
                <a:lnTo>
                  <a:pt x="900683" y="854963"/>
                </a:lnTo>
                <a:lnTo>
                  <a:pt x="900683" y="0"/>
                </a:lnTo>
                <a:lnTo>
                  <a:pt x="0" y="0"/>
                </a:lnTo>
                <a:lnTo>
                  <a:pt x="0" y="854963"/>
                </a:lnTo>
                <a:close/>
              </a:path>
            </a:pathLst>
          </a:custGeom>
          <a:ln w="32004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77488" y="2200655"/>
            <a:ext cx="7772026" cy="39433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6341" y="1426590"/>
            <a:ext cx="2574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Khuếch </a:t>
            </a:r>
            <a:r>
              <a:rPr dirty="0" sz="2400" spc="-5" b="1">
                <a:latin typeface="Times New Roman"/>
                <a:cs typeface="Times New Roman"/>
              </a:rPr>
              <a:t>đại hồi</a:t>
            </a:r>
            <a:r>
              <a:rPr dirty="0" sz="2400" spc="-9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tiếp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77948" y="176529"/>
            <a:ext cx="6203950" cy="13792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315"/>
              <a:t>chế </a:t>
            </a:r>
            <a:r>
              <a:rPr dirty="0" spc="-145"/>
              <a:t>độ </a:t>
            </a:r>
            <a:r>
              <a:rPr dirty="0" spc="-170"/>
              <a:t>hoạt </a:t>
            </a:r>
            <a:r>
              <a:rPr dirty="0" spc="-250"/>
              <a:t>động</a:t>
            </a:r>
            <a:r>
              <a:rPr dirty="0" spc="-585"/>
              <a:t> </a:t>
            </a:r>
            <a:r>
              <a:rPr dirty="0" spc="-350"/>
              <a:t>của</a:t>
            </a:r>
          </a:p>
          <a:p>
            <a:pPr algn="ctr" marL="254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948" y="176529"/>
            <a:ext cx="6203950" cy="13792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315"/>
              <a:t>chế </a:t>
            </a:r>
            <a:r>
              <a:rPr dirty="0" spc="-145"/>
              <a:t>độ </a:t>
            </a:r>
            <a:r>
              <a:rPr dirty="0" spc="-170"/>
              <a:t>hoạt </a:t>
            </a:r>
            <a:r>
              <a:rPr dirty="0" spc="-250"/>
              <a:t>động</a:t>
            </a:r>
            <a:r>
              <a:rPr dirty="0" spc="-585"/>
              <a:t> </a:t>
            </a:r>
            <a:r>
              <a:rPr dirty="0" spc="-350"/>
              <a:t>của</a:t>
            </a:r>
          </a:p>
          <a:p>
            <a:pPr algn="ctr" marL="254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  <p:sp>
        <p:nvSpPr>
          <p:cNvPr id="3" name="object 3"/>
          <p:cNvSpPr/>
          <p:nvPr/>
        </p:nvSpPr>
        <p:spPr>
          <a:xfrm>
            <a:off x="864108" y="1539239"/>
            <a:ext cx="8229600" cy="46192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8676" y="1880714"/>
            <a:ext cx="5775237" cy="3948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77948" y="176529"/>
            <a:ext cx="620395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2096135" marR="5080" indent="-2084070">
              <a:lnSpc>
                <a:spcPts val="4900"/>
              </a:lnSpc>
              <a:spcBef>
                <a:spcPts val="980"/>
              </a:spcBef>
            </a:pPr>
            <a:r>
              <a:rPr dirty="0" spc="-595"/>
              <a:t>Các </a:t>
            </a:r>
            <a:r>
              <a:rPr dirty="0" spc="-315"/>
              <a:t>chế </a:t>
            </a:r>
            <a:r>
              <a:rPr dirty="0" spc="-145"/>
              <a:t>độ </a:t>
            </a:r>
            <a:r>
              <a:rPr dirty="0" spc="-170"/>
              <a:t>hoạt </a:t>
            </a:r>
            <a:r>
              <a:rPr dirty="0" spc="-250"/>
              <a:t>động</a:t>
            </a:r>
            <a:r>
              <a:rPr dirty="0" spc="-585"/>
              <a:t> </a:t>
            </a:r>
            <a:r>
              <a:rPr dirty="0" spc="-350"/>
              <a:t>của  </a:t>
            </a:r>
            <a:r>
              <a:rPr dirty="0" spc="-340"/>
              <a:t>Op-Amp</a:t>
            </a:r>
          </a:p>
        </p:txBody>
      </p:sp>
      <p:sp>
        <p:nvSpPr>
          <p:cNvPr id="4" name="object 4"/>
          <p:cNvSpPr/>
          <p:nvPr/>
        </p:nvSpPr>
        <p:spPr>
          <a:xfrm>
            <a:off x="768858" y="3519678"/>
            <a:ext cx="5850890" cy="1125220"/>
          </a:xfrm>
          <a:custGeom>
            <a:avLst/>
            <a:gdLst/>
            <a:ahLst/>
            <a:cxnLst/>
            <a:rect l="l" t="t" r="r" b="b"/>
            <a:pathLst>
              <a:path w="5850890" h="1125220">
                <a:moveTo>
                  <a:pt x="0" y="1124712"/>
                </a:moveTo>
                <a:lnTo>
                  <a:pt x="5850636" y="1124712"/>
                </a:lnTo>
                <a:lnTo>
                  <a:pt x="5850636" y="0"/>
                </a:lnTo>
                <a:lnTo>
                  <a:pt x="0" y="0"/>
                </a:lnTo>
                <a:lnTo>
                  <a:pt x="0" y="1124712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6489" y="176529"/>
            <a:ext cx="670877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65"/>
              <a:t>Đặc </a:t>
            </a:r>
            <a:r>
              <a:rPr dirty="0" spc="-140"/>
              <a:t>tính </a:t>
            </a:r>
            <a:r>
              <a:rPr dirty="0" spc="-150"/>
              <a:t>truyền </a:t>
            </a:r>
            <a:r>
              <a:rPr dirty="0" spc="-114"/>
              <a:t>đạt </a:t>
            </a:r>
            <a:r>
              <a:rPr dirty="0" spc="-300"/>
              <a:t>vòng</a:t>
            </a:r>
            <a:r>
              <a:rPr dirty="0" spc="-925"/>
              <a:t> </a:t>
            </a:r>
            <a:r>
              <a:rPr dirty="0" spc="-400"/>
              <a:t>hở</a:t>
            </a:r>
          </a:p>
        </p:txBody>
      </p:sp>
      <p:sp>
        <p:nvSpPr>
          <p:cNvPr id="3" name="object 3"/>
          <p:cNvSpPr/>
          <p:nvPr/>
        </p:nvSpPr>
        <p:spPr>
          <a:xfrm>
            <a:off x="909819" y="1694291"/>
            <a:ext cx="8153033" cy="41334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6489" y="176529"/>
            <a:ext cx="670877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65"/>
              <a:t>Đặc </a:t>
            </a:r>
            <a:r>
              <a:rPr dirty="0" spc="-140"/>
              <a:t>tính </a:t>
            </a:r>
            <a:r>
              <a:rPr dirty="0" spc="-150"/>
              <a:t>truyền </a:t>
            </a:r>
            <a:r>
              <a:rPr dirty="0" spc="-114"/>
              <a:t>đạt </a:t>
            </a:r>
            <a:r>
              <a:rPr dirty="0" spc="-300"/>
              <a:t>vòng</a:t>
            </a:r>
            <a:r>
              <a:rPr dirty="0" spc="-925"/>
              <a:t> </a:t>
            </a:r>
            <a:r>
              <a:rPr dirty="0" spc="-400"/>
              <a:t>hở</a:t>
            </a:r>
          </a:p>
        </p:txBody>
      </p:sp>
      <p:sp>
        <p:nvSpPr>
          <p:cNvPr id="3" name="object 3"/>
          <p:cNvSpPr/>
          <p:nvPr/>
        </p:nvSpPr>
        <p:spPr>
          <a:xfrm>
            <a:off x="1001637" y="1267214"/>
            <a:ext cx="8152271" cy="48680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125" y="1515993"/>
            <a:ext cx="7925542" cy="46383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29536" y="176529"/>
            <a:ext cx="670242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65"/>
              <a:t>Đặc </a:t>
            </a:r>
            <a:r>
              <a:rPr dirty="0" spc="-140"/>
              <a:t>tính </a:t>
            </a:r>
            <a:r>
              <a:rPr dirty="0" spc="-150"/>
              <a:t>truyền </a:t>
            </a:r>
            <a:r>
              <a:rPr dirty="0" spc="-114"/>
              <a:t>đạt </a:t>
            </a:r>
            <a:r>
              <a:rPr dirty="0" spc="-315"/>
              <a:t>vòng</a:t>
            </a:r>
            <a:r>
              <a:rPr dirty="0" spc="-915"/>
              <a:t> </a:t>
            </a:r>
            <a:r>
              <a:rPr dirty="0" spc="-400"/>
              <a:t>hở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9707" y="115315"/>
            <a:ext cx="9451340" cy="1663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Ví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dụ</a:t>
            </a:r>
            <a:endParaRPr sz="2400">
              <a:latin typeface="Times New Roman"/>
              <a:cs typeface="Times New Roman"/>
            </a:endParaRPr>
          </a:p>
          <a:p>
            <a:pPr marL="542925" marR="5080">
              <a:lnSpc>
                <a:spcPct val="100000"/>
              </a:lnSpc>
              <a:spcBef>
                <a:spcPts val="70"/>
              </a:spcBef>
            </a:pPr>
            <a:r>
              <a:rPr dirty="0" sz="2400" spc="-5">
                <a:latin typeface="Times New Roman"/>
                <a:cs typeface="Times New Roman"/>
              </a:rPr>
              <a:t>Op </a:t>
            </a:r>
            <a:r>
              <a:rPr dirty="0" sz="2400">
                <a:latin typeface="Times New Roman"/>
                <a:cs typeface="Times New Roman"/>
              </a:rPr>
              <a:t>– </a:t>
            </a:r>
            <a:r>
              <a:rPr dirty="0" sz="2400" spc="-10">
                <a:latin typeface="Times New Roman"/>
                <a:cs typeface="Times New Roman"/>
              </a:rPr>
              <a:t>amp </a:t>
            </a:r>
            <a:r>
              <a:rPr dirty="0" sz="2400">
                <a:latin typeface="Times New Roman"/>
                <a:cs typeface="Times New Roman"/>
              </a:rPr>
              <a:t>có </a:t>
            </a:r>
            <a:r>
              <a:rPr dirty="0" sz="2400" spc="-5">
                <a:latin typeface="Times New Roman"/>
                <a:cs typeface="Times New Roman"/>
              </a:rPr>
              <a:t>Vcc </a:t>
            </a:r>
            <a:r>
              <a:rPr dirty="0" sz="2400">
                <a:latin typeface="Times New Roman"/>
                <a:cs typeface="Times New Roman"/>
              </a:rPr>
              <a:t>= </a:t>
            </a:r>
            <a:r>
              <a:rPr dirty="0" sz="2400" spc="-105">
                <a:latin typeface="Times New Roman"/>
                <a:cs typeface="Times New Roman"/>
              </a:rPr>
              <a:t>5V, </a:t>
            </a:r>
            <a:r>
              <a:rPr dirty="0" sz="2400">
                <a:latin typeface="Times New Roman"/>
                <a:cs typeface="Times New Roman"/>
              </a:rPr>
              <a:t>A = 10</a:t>
            </a:r>
            <a:r>
              <a:rPr dirty="0" baseline="24305" sz="2400">
                <a:latin typeface="Times New Roman"/>
                <a:cs typeface="Times New Roman"/>
              </a:rPr>
              <a:t>5</a:t>
            </a:r>
            <a:r>
              <a:rPr dirty="0" sz="2400">
                <a:latin typeface="Times New Roman"/>
                <a:cs typeface="Times New Roman"/>
              </a:rPr>
              <a:t>, </a:t>
            </a:r>
            <a:r>
              <a:rPr dirty="0" sz="2400" spc="-114">
                <a:latin typeface="Times New Roman"/>
                <a:cs typeface="Times New Roman"/>
              </a:rPr>
              <a:t>V- </a:t>
            </a:r>
            <a:r>
              <a:rPr dirty="0" sz="2400">
                <a:latin typeface="Times New Roman"/>
                <a:cs typeface="Times New Roman"/>
              </a:rPr>
              <a:t>= 0, </a:t>
            </a:r>
            <a:r>
              <a:rPr dirty="0" sz="2400" spc="-5">
                <a:latin typeface="Times New Roman"/>
                <a:cs typeface="Times New Roman"/>
              </a:rPr>
              <a:t>V+ </a:t>
            </a:r>
            <a:r>
              <a:rPr dirty="0" sz="2400">
                <a:latin typeface="Times New Roman"/>
                <a:cs typeface="Times New Roman"/>
              </a:rPr>
              <a:t>= 100sin2πt (µV). Tìm và</a:t>
            </a:r>
            <a:r>
              <a:rPr dirty="0" sz="2400" spc="-3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vẽ  điện áp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V</a:t>
            </a:r>
            <a:r>
              <a:rPr dirty="0" baseline="-20833" sz="2400" spc="-104">
                <a:latin typeface="Times New Roman"/>
                <a:cs typeface="Times New Roman"/>
              </a:rPr>
              <a:t>out.</a:t>
            </a:r>
            <a:endParaRPr baseline="-20833" sz="2400">
              <a:latin typeface="Times New Roman"/>
              <a:cs typeface="Times New Roman"/>
            </a:endParaRPr>
          </a:p>
          <a:p>
            <a:pPr algn="ctr" marR="8698865">
              <a:lnSpc>
                <a:spcPct val="100000"/>
              </a:lnSpc>
              <a:spcBef>
                <a:spcPts val="1305"/>
              </a:spcBef>
            </a:pPr>
            <a:r>
              <a:rPr dirty="0" sz="2400" b="1">
                <a:latin typeface="Times New Roman"/>
                <a:cs typeface="Times New Roman"/>
              </a:rPr>
              <a:t>Giải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9542" y="1266782"/>
            <a:ext cx="6309793" cy="4284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9610" y="571246"/>
            <a:ext cx="10490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00"/>
                </a:solidFill>
                <a:latin typeface="Times New Roman"/>
                <a:cs typeface="Times New Roman"/>
              </a:rPr>
              <a:t>Hình</a:t>
            </a:r>
            <a:r>
              <a:rPr dirty="0" sz="2400" spc="-105" b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00"/>
                </a:solidFill>
                <a:latin typeface="Times New Roman"/>
                <a:cs typeface="Times New Roman"/>
              </a:rPr>
              <a:t>vẽ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77867" y="100584"/>
            <a:ext cx="5486399" cy="18196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229" y="109473"/>
            <a:ext cx="96583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00"/>
                </a:solidFill>
                <a:latin typeface="Times New Roman"/>
                <a:cs typeface="Times New Roman"/>
              </a:rPr>
              <a:t>Bài</a:t>
            </a:r>
            <a:r>
              <a:rPr dirty="0" sz="2400" spc="-90" b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00"/>
                </a:solidFill>
                <a:latin typeface="Times New Roman"/>
                <a:cs typeface="Times New Roman"/>
              </a:rPr>
              <a:t>tập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1734" y="616863"/>
            <a:ext cx="9197189" cy="29728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49530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315"/>
              <a:t>chế </a:t>
            </a:r>
            <a:r>
              <a:rPr dirty="0" spc="-145"/>
              <a:t>độ </a:t>
            </a:r>
            <a:r>
              <a:rPr dirty="0" spc="-170"/>
              <a:t>hoạt </a:t>
            </a:r>
            <a:r>
              <a:rPr dirty="0" spc="-250"/>
              <a:t>động</a:t>
            </a:r>
            <a:r>
              <a:rPr dirty="0" spc="-555"/>
              <a:t> </a:t>
            </a:r>
            <a:r>
              <a:rPr dirty="0" spc="-365"/>
              <a:t>của</a:t>
            </a:r>
          </a:p>
          <a:p>
            <a:pPr algn="ctr" marL="5588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78839" y="1875282"/>
            <a:ext cx="7392034" cy="1299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400" spc="-1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110">
                <a:solidFill>
                  <a:srgbClr val="404040"/>
                </a:solidFill>
                <a:latin typeface="Arial"/>
                <a:cs typeface="Arial"/>
              </a:rPr>
              <a:t>khuếch</a:t>
            </a:r>
            <a:r>
              <a:rPr dirty="0" sz="2400" spc="-1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60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dirty="0" sz="2400" spc="-1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15">
                <a:solidFill>
                  <a:srgbClr val="404040"/>
                </a:solidFill>
                <a:latin typeface="Arial"/>
                <a:cs typeface="Arial"/>
              </a:rPr>
              <a:t>thuật</a:t>
            </a:r>
            <a:r>
              <a:rPr dirty="0" sz="2400" spc="-1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404040"/>
                </a:solidFill>
                <a:latin typeface="Arial"/>
                <a:cs typeface="Arial"/>
              </a:rPr>
              <a:t>toán</a:t>
            </a:r>
            <a:r>
              <a:rPr dirty="0" sz="2400" spc="-1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125">
                <a:solidFill>
                  <a:srgbClr val="404040"/>
                </a:solidFill>
                <a:latin typeface="Arial"/>
                <a:cs typeface="Arial"/>
              </a:rPr>
              <a:t>có</a:t>
            </a:r>
            <a:r>
              <a:rPr dirty="0" sz="2400" spc="-1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85">
                <a:solidFill>
                  <a:srgbClr val="404040"/>
                </a:solidFill>
                <a:latin typeface="Arial"/>
                <a:cs typeface="Arial"/>
              </a:rPr>
              <a:t>hai</a:t>
            </a:r>
            <a:r>
              <a:rPr dirty="0" sz="2400" spc="-1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135">
                <a:solidFill>
                  <a:srgbClr val="404040"/>
                </a:solidFill>
                <a:latin typeface="Arial"/>
                <a:cs typeface="Arial"/>
              </a:rPr>
              <a:t>chế</a:t>
            </a:r>
            <a:r>
              <a:rPr dirty="0" sz="24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45">
                <a:solidFill>
                  <a:srgbClr val="404040"/>
                </a:solidFill>
                <a:latin typeface="Arial"/>
                <a:cs typeface="Arial"/>
              </a:rPr>
              <a:t>độ</a:t>
            </a:r>
            <a:r>
              <a:rPr dirty="0" sz="2400" spc="-1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55">
                <a:solidFill>
                  <a:srgbClr val="404040"/>
                </a:solidFill>
                <a:latin typeface="Arial"/>
                <a:cs typeface="Arial"/>
              </a:rPr>
              <a:t>hoạt</a:t>
            </a:r>
            <a:r>
              <a:rPr dirty="0" sz="2400" spc="-1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90">
                <a:solidFill>
                  <a:srgbClr val="404040"/>
                </a:solidFill>
                <a:latin typeface="Arial"/>
                <a:cs typeface="Arial"/>
              </a:rPr>
              <a:t>động</a:t>
            </a:r>
            <a:r>
              <a:rPr dirty="0" sz="2400" spc="-1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95">
                <a:solidFill>
                  <a:srgbClr val="404040"/>
                </a:solidFill>
                <a:latin typeface="Arial"/>
                <a:cs typeface="Arial"/>
              </a:rPr>
              <a:t>chính: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270510" indent="-257810">
              <a:lnSpc>
                <a:spcPct val="100000"/>
              </a:lnSpc>
              <a:spcBef>
                <a:spcPts val="198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Differential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mode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4199890"/>
            <a:ext cx="18802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Common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mode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49530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315"/>
              <a:t>chế </a:t>
            </a:r>
            <a:r>
              <a:rPr dirty="0" spc="-145"/>
              <a:t>độ </a:t>
            </a:r>
            <a:r>
              <a:rPr dirty="0" spc="-170"/>
              <a:t>hoạt </a:t>
            </a:r>
            <a:r>
              <a:rPr dirty="0" spc="-250"/>
              <a:t>động</a:t>
            </a:r>
            <a:r>
              <a:rPr dirty="0" spc="-555"/>
              <a:t> </a:t>
            </a:r>
            <a:r>
              <a:rPr dirty="0" spc="-365"/>
              <a:t>của</a:t>
            </a:r>
          </a:p>
          <a:p>
            <a:pPr algn="ctr" marL="5588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94592"/>
            <a:ext cx="8409305" cy="2665095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400" spc="-50">
                <a:solidFill>
                  <a:srgbClr val="404040"/>
                </a:solidFill>
                <a:latin typeface="Arial"/>
                <a:cs typeface="Arial"/>
              </a:rPr>
              <a:t>Differential </a:t>
            </a:r>
            <a:r>
              <a:rPr dirty="0" sz="2400" spc="-95">
                <a:solidFill>
                  <a:srgbClr val="404040"/>
                </a:solidFill>
                <a:latin typeface="Arial"/>
                <a:cs typeface="Arial"/>
              </a:rPr>
              <a:t>mode </a:t>
            </a:r>
            <a:r>
              <a:rPr dirty="0" sz="2400" spc="-114">
                <a:solidFill>
                  <a:srgbClr val="404040"/>
                </a:solidFill>
                <a:latin typeface="Arial"/>
                <a:cs typeface="Arial"/>
              </a:rPr>
              <a:t>bao </a:t>
            </a:r>
            <a:r>
              <a:rPr dirty="0" sz="2400" spc="-130">
                <a:solidFill>
                  <a:srgbClr val="404040"/>
                </a:solidFill>
                <a:latin typeface="Arial"/>
                <a:cs typeface="Arial"/>
              </a:rPr>
              <a:t>gồm </a:t>
            </a:r>
            <a:r>
              <a:rPr dirty="0" sz="2400" spc="-85">
                <a:solidFill>
                  <a:srgbClr val="404040"/>
                </a:solidFill>
                <a:latin typeface="Arial"/>
                <a:cs typeface="Arial"/>
              </a:rPr>
              <a:t>hai</a:t>
            </a:r>
            <a:r>
              <a:rPr dirty="0" sz="2400" spc="-2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404040"/>
                </a:solidFill>
                <a:latin typeface="Arial"/>
                <a:cs typeface="Arial"/>
              </a:rPr>
              <a:t>loại:</a:t>
            </a:r>
            <a:endParaRPr sz="2400">
              <a:latin typeface="Arial"/>
              <a:cs typeface="Arial"/>
            </a:endParaRPr>
          </a:p>
          <a:p>
            <a:pPr marL="271780" indent="-259079">
              <a:lnSpc>
                <a:spcPts val="2280"/>
              </a:lnSpc>
              <a:spcBef>
                <a:spcPts val="119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Single-ended: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vào</a:t>
            </a:r>
            <a:r>
              <a:rPr dirty="0" sz="2000" spc="2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Op-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Amp,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còn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lại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</a:t>
            </a: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đất</a:t>
            </a:r>
            <a:endParaRPr sz="2000">
              <a:latin typeface="Arial"/>
              <a:cs typeface="Arial"/>
            </a:endParaRPr>
          </a:p>
          <a:p>
            <a:pPr algn="just" lvl="1" marL="396875" marR="6350" indent="-182880">
              <a:lnSpc>
                <a:spcPts val="1939"/>
              </a:lnSpc>
              <a:spcBef>
                <a:spcPts val="434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(a):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Nếu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1800" spc="-5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1800" spc="-13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(inverting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input),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chất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đảo,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ngược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pha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1800" spc="2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dirty="0" sz="1800" spc="-2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vào</a:t>
            </a:r>
            <a:endParaRPr sz="1800">
              <a:latin typeface="Arial"/>
              <a:cs typeface="Arial"/>
            </a:endParaRPr>
          </a:p>
          <a:p>
            <a:pPr lvl="1" marL="396875" indent="-182880">
              <a:lnSpc>
                <a:spcPts val="2055"/>
              </a:lnSpc>
              <a:spcBef>
                <a:spcPts val="36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(b):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Nếu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1800" spc="-13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(non-inverting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input),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dirty="0" sz="1800" spc="1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endParaRPr sz="1800">
              <a:latin typeface="Arial"/>
              <a:cs typeface="Arial"/>
            </a:endParaRPr>
          </a:p>
          <a:p>
            <a:pPr marL="396875">
              <a:lnSpc>
                <a:spcPts val="2055"/>
              </a:lnSpc>
            </a:pP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cùng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pha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dirty="0" sz="1800" spc="-3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vào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50893" y="4572536"/>
            <a:ext cx="7036739" cy="16595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563611" y="5410200"/>
            <a:ext cx="629411" cy="8854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82567" y="5430011"/>
            <a:ext cx="627888" cy="8854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49530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315"/>
              <a:t>chế </a:t>
            </a:r>
            <a:r>
              <a:rPr dirty="0" spc="-145"/>
              <a:t>độ </a:t>
            </a:r>
            <a:r>
              <a:rPr dirty="0" spc="-170"/>
              <a:t>hoạt </a:t>
            </a:r>
            <a:r>
              <a:rPr dirty="0" spc="-250"/>
              <a:t>động</a:t>
            </a:r>
            <a:r>
              <a:rPr dirty="0" spc="-555"/>
              <a:t> </a:t>
            </a:r>
            <a:r>
              <a:rPr dirty="0" spc="-365"/>
              <a:t>của</a:t>
            </a:r>
          </a:p>
          <a:p>
            <a:pPr algn="ctr" marL="5588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94592"/>
            <a:ext cx="8148955" cy="2028189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400" spc="-40">
                <a:solidFill>
                  <a:srgbClr val="404040"/>
                </a:solidFill>
                <a:latin typeface="Arial"/>
                <a:cs typeface="Arial"/>
              </a:rPr>
              <a:t>Differential </a:t>
            </a:r>
            <a:r>
              <a:rPr dirty="0" sz="2400" spc="-95">
                <a:solidFill>
                  <a:srgbClr val="404040"/>
                </a:solidFill>
                <a:latin typeface="Arial"/>
                <a:cs typeface="Arial"/>
              </a:rPr>
              <a:t>mode </a:t>
            </a:r>
            <a:r>
              <a:rPr dirty="0" sz="2400" spc="-114">
                <a:solidFill>
                  <a:srgbClr val="404040"/>
                </a:solidFill>
                <a:latin typeface="Arial"/>
                <a:cs typeface="Arial"/>
              </a:rPr>
              <a:t>bao </a:t>
            </a:r>
            <a:r>
              <a:rPr dirty="0" sz="2400" spc="-125">
                <a:solidFill>
                  <a:srgbClr val="404040"/>
                </a:solidFill>
                <a:latin typeface="Arial"/>
                <a:cs typeface="Arial"/>
              </a:rPr>
              <a:t>gồm </a:t>
            </a:r>
            <a:r>
              <a:rPr dirty="0" sz="2400" spc="-85">
                <a:solidFill>
                  <a:srgbClr val="404040"/>
                </a:solidFill>
                <a:latin typeface="Arial"/>
                <a:cs typeface="Arial"/>
              </a:rPr>
              <a:t>hai</a:t>
            </a:r>
            <a:r>
              <a:rPr dirty="0" sz="2400" spc="-2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404040"/>
                </a:solidFill>
                <a:latin typeface="Arial"/>
                <a:cs typeface="Arial"/>
              </a:rPr>
              <a:t>loại:</a:t>
            </a:r>
            <a:endParaRPr sz="2400">
              <a:latin typeface="Arial"/>
              <a:cs typeface="Arial"/>
            </a:endParaRPr>
          </a:p>
          <a:p>
            <a:pPr marL="104139" indent="-91440">
              <a:lnSpc>
                <a:spcPts val="2280"/>
              </a:lnSpc>
              <a:spcBef>
                <a:spcPts val="119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Single-ended: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2000" spc="-35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Op-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Amp,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còn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lại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</a:t>
            </a: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đất.</a:t>
            </a:r>
            <a:endParaRPr sz="2000">
              <a:latin typeface="Arial"/>
              <a:cs typeface="Arial"/>
            </a:endParaRPr>
          </a:p>
          <a:p>
            <a:pPr marL="104139" marR="189230" indent="-91440">
              <a:lnSpc>
                <a:spcPts val="2160"/>
              </a:lnSpc>
              <a:spcBef>
                <a:spcPts val="1425"/>
              </a:spcBef>
              <a:buClr>
                <a:srgbClr val="99CA38"/>
              </a:buClr>
              <a:buFont typeface="Wingdings"/>
              <a:buChar char=""/>
              <a:tabLst>
                <a:tab pos="215900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Double-ended: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cả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2000" spc="-3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Op- 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Amp,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tuy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nhiêu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ngược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pha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với</a:t>
            </a:r>
            <a:r>
              <a:rPr dirty="0" sz="2000" spc="-3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nhau.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2827" y="4042121"/>
            <a:ext cx="7847658" cy="1651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49530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315"/>
              <a:t>chế </a:t>
            </a:r>
            <a:r>
              <a:rPr dirty="0" spc="-145"/>
              <a:t>độ </a:t>
            </a:r>
            <a:r>
              <a:rPr dirty="0" spc="-170"/>
              <a:t>hoạt </a:t>
            </a:r>
            <a:r>
              <a:rPr dirty="0" spc="-250"/>
              <a:t>động</a:t>
            </a:r>
            <a:r>
              <a:rPr dirty="0" spc="-555"/>
              <a:t> </a:t>
            </a:r>
            <a:r>
              <a:rPr dirty="0" spc="-365"/>
              <a:t>của</a:t>
            </a:r>
          </a:p>
          <a:p>
            <a:pPr algn="ctr" marL="5588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407400" cy="87947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12700" marR="5080">
              <a:lnSpc>
                <a:spcPts val="2160"/>
              </a:lnSpc>
              <a:spcBef>
                <a:spcPts val="375"/>
              </a:spcBef>
            </a:pP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Common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mode: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cùng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pha,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cùng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và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biên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dụng 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ở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đảo.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đó,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đầu ra </a:t>
            </a:r>
            <a:r>
              <a:rPr dirty="0" sz="2000" spc="-175">
                <a:solidFill>
                  <a:srgbClr val="404040"/>
                </a:solidFill>
                <a:latin typeface="Arial"/>
                <a:cs typeface="Arial"/>
              </a:rPr>
              <a:t>sẽ 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bằng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không.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4913121"/>
            <a:ext cx="8409305" cy="115443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2700" marR="5080">
              <a:lnSpc>
                <a:spcPct val="90000"/>
              </a:lnSpc>
              <a:spcBef>
                <a:spcPts val="340"/>
              </a:spcBef>
            </a:pP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chất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này,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nhiễu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xuất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hiện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đồng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thời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ở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Op-Amp. 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nhiễu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cùng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pha,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cùng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và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cùng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biên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nhau.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Do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đó,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tại 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Op-Amp,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ích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(differential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mode)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nhiễu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bị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khử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(common</a:t>
            </a:r>
            <a:r>
              <a:rPr dirty="0" sz="2000" spc="-2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mode)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15639" y="2967584"/>
            <a:ext cx="3752850" cy="16855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51435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180"/>
              <a:t>thông </a:t>
            </a:r>
            <a:r>
              <a:rPr dirty="0" spc="-380"/>
              <a:t>số </a:t>
            </a:r>
            <a:r>
              <a:rPr dirty="0" spc="-490"/>
              <a:t>cơ </a:t>
            </a:r>
            <a:r>
              <a:rPr dirty="0" spc="-290"/>
              <a:t>bản</a:t>
            </a:r>
            <a:r>
              <a:rPr dirty="0" spc="-900"/>
              <a:t> </a:t>
            </a:r>
            <a:r>
              <a:rPr dirty="0" spc="-365"/>
              <a:t>của</a:t>
            </a:r>
          </a:p>
          <a:p>
            <a:pPr algn="ctr" marL="5588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6171565" cy="4095750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30">
                <a:solidFill>
                  <a:srgbClr val="404040"/>
                </a:solidFill>
                <a:latin typeface="Arial"/>
                <a:cs typeface="Arial"/>
              </a:rPr>
              <a:t>triệt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đồng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pha</a:t>
            </a:r>
            <a:r>
              <a:rPr dirty="0" sz="2000" spc="-3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95">
                <a:solidFill>
                  <a:srgbClr val="404040"/>
                </a:solidFill>
                <a:latin typeface="Arial"/>
                <a:cs typeface="Arial"/>
              </a:rPr>
              <a:t>(CMRR)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lợi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vòng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hở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(Open-loop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Voltage</a:t>
            </a:r>
            <a:r>
              <a:rPr dirty="0" sz="2000" spc="-25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Gain)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Ngưỡng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dirty="0" sz="2000" spc="25">
                <a:solidFill>
                  <a:srgbClr val="404040"/>
                </a:solidFill>
                <a:latin typeface="Arial"/>
                <a:cs typeface="Arial"/>
              </a:rPr>
              <a:t>tối</a:t>
            </a:r>
            <a:r>
              <a:rPr dirty="0" sz="2000" spc="-3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đa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(Maximum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Output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Voltage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Swing)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bù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(Input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Offset</a:t>
            </a:r>
            <a:r>
              <a:rPr dirty="0" sz="2000" spc="-3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Voltage)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bù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(Input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Offset</a:t>
            </a:r>
            <a:r>
              <a:rPr dirty="0" sz="2000" spc="-3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Current)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(Input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Bias</a:t>
            </a:r>
            <a:r>
              <a:rPr dirty="0" sz="2000" spc="-2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Current)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(Input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Impedance)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(Output</a:t>
            </a:r>
            <a:r>
              <a:rPr dirty="0" sz="2000" spc="-1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Impedance)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dốc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áp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(Slew-rate)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51435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180"/>
              <a:t>thông </a:t>
            </a:r>
            <a:r>
              <a:rPr dirty="0" spc="-380"/>
              <a:t>số </a:t>
            </a:r>
            <a:r>
              <a:rPr dirty="0" spc="-490"/>
              <a:t>cơ </a:t>
            </a:r>
            <a:r>
              <a:rPr dirty="0" spc="-290"/>
              <a:t>bản</a:t>
            </a:r>
            <a:r>
              <a:rPr dirty="0" spc="-900"/>
              <a:t> </a:t>
            </a:r>
            <a:r>
              <a:rPr dirty="0" spc="-365"/>
              <a:t>của</a:t>
            </a:r>
          </a:p>
          <a:p>
            <a:pPr algn="ctr" marL="5588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94592"/>
            <a:ext cx="8405495" cy="130302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400" spc="-19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2400" spc="-17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400" spc="35">
                <a:solidFill>
                  <a:srgbClr val="404040"/>
                </a:solidFill>
                <a:latin typeface="Arial"/>
                <a:cs typeface="Arial"/>
              </a:rPr>
              <a:t>triệt </a:t>
            </a:r>
            <a:r>
              <a:rPr dirty="0" sz="2400" spc="-2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400" spc="-7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400" spc="-95">
                <a:solidFill>
                  <a:srgbClr val="404040"/>
                </a:solidFill>
                <a:latin typeface="Arial"/>
                <a:cs typeface="Arial"/>
              </a:rPr>
              <a:t>đồng </a:t>
            </a:r>
            <a:r>
              <a:rPr dirty="0" sz="2400" spc="-114">
                <a:solidFill>
                  <a:srgbClr val="404040"/>
                </a:solidFill>
                <a:latin typeface="Arial"/>
                <a:cs typeface="Arial"/>
              </a:rPr>
              <a:t>pha (Common-mode </a:t>
            </a:r>
            <a:r>
              <a:rPr dirty="0" sz="2400" spc="-100">
                <a:solidFill>
                  <a:srgbClr val="404040"/>
                </a:solidFill>
                <a:latin typeface="Arial"/>
                <a:cs typeface="Arial"/>
              </a:rPr>
              <a:t>Rejection</a:t>
            </a:r>
            <a:r>
              <a:rPr dirty="0" sz="2400" spc="-4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105">
                <a:solidFill>
                  <a:srgbClr val="404040"/>
                </a:solidFill>
                <a:latin typeface="Arial"/>
                <a:cs typeface="Arial"/>
              </a:rPr>
              <a:t>Ratio)</a:t>
            </a:r>
            <a:endParaRPr sz="2400">
              <a:latin typeface="Arial"/>
              <a:cs typeface="Arial"/>
            </a:endParaRPr>
          </a:p>
          <a:p>
            <a:pPr marL="271780" indent="-259079">
              <a:lnSpc>
                <a:spcPts val="2280"/>
              </a:lnSpc>
              <a:spcBef>
                <a:spcPts val="119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hiện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khả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năng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những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ngược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pha</a:t>
            </a:r>
            <a:r>
              <a:rPr dirty="0" sz="2000" spc="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30">
                <a:solidFill>
                  <a:srgbClr val="404040"/>
                </a:solidFill>
                <a:latin typeface="Arial"/>
                <a:cs typeface="Arial"/>
              </a:rPr>
              <a:t>triệt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tiêu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những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cùng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pha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một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570223"/>
            <a:ext cx="22796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99CA38"/>
                </a:solidFill>
                <a:latin typeface="Wingdings"/>
                <a:cs typeface="Wingdings"/>
              </a:rPr>
              <a:t>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4474209"/>
            <a:ext cx="8408035" cy="1058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1780" indent="-259079">
              <a:lnSpc>
                <a:spcPts val="2280"/>
              </a:lnSpc>
              <a:spcBef>
                <a:spcPts val="10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270">
                <a:solidFill>
                  <a:srgbClr val="404040"/>
                </a:solidFill>
                <a:latin typeface="Arial"/>
                <a:cs typeface="Arial"/>
              </a:rPr>
              <a:t>CMRR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100,000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tức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ích</a:t>
            </a:r>
            <a:r>
              <a:rPr dirty="0" sz="2000" spc="2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gấp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100,000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lần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nhiễu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không mong</a:t>
            </a:r>
            <a:r>
              <a:rPr dirty="0" sz="2000" spc="-3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muốn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7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65">
                <a:solidFill>
                  <a:srgbClr val="404040"/>
                </a:solidFill>
                <a:latin typeface="Arial"/>
                <a:cs typeface="Arial"/>
              </a:rPr>
              <a:t>CMRR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còn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toán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theo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đơn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vị</a:t>
            </a:r>
            <a:r>
              <a:rPr dirty="0" sz="2000" spc="-25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dB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3446" y="3361719"/>
            <a:ext cx="2294897" cy="837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817111" y="3338321"/>
            <a:ext cx="500443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0" marR="5080" indent="-114300">
              <a:lnSpc>
                <a:spcPct val="100000"/>
              </a:lnSpc>
              <a:spcBef>
                <a:spcPts val="105"/>
              </a:spcBef>
            </a:pP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dirty="0" baseline="-21367" sz="1950" spc="-89">
                <a:solidFill>
                  <a:srgbClr val="404040"/>
                </a:solidFill>
                <a:latin typeface="Arial"/>
                <a:cs typeface="Arial"/>
              </a:rPr>
              <a:t>ol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lợi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vòng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hở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(</a:t>
            </a:r>
            <a:r>
              <a:rPr dirty="0" sz="2000" spc="-90" b="1">
                <a:solidFill>
                  <a:srgbClr val="404040"/>
                </a:solidFill>
                <a:latin typeface="Arial"/>
                <a:cs typeface="Arial"/>
              </a:rPr>
              <a:t>o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pen </a:t>
            </a:r>
            <a:r>
              <a:rPr dirty="0" sz="2000" spc="-65" b="1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oop)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#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200,000 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dirty="0" baseline="-21367" sz="1950" spc="-142">
                <a:solidFill>
                  <a:srgbClr val="404040"/>
                </a:solidFill>
                <a:latin typeface="Arial"/>
                <a:cs typeface="Arial"/>
              </a:rPr>
              <a:t>cm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lợi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đồng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pha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(</a:t>
            </a:r>
            <a:r>
              <a:rPr dirty="0" sz="2000" spc="-95" b="1">
                <a:solidFill>
                  <a:srgbClr val="404040"/>
                </a:solidFill>
                <a:latin typeface="Arial"/>
                <a:cs typeface="Arial"/>
              </a:rPr>
              <a:t>c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ommon-</a:t>
            </a:r>
            <a:r>
              <a:rPr dirty="0" sz="2000" spc="-95" b="1">
                <a:solidFill>
                  <a:srgbClr val="404040"/>
                </a:solidFill>
                <a:latin typeface="Arial"/>
                <a:cs typeface="Arial"/>
              </a:rPr>
              <a:t>m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ode)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#&lt;</a:t>
            </a:r>
            <a:r>
              <a:rPr dirty="0" sz="2000" spc="-4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84217" y="4976292"/>
            <a:ext cx="3453643" cy="8135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4545" y="286892"/>
            <a:ext cx="5808345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899285" marR="5080" indent="-1887220">
              <a:lnSpc>
                <a:spcPts val="4900"/>
              </a:lnSpc>
              <a:spcBef>
                <a:spcPts val="980"/>
              </a:spcBef>
            </a:pPr>
            <a:r>
              <a:rPr dirty="0" spc="-595"/>
              <a:t>Các </a:t>
            </a:r>
            <a:r>
              <a:rPr dirty="0" spc="-180"/>
              <a:t>thông </a:t>
            </a:r>
            <a:r>
              <a:rPr dirty="0" spc="-380"/>
              <a:t>số </a:t>
            </a:r>
            <a:r>
              <a:rPr dirty="0" spc="-490"/>
              <a:t>cơ </a:t>
            </a:r>
            <a:r>
              <a:rPr dirty="0" spc="-290"/>
              <a:t>bản </a:t>
            </a:r>
            <a:r>
              <a:rPr dirty="0" spc="-365"/>
              <a:t>của  </a:t>
            </a:r>
            <a:r>
              <a:rPr dirty="0" spc="-340"/>
              <a:t>Op-Amp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78839" y="1694592"/>
            <a:ext cx="8408035" cy="2480945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400" spc="-155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400" spc="-55">
                <a:solidFill>
                  <a:srgbClr val="404040"/>
                </a:solidFill>
                <a:latin typeface="Arial"/>
                <a:cs typeface="Arial"/>
              </a:rPr>
              <a:t>lợi </a:t>
            </a:r>
            <a:r>
              <a:rPr dirty="0" sz="2400" spc="-130">
                <a:solidFill>
                  <a:srgbClr val="404040"/>
                </a:solidFill>
                <a:latin typeface="Arial"/>
                <a:cs typeface="Arial"/>
              </a:rPr>
              <a:t>vòng </a:t>
            </a:r>
            <a:r>
              <a:rPr dirty="0" sz="2400" spc="-135">
                <a:solidFill>
                  <a:srgbClr val="404040"/>
                </a:solidFill>
                <a:latin typeface="Arial"/>
                <a:cs typeface="Arial"/>
              </a:rPr>
              <a:t>hở </a:t>
            </a:r>
            <a:r>
              <a:rPr dirty="0" sz="2400" spc="-95">
                <a:solidFill>
                  <a:srgbClr val="404040"/>
                </a:solidFill>
                <a:latin typeface="Arial"/>
                <a:cs typeface="Arial"/>
              </a:rPr>
              <a:t>(Open-loop </a:t>
            </a:r>
            <a:r>
              <a:rPr dirty="0" sz="2400" spc="-125">
                <a:solidFill>
                  <a:srgbClr val="404040"/>
                </a:solidFill>
                <a:latin typeface="Arial"/>
                <a:cs typeface="Arial"/>
              </a:rPr>
              <a:t>Voltage</a:t>
            </a:r>
            <a:r>
              <a:rPr dirty="0" sz="2400" spc="-2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135">
                <a:solidFill>
                  <a:srgbClr val="404040"/>
                </a:solidFill>
                <a:latin typeface="Arial"/>
                <a:cs typeface="Arial"/>
              </a:rPr>
              <a:t>Gain)</a:t>
            </a:r>
            <a:endParaRPr sz="24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9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kí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dirty="0" baseline="-21367" sz="1950" spc="-89">
                <a:solidFill>
                  <a:srgbClr val="404040"/>
                </a:solidFill>
                <a:latin typeface="Arial"/>
                <a:cs typeface="Arial"/>
              </a:rPr>
              <a:t>ol</a:t>
            </a:r>
            <a:endParaRPr baseline="-21367" sz="1950">
              <a:latin typeface="Arial"/>
              <a:cs typeface="Arial"/>
            </a:endParaRPr>
          </a:p>
          <a:p>
            <a:pPr marL="271780" indent="-259079">
              <a:lnSpc>
                <a:spcPts val="2280"/>
              </a:lnSpc>
              <a:spcBef>
                <a:spcPts val="115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nội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khi</a:t>
            </a:r>
            <a:r>
              <a:rPr dirty="0" sz="2000" spc="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không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bất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kì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ngoài</a:t>
            </a:r>
            <a:r>
              <a:rPr dirty="0" sz="2000" spc="-4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nào.</a:t>
            </a:r>
            <a:endParaRPr sz="2000">
              <a:latin typeface="Arial"/>
              <a:cs typeface="Arial"/>
            </a:endParaRPr>
          </a:p>
          <a:p>
            <a:pPr marL="271780" indent="-259079">
              <a:lnSpc>
                <a:spcPts val="228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dirty="0" baseline="-21367" sz="1950" spc="-89">
                <a:solidFill>
                  <a:srgbClr val="404040"/>
                </a:solidFill>
                <a:latin typeface="Arial"/>
                <a:cs typeface="Arial"/>
              </a:rPr>
              <a:t>ol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rất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lớn,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khi lên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đến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200,000 (106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dB)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rất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khó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điều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khiển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theo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ý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người</a:t>
            </a:r>
            <a:r>
              <a:rPr dirty="0" sz="2000" spc="-2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dùng.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51435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180"/>
              <a:t>thông </a:t>
            </a:r>
            <a:r>
              <a:rPr dirty="0" spc="-380"/>
              <a:t>số </a:t>
            </a:r>
            <a:r>
              <a:rPr dirty="0" spc="-490"/>
              <a:t>cơ </a:t>
            </a:r>
            <a:r>
              <a:rPr dirty="0" spc="-290"/>
              <a:t>bản</a:t>
            </a:r>
            <a:r>
              <a:rPr dirty="0" spc="-900"/>
              <a:t> </a:t>
            </a:r>
            <a:r>
              <a:rPr dirty="0" spc="-365"/>
              <a:t>của</a:t>
            </a:r>
          </a:p>
          <a:p>
            <a:pPr algn="ctr" marL="5588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2191105"/>
            <a:ext cx="5474970" cy="2656840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104139" indent="-91440">
              <a:lnSpc>
                <a:spcPct val="100000"/>
              </a:lnSpc>
              <a:spcBef>
                <a:spcPts val="125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kí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104">
                <a:solidFill>
                  <a:srgbClr val="404040"/>
                </a:solidFill>
                <a:latin typeface="Arial"/>
                <a:cs typeface="Arial"/>
              </a:rPr>
              <a:t>O(p-p)</a:t>
            </a:r>
            <a:endParaRPr baseline="-21367" sz="1950">
              <a:latin typeface="Arial"/>
              <a:cs typeface="Arial"/>
            </a:endParaRPr>
          </a:p>
          <a:p>
            <a:pPr marL="104139" marR="5080" indent="-91440">
              <a:lnSpc>
                <a:spcPts val="2160"/>
              </a:lnSpc>
              <a:spcBef>
                <a:spcPts val="143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hiện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15">
                <a:solidFill>
                  <a:srgbClr val="404040"/>
                </a:solidFill>
                <a:latin typeface="Arial"/>
                <a:cs typeface="Arial"/>
              </a:rPr>
              <a:t>tối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đa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sau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</a:t>
            </a:r>
            <a:r>
              <a:rPr dirty="0" sz="2000" spc="-2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đại.</a:t>
            </a:r>
            <a:endParaRPr sz="2000">
              <a:latin typeface="Arial"/>
              <a:cs typeface="Arial"/>
            </a:endParaRPr>
          </a:p>
          <a:p>
            <a:pPr marL="252095" indent="-239395">
              <a:lnSpc>
                <a:spcPts val="2280"/>
              </a:lnSpc>
              <a:spcBef>
                <a:spcPts val="1130"/>
              </a:spcBef>
              <a:buClr>
                <a:srgbClr val="99CA38"/>
              </a:buClr>
              <a:buFont typeface="Wingdings"/>
              <a:buChar char=""/>
              <a:tabLst>
                <a:tab pos="252729" algn="l"/>
              </a:tabLst>
            </a:pPr>
            <a:r>
              <a:rPr dirty="0" sz="2000" spc="3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lý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tưởng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ngưỡng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dirty="0" sz="2000" spc="15">
                <a:solidFill>
                  <a:srgbClr val="404040"/>
                </a:solidFill>
                <a:latin typeface="Arial"/>
                <a:cs typeface="Arial"/>
              </a:rPr>
              <a:t>tối</a:t>
            </a:r>
            <a:r>
              <a:rPr dirty="0" sz="2000" spc="-2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đa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bằng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5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cung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r>
              <a:rPr dirty="0" sz="2000" spc="-4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00">
                <a:solidFill>
                  <a:srgbClr val="404040"/>
                </a:solidFill>
                <a:latin typeface="Arial"/>
                <a:cs typeface="Arial"/>
              </a:rPr>
              <a:t>Vcc</a:t>
            </a:r>
            <a:endParaRPr sz="2000">
              <a:latin typeface="Arial"/>
              <a:cs typeface="Arial"/>
            </a:endParaRPr>
          </a:p>
          <a:p>
            <a:pPr marL="271780" indent="-259079">
              <a:lnSpc>
                <a:spcPts val="228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thực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tế,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bé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</a:t>
            </a:r>
            <a:r>
              <a:rPr dirty="0" sz="2000" spc="-3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200">
                <a:solidFill>
                  <a:srgbClr val="404040"/>
                </a:solidFill>
                <a:latin typeface="Arial"/>
                <a:cs typeface="Arial"/>
              </a:rPr>
              <a:t>Vcc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và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phụ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2000" spc="-4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tải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49424" y="2915764"/>
            <a:ext cx="2185426" cy="17522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648445" y="2571750"/>
            <a:ext cx="4813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+</a:t>
            </a:r>
            <a:r>
              <a:rPr dirty="0" sz="1600" spc="-10">
                <a:latin typeface="Times New Roman"/>
                <a:cs typeface="Times New Roman"/>
              </a:rPr>
              <a:t>Vcc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679560" y="4603750"/>
            <a:ext cx="4191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imes New Roman"/>
                <a:cs typeface="Times New Roman"/>
              </a:rPr>
              <a:t>-Vcc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45045" y="3113658"/>
            <a:ext cx="76962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0815" marR="5080" indent="-15875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In</a:t>
            </a:r>
            <a:r>
              <a:rPr dirty="0" sz="1600">
                <a:latin typeface="Times New Roman"/>
                <a:cs typeface="Times New Roman"/>
              </a:rPr>
              <a:t>v</a:t>
            </a:r>
            <a:r>
              <a:rPr dirty="0" sz="1600" spc="-5">
                <a:latin typeface="Times New Roman"/>
                <a:cs typeface="Times New Roman"/>
              </a:rPr>
              <a:t>erting  </a:t>
            </a:r>
            <a:r>
              <a:rPr dirty="0" sz="1600" spc="-5">
                <a:latin typeface="Times New Roman"/>
                <a:cs typeface="Times New Roman"/>
              </a:rPr>
              <a:t>Input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59371" y="3788409"/>
            <a:ext cx="118745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7825" marR="5080" indent="-36576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imes New Roman"/>
                <a:cs typeface="Times New Roman"/>
              </a:rPr>
              <a:t>N</a:t>
            </a:r>
            <a:r>
              <a:rPr dirty="0" sz="1600" spc="-5">
                <a:latin typeface="Times New Roman"/>
                <a:cs typeface="Times New Roman"/>
              </a:rPr>
              <a:t>o</a:t>
            </a:r>
            <a:r>
              <a:rPr dirty="0" sz="1600">
                <a:latin typeface="Times New Roman"/>
                <a:cs typeface="Times New Roman"/>
              </a:rPr>
              <a:t>n</a:t>
            </a:r>
            <a:r>
              <a:rPr dirty="0" sz="1600" spc="-10">
                <a:latin typeface="Times New Roman"/>
                <a:cs typeface="Times New Roman"/>
              </a:rPr>
              <a:t>-</a:t>
            </a:r>
            <a:r>
              <a:rPr dirty="0" sz="1600" spc="-5">
                <a:latin typeface="Times New Roman"/>
                <a:cs typeface="Times New Roman"/>
              </a:rPr>
              <a:t>In</a:t>
            </a:r>
            <a:r>
              <a:rPr dirty="0" sz="1600">
                <a:latin typeface="Times New Roman"/>
                <a:cs typeface="Times New Roman"/>
              </a:rPr>
              <a:t>v</a:t>
            </a:r>
            <a:r>
              <a:rPr dirty="0" sz="1600" spc="-5">
                <a:latin typeface="Times New Roman"/>
                <a:cs typeface="Times New Roman"/>
              </a:rPr>
              <a:t>erting  </a:t>
            </a:r>
            <a:r>
              <a:rPr dirty="0" sz="1600" spc="-5">
                <a:latin typeface="Times New Roman"/>
                <a:cs typeface="Times New Roman"/>
              </a:rPr>
              <a:t>Input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86164" y="3388614"/>
            <a:ext cx="5905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imes New Roman"/>
                <a:cs typeface="Times New Roman"/>
              </a:rPr>
              <a:t>O</a:t>
            </a:r>
            <a:r>
              <a:rPr dirty="0" sz="1600" spc="-5">
                <a:latin typeface="Times New Roman"/>
                <a:cs typeface="Times New Roman"/>
              </a:rPr>
              <a:t>ut</a:t>
            </a:r>
            <a:r>
              <a:rPr dirty="0" sz="1600">
                <a:latin typeface="Times New Roman"/>
                <a:cs typeface="Times New Roman"/>
              </a:rPr>
              <a:t>p</a:t>
            </a:r>
            <a:r>
              <a:rPr dirty="0" sz="1600" spc="-5">
                <a:latin typeface="Times New Roman"/>
                <a:cs typeface="Times New Roman"/>
              </a:rPr>
              <a:t>ut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9261" y="5147817"/>
            <a:ext cx="7775575" cy="942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Times New Roman"/>
                <a:cs typeface="Times New Roman"/>
              </a:rPr>
              <a:t>Ví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dụ: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000" spc="-5">
                <a:latin typeface="Times New Roman"/>
                <a:cs typeface="Times New Roman"/>
              </a:rPr>
              <a:t>Op-Amp </a:t>
            </a:r>
            <a:r>
              <a:rPr dirty="0" sz="2000">
                <a:latin typeface="Times New Roman"/>
                <a:cs typeface="Times New Roman"/>
              </a:rPr>
              <a:t>KA741 có </a:t>
            </a:r>
            <a:r>
              <a:rPr dirty="0" sz="2000" spc="-5">
                <a:latin typeface="Times New Roman"/>
                <a:cs typeface="Times New Roman"/>
              </a:rPr>
              <a:t>Vcc= </a:t>
            </a:r>
            <a:r>
              <a:rPr dirty="0" sz="2000">
                <a:latin typeface="Symbol"/>
                <a:cs typeface="Symbol"/>
              </a:rPr>
              <a:t></a:t>
            </a:r>
            <a:r>
              <a:rPr dirty="0" sz="2000">
                <a:latin typeface="Times New Roman"/>
                <a:cs typeface="Times New Roman"/>
              </a:rPr>
              <a:t>15V, nhưng </a:t>
            </a:r>
            <a:r>
              <a:rPr dirty="0" sz="2000" spc="10">
                <a:latin typeface="Times New Roman"/>
                <a:cs typeface="Times New Roman"/>
              </a:rPr>
              <a:t>V</a:t>
            </a:r>
            <a:r>
              <a:rPr dirty="0" baseline="-21367" sz="1950" spc="15">
                <a:latin typeface="Times New Roman"/>
                <a:cs typeface="Times New Roman"/>
              </a:rPr>
              <a:t>O(p-p)</a:t>
            </a:r>
            <a:r>
              <a:rPr dirty="0" sz="2000" spc="10">
                <a:latin typeface="Times New Roman"/>
                <a:cs typeface="Times New Roman"/>
              </a:rPr>
              <a:t>= </a:t>
            </a:r>
            <a:r>
              <a:rPr dirty="0" sz="2000">
                <a:latin typeface="Symbol"/>
                <a:cs typeface="Symbol"/>
              </a:rPr>
              <a:t></a:t>
            </a:r>
            <a:r>
              <a:rPr dirty="0" sz="2000">
                <a:latin typeface="Times New Roman"/>
                <a:cs typeface="Times New Roman"/>
              </a:rPr>
              <a:t> 13V </a:t>
            </a:r>
            <a:r>
              <a:rPr dirty="0" sz="2000" spc="5">
                <a:latin typeface="Times New Roman"/>
                <a:cs typeface="Times New Roman"/>
              </a:rPr>
              <a:t>khi </a:t>
            </a:r>
            <a:r>
              <a:rPr dirty="0" sz="2000" spc="-5">
                <a:latin typeface="Times New Roman"/>
                <a:cs typeface="Times New Roman"/>
              </a:rPr>
              <a:t>tải </a:t>
            </a:r>
            <a:r>
              <a:rPr dirty="0" sz="2000">
                <a:latin typeface="Times New Roman"/>
                <a:cs typeface="Times New Roman"/>
              </a:rPr>
              <a:t>bằng 2k </a:t>
            </a:r>
            <a:r>
              <a:rPr dirty="0" sz="2000">
                <a:latin typeface="Symbol"/>
                <a:cs typeface="Symbol"/>
              </a:rPr>
              <a:t></a:t>
            </a:r>
            <a:r>
              <a:rPr dirty="0" sz="2000" spc="-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và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10">
                <a:latin typeface="Times New Roman"/>
                <a:cs typeface="Times New Roman"/>
              </a:rPr>
              <a:t>V</a:t>
            </a:r>
            <a:r>
              <a:rPr dirty="0" baseline="-21367" sz="1950" spc="15">
                <a:latin typeface="Times New Roman"/>
                <a:cs typeface="Times New Roman"/>
              </a:rPr>
              <a:t>O(p-p)</a:t>
            </a:r>
            <a:r>
              <a:rPr dirty="0" sz="2000" spc="10">
                <a:latin typeface="Times New Roman"/>
                <a:cs typeface="Times New Roman"/>
              </a:rPr>
              <a:t>= </a:t>
            </a:r>
            <a:r>
              <a:rPr dirty="0" sz="2000">
                <a:latin typeface="Symbol"/>
                <a:cs typeface="Symbol"/>
              </a:rPr>
              <a:t>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14V khi </a:t>
            </a:r>
            <a:r>
              <a:rPr dirty="0" sz="2000" spc="-5">
                <a:latin typeface="Times New Roman"/>
                <a:cs typeface="Times New Roman"/>
              </a:rPr>
              <a:t>tải </a:t>
            </a:r>
            <a:r>
              <a:rPr dirty="0" sz="2000">
                <a:latin typeface="Times New Roman"/>
                <a:cs typeface="Times New Roman"/>
              </a:rPr>
              <a:t>bằng</a:t>
            </a:r>
            <a:r>
              <a:rPr dirty="0" sz="2000" spc="-105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10k</a:t>
            </a:r>
            <a:r>
              <a:rPr dirty="0" sz="2000" spc="5">
                <a:latin typeface="Symbol"/>
                <a:cs typeface="Symbol"/>
              </a:rPr>
              <a:t>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4877" y="1830070"/>
            <a:ext cx="6435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70">
                <a:solidFill>
                  <a:srgbClr val="404040"/>
                </a:solidFill>
                <a:latin typeface="Arial"/>
                <a:cs typeface="Arial"/>
              </a:rPr>
              <a:t>Ngưỡng </a:t>
            </a:r>
            <a:r>
              <a:rPr dirty="0" sz="2400" spc="-13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dirty="0" sz="2400" spc="15">
                <a:solidFill>
                  <a:srgbClr val="404040"/>
                </a:solidFill>
                <a:latin typeface="Arial"/>
                <a:cs typeface="Arial"/>
              </a:rPr>
              <a:t>tối </a:t>
            </a:r>
            <a:r>
              <a:rPr dirty="0" sz="2400" spc="-105">
                <a:solidFill>
                  <a:srgbClr val="404040"/>
                </a:solidFill>
                <a:latin typeface="Arial"/>
                <a:cs typeface="Arial"/>
              </a:rPr>
              <a:t>đa </a:t>
            </a:r>
            <a:r>
              <a:rPr dirty="0" sz="2400" spc="-80">
                <a:solidFill>
                  <a:srgbClr val="404040"/>
                </a:solidFill>
                <a:latin typeface="Arial"/>
                <a:cs typeface="Arial"/>
              </a:rPr>
              <a:t>(Maximum </a:t>
            </a:r>
            <a:r>
              <a:rPr dirty="0" sz="2400" spc="-45">
                <a:solidFill>
                  <a:srgbClr val="404040"/>
                </a:solidFill>
                <a:latin typeface="Arial"/>
                <a:cs typeface="Arial"/>
              </a:rPr>
              <a:t>Output </a:t>
            </a:r>
            <a:r>
              <a:rPr dirty="0" sz="2400" spc="-125">
                <a:solidFill>
                  <a:srgbClr val="404040"/>
                </a:solidFill>
                <a:latin typeface="Arial"/>
                <a:cs typeface="Arial"/>
              </a:rPr>
              <a:t>Voltage</a:t>
            </a:r>
            <a:r>
              <a:rPr dirty="0" sz="2400" spc="-43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150">
                <a:solidFill>
                  <a:srgbClr val="404040"/>
                </a:solidFill>
                <a:latin typeface="Arial"/>
                <a:cs typeface="Arial"/>
              </a:rPr>
              <a:t>Swing)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51435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180"/>
              <a:t>thông </a:t>
            </a:r>
            <a:r>
              <a:rPr dirty="0" spc="-380"/>
              <a:t>số </a:t>
            </a:r>
            <a:r>
              <a:rPr dirty="0" spc="-490"/>
              <a:t>cơ </a:t>
            </a:r>
            <a:r>
              <a:rPr dirty="0" spc="-290"/>
              <a:t>bản</a:t>
            </a:r>
            <a:r>
              <a:rPr dirty="0" spc="-900"/>
              <a:t> </a:t>
            </a:r>
            <a:r>
              <a:rPr dirty="0" spc="-365"/>
              <a:t>của</a:t>
            </a:r>
          </a:p>
          <a:p>
            <a:pPr algn="ctr" marL="5588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  <p:sp>
        <p:nvSpPr>
          <p:cNvPr id="3" name="object 3"/>
          <p:cNvSpPr/>
          <p:nvPr/>
        </p:nvSpPr>
        <p:spPr>
          <a:xfrm>
            <a:off x="4408460" y="4340694"/>
            <a:ext cx="2185426" cy="17507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704335" y="4537709"/>
            <a:ext cx="76962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0815" marR="5080" indent="-15875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In</a:t>
            </a:r>
            <a:r>
              <a:rPr dirty="0" sz="1600">
                <a:latin typeface="Times New Roman"/>
                <a:cs typeface="Times New Roman"/>
              </a:rPr>
              <a:t>v</a:t>
            </a:r>
            <a:r>
              <a:rPr dirty="0" sz="1600" spc="-5">
                <a:latin typeface="Times New Roman"/>
                <a:cs typeface="Times New Roman"/>
              </a:rPr>
              <a:t>erting  </a:t>
            </a:r>
            <a:r>
              <a:rPr dirty="0" sz="1600" spc="-5">
                <a:latin typeface="Times New Roman"/>
                <a:cs typeface="Times New Roman"/>
              </a:rPr>
              <a:t>Input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3518661" y="5212460"/>
            <a:ext cx="2439035" cy="1084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8460" marR="1256030" indent="-36576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imes New Roman"/>
                <a:cs typeface="Times New Roman"/>
              </a:rPr>
              <a:t>N</a:t>
            </a:r>
            <a:r>
              <a:rPr dirty="0" sz="1600" spc="-5">
                <a:latin typeface="Times New Roman"/>
                <a:cs typeface="Times New Roman"/>
              </a:rPr>
              <a:t>o</a:t>
            </a:r>
            <a:r>
              <a:rPr dirty="0" sz="1600">
                <a:latin typeface="Times New Roman"/>
                <a:cs typeface="Times New Roman"/>
              </a:rPr>
              <a:t>n</a:t>
            </a:r>
            <a:r>
              <a:rPr dirty="0" sz="1600" spc="-10">
                <a:latin typeface="Times New Roman"/>
                <a:cs typeface="Times New Roman"/>
              </a:rPr>
              <a:t>-</a:t>
            </a:r>
            <a:r>
              <a:rPr dirty="0" sz="1600" spc="-5">
                <a:latin typeface="Times New Roman"/>
                <a:cs typeface="Times New Roman"/>
              </a:rPr>
              <a:t>In</a:t>
            </a:r>
            <a:r>
              <a:rPr dirty="0" sz="1600">
                <a:latin typeface="Times New Roman"/>
                <a:cs typeface="Times New Roman"/>
              </a:rPr>
              <a:t>v</a:t>
            </a:r>
            <a:r>
              <a:rPr dirty="0" sz="1600" spc="-5">
                <a:latin typeface="Times New Roman"/>
                <a:cs typeface="Times New Roman"/>
              </a:rPr>
              <a:t>erting  </a:t>
            </a:r>
            <a:r>
              <a:rPr dirty="0" sz="1600" spc="-5">
                <a:latin typeface="Times New Roman"/>
                <a:cs typeface="Times New Roman"/>
              </a:rPr>
              <a:t>Input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1600" spc="-10">
                <a:latin typeface="Times New Roman"/>
                <a:cs typeface="Times New Roman"/>
              </a:rPr>
              <a:t>-Vcc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45453" y="4812538"/>
            <a:ext cx="5905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imes New Roman"/>
                <a:cs typeface="Times New Roman"/>
              </a:rPr>
              <a:t>O</a:t>
            </a:r>
            <a:r>
              <a:rPr dirty="0" sz="1600" spc="-5">
                <a:latin typeface="Times New Roman"/>
                <a:cs typeface="Times New Roman"/>
              </a:rPr>
              <a:t>ut</a:t>
            </a:r>
            <a:r>
              <a:rPr dirty="0" sz="1600">
                <a:latin typeface="Times New Roman"/>
                <a:cs typeface="Times New Roman"/>
              </a:rPr>
              <a:t>p</a:t>
            </a:r>
            <a:r>
              <a:rPr dirty="0" sz="1600" spc="-5">
                <a:latin typeface="Times New Roman"/>
                <a:cs typeface="Times New Roman"/>
              </a:rPr>
              <a:t>ut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81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pc="-110"/>
              <a:t>Điện </a:t>
            </a:r>
            <a:r>
              <a:rPr dirty="0" spc="-130"/>
              <a:t>áp </a:t>
            </a:r>
            <a:r>
              <a:rPr dirty="0" spc="-80"/>
              <a:t>bù </a:t>
            </a:r>
            <a:r>
              <a:rPr dirty="0" spc="-90"/>
              <a:t>đầu </a:t>
            </a:r>
            <a:r>
              <a:rPr dirty="0" spc="-125"/>
              <a:t>vào </a:t>
            </a:r>
            <a:r>
              <a:rPr dirty="0" spc="-45"/>
              <a:t>(Input </a:t>
            </a:r>
            <a:r>
              <a:rPr dirty="0" spc="-75"/>
              <a:t>Offset</a:t>
            </a:r>
            <a:r>
              <a:rPr dirty="0" spc="-325"/>
              <a:t> </a:t>
            </a:r>
            <a:r>
              <a:rPr dirty="0" spc="-100"/>
              <a:t>Voltage)</a:t>
            </a:r>
          </a:p>
          <a:p>
            <a:pPr marL="107950" indent="-91440">
              <a:lnSpc>
                <a:spcPct val="100000"/>
              </a:lnSpc>
              <a:spcBef>
                <a:spcPts val="1115"/>
              </a:spcBef>
              <a:buClr>
                <a:srgbClr val="99CA38"/>
              </a:buClr>
              <a:buFont typeface="Wingdings"/>
              <a:buChar char=""/>
              <a:tabLst>
                <a:tab pos="274955" algn="l"/>
              </a:tabLst>
            </a:pPr>
            <a:r>
              <a:rPr dirty="0" sz="2000" spc="-160"/>
              <a:t>Được </a:t>
            </a:r>
            <a:r>
              <a:rPr dirty="0" sz="2000" spc="-95"/>
              <a:t>kí </a:t>
            </a:r>
            <a:r>
              <a:rPr dirty="0" sz="2000" spc="-60"/>
              <a:t>hiệu </a:t>
            </a:r>
            <a:r>
              <a:rPr dirty="0" sz="2000" spc="-75"/>
              <a:t>là</a:t>
            </a:r>
            <a:r>
              <a:rPr dirty="0" sz="2000" spc="-100"/>
              <a:t> </a:t>
            </a:r>
            <a:r>
              <a:rPr dirty="0" sz="2000" spc="-195"/>
              <a:t>V</a:t>
            </a:r>
            <a:r>
              <a:rPr dirty="0" baseline="-21367" sz="1950" spc="-292"/>
              <a:t>OS</a:t>
            </a:r>
            <a:endParaRPr baseline="-21367" sz="1950"/>
          </a:p>
          <a:p>
            <a:pPr marL="107950" indent="-9144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274955" algn="l"/>
              </a:tabLst>
            </a:pPr>
            <a:r>
              <a:rPr dirty="0" sz="2000" spc="-125"/>
              <a:t>Thông </a:t>
            </a:r>
            <a:r>
              <a:rPr dirty="0" sz="2000" spc="-140"/>
              <a:t>số </a:t>
            </a:r>
            <a:r>
              <a:rPr dirty="0" sz="2000" spc="-105"/>
              <a:t>này </a:t>
            </a:r>
            <a:r>
              <a:rPr dirty="0" sz="2000" spc="-70"/>
              <a:t>chỉ </a:t>
            </a:r>
            <a:r>
              <a:rPr dirty="0" sz="2000" spc="-65"/>
              <a:t>xuất </a:t>
            </a:r>
            <a:r>
              <a:rPr dirty="0" sz="2000" spc="-60"/>
              <a:t>hiện </a:t>
            </a:r>
            <a:r>
              <a:rPr dirty="0" sz="2000" spc="-155"/>
              <a:t>ở </a:t>
            </a:r>
            <a:r>
              <a:rPr dirty="0" sz="2000" spc="-110"/>
              <a:t>Op-Amp </a:t>
            </a:r>
            <a:r>
              <a:rPr dirty="0" sz="2000" spc="-60"/>
              <a:t>thực</a:t>
            </a:r>
            <a:r>
              <a:rPr dirty="0" sz="2000" spc="-200"/>
              <a:t> </a:t>
            </a:r>
            <a:r>
              <a:rPr dirty="0" sz="2000"/>
              <a:t>tế</a:t>
            </a:r>
            <a:endParaRPr sz="2000"/>
          </a:p>
          <a:p>
            <a:pPr marL="107950" marR="5080" indent="-91440">
              <a:lnSpc>
                <a:spcPts val="2160"/>
              </a:lnSpc>
              <a:spcBef>
                <a:spcPts val="1435"/>
              </a:spcBef>
              <a:buClr>
                <a:srgbClr val="99CA38"/>
              </a:buClr>
              <a:buFont typeface="Wingdings"/>
              <a:buChar char=""/>
              <a:tabLst>
                <a:tab pos="276225" algn="l"/>
              </a:tabLst>
            </a:pPr>
            <a:r>
              <a:rPr dirty="0" sz="2000" spc="-125"/>
              <a:t>Thông </a:t>
            </a:r>
            <a:r>
              <a:rPr dirty="0" sz="2000" spc="-140"/>
              <a:t>số </a:t>
            </a:r>
            <a:r>
              <a:rPr dirty="0" sz="2000" spc="-105"/>
              <a:t>này </a:t>
            </a:r>
            <a:r>
              <a:rPr dirty="0" sz="2000" spc="-20"/>
              <a:t>thể </a:t>
            </a:r>
            <a:r>
              <a:rPr dirty="0" sz="2000" spc="-60"/>
              <a:t>hiện </a:t>
            </a:r>
            <a:r>
              <a:rPr dirty="0" sz="2000" spc="-180"/>
              <a:t>sự </a:t>
            </a:r>
            <a:r>
              <a:rPr dirty="0" sz="2000" spc="-95"/>
              <a:t>chênh </a:t>
            </a:r>
            <a:r>
              <a:rPr dirty="0" sz="2000" spc="-80"/>
              <a:t>lệch </a:t>
            </a:r>
            <a:r>
              <a:rPr dirty="0" sz="2000" spc="-110"/>
              <a:t>giữa </a:t>
            </a:r>
            <a:r>
              <a:rPr dirty="0" sz="2000" spc="-45"/>
              <a:t>điện </a:t>
            </a:r>
            <a:r>
              <a:rPr dirty="0" sz="2000" spc="-110"/>
              <a:t>áp giữa </a:t>
            </a:r>
            <a:r>
              <a:rPr dirty="0" sz="2000" spc="-70"/>
              <a:t>hai </a:t>
            </a:r>
            <a:r>
              <a:rPr dirty="0" sz="2000" spc="-75"/>
              <a:t>đầu </a:t>
            </a:r>
            <a:r>
              <a:rPr dirty="0" sz="2000" spc="-105"/>
              <a:t>vào </a:t>
            </a:r>
            <a:r>
              <a:rPr dirty="0" sz="2000" spc="-125"/>
              <a:t>của </a:t>
            </a:r>
            <a:r>
              <a:rPr dirty="0" sz="2000" spc="-120"/>
              <a:t>Op-  </a:t>
            </a:r>
            <a:r>
              <a:rPr dirty="0" sz="2000" spc="-100"/>
              <a:t>Amp </a:t>
            </a:r>
            <a:r>
              <a:rPr dirty="0" sz="2000" spc="-65"/>
              <a:t>để </a:t>
            </a:r>
            <a:r>
              <a:rPr dirty="0" sz="2000" spc="-45"/>
              <a:t>điệp </a:t>
            </a:r>
            <a:r>
              <a:rPr dirty="0" sz="2000" spc="-110"/>
              <a:t>áp </a:t>
            </a:r>
            <a:r>
              <a:rPr dirty="0" sz="2000" spc="-75"/>
              <a:t>đầu </a:t>
            </a:r>
            <a:r>
              <a:rPr dirty="0" sz="2000" spc="-65"/>
              <a:t>ra </a:t>
            </a:r>
            <a:r>
              <a:rPr dirty="0" sz="2000" spc="-114"/>
              <a:t>bằng</a:t>
            </a:r>
            <a:r>
              <a:rPr dirty="0" sz="2000" spc="-315"/>
              <a:t> </a:t>
            </a:r>
            <a:r>
              <a:rPr dirty="0" sz="2000" spc="-100"/>
              <a:t>0</a:t>
            </a:r>
            <a:endParaRPr sz="2000"/>
          </a:p>
          <a:p>
            <a:pPr algn="ctr" marL="1332865">
              <a:lnSpc>
                <a:spcPct val="100000"/>
              </a:lnSpc>
              <a:spcBef>
                <a:spcPts val="1345"/>
              </a:spcBef>
            </a:pPr>
            <a:r>
              <a:rPr dirty="0" sz="1800" spc="-10">
                <a:solidFill>
                  <a:srgbClr val="000000"/>
                </a:solidFill>
                <a:latin typeface="Times New Roman"/>
                <a:cs typeface="Times New Roman"/>
              </a:rPr>
              <a:t>+</a:t>
            </a:r>
            <a:r>
              <a:rPr dirty="0" sz="1600" spc="-10">
                <a:solidFill>
                  <a:srgbClr val="000000"/>
                </a:solidFill>
                <a:latin typeface="Times New Roman"/>
                <a:cs typeface="Times New Roman"/>
              </a:rPr>
              <a:t>Vcc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51435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180"/>
              <a:t>thông </a:t>
            </a:r>
            <a:r>
              <a:rPr dirty="0" spc="-380"/>
              <a:t>số </a:t>
            </a:r>
            <a:r>
              <a:rPr dirty="0" spc="-490"/>
              <a:t>cơ </a:t>
            </a:r>
            <a:r>
              <a:rPr dirty="0" spc="-290"/>
              <a:t>bản</a:t>
            </a:r>
            <a:r>
              <a:rPr dirty="0" spc="-900"/>
              <a:t> </a:t>
            </a:r>
            <a:r>
              <a:rPr dirty="0" spc="-365"/>
              <a:t>của</a:t>
            </a:r>
          </a:p>
          <a:p>
            <a:pPr algn="ctr" marL="5588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94592"/>
            <a:ext cx="8409305" cy="253619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400" spc="-155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2400" spc="-11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400" spc="-17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400" spc="-9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400" spc="-14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400" spc="-16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baseline="-20833" sz="2400" spc="-240">
                <a:solidFill>
                  <a:srgbClr val="404040"/>
                </a:solidFill>
                <a:latin typeface="Arial"/>
                <a:cs typeface="Arial"/>
              </a:rPr>
              <a:t>BIAS </a:t>
            </a:r>
            <a:r>
              <a:rPr dirty="0" sz="2400" spc="-45">
                <a:solidFill>
                  <a:srgbClr val="404040"/>
                </a:solidFill>
                <a:latin typeface="Arial"/>
                <a:cs typeface="Arial"/>
              </a:rPr>
              <a:t>(Input </a:t>
            </a:r>
            <a:r>
              <a:rPr dirty="0" sz="2400" spc="-185">
                <a:solidFill>
                  <a:srgbClr val="404040"/>
                </a:solidFill>
                <a:latin typeface="Arial"/>
                <a:cs typeface="Arial"/>
              </a:rPr>
              <a:t>Bias</a:t>
            </a:r>
            <a:r>
              <a:rPr dirty="0" sz="24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85">
                <a:solidFill>
                  <a:srgbClr val="404040"/>
                </a:solidFill>
                <a:latin typeface="Arial"/>
                <a:cs typeface="Arial"/>
              </a:rPr>
              <a:t>Current)</a:t>
            </a:r>
            <a:endParaRPr sz="2400">
              <a:latin typeface="Arial"/>
              <a:cs typeface="Arial"/>
            </a:endParaRPr>
          </a:p>
          <a:p>
            <a:pPr marL="271780" indent="-259079">
              <a:lnSpc>
                <a:spcPts val="2280"/>
              </a:lnSpc>
              <a:spcBef>
                <a:spcPts val="119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trung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bình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vi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sai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ngõ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trong</a:t>
            </a:r>
            <a:r>
              <a:rPr dirty="0" sz="2000" spc="-2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2400" spc="-155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2400" spc="-80">
                <a:solidFill>
                  <a:srgbClr val="404040"/>
                </a:solidFill>
                <a:latin typeface="Arial"/>
                <a:cs typeface="Arial"/>
              </a:rPr>
              <a:t>bù </a:t>
            </a:r>
            <a:r>
              <a:rPr dirty="0" sz="2400" spc="-9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400" spc="-14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400" spc="-20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baseline="-20833" sz="2400" spc="-300">
                <a:solidFill>
                  <a:srgbClr val="404040"/>
                </a:solidFill>
                <a:latin typeface="Arial"/>
                <a:cs typeface="Arial"/>
              </a:rPr>
              <a:t>OS </a:t>
            </a:r>
            <a:r>
              <a:rPr dirty="0" sz="2400" spc="-45">
                <a:solidFill>
                  <a:srgbClr val="404040"/>
                </a:solidFill>
                <a:latin typeface="Arial"/>
                <a:cs typeface="Arial"/>
              </a:rPr>
              <a:t>(Input </a:t>
            </a:r>
            <a:r>
              <a:rPr dirty="0" sz="2400" spc="-85">
                <a:solidFill>
                  <a:srgbClr val="404040"/>
                </a:solidFill>
                <a:latin typeface="Arial"/>
                <a:cs typeface="Arial"/>
              </a:rPr>
              <a:t>Offset</a:t>
            </a:r>
            <a:r>
              <a:rPr dirty="0" sz="2400" spc="-20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85">
                <a:solidFill>
                  <a:srgbClr val="404040"/>
                </a:solidFill>
                <a:latin typeface="Arial"/>
                <a:cs typeface="Arial"/>
              </a:rPr>
              <a:t>Current)</a:t>
            </a:r>
            <a:endParaRPr sz="2400">
              <a:latin typeface="Arial"/>
              <a:cs typeface="Arial"/>
            </a:endParaRPr>
          </a:p>
          <a:p>
            <a:pPr marL="271780" indent="-259079">
              <a:lnSpc>
                <a:spcPts val="2280"/>
              </a:lnSpc>
              <a:spcBef>
                <a:spcPts val="118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chênh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lệch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dirty="0" sz="2000" spc="-3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vi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sai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ngõ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trong</a:t>
            </a:r>
            <a:r>
              <a:rPr dirty="0" sz="2000" spc="-2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0902" y="4751085"/>
            <a:ext cx="3172525" cy="13917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51191" y="5375351"/>
            <a:ext cx="1210704" cy="1719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08576" y="5270455"/>
            <a:ext cx="1247421" cy="3625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4545" y="286892"/>
            <a:ext cx="5808345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899285" marR="5080" indent="-1887220">
              <a:lnSpc>
                <a:spcPts val="4900"/>
              </a:lnSpc>
              <a:spcBef>
                <a:spcPts val="980"/>
              </a:spcBef>
            </a:pPr>
            <a:r>
              <a:rPr dirty="0" spc="-595"/>
              <a:t>Các </a:t>
            </a:r>
            <a:r>
              <a:rPr dirty="0" spc="-180"/>
              <a:t>thông </a:t>
            </a:r>
            <a:r>
              <a:rPr dirty="0" spc="-380"/>
              <a:t>số </a:t>
            </a:r>
            <a:r>
              <a:rPr dirty="0" spc="-490"/>
              <a:t>cơ </a:t>
            </a:r>
            <a:r>
              <a:rPr dirty="0" spc="-290"/>
              <a:t>bản </a:t>
            </a:r>
            <a:r>
              <a:rPr dirty="0" spc="-365"/>
              <a:t>của  </a:t>
            </a:r>
            <a:r>
              <a:rPr dirty="0" spc="-340"/>
              <a:t>Op-Amp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94592"/>
            <a:ext cx="6047740" cy="147955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400" spc="-15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400" spc="-130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2400" spc="-90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dirty="0" sz="24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105">
                <a:solidFill>
                  <a:srgbClr val="404040"/>
                </a:solidFill>
                <a:latin typeface="Arial"/>
                <a:cs typeface="Arial"/>
              </a:rPr>
              <a:t>vào:</a:t>
            </a:r>
            <a:endParaRPr sz="24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9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ở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chế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độ Differential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mode</a:t>
            </a:r>
            <a:r>
              <a:rPr dirty="0" sz="2000" spc="-3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Z</a:t>
            </a:r>
            <a:r>
              <a:rPr dirty="0" baseline="-21367" sz="1950" spc="-120">
                <a:solidFill>
                  <a:srgbClr val="404040"/>
                </a:solidFill>
                <a:latin typeface="Arial"/>
                <a:cs typeface="Arial"/>
              </a:rPr>
              <a:t>IN(d)</a:t>
            </a:r>
            <a:endParaRPr baseline="-21367" sz="195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ở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chế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common-mode</a:t>
            </a:r>
            <a:r>
              <a:rPr dirty="0" sz="2000" spc="-3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Z</a:t>
            </a:r>
            <a:r>
              <a:rPr dirty="0" baseline="-21367" sz="1950" spc="-120">
                <a:solidFill>
                  <a:srgbClr val="404040"/>
                </a:solidFill>
                <a:latin typeface="Arial"/>
                <a:cs typeface="Arial"/>
              </a:rPr>
              <a:t>IN(cm)</a:t>
            </a:r>
            <a:endParaRPr baseline="-21367" sz="1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5095697"/>
            <a:ext cx="43180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400" spc="-130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2400" spc="-9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400" spc="-75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400" spc="-15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400" spc="-135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r>
              <a:rPr dirty="0" sz="2400" spc="-2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220">
                <a:solidFill>
                  <a:srgbClr val="404040"/>
                </a:solidFill>
                <a:latin typeface="Arial"/>
                <a:cs typeface="Arial"/>
              </a:rPr>
              <a:t>Z</a:t>
            </a:r>
            <a:r>
              <a:rPr dirty="0" baseline="-20833" sz="2400" spc="-330">
                <a:solidFill>
                  <a:srgbClr val="404040"/>
                </a:solidFill>
                <a:latin typeface="Arial"/>
                <a:cs typeface="Arial"/>
              </a:rPr>
              <a:t>OUT</a:t>
            </a:r>
            <a:endParaRPr baseline="-20833"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69573" y="3287267"/>
            <a:ext cx="5484631" cy="14413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77711" y="4722876"/>
            <a:ext cx="2801112" cy="14371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51435">
              <a:lnSpc>
                <a:spcPts val="5330"/>
              </a:lnSpc>
              <a:spcBef>
                <a:spcPts val="100"/>
              </a:spcBef>
            </a:pPr>
            <a:r>
              <a:rPr dirty="0" spc="-595"/>
              <a:t>Các </a:t>
            </a:r>
            <a:r>
              <a:rPr dirty="0" spc="-180"/>
              <a:t>thông </a:t>
            </a:r>
            <a:r>
              <a:rPr dirty="0" spc="-380"/>
              <a:t>số </a:t>
            </a:r>
            <a:r>
              <a:rPr dirty="0" spc="-490"/>
              <a:t>cơ </a:t>
            </a:r>
            <a:r>
              <a:rPr dirty="0" spc="-290"/>
              <a:t>bản</a:t>
            </a:r>
            <a:r>
              <a:rPr dirty="0" spc="-900"/>
              <a:t> </a:t>
            </a:r>
            <a:r>
              <a:rPr dirty="0" spc="-365"/>
              <a:t>của</a:t>
            </a:r>
          </a:p>
          <a:p>
            <a:pPr algn="ctr" marL="55880">
              <a:lnSpc>
                <a:spcPts val="5330"/>
              </a:lnSpc>
            </a:pPr>
            <a:r>
              <a:rPr dirty="0" spc="-340"/>
              <a:t>Op-Amp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94592"/>
            <a:ext cx="7312025" cy="10287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400" spc="-155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400" spc="-114">
                <a:solidFill>
                  <a:srgbClr val="404040"/>
                </a:solidFill>
                <a:latin typeface="Arial"/>
                <a:cs typeface="Arial"/>
              </a:rPr>
              <a:t>dốc </a:t>
            </a:r>
            <a:r>
              <a:rPr dirty="0" sz="2400" spc="-5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400" spc="-130">
                <a:solidFill>
                  <a:srgbClr val="404040"/>
                </a:solidFill>
                <a:latin typeface="Arial"/>
                <a:cs typeface="Arial"/>
              </a:rPr>
              <a:t>áp</a:t>
            </a:r>
            <a:r>
              <a:rPr dirty="0" sz="2400" spc="-20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105">
                <a:solidFill>
                  <a:srgbClr val="404040"/>
                </a:solidFill>
                <a:latin typeface="Arial"/>
                <a:cs typeface="Arial"/>
              </a:rPr>
              <a:t>(Slew-rate)</a:t>
            </a:r>
            <a:endParaRPr sz="24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9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hiện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khả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năng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ở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</a:t>
            </a:r>
            <a:r>
              <a:rPr dirty="0" sz="2000" spc="-3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cao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5467" y="3259835"/>
            <a:ext cx="7315537" cy="2962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87267" y="5381244"/>
            <a:ext cx="2162556" cy="7528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8755" y="2982544"/>
            <a:ext cx="8049259" cy="1245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035925" algn="l"/>
              </a:tabLst>
            </a:pPr>
            <a:r>
              <a:rPr dirty="0" u="sng" sz="8000" spc="-1989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000" spc="-59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Thank</a:t>
            </a:r>
            <a:r>
              <a:rPr dirty="0" u="sng" sz="8000" spc="-615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 </a:t>
            </a:r>
            <a:r>
              <a:rPr dirty="0" u="sng" sz="8000" spc="-20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you!	</a:t>
            </a:r>
            <a:endParaRPr sz="8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Kent Bertilsson</dc:creator>
  <dc:title>PowerPoint-presentation</dc:title>
  <dcterms:created xsi:type="dcterms:W3CDTF">2019-03-22T06:01:32Z</dcterms:created>
  <dcterms:modified xsi:type="dcterms:W3CDTF">2019-03-22T06:01:32Z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2019-03-16T00:00:00Z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2019-03-22T00:00:00Z</vt:filetime>
  </property>
</Properties>
</file>