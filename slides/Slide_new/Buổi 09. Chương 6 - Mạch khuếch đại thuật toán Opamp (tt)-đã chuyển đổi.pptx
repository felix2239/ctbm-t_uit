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0" y="457199"/>
                </a:moveTo>
                <a:lnTo>
                  <a:pt x="12192000" y="457199"/>
                </a:lnTo>
                <a:lnTo>
                  <a:pt x="12192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0" y="67055"/>
                </a:moveTo>
                <a:lnTo>
                  <a:pt x="12192000" y="67055"/>
                </a:lnTo>
                <a:lnTo>
                  <a:pt x="12192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24431" y="286892"/>
            <a:ext cx="8343137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8695" y="1884426"/>
            <a:ext cx="8674608" cy="2236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689472" y="6570624"/>
            <a:ext cx="81851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96289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Relationship Id="rId4" Type="http://schemas.openxmlformats.org/officeDocument/2006/relationships/image" Target="../media/image5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Relationship Id="rId3" Type="http://schemas.openxmlformats.org/officeDocument/2006/relationships/image" Target="../media/image59.png"/><Relationship Id="rId4" Type="http://schemas.openxmlformats.org/officeDocument/2006/relationships/image" Target="../media/image6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Relationship Id="rId3" Type="http://schemas.openxmlformats.org/officeDocument/2006/relationships/image" Target="../media/image62.png"/><Relationship Id="rId4" Type="http://schemas.openxmlformats.org/officeDocument/2006/relationships/image" Target="../media/image63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jpg"/><Relationship Id="rId3" Type="http://schemas.openxmlformats.org/officeDocument/2006/relationships/image" Target="../media/image65.png"/><Relationship Id="rId4" Type="http://schemas.openxmlformats.org/officeDocument/2006/relationships/image" Target="../media/image66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jpg"/><Relationship Id="rId3" Type="http://schemas.openxmlformats.org/officeDocument/2006/relationships/image" Target="../media/image68.pn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png"/><Relationship Id="rId7" Type="http://schemas.openxmlformats.org/officeDocument/2006/relationships/image" Target="../media/image72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g"/><Relationship Id="rId3" Type="http://schemas.openxmlformats.org/officeDocument/2006/relationships/image" Target="../media/image76.png"/><Relationship Id="rId4" Type="http://schemas.openxmlformats.org/officeDocument/2006/relationships/image" Target="../media/image77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jpg"/><Relationship Id="rId4" Type="http://schemas.openxmlformats.org/officeDocument/2006/relationships/image" Target="../media/image80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3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4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051300" cy="6858000"/>
          </a:xfrm>
          <a:custGeom>
            <a:avLst/>
            <a:gdLst/>
            <a:ahLst/>
            <a:cxnLst/>
            <a:rect l="l" t="t" r="r" b="b"/>
            <a:pathLst>
              <a:path w="4051300" h="6858000">
                <a:moveTo>
                  <a:pt x="0" y="6858000"/>
                </a:moveTo>
                <a:lnTo>
                  <a:pt x="4050791" y="6858000"/>
                </a:lnTo>
                <a:lnTo>
                  <a:pt x="405079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72128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64008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6700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41932" y="2141220"/>
            <a:ext cx="8191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63084" y="510540"/>
            <a:ext cx="6139434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13020" y="1168908"/>
            <a:ext cx="5426202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27701" y="670001"/>
            <a:ext cx="522351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62255" marR="5080" indent="-250190">
              <a:lnSpc>
                <a:spcPts val="5190"/>
              </a:lnSpc>
              <a:spcBef>
                <a:spcPts val="750"/>
              </a:spcBef>
            </a:pPr>
            <a:r>
              <a:rPr dirty="0" spc="-5" b="1">
                <a:latin typeface="Times New Roman"/>
                <a:cs typeface="Times New Roman"/>
              </a:rPr>
              <a:t>CÁC </a:t>
            </a:r>
            <a:r>
              <a:rPr dirty="0" b="1">
                <a:latin typeface="Times New Roman"/>
                <a:cs typeface="Times New Roman"/>
              </a:rPr>
              <a:t>THIẾT BỊ</a:t>
            </a:r>
            <a:r>
              <a:rPr dirty="0" spc="-375" b="1">
                <a:latin typeface="Times New Roman"/>
                <a:cs typeface="Times New Roman"/>
              </a:rPr>
              <a:t> </a:t>
            </a:r>
            <a:r>
              <a:rPr dirty="0" spc="-5" b="1">
                <a:latin typeface="Times New Roman"/>
                <a:cs typeface="Times New Roman"/>
              </a:rPr>
              <a:t>VÀ  </a:t>
            </a:r>
            <a:r>
              <a:rPr dirty="0" b="1">
                <a:latin typeface="Times New Roman"/>
                <a:cs typeface="Times New Roman"/>
              </a:rPr>
              <a:t>MẠCH </a:t>
            </a:r>
            <a:r>
              <a:rPr dirty="0" spc="-5" b="1">
                <a:latin typeface="Times New Roman"/>
                <a:cs typeface="Times New Roman"/>
              </a:rPr>
              <a:t>ĐIỆN</a:t>
            </a:r>
            <a:r>
              <a:rPr dirty="0" spc="-17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TỬ</a:t>
            </a:r>
          </a:p>
        </p:txBody>
      </p:sp>
      <p:sp>
        <p:nvSpPr>
          <p:cNvPr id="9" name="object 9"/>
          <p:cNvSpPr/>
          <p:nvPr/>
        </p:nvSpPr>
        <p:spPr>
          <a:xfrm>
            <a:off x="405384" y="2868180"/>
            <a:ext cx="837438" cy="511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87552" y="2868180"/>
            <a:ext cx="995934" cy="511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29739" y="2868180"/>
            <a:ext cx="604265" cy="511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77211" y="2868180"/>
            <a:ext cx="823722" cy="5112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45664" y="2868180"/>
            <a:ext cx="744474" cy="511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5384" y="3115068"/>
            <a:ext cx="582929" cy="5112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2751" y="3115068"/>
            <a:ext cx="375678" cy="5112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2855" y="3115068"/>
            <a:ext cx="753618" cy="5112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35940" y="1999488"/>
            <a:ext cx="2704465" cy="146494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3600" spc="-405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dirty="0" sz="3600" spc="-3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8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  <a:spcBef>
                <a:spcPts val="1220"/>
              </a:spcBef>
            </a:pPr>
            <a:r>
              <a:rPr dirty="0" sz="1800" spc="-105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800" spc="-150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đại </a:t>
            </a:r>
            <a:r>
              <a:rPr dirty="0" sz="1800" spc="-70" b="1">
                <a:solidFill>
                  <a:srgbClr val="FFFFFF"/>
                </a:solidFill>
                <a:latin typeface="Arial"/>
                <a:cs typeface="Arial"/>
              </a:rPr>
              <a:t>thuật 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toán  </a:t>
            </a:r>
            <a:r>
              <a:rPr dirty="0" sz="1800" spc="-145" b="1">
                <a:solidFill>
                  <a:srgbClr val="FFFFFF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7387" y="3569220"/>
            <a:ext cx="407682" cy="3969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4755" y="3557028"/>
            <a:ext cx="698754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99388" y="3557028"/>
            <a:ext cx="508266" cy="428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91996" y="3557028"/>
            <a:ext cx="567690" cy="4289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45564" y="3557028"/>
            <a:ext cx="506717" cy="42899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7387" y="3951744"/>
            <a:ext cx="407682" cy="39698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4755" y="3939552"/>
            <a:ext cx="698754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99388" y="3939552"/>
            <a:ext cx="829818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13560" y="3939552"/>
            <a:ext cx="506717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03120" y="3939552"/>
            <a:ext cx="686562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77083" y="3939552"/>
            <a:ext cx="621030" cy="42899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85516" y="3939552"/>
            <a:ext cx="456425" cy="4289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4755" y="4145292"/>
            <a:ext cx="653034" cy="42899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52144" y="4145292"/>
            <a:ext cx="508266" cy="4289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46275" y="4145292"/>
            <a:ext cx="567689" cy="4289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798320" y="4145292"/>
            <a:ext cx="506717" cy="42899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37387" y="4541532"/>
            <a:ext cx="407682" cy="39698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4755" y="4529340"/>
            <a:ext cx="538721" cy="42899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40891" y="4529340"/>
            <a:ext cx="736854" cy="42899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62100" y="4529340"/>
            <a:ext cx="1730502" cy="42899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14755" y="4735080"/>
            <a:ext cx="1270254" cy="42899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7387" y="5131320"/>
            <a:ext cx="407682" cy="39698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4755" y="5119128"/>
            <a:ext cx="671322" cy="42899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73480" y="5119128"/>
            <a:ext cx="657606" cy="42899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615439" y="5119128"/>
            <a:ext cx="538721" cy="42899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940051" y="5119128"/>
            <a:ext cx="441198" cy="4289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167127" y="5119128"/>
            <a:ext cx="604265" cy="42899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554223" y="5119128"/>
            <a:ext cx="610362" cy="42899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948939" y="5119128"/>
            <a:ext cx="520433" cy="42899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14755" y="5324855"/>
            <a:ext cx="460997" cy="42899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960119" y="5324855"/>
            <a:ext cx="2175510" cy="42899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4755" y="5530596"/>
            <a:ext cx="924306" cy="42899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7387" y="5925311"/>
            <a:ext cx="407682" cy="39698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14755" y="5913120"/>
            <a:ext cx="649986" cy="428993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149096" y="5913120"/>
            <a:ext cx="718566" cy="428993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656588" y="5913120"/>
            <a:ext cx="621030" cy="428993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063495" y="5913120"/>
            <a:ext cx="659130" cy="42899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35940" y="3597020"/>
            <a:ext cx="2810510" cy="261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95" b="1">
                <a:solidFill>
                  <a:srgbClr val="FFFFFF"/>
                </a:solidFill>
                <a:latin typeface="Arial"/>
                <a:cs typeface="Arial"/>
              </a:rPr>
              <a:t>hồi </a:t>
            </a:r>
            <a:r>
              <a:rPr dirty="0" sz="1500" spc="-60" b="1">
                <a:solidFill>
                  <a:srgbClr val="FFFFFF"/>
                </a:solidFill>
                <a:latin typeface="Arial"/>
                <a:cs typeface="Arial"/>
              </a:rPr>
              <a:t>tiếp</a:t>
            </a:r>
            <a:r>
              <a:rPr dirty="0" sz="15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5" b="1">
                <a:solidFill>
                  <a:srgbClr val="FFFFFF"/>
                </a:solidFill>
                <a:latin typeface="Arial"/>
                <a:cs typeface="Arial"/>
              </a:rPr>
              <a:t>âm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ts val="1710"/>
              </a:lnSpc>
              <a:spcBef>
                <a:spcPts val="121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đại </a:t>
            </a:r>
            <a:r>
              <a:rPr dirty="0" sz="1500" spc="-60" b="1">
                <a:solidFill>
                  <a:srgbClr val="FFFFFF"/>
                </a:solidFill>
                <a:latin typeface="Arial"/>
                <a:cs typeface="Arial"/>
              </a:rPr>
              <a:t>thuật </a:t>
            </a:r>
            <a:r>
              <a:rPr dirty="0" sz="1500" spc="-75" b="1">
                <a:solidFill>
                  <a:srgbClr val="FFFFFF"/>
                </a:solidFill>
                <a:latin typeface="Arial"/>
                <a:cs typeface="Arial"/>
              </a:rPr>
              <a:t>toán</a:t>
            </a:r>
            <a:r>
              <a:rPr dirty="0" sz="1500" spc="-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75" b="1">
                <a:solidFill>
                  <a:srgbClr val="FFFFFF"/>
                </a:solidFill>
                <a:latin typeface="Arial"/>
                <a:cs typeface="Arial"/>
              </a:rPr>
              <a:t>sử</a:t>
            </a:r>
            <a:endParaRPr sz="1500">
              <a:latin typeface="Arial"/>
              <a:cs typeface="Arial"/>
            </a:endParaRPr>
          </a:p>
          <a:p>
            <a:pPr marL="299085">
              <a:lnSpc>
                <a:spcPts val="1710"/>
              </a:lnSpc>
            </a:pPr>
            <a:r>
              <a:rPr dirty="0" sz="1500" spc="-140" b="1">
                <a:solidFill>
                  <a:srgbClr val="FFFFFF"/>
                </a:solidFill>
                <a:latin typeface="Arial"/>
                <a:cs typeface="Arial"/>
              </a:rPr>
              <a:t>dụng </a:t>
            </a:r>
            <a:r>
              <a:rPr dirty="0" sz="1500" spc="-95" b="1">
                <a:solidFill>
                  <a:srgbClr val="FFFFFF"/>
                </a:solidFill>
                <a:latin typeface="Arial"/>
                <a:cs typeface="Arial"/>
              </a:rPr>
              <a:t>hồi </a:t>
            </a:r>
            <a:r>
              <a:rPr dirty="0" sz="1500" spc="-60" b="1">
                <a:solidFill>
                  <a:srgbClr val="FFFFFF"/>
                </a:solidFill>
                <a:latin typeface="Arial"/>
                <a:cs typeface="Arial"/>
              </a:rPr>
              <a:t>tiếp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5" b="1">
                <a:solidFill>
                  <a:srgbClr val="FFFFFF"/>
                </a:solidFill>
                <a:latin typeface="Arial"/>
                <a:cs typeface="Arial"/>
              </a:rPr>
              <a:t>âm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299085" marR="223520" indent="-286385">
              <a:lnSpc>
                <a:spcPts val="1620"/>
              </a:lnSpc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20" b="1">
                <a:solidFill>
                  <a:srgbClr val="FFFFFF"/>
                </a:solidFill>
                <a:latin typeface="Arial"/>
                <a:cs typeface="Arial"/>
              </a:rPr>
              <a:t>Trở </a:t>
            </a:r>
            <a:r>
              <a:rPr dirty="0" sz="1500" spc="-130" b="1">
                <a:solidFill>
                  <a:srgbClr val="FFFFFF"/>
                </a:solidFill>
                <a:latin typeface="Arial"/>
                <a:cs typeface="Arial"/>
              </a:rPr>
              <a:t>kháng </a:t>
            </a:r>
            <a:r>
              <a:rPr dirty="0" sz="1500" spc="-65" b="1">
                <a:solidFill>
                  <a:srgbClr val="FFFFFF"/>
                </a:solidFill>
                <a:latin typeface="Arial"/>
                <a:cs typeface="Arial"/>
              </a:rPr>
              <a:t>(Input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500" spc="-80" b="1">
                <a:solidFill>
                  <a:srgbClr val="FFFFFF"/>
                </a:solidFill>
                <a:latin typeface="Arial"/>
                <a:cs typeface="Arial"/>
              </a:rPr>
              <a:t>Output 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Impedances)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C000"/>
              </a:buClr>
              <a:buFont typeface="Wingdings"/>
              <a:buChar char=""/>
            </a:pPr>
            <a:endParaRPr sz="1150">
              <a:latin typeface="Times New Roman"/>
              <a:cs typeface="Times New Roman"/>
            </a:endParaRPr>
          </a:p>
          <a:p>
            <a:pPr marL="299085" marR="5080" indent="-286385">
              <a:lnSpc>
                <a:spcPct val="90100"/>
              </a:lnSpc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45" b="1">
                <a:solidFill>
                  <a:srgbClr val="FFFFFF"/>
                </a:solidFill>
                <a:latin typeface="Arial"/>
                <a:cs typeface="Arial"/>
              </a:rPr>
              <a:t>Dòng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phân </a:t>
            </a:r>
            <a:r>
              <a:rPr dirty="0" sz="1500" spc="-180" b="1">
                <a:solidFill>
                  <a:srgbClr val="FFFFFF"/>
                </a:solidFill>
                <a:latin typeface="Arial"/>
                <a:cs typeface="Arial"/>
              </a:rPr>
              <a:t>cực </a:t>
            </a:r>
            <a:r>
              <a:rPr dirty="0" sz="1500" spc="-114" b="1">
                <a:solidFill>
                  <a:srgbClr val="FFFFFF"/>
                </a:solidFill>
                <a:latin typeface="Arial"/>
                <a:cs typeface="Arial"/>
              </a:rPr>
              <a:t>và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hiêu </a:t>
            </a:r>
            <a:r>
              <a:rPr dirty="0" sz="1500" spc="-80" b="1">
                <a:solidFill>
                  <a:srgbClr val="FFFFFF"/>
                </a:solidFill>
                <a:latin typeface="Arial"/>
                <a:cs typeface="Arial"/>
              </a:rPr>
              <a:t>điện </a:t>
            </a:r>
            <a:r>
              <a:rPr dirty="0" sz="1500" spc="-60" b="1">
                <a:solidFill>
                  <a:srgbClr val="FFFFFF"/>
                </a:solidFill>
                <a:latin typeface="Arial"/>
                <a:cs typeface="Arial"/>
              </a:rPr>
              <a:t>thế  </a:t>
            </a:r>
            <a:r>
              <a:rPr dirty="0" sz="1500" spc="-114" b="1">
                <a:solidFill>
                  <a:srgbClr val="FFFFFF"/>
                </a:solidFill>
                <a:latin typeface="Arial"/>
                <a:cs typeface="Arial"/>
              </a:rPr>
              <a:t>bù </a:t>
            </a: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(Bias </a:t>
            </a:r>
            <a:r>
              <a:rPr dirty="0" sz="1500" spc="-95" b="1">
                <a:solidFill>
                  <a:srgbClr val="FFFFFF"/>
                </a:solidFill>
                <a:latin typeface="Arial"/>
                <a:cs typeface="Arial"/>
              </a:rPr>
              <a:t>current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500" spc="-85" b="1">
                <a:solidFill>
                  <a:srgbClr val="FFFFFF"/>
                </a:solidFill>
                <a:latin typeface="Arial"/>
                <a:cs typeface="Arial"/>
              </a:rPr>
              <a:t>Offset 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Voltage)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1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65" b="1">
                <a:solidFill>
                  <a:srgbClr val="FFFFFF"/>
                </a:solidFill>
                <a:latin typeface="Arial"/>
                <a:cs typeface="Arial"/>
              </a:rPr>
              <a:t>Băng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thông </a:t>
            </a:r>
            <a:r>
              <a:rPr dirty="0" sz="1500" spc="-75" b="1">
                <a:solidFill>
                  <a:srgbClr val="FFFFFF"/>
                </a:solidFill>
                <a:latin typeface="Arial"/>
                <a:cs typeface="Arial"/>
              </a:rPr>
              <a:t>hoạt</a:t>
            </a:r>
            <a:r>
              <a:rPr dirty="0" sz="15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động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879975" y="6558178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042650" y="6546595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926835" y="3159251"/>
            <a:ext cx="1770888" cy="1427988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760069" y="3151493"/>
            <a:ext cx="1666701" cy="1334192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0505" y="908380"/>
            <a:ext cx="263906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Problem!!!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367030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535305" algn="l"/>
              </a:tabLst>
            </a:pPr>
            <a:r>
              <a:rPr dirty="0" spc="-160"/>
              <a:t>Hệ </a:t>
            </a:r>
            <a:r>
              <a:rPr dirty="0" spc="-140"/>
              <a:t>số </a:t>
            </a:r>
            <a:r>
              <a:rPr dirty="0" spc="-95"/>
              <a:t>khuếch </a:t>
            </a:r>
            <a:r>
              <a:rPr dirty="0" spc="-50"/>
              <a:t>đại </a:t>
            </a:r>
            <a:r>
              <a:rPr dirty="0" spc="-110"/>
              <a:t>áp </a:t>
            </a:r>
            <a:r>
              <a:rPr dirty="0" spc="-130"/>
              <a:t>của </a:t>
            </a:r>
            <a:r>
              <a:rPr dirty="0" spc="-114"/>
              <a:t>mạch </a:t>
            </a:r>
            <a:r>
              <a:rPr dirty="0" spc="-110"/>
              <a:t>Op-Amp </a:t>
            </a:r>
            <a:r>
              <a:rPr dirty="0" spc="-80"/>
              <a:t>thường </a:t>
            </a:r>
            <a:r>
              <a:rPr dirty="0" spc="-5"/>
              <a:t>rất </a:t>
            </a:r>
            <a:r>
              <a:rPr dirty="0" spc="-65"/>
              <a:t>lớn, </a:t>
            </a:r>
            <a:r>
              <a:rPr dirty="0" spc="-95"/>
              <a:t>dao </a:t>
            </a:r>
            <a:r>
              <a:rPr dirty="0" spc="-80"/>
              <a:t>động </a:t>
            </a:r>
            <a:r>
              <a:rPr dirty="0" spc="-20"/>
              <a:t>từ </a:t>
            </a:r>
            <a:r>
              <a:rPr dirty="0" spc="-100"/>
              <a:t>khoảng  </a:t>
            </a:r>
            <a:r>
              <a:rPr dirty="0" spc="-95"/>
              <a:t>100,000 </a:t>
            </a:r>
            <a:r>
              <a:rPr dirty="0" spc="-65"/>
              <a:t>đến</a:t>
            </a:r>
            <a:r>
              <a:rPr dirty="0" spc="-180"/>
              <a:t> </a:t>
            </a:r>
            <a:r>
              <a:rPr dirty="0" spc="-90"/>
              <a:t>200,000</a:t>
            </a:r>
          </a:p>
          <a:p>
            <a:pPr marL="532765" indent="-257175">
              <a:lnSpc>
                <a:spcPct val="10000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534035" algn="l"/>
              </a:tabLst>
            </a:pPr>
            <a:r>
              <a:rPr dirty="0" spc="-150"/>
              <a:t>Giả </a:t>
            </a:r>
            <a:r>
              <a:rPr dirty="0" spc="-180"/>
              <a:t>sử </a:t>
            </a:r>
            <a:r>
              <a:rPr dirty="0" spc="-15"/>
              <a:t>tín </a:t>
            </a:r>
            <a:r>
              <a:rPr dirty="0" spc="-60"/>
              <a:t>hiệu </a:t>
            </a:r>
            <a:r>
              <a:rPr dirty="0" spc="-75"/>
              <a:t>đầu </a:t>
            </a:r>
            <a:r>
              <a:rPr dirty="0" spc="-105"/>
              <a:t>vào </a:t>
            </a:r>
            <a:r>
              <a:rPr dirty="0" spc="-75"/>
              <a:t>là </a:t>
            </a:r>
            <a:r>
              <a:rPr dirty="0" spc="-110"/>
              <a:t>1mV, </a:t>
            </a:r>
            <a:r>
              <a:rPr dirty="0" spc="-45"/>
              <a:t>điện </a:t>
            </a:r>
            <a:r>
              <a:rPr dirty="0" spc="-110"/>
              <a:t>áp </a:t>
            </a:r>
            <a:r>
              <a:rPr dirty="0" spc="-145"/>
              <a:t>sau </a:t>
            </a:r>
            <a:r>
              <a:rPr dirty="0" spc="-45"/>
              <a:t>khi </a:t>
            </a:r>
            <a:r>
              <a:rPr dirty="0" spc="-90"/>
              <a:t>khuếch </a:t>
            </a:r>
            <a:r>
              <a:rPr dirty="0" spc="-50"/>
              <a:t>đại </a:t>
            </a:r>
            <a:r>
              <a:rPr dirty="0" spc="-170"/>
              <a:t>sẽ </a:t>
            </a:r>
            <a:r>
              <a:rPr dirty="0" spc="-5"/>
              <a:t>rất</a:t>
            </a:r>
            <a:r>
              <a:rPr dirty="0" spc="-285"/>
              <a:t> </a:t>
            </a:r>
            <a:r>
              <a:rPr dirty="0" spc="-55"/>
              <a:t>lớn:</a:t>
            </a:r>
          </a:p>
          <a:p>
            <a:pPr marL="2104390">
              <a:lnSpc>
                <a:spcPct val="100000"/>
              </a:lnSpc>
              <a:spcBef>
                <a:spcPts val="1155"/>
              </a:spcBef>
            </a:pPr>
            <a:r>
              <a:rPr dirty="0" spc="-80"/>
              <a:t>Vout=Vin </a:t>
            </a:r>
            <a:r>
              <a:rPr dirty="0" spc="-135"/>
              <a:t>x </a:t>
            </a:r>
            <a:r>
              <a:rPr dirty="0" spc="-60"/>
              <a:t>A</a:t>
            </a:r>
            <a:r>
              <a:rPr dirty="0" baseline="-21367" sz="1950" spc="-89"/>
              <a:t>ol </a:t>
            </a:r>
            <a:r>
              <a:rPr dirty="0" sz="2000" spc="-170"/>
              <a:t>= </a:t>
            </a:r>
            <a:r>
              <a:rPr dirty="0" sz="2000" spc="-125"/>
              <a:t>1mV </a:t>
            </a:r>
            <a:r>
              <a:rPr dirty="0" sz="2000" spc="-135"/>
              <a:t>x </a:t>
            </a:r>
            <a:r>
              <a:rPr dirty="0" sz="2000" spc="-90"/>
              <a:t>100,000 </a:t>
            </a:r>
            <a:r>
              <a:rPr dirty="0" sz="2000" spc="-170"/>
              <a:t>=</a:t>
            </a:r>
            <a:r>
              <a:rPr dirty="0" sz="2000" spc="-275"/>
              <a:t> </a:t>
            </a:r>
            <a:r>
              <a:rPr dirty="0" sz="2000" spc="-125"/>
              <a:t>100V</a:t>
            </a:r>
            <a:endParaRPr sz="2000"/>
          </a:p>
          <a:p>
            <a:pPr marL="367030" indent="-91440">
              <a:lnSpc>
                <a:spcPts val="228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535305" algn="l"/>
              </a:tabLst>
            </a:pPr>
            <a:r>
              <a:rPr dirty="0" spc="-150"/>
              <a:t>Giá</a:t>
            </a:r>
            <a:r>
              <a:rPr dirty="0" spc="30"/>
              <a:t> </a:t>
            </a:r>
            <a:r>
              <a:rPr dirty="0" spc="50"/>
              <a:t>trị</a:t>
            </a:r>
            <a:r>
              <a:rPr dirty="0" spc="30"/>
              <a:t> </a:t>
            </a:r>
            <a:r>
              <a:rPr dirty="0" spc="-125"/>
              <a:t>100V</a:t>
            </a:r>
            <a:r>
              <a:rPr dirty="0" spc="25"/>
              <a:t> </a:t>
            </a:r>
            <a:r>
              <a:rPr dirty="0" spc="-105"/>
              <a:t>này</a:t>
            </a:r>
            <a:r>
              <a:rPr dirty="0" spc="45"/>
              <a:t> </a:t>
            </a:r>
            <a:r>
              <a:rPr dirty="0" spc="-75"/>
              <a:t>vượt</a:t>
            </a:r>
            <a:r>
              <a:rPr dirty="0" spc="40"/>
              <a:t> </a:t>
            </a:r>
            <a:r>
              <a:rPr dirty="0" spc="-100"/>
              <a:t>quá</a:t>
            </a:r>
            <a:r>
              <a:rPr dirty="0" spc="20"/>
              <a:t> </a:t>
            </a:r>
            <a:r>
              <a:rPr dirty="0" spc="-130"/>
              <a:t>ngưỡng</a:t>
            </a:r>
            <a:r>
              <a:rPr dirty="0" spc="15"/>
              <a:t> </a:t>
            </a:r>
            <a:r>
              <a:rPr dirty="0" spc="-45"/>
              <a:t>hoạt</a:t>
            </a:r>
            <a:r>
              <a:rPr dirty="0" spc="30"/>
              <a:t> </a:t>
            </a:r>
            <a:r>
              <a:rPr dirty="0" spc="-85"/>
              <a:t>động</a:t>
            </a:r>
            <a:r>
              <a:rPr dirty="0" spc="25"/>
              <a:t> </a:t>
            </a:r>
            <a:r>
              <a:rPr dirty="0" spc="-125"/>
              <a:t>của</a:t>
            </a:r>
            <a:r>
              <a:rPr dirty="0" spc="20"/>
              <a:t> </a:t>
            </a:r>
            <a:r>
              <a:rPr dirty="0" spc="-105"/>
              <a:t>Op-Amp,</a:t>
            </a:r>
            <a:r>
              <a:rPr dirty="0" spc="20"/>
              <a:t> </a:t>
            </a:r>
            <a:r>
              <a:rPr dirty="0" spc="-60"/>
              <a:t>do</a:t>
            </a:r>
            <a:r>
              <a:rPr dirty="0" spc="25"/>
              <a:t> </a:t>
            </a:r>
            <a:r>
              <a:rPr dirty="0" spc="-40"/>
              <a:t>đó</a:t>
            </a:r>
            <a:r>
              <a:rPr dirty="0" spc="20"/>
              <a:t> </a:t>
            </a:r>
            <a:r>
              <a:rPr dirty="0" spc="-110"/>
              <a:t>Op-Amp</a:t>
            </a:r>
            <a:r>
              <a:rPr dirty="0" spc="35"/>
              <a:t> </a:t>
            </a:r>
            <a:r>
              <a:rPr dirty="0" spc="-175"/>
              <a:t>sẽ</a:t>
            </a:r>
          </a:p>
          <a:p>
            <a:pPr marL="366395">
              <a:lnSpc>
                <a:spcPts val="2280"/>
              </a:lnSpc>
            </a:pPr>
            <a:r>
              <a:rPr dirty="0" spc="-35"/>
              <a:t>rơi </a:t>
            </a:r>
            <a:r>
              <a:rPr dirty="0" spc="-105"/>
              <a:t>vào </a:t>
            </a:r>
            <a:r>
              <a:rPr dirty="0" spc="-50"/>
              <a:t>trạng </a:t>
            </a:r>
            <a:r>
              <a:rPr dirty="0" spc="-20"/>
              <a:t>thái </a:t>
            </a:r>
            <a:r>
              <a:rPr dirty="0" spc="-95"/>
              <a:t>bão</a:t>
            </a:r>
            <a:r>
              <a:rPr dirty="0" spc="-355"/>
              <a:t> </a:t>
            </a:r>
            <a:r>
              <a:rPr dirty="0" spc="-95"/>
              <a:t>hòa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22094" y="5599277"/>
            <a:ext cx="8407400" cy="6051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Do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đó,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tuyến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tính,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người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phương 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pháp </a:t>
            </a:r>
            <a:r>
              <a:rPr dirty="0" sz="2000" spc="-120" b="1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75" b="1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dirty="0" sz="2000" spc="-150" b="1">
                <a:solidFill>
                  <a:srgbClr val="404040"/>
                </a:solidFill>
                <a:latin typeface="Arial"/>
                <a:cs typeface="Arial"/>
              </a:rPr>
              <a:t> âm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0445" y="4305992"/>
            <a:ext cx="3588490" cy="1189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35915" y="4288863"/>
            <a:ext cx="3882460" cy="11956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775460" marR="5080" indent="33528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150"/>
              <a:t>hồi </a:t>
            </a:r>
            <a:r>
              <a:rPr dirty="0" spc="-100"/>
              <a:t>tiếp </a:t>
            </a:r>
            <a:r>
              <a:rPr dirty="0" spc="-365"/>
              <a:t>âm  </a:t>
            </a:r>
            <a:r>
              <a:rPr dirty="0" spc="-295"/>
              <a:t>(Negative</a:t>
            </a:r>
            <a:r>
              <a:rPr dirty="0" spc="-395"/>
              <a:t> </a:t>
            </a:r>
            <a:r>
              <a:rPr dirty="0" spc="-375"/>
              <a:t>Feedback)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2094" y="1884426"/>
            <a:ext cx="8409305" cy="60833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04139" marR="5080" indent="-91440">
              <a:lnSpc>
                <a:spcPts val="2180"/>
              </a:lnSpc>
              <a:spcBef>
                <a:spcPts val="36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âm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làm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pha 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180</a:t>
            </a:r>
            <a:r>
              <a:rPr dirty="0" sz="2000" spc="-75">
                <a:solidFill>
                  <a:srgbClr val="404040"/>
                </a:solidFill>
                <a:latin typeface="Symbol"/>
                <a:cs typeface="Symbol"/>
              </a:rPr>
              <a:t>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2094" y="4414773"/>
            <a:ext cx="8408670" cy="188150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việc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âm,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vùng 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tuyến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tính.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Đồng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thời,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ý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muốn. 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Ngoài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ra,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băng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động,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điều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chỉnh.</a:t>
            </a:r>
            <a:endParaRPr sz="2000">
              <a:latin typeface="Arial"/>
              <a:cs typeface="Arial"/>
            </a:endParaRPr>
          </a:p>
          <a:p>
            <a:pPr algn="just" marL="104139" marR="6350" indent="-91440">
              <a:lnSpc>
                <a:spcPts val="2160"/>
              </a:lnSpc>
              <a:spcBef>
                <a:spcPts val="144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âm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gọi là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kín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(closed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loop 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gain)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baseline="-21367" sz="1950" spc="-127">
                <a:solidFill>
                  <a:srgbClr val="404040"/>
                </a:solidFill>
                <a:latin typeface="Arial"/>
                <a:cs typeface="Arial"/>
              </a:rPr>
              <a:t>cl</a:t>
            </a:r>
            <a:endParaRPr baseline="-21367" sz="1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24651" y="2494681"/>
            <a:ext cx="3309949" cy="18070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758314" marR="5080" indent="35179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150"/>
              <a:t>hồi </a:t>
            </a:r>
            <a:r>
              <a:rPr dirty="0" spc="-100"/>
              <a:t>tiếp </a:t>
            </a:r>
            <a:r>
              <a:rPr dirty="0" spc="-365"/>
              <a:t>âm  </a:t>
            </a:r>
            <a:r>
              <a:rPr dirty="0" spc="-275"/>
              <a:t>(Negative</a:t>
            </a:r>
            <a:r>
              <a:rPr dirty="0" spc="-405"/>
              <a:t> </a:t>
            </a:r>
            <a:r>
              <a:rPr dirty="0" spc="-365"/>
              <a:t>Feedback)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2022094" y="1694592"/>
            <a:ext cx="5849620" cy="1932305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400" spc="-26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ba </a:t>
            </a:r>
            <a:r>
              <a:rPr dirty="0" sz="2400" spc="-55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400" spc="-5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4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âm </a:t>
            </a:r>
            <a:r>
              <a:rPr dirty="0" sz="2400" spc="-215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400" spc="-114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2400" spc="-2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400" spc="-135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400">
              <a:latin typeface="Arial"/>
              <a:cs typeface="Arial"/>
            </a:endParaRPr>
          </a:p>
          <a:p>
            <a:pPr marL="269875" indent="-257175">
              <a:lnSpc>
                <a:spcPct val="100000"/>
              </a:lnSpc>
              <a:spcBef>
                <a:spcPts val="1195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(Non-Inverting</a:t>
            </a:r>
            <a:r>
              <a:rPr dirty="0" sz="2000" spc="-2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Amplifier)</a:t>
            </a:r>
            <a:endParaRPr sz="2000">
              <a:latin typeface="Arial"/>
              <a:cs typeface="Arial"/>
            </a:endParaRPr>
          </a:p>
          <a:p>
            <a:pPr marL="269875" indent="-257175">
              <a:lnSpc>
                <a:spcPct val="100000"/>
              </a:lnSpc>
              <a:spcBef>
                <a:spcPts val="1150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(Voltage</a:t>
            </a:r>
            <a:r>
              <a:rPr dirty="0" sz="2000" spc="-2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Follower)</a:t>
            </a:r>
            <a:endParaRPr sz="2000">
              <a:latin typeface="Arial"/>
              <a:cs typeface="Arial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(Inverting</a:t>
            </a:r>
            <a:r>
              <a:rPr dirty="0" sz="2000" spc="-27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Amplifier)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899920" marR="5080" indent="-1820545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khuếch </a:t>
            </a:r>
            <a:r>
              <a:rPr dirty="0" spc="-200"/>
              <a:t>đại </a:t>
            </a:r>
            <a:r>
              <a:rPr dirty="0" spc="-290"/>
              <a:t>không </a:t>
            </a:r>
            <a:r>
              <a:rPr dirty="0" spc="-254"/>
              <a:t>đảo</a:t>
            </a:r>
            <a:r>
              <a:rPr dirty="0" spc="-690"/>
              <a:t> </a:t>
            </a:r>
            <a:r>
              <a:rPr dirty="0" spc="-250"/>
              <a:t>(Non-  </a:t>
            </a:r>
            <a:r>
              <a:rPr dirty="0" spc="-200"/>
              <a:t>Inverting</a:t>
            </a:r>
            <a:r>
              <a:rPr dirty="0" spc="-350"/>
              <a:t> </a:t>
            </a:r>
            <a:r>
              <a:rPr dirty="0" spc="-170"/>
              <a:t>Amplifier)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2094" y="1884426"/>
            <a:ext cx="8407400" cy="8794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có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(Non- 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Inverting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Terminal)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(Inverting 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Terminal)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4084" y="3331083"/>
            <a:ext cx="4743450" cy="2771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09800" y="3899915"/>
            <a:ext cx="2638171" cy="1455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04872" y="4094988"/>
            <a:ext cx="2068068" cy="885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892300" marR="5080" indent="-1812925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khuếch </a:t>
            </a:r>
            <a:r>
              <a:rPr dirty="0" spc="-200"/>
              <a:t>đại </a:t>
            </a:r>
            <a:r>
              <a:rPr dirty="0" spc="-290"/>
              <a:t>không </a:t>
            </a:r>
            <a:r>
              <a:rPr dirty="0" spc="-254"/>
              <a:t>đảo</a:t>
            </a:r>
            <a:r>
              <a:rPr dirty="0" spc="-690"/>
              <a:t> </a:t>
            </a:r>
            <a:r>
              <a:rPr dirty="0" spc="-250"/>
              <a:t>(Non-  </a:t>
            </a:r>
            <a:r>
              <a:rPr dirty="0" spc="-185"/>
              <a:t>Inverting</a:t>
            </a:r>
            <a:r>
              <a:rPr dirty="0" spc="-365"/>
              <a:t> </a:t>
            </a:r>
            <a:r>
              <a:rPr dirty="0" spc="-170"/>
              <a:t>Amplifier)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2094" y="1884426"/>
            <a:ext cx="8407400" cy="8794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có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(Non- 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Inverting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Terminal)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(Inverting 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Terminal)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44084" y="3331083"/>
            <a:ext cx="4743450" cy="2771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09800" y="3899915"/>
            <a:ext cx="2638171" cy="1455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04872" y="4094988"/>
            <a:ext cx="2068068" cy="885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2038985" marR="5080" indent="-9144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140"/>
              <a:t>theo </a:t>
            </a:r>
            <a:r>
              <a:rPr dirty="0" spc="-180"/>
              <a:t>điện</a:t>
            </a:r>
            <a:r>
              <a:rPr dirty="0" spc="-690"/>
              <a:t> </a:t>
            </a:r>
            <a:r>
              <a:rPr dirty="0" spc="-350"/>
              <a:t>áp  </a:t>
            </a:r>
            <a:r>
              <a:rPr dirty="0" spc="-305"/>
              <a:t>(Voltage</a:t>
            </a:r>
            <a:r>
              <a:rPr dirty="0" spc="-405"/>
              <a:t> </a:t>
            </a:r>
            <a:r>
              <a:rPr dirty="0" spc="-235"/>
              <a:t>Follower)</a:t>
            </a:r>
          </a:p>
        </p:txBody>
      </p:sp>
      <p:sp>
        <p:nvSpPr>
          <p:cNvPr id="3" name="object 3"/>
          <p:cNvSpPr/>
          <p:nvPr/>
        </p:nvSpPr>
        <p:spPr>
          <a:xfrm>
            <a:off x="7553993" y="2227774"/>
            <a:ext cx="3409297" cy="3010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715756" y="3707841"/>
            <a:ext cx="2075561" cy="1046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10828" y="3902964"/>
            <a:ext cx="1505712" cy="4770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22094" y="1884426"/>
            <a:ext cx="5393690" cy="288099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635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trường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hợp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biệt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đảo.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Rf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0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Ri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dirty="0" sz="2000" spc="-30">
                <a:solidFill>
                  <a:srgbClr val="404040"/>
                </a:solidFill>
                <a:latin typeface="Symbol"/>
                <a:cs typeface="Symbol"/>
              </a:rPr>
              <a:t>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dirty="0" sz="2000" spc="-145">
                <a:solidFill>
                  <a:srgbClr val="404040"/>
                </a:solidFill>
                <a:latin typeface="Arial"/>
                <a:cs typeface="Arial"/>
              </a:rPr>
              <a:t>số 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1.</a:t>
            </a:r>
            <a:endParaRPr sz="2000">
              <a:latin typeface="Arial"/>
              <a:cs typeface="Arial"/>
            </a:endParaRPr>
          </a:p>
          <a:p>
            <a:pPr algn="just" marL="104139" marR="5715" indent="-91440">
              <a:lnSpc>
                <a:spcPts val="2160"/>
              </a:lnSpc>
              <a:spcBef>
                <a:spcPts val="144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Voltage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Follower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rất 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cao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rất</a:t>
            </a:r>
            <a:r>
              <a:rPr dirty="0" sz="2000" spc="-2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thấp.</a:t>
            </a:r>
            <a:endParaRPr sz="2000">
              <a:latin typeface="Arial"/>
              <a:cs typeface="Arial"/>
            </a:endParaRPr>
          </a:p>
          <a:p>
            <a:pPr algn="just" marL="104139" marR="5080" indent="-91440">
              <a:lnSpc>
                <a:spcPct val="90000"/>
              </a:lnSpc>
              <a:spcBef>
                <a:spcPts val="136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trên,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Voltage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Follower 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thông 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thường với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tải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kháng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thấp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tải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thông 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thường với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kháng</a:t>
            </a:r>
            <a:r>
              <a:rPr dirty="0" sz="2000" spc="-3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cao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804035" marR="5080" indent="-173990">
              <a:lnSpc>
                <a:spcPts val="4900"/>
              </a:lnSpc>
              <a:spcBef>
                <a:spcPts val="980"/>
              </a:spcBef>
            </a:pPr>
            <a:r>
              <a:rPr dirty="0" spc="-265"/>
              <a:t>Mạch </a:t>
            </a:r>
            <a:r>
              <a:rPr dirty="0" spc="-290"/>
              <a:t>khuếch </a:t>
            </a:r>
            <a:r>
              <a:rPr dirty="0" spc="-200"/>
              <a:t>đại</a:t>
            </a:r>
            <a:r>
              <a:rPr dirty="0" spc="-525"/>
              <a:t> </a:t>
            </a:r>
            <a:r>
              <a:rPr dirty="0" spc="-254"/>
              <a:t>đảo  </a:t>
            </a:r>
            <a:r>
              <a:rPr dirty="0" spc="-185"/>
              <a:t>(Inverting</a:t>
            </a:r>
            <a:r>
              <a:rPr dirty="0" spc="-385"/>
              <a:t> </a:t>
            </a:r>
            <a:r>
              <a:rPr dirty="0" spc="-170"/>
              <a:t>Amplifier)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2094" y="1884426"/>
            <a:ext cx="8408035" cy="11544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21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có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(Inverting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Terminal)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Ri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cổng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Rf. </a:t>
            </a:r>
            <a:r>
              <a:rPr dirty="0" sz="2000" spc="-175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(Non-Inverting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Terminal) </a:t>
            </a:r>
            <a:r>
              <a:rPr dirty="0" sz="2000" spc="-165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với</a:t>
            </a:r>
            <a:r>
              <a:rPr dirty="0" sz="2000" spc="-1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đất.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13377" y="3117723"/>
            <a:ext cx="4477123" cy="2809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84220" y="4216857"/>
            <a:ext cx="2793492" cy="17174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79291" y="4411979"/>
            <a:ext cx="2223516" cy="11475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908380"/>
            <a:ext cx="290639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0"/>
              <a:t>Kiểm </a:t>
            </a:r>
            <a:r>
              <a:rPr dirty="0" spc="-105"/>
              <a:t>tra</a:t>
            </a:r>
            <a:r>
              <a:rPr dirty="0" spc="-420"/>
              <a:t> </a:t>
            </a:r>
            <a:r>
              <a:rPr dirty="0" spc="-175"/>
              <a:t>15’</a:t>
            </a:r>
          </a:p>
        </p:txBody>
      </p:sp>
      <p:sp>
        <p:nvSpPr>
          <p:cNvPr id="3" name="object 3"/>
          <p:cNvSpPr/>
          <p:nvPr/>
        </p:nvSpPr>
        <p:spPr>
          <a:xfrm>
            <a:off x="2473089" y="2142263"/>
            <a:ext cx="2974281" cy="18671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620256" y="2186939"/>
            <a:ext cx="2795016" cy="1717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15328" y="2382011"/>
            <a:ext cx="2225039" cy="11475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81632" y="1943861"/>
            <a:ext cx="1267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Cho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mạch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14617" y="1943861"/>
            <a:ext cx="34023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Chứng minh </a:t>
            </a:r>
            <a:r>
              <a:rPr dirty="0" sz="2400">
                <a:latin typeface="Times New Roman"/>
                <a:cs typeface="Times New Roman"/>
              </a:rPr>
              <a:t>công thức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sau: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1982" y="4121607"/>
            <a:ext cx="12674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Cho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mạch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4714" y="4121607"/>
            <a:ext cx="34029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Chứng minh </a:t>
            </a:r>
            <a:r>
              <a:rPr dirty="0" sz="2400">
                <a:latin typeface="Times New Roman"/>
                <a:cs typeface="Times New Roman"/>
              </a:rPr>
              <a:t>công thức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sau: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89276" y="4651247"/>
            <a:ext cx="2895600" cy="19339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18731" y="4933137"/>
            <a:ext cx="2795016" cy="17174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13804" y="5128259"/>
            <a:ext cx="2225040" cy="11475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9429" y="908380"/>
            <a:ext cx="767588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9"/>
              <a:t>Trở </a:t>
            </a:r>
            <a:r>
              <a:rPr dirty="0" spc="-335"/>
              <a:t>kháng </a:t>
            </a:r>
            <a:r>
              <a:rPr dirty="0" spc="-355"/>
              <a:t>của </a:t>
            </a:r>
            <a:r>
              <a:rPr dirty="0" spc="-330"/>
              <a:t>mạch </a:t>
            </a:r>
            <a:r>
              <a:rPr dirty="0" spc="-150"/>
              <a:t>hồi </a:t>
            </a:r>
            <a:r>
              <a:rPr dirty="0" spc="-100"/>
              <a:t>tiếp</a:t>
            </a:r>
            <a:r>
              <a:rPr dirty="0" spc="-535"/>
              <a:t> </a:t>
            </a:r>
            <a:r>
              <a:rPr dirty="0" spc="-360"/>
              <a:t>âm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2094" y="1884426"/>
            <a:ext cx="31978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không</a:t>
            </a:r>
            <a:r>
              <a:rPr dirty="0" sz="2000" spc="-2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66459" y="2172842"/>
            <a:ext cx="4743449" cy="2771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87760" y="2689892"/>
            <a:ext cx="55308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13888" sz="3000" spc="104" i="1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dirty="0" sz="1150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1150" spc="90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z="1150" spc="-15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dirty="0" sz="115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z="1150" spc="-3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1150" spc="15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0191" y="2544713"/>
            <a:ext cx="149352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4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000" spc="-14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205" sz="3900" spc="-367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000" spc="15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2000" spc="45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20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 spc="-175" i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baseline="-24154" sz="1725" i="1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dirty="0" baseline="-24154" sz="1725" spc="22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baseline="-24154" sz="1725" spc="-11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 spc="165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baseline="-3205" sz="3900" spc="7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000" spc="75" i="1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dirty="0" baseline="-24154" sz="17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4154" sz="1725" spc="37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endParaRPr baseline="-24154" sz="172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14694" y="3837703"/>
            <a:ext cx="988060" cy="0"/>
          </a:xfrm>
          <a:custGeom>
            <a:avLst/>
            <a:gdLst/>
            <a:ahLst/>
            <a:cxnLst/>
            <a:rect l="l" t="t" r="r" b="b"/>
            <a:pathLst>
              <a:path w="988060" h="0">
                <a:moveTo>
                  <a:pt x="0" y="0"/>
                </a:moveTo>
                <a:lnTo>
                  <a:pt x="987883" y="0"/>
                </a:lnTo>
              </a:path>
            </a:pathLst>
          </a:custGeom>
          <a:ln w="1259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16606" y="3806851"/>
            <a:ext cx="481330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i="1">
                <a:solidFill>
                  <a:srgbClr val="0000FF"/>
                </a:solidFill>
                <a:latin typeface="Times New Roman"/>
                <a:cs typeface="Times New Roman"/>
              </a:rPr>
              <a:t>out</a:t>
            </a:r>
            <a:r>
              <a:rPr dirty="0" sz="1150" spc="-19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000FF"/>
                </a:solidFill>
                <a:latin typeface="Times New Roman"/>
                <a:cs typeface="Times New Roman"/>
              </a:rPr>
              <a:t>(NI)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4176169" y="4006392"/>
            <a:ext cx="139700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" i="1">
                <a:solidFill>
                  <a:srgbClr val="0000FF"/>
                </a:solidFill>
                <a:latin typeface="Times New Roman"/>
                <a:cs typeface="Times New Roman"/>
              </a:rPr>
              <a:t>ol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1640" y="3536289"/>
            <a:ext cx="3670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13888" sz="3000" spc="135" i="1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dirty="0" sz="1150" spc="-5" i="1">
                <a:solidFill>
                  <a:srgbClr val="0000FF"/>
                </a:solidFill>
                <a:latin typeface="Times New Roman"/>
                <a:cs typeface="Times New Roman"/>
              </a:rPr>
              <a:t>out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3321" y="3634042"/>
            <a:ext cx="9036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8030" algn="l"/>
              </a:tabLst>
            </a:pPr>
            <a:r>
              <a:rPr dirty="0" sz="2000" spc="20" i="1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dirty="0" sz="2000" spc="2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000" spc="2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0189" y="3754468"/>
            <a:ext cx="998219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3205" sz="3900" spc="-37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00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2000" spc="-25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20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 spc="25" i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sz="2000" spc="39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baseline="-3205" sz="3900" spc="-22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205" sz="39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59329" y="2958464"/>
            <a:ext cx="29946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Thông thường,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có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giá trị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là</a:t>
            </a:r>
            <a:r>
              <a:rPr dirty="0" sz="2000" spc="-1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∞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3747" y="4172534"/>
            <a:ext cx="29406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Thông thường, có giá trị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là</a:t>
            </a:r>
            <a:r>
              <a:rPr dirty="0" sz="2000" spc="-1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9429" y="908380"/>
            <a:ext cx="767588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9"/>
              <a:t>Trở </a:t>
            </a:r>
            <a:r>
              <a:rPr dirty="0" spc="-335"/>
              <a:t>kháng </a:t>
            </a:r>
            <a:r>
              <a:rPr dirty="0" spc="-355"/>
              <a:t>của </a:t>
            </a:r>
            <a:r>
              <a:rPr dirty="0" spc="-330"/>
              <a:t>mạch </a:t>
            </a:r>
            <a:r>
              <a:rPr dirty="0" spc="-150"/>
              <a:t>hồi </a:t>
            </a:r>
            <a:r>
              <a:rPr dirty="0" spc="-100"/>
              <a:t>tiếp</a:t>
            </a:r>
            <a:r>
              <a:rPr dirty="0" spc="-535"/>
              <a:t> </a:t>
            </a:r>
            <a:r>
              <a:rPr dirty="0" spc="-360"/>
              <a:t>âm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2094" y="1884426"/>
            <a:ext cx="25044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9329" y="2958464"/>
            <a:ext cx="29946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Thông thường,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có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giá trị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là</a:t>
            </a:r>
            <a:r>
              <a:rPr dirty="0" sz="2000" spc="-1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∞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3747" y="4172534"/>
            <a:ext cx="29406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Thông thường, có giá trị 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là</a:t>
            </a:r>
            <a:r>
              <a:rPr dirty="0" sz="2000" spc="-1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5465" y="2671539"/>
            <a:ext cx="44767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13888" sz="3000" spc="104" i="1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dirty="0" sz="1150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1150" spc="95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sz="1150" spc="-1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dirty="0" sz="1150" spc="-25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1150" spc="15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3116" y="2605543"/>
            <a:ext cx="422909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40">
                <a:solidFill>
                  <a:srgbClr val="0000FF"/>
                </a:solidFill>
                <a:latin typeface="Symbol"/>
                <a:cs typeface="Symbol"/>
              </a:rPr>
              <a:t></a:t>
            </a:r>
            <a:r>
              <a:rPr dirty="0" sz="2000" spc="-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 spc="-45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dirty="0" baseline="-24154" sz="1725" spc="-67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baseline="-24154" sz="17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83617" y="3859734"/>
            <a:ext cx="987425" cy="0"/>
          </a:xfrm>
          <a:custGeom>
            <a:avLst/>
            <a:gdLst/>
            <a:ahLst/>
            <a:cxnLst/>
            <a:rect l="l" t="t" r="r" b="b"/>
            <a:pathLst>
              <a:path w="987425" h="0">
                <a:moveTo>
                  <a:pt x="0" y="0"/>
                </a:moveTo>
                <a:lnTo>
                  <a:pt x="987048" y="0"/>
                </a:lnTo>
              </a:path>
            </a:pathLst>
          </a:custGeom>
          <a:ln w="1262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91701" y="3828845"/>
            <a:ext cx="37528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i="1">
                <a:solidFill>
                  <a:srgbClr val="0000FF"/>
                </a:solidFill>
                <a:latin typeface="Times New Roman"/>
                <a:cs typeface="Times New Roman"/>
              </a:rPr>
              <a:t>out</a:t>
            </a:r>
            <a:r>
              <a:rPr dirty="0" sz="1150" spc="-20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000FF"/>
                </a:solidFill>
                <a:latin typeface="Times New Roman"/>
                <a:cs typeface="Times New Roman"/>
              </a:rPr>
              <a:t>(I)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4081" y="4028795"/>
            <a:ext cx="139700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5" i="1">
                <a:solidFill>
                  <a:srgbClr val="0000FF"/>
                </a:solidFill>
                <a:latin typeface="Times New Roman"/>
                <a:cs typeface="Times New Roman"/>
              </a:rPr>
              <a:t>ol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0301" y="3557728"/>
            <a:ext cx="36703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13888" sz="3000" spc="135" i="1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dirty="0" sz="1150" spc="-5" i="1">
                <a:solidFill>
                  <a:srgbClr val="0000FF"/>
                </a:solidFill>
                <a:latin typeface="Times New Roman"/>
                <a:cs typeface="Times New Roman"/>
              </a:rPr>
              <a:t>out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38545" y="3655681"/>
            <a:ext cx="79692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41350" algn="l"/>
              </a:tabLst>
            </a:pPr>
            <a:r>
              <a:rPr dirty="0" sz="2000" spc="20" i="1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dirty="0" sz="2000" spc="2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000" spc="2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8602" y="3776354"/>
            <a:ext cx="997585" cy="427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3205" sz="3900" spc="-3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000" spc="-2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2000" spc="-2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20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 spc="20" i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sz="2000" spc="38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baseline="-3205" sz="3900" spc="-22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205" sz="39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08577" y="2229230"/>
            <a:ext cx="4477123" cy="2809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9725" y="286892"/>
            <a:ext cx="9039225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3144520" marR="5080" indent="-3132455">
              <a:lnSpc>
                <a:spcPts val="4900"/>
              </a:lnSpc>
              <a:spcBef>
                <a:spcPts val="980"/>
              </a:spcBef>
            </a:pPr>
            <a:r>
              <a:rPr dirty="0" spc="-320"/>
              <a:t>Ảnh </a:t>
            </a:r>
            <a:r>
              <a:rPr dirty="0" spc="-400"/>
              <a:t>hưởng </a:t>
            </a:r>
            <a:r>
              <a:rPr dirty="0" spc="-350"/>
              <a:t>của </a:t>
            </a:r>
            <a:r>
              <a:rPr dirty="0" spc="-180"/>
              <a:t>điện </a:t>
            </a:r>
            <a:r>
              <a:rPr dirty="0" spc="-275"/>
              <a:t>phân </a:t>
            </a:r>
            <a:r>
              <a:rPr dirty="0" spc="-425"/>
              <a:t>cực </a:t>
            </a:r>
            <a:r>
              <a:rPr dirty="0" spc="-375"/>
              <a:t>và</a:t>
            </a:r>
            <a:r>
              <a:rPr dirty="0" spc="-484"/>
              <a:t> </a:t>
            </a:r>
            <a:r>
              <a:rPr dirty="0" spc="-204"/>
              <a:t>hiệu  </a:t>
            </a:r>
            <a:r>
              <a:rPr dirty="0" spc="-175"/>
              <a:t>điện </a:t>
            </a:r>
            <a:r>
              <a:rPr dirty="0" spc="-114"/>
              <a:t>thế</a:t>
            </a:r>
            <a:r>
              <a:rPr dirty="0" spc="-525"/>
              <a:t> </a:t>
            </a:r>
            <a:r>
              <a:rPr dirty="0" spc="-225"/>
              <a:t>bù</a:t>
            </a:r>
          </a:p>
        </p:txBody>
      </p:sp>
      <p:sp>
        <p:nvSpPr>
          <p:cNvPr id="3" name="object 3"/>
          <p:cNvSpPr/>
          <p:nvPr/>
        </p:nvSpPr>
        <p:spPr>
          <a:xfrm>
            <a:off x="1732281" y="2470325"/>
            <a:ext cx="4342551" cy="21718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02016" y="3503421"/>
            <a:ext cx="1684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Mạch theo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áp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59295" y="1828800"/>
            <a:ext cx="3665220" cy="1735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82798" y="4890973"/>
            <a:ext cx="16173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Mạch kđ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đảo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47788" y="4101922"/>
            <a:ext cx="2912440" cy="21165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564883" y="5719064"/>
            <a:ext cx="2454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Mạch kđ không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đảo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126" y="286892"/>
            <a:ext cx="988060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2703830" marR="5080" indent="-2691765">
              <a:lnSpc>
                <a:spcPts val="4900"/>
              </a:lnSpc>
              <a:spcBef>
                <a:spcPts val="980"/>
              </a:spcBef>
            </a:pPr>
            <a:r>
              <a:rPr dirty="0" spc="-500"/>
              <a:t>Cách </a:t>
            </a:r>
            <a:r>
              <a:rPr dirty="0" spc="-300"/>
              <a:t>giảm </a:t>
            </a:r>
            <a:r>
              <a:rPr dirty="0" spc="-290"/>
              <a:t>ảnh </a:t>
            </a:r>
            <a:r>
              <a:rPr dirty="0" spc="-400"/>
              <a:t>hưởng </a:t>
            </a:r>
            <a:r>
              <a:rPr dirty="0" spc="-350"/>
              <a:t>của </a:t>
            </a:r>
            <a:r>
              <a:rPr dirty="0" spc="-275"/>
              <a:t>dòng phân </a:t>
            </a:r>
            <a:r>
              <a:rPr dirty="0" spc="-425"/>
              <a:t>cực  </a:t>
            </a:r>
            <a:r>
              <a:rPr dirty="0" spc="-270"/>
              <a:t>cho </a:t>
            </a:r>
            <a:r>
              <a:rPr dirty="0" spc="-330"/>
              <a:t>mạch</a:t>
            </a:r>
            <a:r>
              <a:rPr dirty="0" spc="-425"/>
              <a:t>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2016" y="3503421"/>
            <a:ext cx="1684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Mạch theo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áp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9295" y="1828800"/>
            <a:ext cx="3665220" cy="1735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82798" y="4890973"/>
            <a:ext cx="16173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Mạch kđ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đảo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47788" y="4101922"/>
            <a:ext cx="2912440" cy="21165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64883" y="5719064"/>
            <a:ext cx="2454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Mạch kđ không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đảo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32281" y="2470325"/>
            <a:ext cx="4342551" cy="21718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30423" y="4245864"/>
            <a:ext cx="945515" cy="76200"/>
          </a:xfrm>
          <a:custGeom>
            <a:avLst/>
            <a:gdLst/>
            <a:ahLst/>
            <a:cxnLst/>
            <a:rect l="l" t="t" r="r" b="b"/>
            <a:pathLst>
              <a:path w="945514" h="76200">
                <a:moveTo>
                  <a:pt x="868934" y="0"/>
                </a:moveTo>
                <a:lnTo>
                  <a:pt x="868934" y="76200"/>
                </a:lnTo>
                <a:lnTo>
                  <a:pt x="932434" y="44450"/>
                </a:lnTo>
                <a:lnTo>
                  <a:pt x="881634" y="44450"/>
                </a:lnTo>
                <a:lnTo>
                  <a:pt x="881634" y="31750"/>
                </a:lnTo>
                <a:lnTo>
                  <a:pt x="932434" y="31750"/>
                </a:lnTo>
                <a:lnTo>
                  <a:pt x="868934" y="0"/>
                </a:lnTo>
                <a:close/>
              </a:path>
              <a:path w="945514" h="76200">
                <a:moveTo>
                  <a:pt x="86893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68934" y="44450"/>
                </a:lnTo>
                <a:lnTo>
                  <a:pt x="868934" y="31750"/>
                </a:lnTo>
                <a:close/>
              </a:path>
              <a:path w="945514" h="76200">
                <a:moveTo>
                  <a:pt x="932434" y="31750"/>
                </a:moveTo>
                <a:lnTo>
                  <a:pt x="881634" y="31750"/>
                </a:lnTo>
                <a:lnTo>
                  <a:pt x="881634" y="44450"/>
                </a:lnTo>
                <a:lnTo>
                  <a:pt x="932434" y="44450"/>
                </a:lnTo>
                <a:lnTo>
                  <a:pt x="945134" y="38100"/>
                </a:lnTo>
                <a:lnTo>
                  <a:pt x="932434" y="3175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11693" y="3962272"/>
            <a:ext cx="344805" cy="321310"/>
          </a:xfrm>
          <a:custGeom>
            <a:avLst/>
            <a:gdLst/>
            <a:ahLst/>
            <a:cxnLst/>
            <a:rect l="l" t="t" r="r" b="b"/>
            <a:pathLst>
              <a:path w="344804" h="321310">
                <a:moveTo>
                  <a:pt x="284565" y="274041"/>
                </a:moveTo>
                <a:lnTo>
                  <a:pt x="262889" y="297306"/>
                </a:lnTo>
                <a:lnTo>
                  <a:pt x="344677" y="321309"/>
                </a:lnTo>
                <a:lnTo>
                  <a:pt x="330230" y="282701"/>
                </a:lnTo>
                <a:lnTo>
                  <a:pt x="293877" y="282701"/>
                </a:lnTo>
                <a:lnTo>
                  <a:pt x="284565" y="274041"/>
                </a:lnTo>
                <a:close/>
              </a:path>
              <a:path w="344804" h="321310">
                <a:moveTo>
                  <a:pt x="293204" y="264769"/>
                </a:moveTo>
                <a:lnTo>
                  <a:pt x="284565" y="274041"/>
                </a:lnTo>
                <a:lnTo>
                  <a:pt x="293877" y="282701"/>
                </a:lnTo>
                <a:lnTo>
                  <a:pt x="302513" y="273431"/>
                </a:lnTo>
                <a:lnTo>
                  <a:pt x="293204" y="264769"/>
                </a:lnTo>
                <a:close/>
              </a:path>
              <a:path w="344804" h="321310">
                <a:moveTo>
                  <a:pt x="314832" y="241553"/>
                </a:moveTo>
                <a:lnTo>
                  <a:pt x="293204" y="264769"/>
                </a:lnTo>
                <a:lnTo>
                  <a:pt x="302513" y="273431"/>
                </a:lnTo>
                <a:lnTo>
                  <a:pt x="293877" y="282701"/>
                </a:lnTo>
                <a:lnTo>
                  <a:pt x="330230" y="282701"/>
                </a:lnTo>
                <a:lnTo>
                  <a:pt x="314832" y="241553"/>
                </a:lnTo>
                <a:close/>
              </a:path>
              <a:path w="344804" h="321310">
                <a:moveTo>
                  <a:pt x="8635" y="0"/>
                </a:moveTo>
                <a:lnTo>
                  <a:pt x="0" y="9397"/>
                </a:lnTo>
                <a:lnTo>
                  <a:pt x="284565" y="274041"/>
                </a:lnTo>
                <a:lnTo>
                  <a:pt x="293204" y="264769"/>
                </a:lnTo>
                <a:lnTo>
                  <a:pt x="863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908795" y="1906523"/>
            <a:ext cx="111760" cy="530225"/>
          </a:xfrm>
          <a:custGeom>
            <a:avLst/>
            <a:gdLst/>
            <a:ahLst/>
            <a:cxnLst/>
            <a:rect l="l" t="t" r="r" b="b"/>
            <a:pathLst>
              <a:path w="111759" h="530225">
                <a:moveTo>
                  <a:pt x="43910" y="74435"/>
                </a:moveTo>
                <a:lnTo>
                  <a:pt x="31334" y="76323"/>
                </a:lnTo>
                <a:lnTo>
                  <a:pt x="98805" y="529716"/>
                </a:lnTo>
                <a:lnTo>
                  <a:pt x="111378" y="527812"/>
                </a:lnTo>
                <a:lnTo>
                  <a:pt x="43910" y="74435"/>
                </a:lnTo>
                <a:close/>
              </a:path>
              <a:path w="111759" h="530225">
                <a:moveTo>
                  <a:pt x="26415" y="0"/>
                </a:moveTo>
                <a:lnTo>
                  <a:pt x="0" y="81025"/>
                </a:lnTo>
                <a:lnTo>
                  <a:pt x="31334" y="76323"/>
                </a:lnTo>
                <a:lnTo>
                  <a:pt x="29463" y="63753"/>
                </a:lnTo>
                <a:lnTo>
                  <a:pt x="42036" y="61849"/>
                </a:lnTo>
                <a:lnTo>
                  <a:pt x="69789" y="61849"/>
                </a:lnTo>
                <a:lnTo>
                  <a:pt x="26415" y="0"/>
                </a:lnTo>
                <a:close/>
              </a:path>
              <a:path w="111759" h="530225">
                <a:moveTo>
                  <a:pt x="42036" y="61849"/>
                </a:moveTo>
                <a:lnTo>
                  <a:pt x="29463" y="63753"/>
                </a:lnTo>
                <a:lnTo>
                  <a:pt x="31334" y="76323"/>
                </a:lnTo>
                <a:lnTo>
                  <a:pt x="43910" y="74435"/>
                </a:lnTo>
                <a:lnTo>
                  <a:pt x="42036" y="61849"/>
                </a:lnTo>
                <a:close/>
              </a:path>
              <a:path w="111759" h="530225">
                <a:moveTo>
                  <a:pt x="69789" y="61849"/>
                </a:moveTo>
                <a:lnTo>
                  <a:pt x="42036" y="61849"/>
                </a:lnTo>
                <a:lnTo>
                  <a:pt x="43910" y="74435"/>
                </a:lnTo>
                <a:lnTo>
                  <a:pt x="75310" y="69723"/>
                </a:lnTo>
                <a:lnTo>
                  <a:pt x="69789" y="61849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126" y="286892"/>
            <a:ext cx="988060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2703830" marR="5080" indent="-2691765">
              <a:lnSpc>
                <a:spcPts val="4900"/>
              </a:lnSpc>
              <a:spcBef>
                <a:spcPts val="980"/>
              </a:spcBef>
            </a:pPr>
            <a:r>
              <a:rPr dirty="0" spc="-500"/>
              <a:t>Cách </a:t>
            </a:r>
            <a:r>
              <a:rPr dirty="0" spc="-300"/>
              <a:t>giảm </a:t>
            </a:r>
            <a:r>
              <a:rPr dirty="0" spc="-290"/>
              <a:t>ảnh </a:t>
            </a:r>
            <a:r>
              <a:rPr dirty="0" spc="-400"/>
              <a:t>hưởng </a:t>
            </a:r>
            <a:r>
              <a:rPr dirty="0" spc="-350"/>
              <a:t>của </a:t>
            </a:r>
            <a:r>
              <a:rPr dirty="0" spc="-275"/>
              <a:t>dòng phân </a:t>
            </a:r>
            <a:r>
              <a:rPr dirty="0" spc="-425"/>
              <a:t>cực  </a:t>
            </a:r>
            <a:r>
              <a:rPr dirty="0" spc="-270"/>
              <a:t>cho </a:t>
            </a:r>
            <a:r>
              <a:rPr dirty="0" spc="-330"/>
              <a:t>mạch</a:t>
            </a:r>
            <a:r>
              <a:rPr dirty="0" spc="-425"/>
              <a:t>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2094" y="1884426"/>
            <a:ext cx="8408670" cy="6051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22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IC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cung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điều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mục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đích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hủy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lỗi.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9376" y="2964752"/>
            <a:ext cx="7587523" cy="25733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4146" y="286892"/>
            <a:ext cx="5349240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179830" marR="5080" indent="-1167765">
              <a:lnSpc>
                <a:spcPts val="4900"/>
              </a:lnSpc>
              <a:spcBef>
                <a:spcPts val="980"/>
              </a:spcBef>
            </a:pPr>
            <a:r>
              <a:rPr dirty="0" spc="-450"/>
              <a:t>Băng </a:t>
            </a:r>
            <a:r>
              <a:rPr dirty="0" spc="-180"/>
              <a:t>thông </a:t>
            </a:r>
            <a:r>
              <a:rPr dirty="0" spc="-170"/>
              <a:t>hoạt</a:t>
            </a:r>
            <a:r>
              <a:rPr dirty="0" spc="-475"/>
              <a:t> </a:t>
            </a:r>
            <a:r>
              <a:rPr dirty="0" spc="-250"/>
              <a:t>động  </a:t>
            </a:r>
            <a:r>
              <a:rPr dirty="0" spc="-355"/>
              <a:t>của</a:t>
            </a:r>
            <a:r>
              <a:rPr dirty="0" spc="-350"/>
              <a:t> </a:t>
            </a:r>
            <a:r>
              <a:rPr dirty="0" spc="-340"/>
              <a:t>Op-Amp</a:t>
            </a:r>
          </a:p>
        </p:txBody>
      </p:sp>
      <p:sp>
        <p:nvSpPr>
          <p:cNvPr id="3" name="object 3"/>
          <p:cNvSpPr/>
          <p:nvPr/>
        </p:nvSpPr>
        <p:spPr>
          <a:xfrm>
            <a:off x="3558551" y="2585847"/>
            <a:ext cx="5087084" cy="3057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880" y="286892"/>
            <a:ext cx="6537959" cy="1379220"/>
          </a:xfrm>
          <a:prstGeom prst="rect"/>
        </p:spPr>
        <p:txBody>
          <a:bodyPr wrap="square" lIns="0" tIns="124460" rIns="0" bIns="0" rtlCol="0" vert="horz">
            <a:spAutoFit/>
          </a:bodyPr>
          <a:lstStyle/>
          <a:p>
            <a:pPr marL="12700" marR="5080" indent="595630">
              <a:lnSpc>
                <a:spcPts val="4900"/>
              </a:lnSpc>
              <a:spcBef>
                <a:spcPts val="980"/>
              </a:spcBef>
            </a:pPr>
            <a:r>
              <a:rPr dirty="0" spc="-450"/>
              <a:t>Băng </a:t>
            </a:r>
            <a:r>
              <a:rPr dirty="0" spc="-180"/>
              <a:t>thông </a:t>
            </a:r>
            <a:r>
              <a:rPr dirty="0" spc="-170"/>
              <a:t>hoạt </a:t>
            </a:r>
            <a:r>
              <a:rPr dirty="0" spc="-250"/>
              <a:t>động  </a:t>
            </a:r>
            <a:r>
              <a:rPr dirty="0" spc="-355"/>
              <a:t>của </a:t>
            </a:r>
            <a:r>
              <a:rPr dirty="0" spc="-340"/>
              <a:t>Op-Amp </a:t>
            </a:r>
            <a:r>
              <a:rPr dirty="0" spc="-290"/>
              <a:t>có </a:t>
            </a:r>
            <a:r>
              <a:rPr dirty="0" spc="-150"/>
              <a:t>hồi </a:t>
            </a:r>
            <a:r>
              <a:rPr dirty="0" spc="-100"/>
              <a:t>tiếp</a:t>
            </a:r>
            <a:r>
              <a:rPr dirty="0" spc="-660"/>
              <a:t> </a:t>
            </a:r>
            <a:r>
              <a:rPr dirty="0" spc="-360"/>
              <a:t>âm</a:t>
            </a:r>
          </a:p>
        </p:txBody>
      </p:sp>
      <p:sp>
        <p:nvSpPr>
          <p:cNvPr id="3" name="object 3"/>
          <p:cNvSpPr/>
          <p:nvPr/>
        </p:nvSpPr>
        <p:spPr>
          <a:xfrm>
            <a:off x="3343427" y="2124197"/>
            <a:ext cx="5435236" cy="3842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3025" y="1831594"/>
            <a:ext cx="8975725" cy="4043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33065" algn="l"/>
              </a:tabLst>
            </a:pP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Operational</a:t>
            </a: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 amplifier	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Là</a:t>
            </a:r>
            <a:r>
              <a:rPr dirty="0" sz="24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1</a:t>
            </a:r>
            <a:r>
              <a:rPr dirty="0" sz="24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loại</a:t>
            </a:r>
            <a:r>
              <a:rPr dirty="0" sz="24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mạch</a:t>
            </a:r>
            <a:r>
              <a:rPr dirty="0" sz="2400" spc="2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khuếch</a:t>
            </a:r>
            <a:r>
              <a:rPr dirty="0" sz="2400" spc="2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đại</a:t>
            </a:r>
            <a:r>
              <a:rPr dirty="0" sz="2400" spc="2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có</a:t>
            </a:r>
            <a:r>
              <a:rPr dirty="0" sz="24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hệ</a:t>
            </a:r>
            <a:r>
              <a:rPr dirty="0" sz="24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số</a:t>
            </a:r>
            <a:r>
              <a:rPr dirty="0" sz="2400" spc="229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kđ</a:t>
            </a:r>
            <a:r>
              <a:rPr dirty="0" sz="24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cao,</a:t>
            </a:r>
            <a:r>
              <a:rPr dirty="0" sz="24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trở</a:t>
            </a:r>
            <a:endParaRPr sz="2400">
              <a:latin typeface="Times New Roman"/>
              <a:cs typeface="Times New Roman"/>
            </a:endParaRPr>
          </a:p>
          <a:p>
            <a:pPr marL="2933065" marR="5080">
              <a:lnSpc>
                <a:spcPct val="100000"/>
              </a:lnSpc>
            </a:pP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kháng đầu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vào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rất cao, trở kháng 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đầu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ra rất thấp  và có khả năng khử nhiễu rất</a:t>
            </a:r>
            <a:r>
              <a:rPr dirty="0" sz="2400" spc="-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tốt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algn="just" marL="2933065" marR="5080" indent="-2410460">
              <a:lnSpc>
                <a:spcPct val="100000"/>
              </a:lnSpc>
              <a:spcBef>
                <a:spcPts val="5"/>
              </a:spcBef>
            </a:pPr>
            <a:r>
              <a:rPr dirty="0" baseline="3472" sz="3600" spc="-7" b="1" i="1">
                <a:solidFill>
                  <a:srgbClr val="0000FF"/>
                </a:solidFill>
                <a:latin typeface="Times New Roman"/>
                <a:cs typeface="Times New Roman"/>
              </a:rPr>
              <a:t>Differential </a:t>
            </a:r>
            <a:r>
              <a:rPr dirty="0" baseline="3472" sz="3600" b="1" i="1">
                <a:solidFill>
                  <a:srgbClr val="0000FF"/>
                </a:solidFill>
                <a:latin typeface="Times New Roman"/>
                <a:cs typeface="Times New Roman"/>
              </a:rPr>
              <a:t>mode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Là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1 trạng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thái 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hoạt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động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của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Op-Amp,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khi đó,  tín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hiệu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đầu vào sẽ ngược pha nhau và được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nối 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vào 2 cổng đầu vào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(double ended)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hoặc chỉ có 1 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tín hiệu nối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vào 1 cổng đầu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vào, cổng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còn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lại </a:t>
            </a:r>
            <a:r>
              <a:rPr dirty="0" sz="2400" spc="-15">
                <a:solidFill>
                  <a:srgbClr val="585858"/>
                </a:solidFill>
                <a:latin typeface="Times New Roman"/>
                <a:cs typeface="Times New Roman"/>
              </a:rPr>
              <a:t>sẽ 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nối đất (single</a:t>
            </a:r>
            <a:r>
              <a:rPr dirty="0" sz="2400" spc="-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ended)</a:t>
            </a:r>
            <a:endParaRPr sz="2400">
              <a:latin typeface="Times New Roman"/>
              <a:cs typeface="Times New Roman"/>
            </a:endParaRPr>
          </a:p>
          <a:p>
            <a:pPr marL="844550">
              <a:lnSpc>
                <a:spcPts val="2715"/>
              </a:lnSpc>
              <a:tabLst>
                <a:tab pos="2933065" algn="l"/>
              </a:tabLst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Common</a:t>
            </a:r>
            <a:r>
              <a:rPr dirty="0" sz="2400" spc="-1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mode	</a:t>
            </a:r>
            <a:r>
              <a:rPr dirty="0" baseline="1157" sz="3600" spc="-7">
                <a:solidFill>
                  <a:srgbClr val="585858"/>
                </a:solidFill>
                <a:latin typeface="Times New Roman"/>
                <a:cs typeface="Times New Roman"/>
              </a:rPr>
              <a:t>Là</a:t>
            </a:r>
            <a:r>
              <a:rPr dirty="0" baseline="1157" sz="3600" spc="1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>
                <a:solidFill>
                  <a:srgbClr val="585858"/>
                </a:solidFill>
                <a:latin typeface="Times New Roman"/>
                <a:cs typeface="Times New Roman"/>
              </a:rPr>
              <a:t>trạng</a:t>
            </a:r>
            <a:r>
              <a:rPr dirty="0" baseline="1157" sz="3600" spc="1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 spc="-7">
                <a:solidFill>
                  <a:srgbClr val="585858"/>
                </a:solidFill>
                <a:latin typeface="Times New Roman"/>
                <a:cs typeface="Times New Roman"/>
              </a:rPr>
              <a:t>thái</a:t>
            </a:r>
            <a:r>
              <a:rPr dirty="0" baseline="1157" sz="3600" spc="172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>
                <a:solidFill>
                  <a:srgbClr val="585858"/>
                </a:solidFill>
                <a:latin typeface="Times New Roman"/>
                <a:cs typeface="Times New Roman"/>
              </a:rPr>
              <a:t>khi</a:t>
            </a:r>
            <a:r>
              <a:rPr dirty="0" baseline="1157" sz="3600" spc="172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 spc="-15">
                <a:solidFill>
                  <a:srgbClr val="585858"/>
                </a:solidFill>
                <a:latin typeface="Times New Roman"/>
                <a:cs typeface="Times New Roman"/>
              </a:rPr>
              <a:t>mà</a:t>
            </a:r>
            <a:r>
              <a:rPr dirty="0" baseline="1157" sz="3600" spc="179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>
                <a:solidFill>
                  <a:srgbClr val="585858"/>
                </a:solidFill>
                <a:latin typeface="Times New Roman"/>
                <a:cs typeface="Times New Roman"/>
              </a:rPr>
              <a:t>tín</a:t>
            </a:r>
            <a:r>
              <a:rPr dirty="0" baseline="1157" sz="3600" spc="1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>
                <a:solidFill>
                  <a:srgbClr val="585858"/>
                </a:solidFill>
                <a:latin typeface="Times New Roman"/>
                <a:cs typeface="Times New Roman"/>
              </a:rPr>
              <a:t>hiệu</a:t>
            </a:r>
            <a:r>
              <a:rPr dirty="0" baseline="1157" sz="3600" spc="172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>
                <a:solidFill>
                  <a:srgbClr val="585858"/>
                </a:solidFill>
                <a:latin typeface="Times New Roman"/>
                <a:cs typeface="Times New Roman"/>
              </a:rPr>
              <a:t>đầu</a:t>
            </a:r>
            <a:r>
              <a:rPr dirty="0" baseline="1157" sz="3600" spc="172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 spc="-7">
                <a:solidFill>
                  <a:srgbClr val="585858"/>
                </a:solidFill>
                <a:latin typeface="Times New Roman"/>
                <a:cs typeface="Times New Roman"/>
              </a:rPr>
              <a:t>vào</a:t>
            </a:r>
            <a:r>
              <a:rPr dirty="0" baseline="1157" sz="3600" spc="172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>
                <a:solidFill>
                  <a:srgbClr val="585858"/>
                </a:solidFill>
                <a:latin typeface="Times New Roman"/>
                <a:cs typeface="Times New Roman"/>
              </a:rPr>
              <a:t>cùng</a:t>
            </a:r>
            <a:r>
              <a:rPr dirty="0" baseline="1157" sz="3600" spc="1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>
                <a:solidFill>
                  <a:srgbClr val="585858"/>
                </a:solidFill>
                <a:latin typeface="Times New Roman"/>
                <a:cs typeface="Times New Roman"/>
              </a:rPr>
              <a:t>pha</a:t>
            </a:r>
            <a:endParaRPr baseline="1157" sz="3600">
              <a:latin typeface="Times New Roman"/>
              <a:cs typeface="Times New Roman"/>
            </a:endParaRPr>
          </a:p>
          <a:p>
            <a:pPr marL="2933065">
              <a:lnSpc>
                <a:spcPts val="2855"/>
              </a:lnSpc>
            </a:pP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với nhau.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Giá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trị đầu ra sẽ bằng</a:t>
            </a:r>
            <a:r>
              <a:rPr dirty="0" sz="2400" spc="-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0073" y="908380"/>
            <a:ext cx="650875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5"/>
              <a:t>Những </a:t>
            </a:r>
            <a:r>
              <a:rPr dirty="0" spc="-175"/>
              <a:t>điều </a:t>
            </a:r>
            <a:r>
              <a:rPr dirty="0" spc="-320"/>
              <a:t>ba </a:t>
            </a:r>
            <a:r>
              <a:rPr dirty="0" spc="-325"/>
              <a:t>dạy </a:t>
            </a:r>
            <a:r>
              <a:rPr dirty="0" spc="-270"/>
              <a:t>con</a:t>
            </a:r>
            <a:r>
              <a:rPr dirty="0" spc="-620"/>
              <a:t> </a:t>
            </a:r>
            <a:r>
              <a:rPr dirty="0" spc="-70"/>
              <a:t>trai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0073" y="908380"/>
            <a:ext cx="650875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5"/>
              <a:t>Những </a:t>
            </a:r>
            <a:r>
              <a:rPr dirty="0" spc="-175"/>
              <a:t>điều </a:t>
            </a:r>
            <a:r>
              <a:rPr dirty="0" spc="-320"/>
              <a:t>ba </a:t>
            </a:r>
            <a:r>
              <a:rPr dirty="0" spc="-325"/>
              <a:t>dạy </a:t>
            </a:r>
            <a:r>
              <a:rPr dirty="0" spc="-270"/>
              <a:t>con</a:t>
            </a:r>
            <a:r>
              <a:rPr dirty="0" spc="-620"/>
              <a:t> </a:t>
            </a:r>
            <a:r>
              <a:rPr dirty="0" spc="-70"/>
              <a:t>trai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240332" y="1819402"/>
            <a:ext cx="9054465" cy="403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100"/>
              </a:spcBef>
              <a:tabLst>
                <a:tab pos="2639060" algn="l"/>
                <a:tab pos="3108325" algn="l"/>
                <a:tab pos="3542665" algn="l"/>
                <a:tab pos="3961765" algn="l"/>
                <a:tab pos="4989195" algn="l"/>
                <a:tab pos="5507355" algn="l"/>
                <a:tab pos="6077585" algn="l"/>
                <a:tab pos="7308850" algn="l"/>
                <a:tab pos="7847330" algn="l"/>
                <a:tab pos="8755380" algn="l"/>
              </a:tabLst>
            </a:pPr>
            <a:r>
              <a:rPr dirty="0" baseline="2314" sz="3600" spc="-7" b="1" i="1">
                <a:solidFill>
                  <a:srgbClr val="0000FF"/>
                </a:solidFill>
                <a:latin typeface="Times New Roman"/>
                <a:cs typeface="Times New Roman"/>
              </a:rPr>
              <a:t>Open</a:t>
            </a:r>
            <a:r>
              <a:rPr dirty="0" baseline="2314" sz="3600" b="1" i="1">
                <a:solidFill>
                  <a:srgbClr val="0000FF"/>
                </a:solidFill>
                <a:latin typeface="Times New Roman"/>
                <a:cs typeface="Times New Roman"/>
              </a:rPr>
              <a:t>-loop </a:t>
            </a:r>
            <a:r>
              <a:rPr dirty="0" baseline="2314" sz="3600" spc="7" b="1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dirty="0" baseline="2314" sz="3600" b="1" i="1">
                <a:solidFill>
                  <a:srgbClr val="0000FF"/>
                </a:solidFill>
                <a:latin typeface="Times New Roman"/>
                <a:cs typeface="Times New Roman"/>
              </a:rPr>
              <a:t>ol</a:t>
            </a:r>
            <a:r>
              <a:rPr dirty="0" baseline="2314" sz="3600" spc="7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baseline="2314" sz="3600" b="1" i="1">
                <a:solidFill>
                  <a:srgbClr val="0000FF"/>
                </a:solidFill>
                <a:latin typeface="Times New Roman"/>
                <a:cs typeface="Times New Roman"/>
              </a:rPr>
              <a:t>age	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L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à	hệ	số	</a:t>
            </a:r>
            <a:r>
              <a:rPr dirty="0" sz="2400" spc="-15">
                <a:solidFill>
                  <a:srgbClr val="585858"/>
                </a:solidFill>
                <a:latin typeface="Times New Roman"/>
                <a:cs typeface="Times New Roman"/>
              </a:rPr>
              <a:t>k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huếch	</a:t>
            </a:r>
            <a:r>
              <a:rPr dirty="0" sz="2400" spc="-15">
                <a:solidFill>
                  <a:srgbClr val="585858"/>
                </a:solidFill>
                <a:latin typeface="Times New Roman"/>
                <a:cs typeface="Times New Roman"/>
              </a:rPr>
              <a:t>đ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ạ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i	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c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ủa	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O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p-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dirty="0" sz="2400" spc="-15">
                <a:solidFill>
                  <a:srgbClr val="585858"/>
                </a:solidFill>
                <a:latin typeface="Times New Roman"/>
                <a:cs typeface="Times New Roman"/>
              </a:rPr>
              <a:t>m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p	khi	không	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có</a:t>
            </a:r>
            <a:endParaRPr sz="2400">
              <a:latin typeface="Times New Roman"/>
              <a:cs typeface="Times New Roman"/>
            </a:endParaRPr>
          </a:p>
          <a:p>
            <a:pPr marL="1917064">
              <a:lnSpc>
                <a:spcPct val="100000"/>
              </a:lnSpc>
              <a:tabLst>
                <a:tab pos="2639060" algn="l"/>
              </a:tabLst>
            </a:pPr>
            <a:r>
              <a:rPr dirty="0" baseline="2314" sz="3600" b="1" i="1">
                <a:solidFill>
                  <a:srgbClr val="0000FF"/>
                </a:solidFill>
                <a:latin typeface="Times New Roman"/>
                <a:cs typeface="Times New Roman"/>
              </a:rPr>
              <a:t>gain	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mạch hồi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tiếp.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Times New Roman"/>
              <a:cs typeface="Times New Roman"/>
            </a:endParaRPr>
          </a:p>
          <a:p>
            <a:pPr marL="2664460" marR="5080" indent="-2481580">
              <a:lnSpc>
                <a:spcPct val="100000"/>
              </a:lnSpc>
              <a:spcBef>
                <a:spcPts val="5"/>
              </a:spcBef>
              <a:tabLst>
                <a:tab pos="2664460" algn="l"/>
              </a:tabLst>
            </a:pPr>
            <a:r>
              <a:rPr dirty="0" baseline="-3472" sz="3600" spc="-7" b="1" i="1">
                <a:solidFill>
                  <a:srgbClr val="0000FF"/>
                </a:solidFill>
                <a:latin typeface="Times New Roman"/>
                <a:cs typeface="Times New Roman"/>
              </a:rPr>
              <a:t>Negative</a:t>
            </a:r>
            <a:r>
              <a:rPr dirty="0" baseline="-3472" sz="3600" spc="-22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472" sz="3600" b="1" i="1">
                <a:solidFill>
                  <a:srgbClr val="0000FF"/>
                </a:solidFill>
                <a:latin typeface="Times New Roman"/>
                <a:cs typeface="Times New Roman"/>
              </a:rPr>
              <a:t>feedback	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Là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phương pháp sử dụng tín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hiệu 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đầu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ra </a:t>
            </a:r>
            <a:r>
              <a:rPr dirty="0" sz="2400" spc="-5">
                <a:solidFill>
                  <a:srgbClr val="585858"/>
                </a:solidFill>
                <a:latin typeface="Times New Roman"/>
                <a:cs typeface="Times New Roman"/>
              </a:rPr>
              <a:t>kết </a:t>
            </a:r>
            <a:r>
              <a:rPr dirty="0" sz="2400">
                <a:solidFill>
                  <a:srgbClr val="585858"/>
                </a:solidFill>
                <a:latin typeface="Times New Roman"/>
                <a:cs typeface="Times New Roman"/>
              </a:rPr>
              <a:t>nối với  cổng đảo của</a:t>
            </a:r>
            <a:r>
              <a:rPr dirty="0" sz="2400" spc="-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85858"/>
                </a:solidFill>
                <a:latin typeface="Times New Roman"/>
                <a:cs typeface="Times New Roman"/>
              </a:rPr>
              <a:t>Op-Amp.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664460" algn="l"/>
              </a:tabLst>
            </a:pPr>
            <a:r>
              <a:rPr dirty="0" baseline="3472" sz="3600" b="1" i="1">
                <a:solidFill>
                  <a:srgbClr val="0000FF"/>
                </a:solidFill>
                <a:latin typeface="Times New Roman"/>
                <a:cs typeface="Times New Roman"/>
              </a:rPr>
              <a:t>Closed-loop</a:t>
            </a:r>
            <a:r>
              <a:rPr dirty="0" baseline="3472" sz="3600" spc="-3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472" sz="3600" b="1" i="1">
                <a:solidFill>
                  <a:srgbClr val="0000FF"/>
                </a:solidFill>
                <a:latin typeface="Times New Roman"/>
                <a:cs typeface="Times New Roman"/>
              </a:rPr>
              <a:t>voltage	</a:t>
            </a:r>
            <a:r>
              <a:rPr dirty="0" sz="2400" spc="-5">
                <a:solidFill>
                  <a:srgbClr val="455F51"/>
                </a:solidFill>
                <a:latin typeface="Times New Roman"/>
                <a:cs typeface="Times New Roman"/>
              </a:rPr>
              <a:t>Là</a:t>
            </a:r>
            <a:r>
              <a:rPr dirty="0" sz="2400" spc="20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55F51"/>
                </a:solidFill>
                <a:latin typeface="Times New Roman"/>
                <a:cs typeface="Times New Roman"/>
              </a:rPr>
              <a:t>hệ</a:t>
            </a:r>
            <a:r>
              <a:rPr dirty="0" sz="2400" spc="20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55F51"/>
                </a:solidFill>
                <a:latin typeface="Times New Roman"/>
                <a:cs typeface="Times New Roman"/>
              </a:rPr>
              <a:t>số</a:t>
            </a:r>
            <a:r>
              <a:rPr dirty="0" sz="2400" spc="19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55F51"/>
                </a:solidFill>
                <a:latin typeface="Times New Roman"/>
                <a:cs typeface="Times New Roman"/>
              </a:rPr>
              <a:t>khuếch</a:t>
            </a:r>
            <a:r>
              <a:rPr dirty="0" sz="2400" spc="204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55F51"/>
                </a:solidFill>
                <a:latin typeface="Times New Roman"/>
                <a:cs typeface="Times New Roman"/>
              </a:rPr>
              <a:t>đại</a:t>
            </a:r>
            <a:r>
              <a:rPr dirty="0" sz="2400" spc="19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55F51"/>
                </a:solidFill>
                <a:latin typeface="Times New Roman"/>
                <a:cs typeface="Times New Roman"/>
              </a:rPr>
              <a:t>của</a:t>
            </a:r>
            <a:r>
              <a:rPr dirty="0" sz="2400" spc="195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55F51"/>
                </a:solidFill>
                <a:latin typeface="Times New Roman"/>
                <a:cs typeface="Times New Roman"/>
              </a:rPr>
              <a:t>Op-Amp</a:t>
            </a:r>
            <a:r>
              <a:rPr dirty="0" sz="2400" spc="20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55F51"/>
                </a:solidFill>
                <a:latin typeface="Times New Roman"/>
                <a:cs typeface="Times New Roman"/>
              </a:rPr>
              <a:t>khi</a:t>
            </a:r>
            <a:r>
              <a:rPr dirty="0" sz="2400" spc="19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55F51"/>
                </a:solidFill>
                <a:latin typeface="Times New Roman"/>
                <a:cs typeface="Times New Roman"/>
              </a:rPr>
              <a:t>có</a:t>
            </a:r>
            <a:r>
              <a:rPr dirty="0" sz="2400" spc="195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55F51"/>
                </a:solidFill>
                <a:latin typeface="Times New Roman"/>
                <a:cs typeface="Times New Roman"/>
              </a:rPr>
              <a:t>mạch</a:t>
            </a:r>
            <a:r>
              <a:rPr dirty="0" sz="2400" spc="185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55F51"/>
                </a:solidFill>
                <a:latin typeface="Times New Roman"/>
                <a:cs typeface="Times New Roman"/>
              </a:rPr>
              <a:t>hồi</a:t>
            </a:r>
            <a:endParaRPr sz="2400">
              <a:latin typeface="Times New Roman"/>
              <a:cs typeface="Times New Roman"/>
            </a:endParaRPr>
          </a:p>
          <a:p>
            <a:pPr marL="1917064">
              <a:lnSpc>
                <a:spcPct val="100000"/>
              </a:lnSpc>
              <a:tabLst>
                <a:tab pos="2664460" algn="l"/>
              </a:tabLst>
            </a:pPr>
            <a:r>
              <a:rPr dirty="0" baseline="3472" sz="3600" b="1" i="1">
                <a:solidFill>
                  <a:srgbClr val="0000FF"/>
                </a:solidFill>
                <a:latin typeface="Times New Roman"/>
                <a:cs typeface="Times New Roman"/>
              </a:rPr>
              <a:t>gain	</a:t>
            </a:r>
            <a:r>
              <a:rPr dirty="0" sz="2400">
                <a:solidFill>
                  <a:srgbClr val="455F51"/>
                </a:solidFill>
                <a:latin typeface="Times New Roman"/>
                <a:cs typeface="Times New Roman"/>
              </a:rPr>
              <a:t>tiếp.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Times New Roman"/>
              <a:cs typeface="Times New Roman"/>
            </a:endParaRPr>
          </a:p>
          <a:p>
            <a:pPr marL="426720">
              <a:lnSpc>
                <a:spcPct val="100000"/>
              </a:lnSpc>
              <a:tabLst>
                <a:tab pos="2639060" algn="l"/>
              </a:tabLst>
            </a:pP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Gain-bandwidth	</a:t>
            </a:r>
            <a:r>
              <a:rPr dirty="0" baseline="1157" sz="3600" spc="-7">
                <a:solidFill>
                  <a:srgbClr val="455F51"/>
                </a:solidFill>
                <a:latin typeface="Times New Roman"/>
                <a:cs typeface="Times New Roman"/>
              </a:rPr>
              <a:t>Là </a:t>
            </a:r>
            <a:r>
              <a:rPr dirty="0" baseline="1157" sz="3600">
                <a:solidFill>
                  <a:srgbClr val="455F51"/>
                </a:solidFill>
                <a:latin typeface="Times New Roman"/>
                <a:cs typeface="Times New Roman"/>
              </a:rPr>
              <a:t>băng thông có giá trị bằng với tần số</a:t>
            </a:r>
            <a:r>
              <a:rPr dirty="0" baseline="1157" sz="3600" spc="-142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baseline="1157" sz="3600" spc="-15">
                <a:solidFill>
                  <a:srgbClr val="455F51"/>
                </a:solidFill>
                <a:latin typeface="Times New Roman"/>
                <a:cs typeface="Times New Roman"/>
              </a:rPr>
              <a:t>f</a:t>
            </a:r>
            <a:r>
              <a:rPr dirty="0" baseline="-17361" sz="2400" spc="-15">
                <a:solidFill>
                  <a:srgbClr val="455F51"/>
                </a:solidFill>
                <a:latin typeface="Times New Roman"/>
                <a:cs typeface="Times New Roman"/>
              </a:rPr>
              <a:t>c</a:t>
            </a:r>
            <a:endParaRPr baseline="-17361" sz="2400">
              <a:latin typeface="Times New Roman"/>
              <a:cs typeface="Times New Roman"/>
            </a:endParaRPr>
          </a:p>
          <a:p>
            <a:pPr marL="1510665">
              <a:lnSpc>
                <a:spcPct val="100000"/>
              </a:lnSpc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product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0" y="457199"/>
                </a:moveTo>
                <a:lnTo>
                  <a:pt x="12188952" y="457199"/>
                </a:lnTo>
                <a:lnTo>
                  <a:pt x="12188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0" y="64007"/>
                </a:moveTo>
                <a:lnTo>
                  <a:pt x="12188952" y="64007"/>
                </a:lnTo>
                <a:lnTo>
                  <a:pt x="12188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76019" y="2982544"/>
            <a:ext cx="9919335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06000" algn="l"/>
              </a:tabLst>
            </a:pPr>
            <a:r>
              <a:rPr dirty="0" u="sng" sz="8000" spc="-59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Thank</a:t>
            </a:r>
            <a:r>
              <a:rPr dirty="0" u="sng" sz="8000" spc="-605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 </a:t>
            </a:r>
            <a:r>
              <a:rPr dirty="0" u="sng" sz="8000" spc="-20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you!	</a:t>
            </a:r>
            <a:endParaRPr sz="8000"/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908380"/>
            <a:ext cx="167957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5"/>
              <a:t>Bài</a:t>
            </a:r>
            <a:r>
              <a:rPr dirty="0" spc="-409"/>
              <a:t> </a:t>
            </a:r>
            <a:r>
              <a:rPr dirty="0" spc="-155"/>
              <a:t>tập</a:t>
            </a:r>
          </a:p>
        </p:txBody>
      </p:sp>
      <p:sp>
        <p:nvSpPr>
          <p:cNvPr id="3" name="object 3"/>
          <p:cNvSpPr/>
          <p:nvPr/>
        </p:nvSpPr>
        <p:spPr>
          <a:xfrm>
            <a:off x="2042250" y="2505268"/>
            <a:ext cx="8184829" cy="2634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908380"/>
            <a:ext cx="292481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60"/>
              <a:t>Kiểm </a:t>
            </a:r>
            <a:r>
              <a:rPr dirty="0" spc="-75"/>
              <a:t>tra</a:t>
            </a:r>
            <a:r>
              <a:rPr dirty="0" spc="-420"/>
              <a:t> </a:t>
            </a:r>
            <a:r>
              <a:rPr dirty="0" spc="-155"/>
              <a:t>25’</a:t>
            </a:r>
          </a:p>
        </p:txBody>
      </p:sp>
      <p:sp>
        <p:nvSpPr>
          <p:cNvPr id="3" name="object 3"/>
          <p:cNvSpPr/>
          <p:nvPr/>
        </p:nvSpPr>
        <p:spPr>
          <a:xfrm>
            <a:off x="1651143" y="3337328"/>
            <a:ext cx="8989916" cy="26029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16276" y="2236419"/>
            <a:ext cx="767016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Chứng minh </a:t>
            </a:r>
            <a:r>
              <a:rPr dirty="0" sz="2400">
                <a:latin typeface="Times New Roman"/>
                <a:cs typeface="Times New Roman"/>
              </a:rPr>
              <a:t>công thức tính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cl</a:t>
            </a:r>
            <a:r>
              <a:rPr dirty="0" sz="2400" spc="-5">
                <a:latin typeface="Times New Roman"/>
                <a:cs typeface="Times New Roman"/>
              </a:rPr>
              <a:t>(NI) và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cl</a:t>
            </a:r>
            <a:r>
              <a:rPr dirty="0" sz="2400" spc="-5">
                <a:latin typeface="Times New Roman"/>
                <a:cs typeface="Times New Roman"/>
              </a:rPr>
              <a:t>(I)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f </a:t>
            </a:r>
            <a:r>
              <a:rPr dirty="0" sz="2400">
                <a:latin typeface="Times New Roman"/>
                <a:cs typeface="Times New Roman"/>
              </a:rPr>
              <a:t>để giá trị </a:t>
            </a:r>
            <a:r>
              <a:rPr dirty="0" sz="2400" spc="-5">
                <a:latin typeface="Times New Roman"/>
                <a:cs typeface="Times New Roman"/>
              </a:rPr>
              <a:t>Acl </a:t>
            </a:r>
            <a:r>
              <a:rPr dirty="0" sz="2400">
                <a:latin typeface="Times New Roman"/>
                <a:cs typeface="Times New Roman"/>
              </a:rPr>
              <a:t>của </a:t>
            </a:r>
            <a:r>
              <a:rPr dirty="0" sz="2400" spc="-5">
                <a:latin typeface="Times New Roman"/>
                <a:cs typeface="Times New Roman"/>
              </a:rPr>
              <a:t>mạch </a:t>
            </a:r>
            <a:r>
              <a:rPr dirty="0" sz="2400">
                <a:latin typeface="Times New Roman"/>
                <a:cs typeface="Times New Roman"/>
              </a:rPr>
              <a:t>đạt được giá trị như trong</a:t>
            </a:r>
            <a:r>
              <a:rPr dirty="0" sz="2400" spc="-3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hình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908380"/>
            <a:ext cx="167957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5"/>
              <a:t>Bài</a:t>
            </a:r>
            <a:r>
              <a:rPr dirty="0" spc="-409"/>
              <a:t> </a:t>
            </a:r>
            <a:r>
              <a:rPr dirty="0" spc="-155"/>
              <a:t>tập</a:t>
            </a:r>
          </a:p>
        </p:txBody>
      </p:sp>
      <p:sp>
        <p:nvSpPr>
          <p:cNvPr id="3" name="object 3"/>
          <p:cNvSpPr/>
          <p:nvPr/>
        </p:nvSpPr>
        <p:spPr>
          <a:xfrm>
            <a:off x="1638915" y="2221335"/>
            <a:ext cx="8807920" cy="38140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User</dc:creator>
  <dcterms:created xsi:type="dcterms:W3CDTF">2019-03-22T06:02:07Z</dcterms:created>
  <dcterms:modified xsi:type="dcterms:W3CDTF">2019-03-22T06:02:07Z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