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2240" y="385953"/>
            <a:ext cx="3001518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7425" y="2982544"/>
            <a:ext cx="8131149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 u="sng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9125" y="1884426"/>
            <a:ext cx="8667749" cy="178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image" Target="../media/image26.png"/><Relationship Id="rId25" Type="http://schemas.openxmlformats.org/officeDocument/2006/relationships/image" Target="../media/image27.png"/><Relationship Id="rId26" Type="http://schemas.openxmlformats.org/officeDocument/2006/relationships/image" Target="../media/image28.png"/><Relationship Id="rId27" Type="http://schemas.openxmlformats.org/officeDocument/2006/relationships/image" Target="../media/image29.png"/><Relationship Id="rId28" Type="http://schemas.openxmlformats.org/officeDocument/2006/relationships/image" Target="../media/image30.png"/><Relationship Id="rId29" Type="http://schemas.openxmlformats.org/officeDocument/2006/relationships/image" Target="../media/image31.png"/><Relationship Id="rId30" Type="http://schemas.openxmlformats.org/officeDocument/2006/relationships/image" Target="../media/image32.png"/><Relationship Id="rId31" Type="http://schemas.openxmlformats.org/officeDocument/2006/relationships/image" Target="../media/image3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Relationship Id="rId3" Type="http://schemas.openxmlformats.org/officeDocument/2006/relationships/image" Target="../media/image61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0291" y="2245614"/>
            <a:ext cx="21659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85">
                <a:solidFill>
                  <a:srgbClr val="FFFFFF"/>
                </a:solidFill>
                <a:latin typeface="Arial"/>
                <a:cs typeface="Arial"/>
              </a:rPr>
              <a:t>Kiểm </a:t>
            </a:r>
            <a:r>
              <a:rPr dirty="0" sz="3600" spc="-85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dirty="0" sz="3600" spc="-3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45">
                <a:solidFill>
                  <a:srgbClr val="FFFFFF"/>
                </a:solidFill>
                <a:latin typeface="Arial"/>
                <a:cs typeface="Arial"/>
              </a:rPr>
              <a:t>15’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4864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Vẽ </a:t>
            </a:r>
            <a:r>
              <a:rPr dirty="0"/>
              <a:t>lại tín hiệu</a:t>
            </a:r>
            <a:r>
              <a:rPr dirty="0" spc="-155"/>
              <a:t> </a:t>
            </a:r>
            <a:r>
              <a:rPr dirty="0" spc="-10"/>
              <a:t>V</a:t>
            </a:r>
            <a:r>
              <a:rPr dirty="0" baseline="-20833" sz="2400" spc="-15"/>
              <a:t>OUT</a:t>
            </a:r>
            <a:endParaRPr baseline="-20833" sz="2400"/>
          </a:p>
        </p:txBody>
      </p:sp>
      <p:sp>
        <p:nvSpPr>
          <p:cNvPr id="4" name="object 4"/>
          <p:cNvSpPr/>
          <p:nvPr/>
        </p:nvSpPr>
        <p:spPr>
          <a:xfrm>
            <a:off x="3968766" y="2875204"/>
            <a:ext cx="4976719" cy="15775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12820" y="932688"/>
            <a:ext cx="6384035" cy="1947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79140" y="4571329"/>
            <a:ext cx="3471642" cy="21424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79926" y="6570624"/>
            <a:ext cx="81851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831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55064" y="2141220"/>
            <a:ext cx="8191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03320" y="510540"/>
            <a:ext cx="6171437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63923" y="1168908"/>
            <a:ext cx="5438394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67936" y="670001"/>
            <a:ext cx="525653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73050" marR="5080" indent="-260985">
              <a:lnSpc>
                <a:spcPts val="5190"/>
              </a:lnSpc>
              <a:spcBef>
                <a:spcPts val="750"/>
              </a:spcBef>
            </a:pP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THIẾT BỊ</a:t>
            </a:r>
            <a:r>
              <a:rPr dirty="0" u="none" sz="4800" spc="-114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VÀ 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MẠCH </a:t>
            </a:r>
            <a:r>
              <a:rPr dirty="0" u="none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ĐIỆN</a:t>
            </a:r>
            <a:r>
              <a:rPr dirty="0" u="none" sz="4800" spc="-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u="none" sz="4800" b="1">
                <a:solidFill>
                  <a:srgbClr val="404040"/>
                </a:solidFill>
                <a:latin typeface="Times New Roman"/>
                <a:cs typeface="Times New Roman"/>
              </a:rPr>
              <a:t>TỬ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8515" y="2868180"/>
            <a:ext cx="837438" cy="511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00683" y="2868180"/>
            <a:ext cx="995934" cy="511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42872" y="2868180"/>
            <a:ext cx="604265" cy="511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90344" y="2868180"/>
            <a:ext cx="823721" cy="5112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8515" y="3115068"/>
            <a:ext cx="744473" cy="511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7719" y="3115068"/>
            <a:ext cx="582930" cy="5112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85088" y="3115068"/>
            <a:ext cx="375678" cy="5112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55191" y="3115068"/>
            <a:ext cx="753618" cy="5112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50291" y="1999488"/>
            <a:ext cx="2216150" cy="146494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3600" spc="-405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dirty="0" sz="3600" spc="-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8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  <a:spcBef>
                <a:spcPts val="1220"/>
              </a:spcBef>
            </a:pPr>
            <a:r>
              <a:rPr dirty="0" sz="1800" spc="-105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800" spc="-150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đại </a:t>
            </a:r>
            <a:r>
              <a:rPr dirty="0" sz="1800" spc="-70" b="1">
                <a:solidFill>
                  <a:srgbClr val="FFFFFF"/>
                </a:solidFill>
                <a:latin typeface="Arial"/>
                <a:cs typeface="Arial"/>
              </a:rPr>
              <a:t>thuật  </a:t>
            </a:r>
            <a:r>
              <a:rPr dirty="0" sz="1800" spc="-90" b="1">
                <a:solidFill>
                  <a:srgbClr val="FFFFFF"/>
                </a:solidFill>
                <a:latin typeface="Arial"/>
                <a:cs typeface="Arial"/>
              </a:rPr>
              <a:t>toán</a:t>
            </a:r>
            <a:r>
              <a:rPr dirty="0" sz="18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 b="1">
                <a:solidFill>
                  <a:srgbClr val="FFFFFF"/>
                </a:solidFill>
                <a:latin typeface="Arial"/>
                <a:cs typeface="Arial"/>
              </a:rPr>
              <a:t>Op-Amp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2043" y="3569220"/>
            <a:ext cx="407682" cy="3969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9412" y="3557028"/>
            <a:ext cx="698754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14044" y="3557028"/>
            <a:ext cx="479285" cy="428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336547" y="3557028"/>
            <a:ext cx="631697" cy="4289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2043" y="3951744"/>
            <a:ext cx="407682" cy="39698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9412" y="3939552"/>
            <a:ext cx="698754" cy="4289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114044" y="3939552"/>
            <a:ext cx="651509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08760" y="3939552"/>
            <a:ext cx="351269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603247" y="3939552"/>
            <a:ext cx="688085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075688" y="3939552"/>
            <a:ext cx="512838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2043" y="4335792"/>
            <a:ext cx="407682" cy="39698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9412" y="4323600"/>
            <a:ext cx="698754" cy="4289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14044" y="4323600"/>
            <a:ext cx="550926" cy="42899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450847" y="4323600"/>
            <a:ext cx="657605" cy="4289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851660" y="4323600"/>
            <a:ext cx="525005" cy="4289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19883" y="4323600"/>
            <a:ext cx="657606" cy="42899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50291" y="3597020"/>
            <a:ext cx="2204085" cy="1021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75" b="1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5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Arial"/>
                <a:cs typeface="Arial"/>
              </a:rPr>
              <a:t>sánh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1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55" b="1">
                <a:solidFill>
                  <a:srgbClr val="FFFFFF"/>
                </a:solidFill>
                <a:latin typeface="Arial"/>
                <a:cs typeface="Arial"/>
              </a:rPr>
              <a:t>Cộng, </a:t>
            </a: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mạch</a:t>
            </a:r>
            <a:r>
              <a:rPr dirty="0" sz="1500" spc="-2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55" b="1">
                <a:solidFill>
                  <a:srgbClr val="FFFFFF"/>
                </a:solidFill>
                <a:latin typeface="Arial"/>
                <a:cs typeface="Arial"/>
              </a:rPr>
              <a:t>trừ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2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tích </a:t>
            </a:r>
            <a:r>
              <a:rPr dirty="0" sz="1500" spc="-95" b="1">
                <a:solidFill>
                  <a:srgbClr val="FFFFFF"/>
                </a:solidFill>
                <a:latin typeface="Arial"/>
                <a:cs typeface="Arial"/>
              </a:rPr>
              <a:t>phân, 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vi</a:t>
            </a: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phân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979926" y="6570624"/>
            <a:ext cx="81851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216344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195">
                <a:solidFill>
                  <a:srgbClr val="404040"/>
                </a:solidFill>
              </a:rPr>
              <a:t>Mục</a:t>
            </a:r>
            <a:r>
              <a:rPr dirty="0" u="none" sz="4800" spc="-430">
                <a:solidFill>
                  <a:srgbClr val="404040"/>
                </a:solidFill>
              </a:rPr>
              <a:t> </a:t>
            </a:r>
            <a:r>
              <a:rPr dirty="0" u="none" sz="4800" spc="-100">
                <a:solidFill>
                  <a:srgbClr val="404040"/>
                </a:solidFill>
              </a:rPr>
              <a:t>tiêu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6830059" cy="138239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cộng/trừ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dirty="0" sz="2000" spc="-2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Hiểu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vận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mạch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vi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phân/tích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ụng</a:t>
            </a:r>
            <a:r>
              <a:rPr dirty="0" sz="2000" spc="-2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3555" y="3300984"/>
            <a:ext cx="4858512" cy="2948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9305" cy="2058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4139" indent="-91440">
              <a:lnSpc>
                <a:spcPts val="228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thực hiện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việc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vào.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2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biểu diễn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thái,</a:t>
            </a:r>
            <a:r>
              <a:rPr dirty="0" sz="2000" spc="-39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bé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hơn.</a:t>
            </a:r>
            <a:endParaRPr sz="2000">
              <a:latin typeface="Arial"/>
              <a:cs typeface="Arial"/>
            </a:endParaRPr>
          </a:p>
          <a:p>
            <a:pPr algn="just" marL="104139" marR="5080" indent="-91440">
              <a:lnSpc>
                <a:spcPct val="90300"/>
              </a:lnSpc>
              <a:spcBef>
                <a:spcPts val="139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45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vòng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hở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Op-Amp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rất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cao,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chỉ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185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khác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biệt 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rất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nhỏ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dirty="0" sz="2000" spc="-7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vào,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bão  hòa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(</a:t>
            </a:r>
            <a:r>
              <a:rPr dirty="0" sz="2000" spc="-30">
                <a:solidFill>
                  <a:srgbClr val="404040"/>
                </a:solidFill>
                <a:latin typeface="Symbol"/>
                <a:cs typeface="Symbol"/>
              </a:rPr>
              <a:t></a:t>
            </a:r>
            <a:r>
              <a:rPr dirty="0" sz="20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dirty="0" baseline="-21367" sz="1950" spc="-135">
                <a:solidFill>
                  <a:srgbClr val="404040"/>
                </a:solidFill>
                <a:latin typeface="Arial"/>
                <a:cs typeface="Arial"/>
              </a:rPr>
              <a:t>MAX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).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dirty="0" sz="2000" spc="-165" b="1">
                <a:solidFill>
                  <a:srgbClr val="404040"/>
                </a:solidFill>
                <a:latin typeface="Arial"/>
                <a:cs typeface="Arial"/>
              </a:rPr>
              <a:t>Zero </a:t>
            </a:r>
            <a:r>
              <a:rPr dirty="0" sz="2000" spc="-110" b="1">
                <a:solidFill>
                  <a:srgbClr val="404040"/>
                </a:solidFill>
                <a:latin typeface="Arial"/>
                <a:cs typeface="Arial"/>
              </a:rPr>
              <a:t>level</a:t>
            </a:r>
            <a:r>
              <a:rPr dirty="0" sz="2000" spc="-4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 b="1">
                <a:solidFill>
                  <a:srgbClr val="404040"/>
                </a:solidFill>
                <a:latin typeface="Arial"/>
                <a:cs typeface="Arial"/>
              </a:rPr>
              <a:t>Detector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4937" y="4235181"/>
            <a:ext cx="5495204" cy="1923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5465445" cy="93091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khác</a:t>
            </a:r>
            <a:r>
              <a:rPr dirty="0" sz="2000" spc="-3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2954655">
              <a:lnSpc>
                <a:spcPct val="100000"/>
              </a:lnSpc>
              <a:spcBef>
                <a:spcPts val="1165"/>
              </a:spcBef>
            </a:pPr>
            <a:r>
              <a:rPr dirty="0" sz="2000" spc="-140" b="1">
                <a:solidFill>
                  <a:srgbClr val="404040"/>
                </a:solidFill>
                <a:latin typeface="Arial"/>
                <a:cs typeface="Arial"/>
              </a:rPr>
              <a:t>Non </a:t>
            </a:r>
            <a:r>
              <a:rPr dirty="0" sz="2000" spc="-165" b="1">
                <a:solidFill>
                  <a:srgbClr val="404040"/>
                </a:solidFill>
                <a:latin typeface="Arial"/>
                <a:cs typeface="Arial"/>
              </a:rPr>
              <a:t>Zero </a:t>
            </a:r>
            <a:r>
              <a:rPr dirty="0" sz="2000" spc="-110" b="1">
                <a:solidFill>
                  <a:srgbClr val="404040"/>
                </a:solidFill>
                <a:latin typeface="Arial"/>
                <a:cs typeface="Arial"/>
              </a:rPr>
              <a:t>level</a:t>
            </a:r>
            <a:r>
              <a:rPr dirty="0" sz="2000" spc="-65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 b="1">
                <a:solidFill>
                  <a:srgbClr val="404040"/>
                </a:solidFill>
                <a:latin typeface="Arial"/>
                <a:cs typeface="Arial"/>
              </a:rPr>
              <a:t>Detector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30240" y="2622804"/>
            <a:ext cx="4085844" cy="2991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159251"/>
            <a:ext cx="5791200" cy="19187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4558029" y="6583324"/>
            <a:ext cx="793115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80"/>
              </a:lnSpc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426"/>
            <a:ext cx="43567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Xuất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 nhiễu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4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vào?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5651" y="2366676"/>
            <a:ext cx="7991848" cy="16087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2272" y="4029454"/>
            <a:ext cx="4949952" cy="28285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46319" y="5074411"/>
            <a:ext cx="4498975" cy="60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1780" indent="-259079">
              <a:lnSpc>
                <a:spcPts val="228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</a:t>
            </a:r>
            <a:r>
              <a:rPr dirty="0" sz="2000" spc="21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xuất</a:t>
            </a:r>
            <a:endParaRPr sz="2000">
              <a:latin typeface="Arial"/>
              <a:cs typeface="Arial"/>
            </a:endParaRPr>
          </a:p>
          <a:p>
            <a:pPr marL="103505">
              <a:lnSpc>
                <a:spcPts val="2280"/>
              </a:lnSpc>
            </a:pP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lỗi.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363855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532130" algn="l"/>
              </a:tabLst>
            </a:pPr>
            <a:r>
              <a:rPr dirty="0" spc="-160"/>
              <a:t>Để </a:t>
            </a:r>
            <a:r>
              <a:rPr dirty="0" spc="-95"/>
              <a:t>giảm </a:t>
            </a:r>
            <a:r>
              <a:rPr dirty="0" spc="-25"/>
              <a:t>thiểu </a:t>
            </a:r>
            <a:r>
              <a:rPr dirty="0" spc="-95"/>
              <a:t>ảnh </a:t>
            </a:r>
            <a:r>
              <a:rPr dirty="0" spc="-120"/>
              <a:t>hưởng </a:t>
            </a:r>
            <a:r>
              <a:rPr dirty="0" spc="-125"/>
              <a:t>của </a:t>
            </a:r>
            <a:r>
              <a:rPr dirty="0" spc="-60"/>
              <a:t>nhiễu </a:t>
            </a:r>
            <a:r>
              <a:rPr dirty="0" spc="-30"/>
              <a:t>trong </a:t>
            </a:r>
            <a:r>
              <a:rPr dirty="0" spc="-15"/>
              <a:t>tín </a:t>
            </a:r>
            <a:r>
              <a:rPr dirty="0" spc="-60"/>
              <a:t>hiệu </a:t>
            </a:r>
            <a:r>
              <a:rPr dirty="0" spc="-75"/>
              <a:t>đầu </a:t>
            </a:r>
            <a:r>
              <a:rPr dirty="0" spc="-100"/>
              <a:t>vào, </a:t>
            </a:r>
            <a:r>
              <a:rPr dirty="0" spc="-105"/>
              <a:t>người </a:t>
            </a:r>
            <a:r>
              <a:rPr dirty="0" spc="-20"/>
              <a:t>ta </a:t>
            </a:r>
            <a:r>
              <a:rPr dirty="0" spc="-85"/>
              <a:t>thường  </a:t>
            </a:r>
            <a:r>
              <a:rPr dirty="0" spc="-180"/>
              <a:t>sử </a:t>
            </a:r>
            <a:r>
              <a:rPr dirty="0" spc="-90"/>
              <a:t>dụng </a:t>
            </a:r>
            <a:r>
              <a:rPr dirty="0" spc="-5"/>
              <a:t>một </a:t>
            </a:r>
            <a:r>
              <a:rPr dirty="0" spc="-110"/>
              <a:t>mạch </a:t>
            </a:r>
            <a:r>
              <a:rPr dirty="0" spc="-40"/>
              <a:t>hồi </a:t>
            </a:r>
            <a:r>
              <a:rPr dirty="0" spc="-15"/>
              <a:t>tiếp </a:t>
            </a:r>
            <a:r>
              <a:rPr dirty="0" spc="-114"/>
              <a:t>dương </a:t>
            </a:r>
            <a:r>
              <a:rPr dirty="0" spc="-65"/>
              <a:t>để </a:t>
            </a:r>
            <a:r>
              <a:rPr dirty="0" spc="-35"/>
              <a:t>tạo</a:t>
            </a:r>
            <a:r>
              <a:rPr dirty="0" spc="-405"/>
              <a:t> </a:t>
            </a:r>
            <a:r>
              <a:rPr dirty="0" spc="-10"/>
              <a:t>trễ.</a:t>
            </a:r>
          </a:p>
          <a:p>
            <a:pPr marL="363855" indent="-91440">
              <a:lnSpc>
                <a:spcPts val="228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532130" algn="l"/>
              </a:tabLst>
            </a:pPr>
            <a:r>
              <a:rPr dirty="0" spc="-80"/>
              <a:t>Mạch </a:t>
            </a:r>
            <a:r>
              <a:rPr dirty="0" spc="-35"/>
              <a:t>tạo </a:t>
            </a:r>
            <a:r>
              <a:rPr dirty="0" spc="10"/>
              <a:t>trễ </a:t>
            </a:r>
            <a:r>
              <a:rPr dirty="0" spc="-105"/>
              <a:t>này </a:t>
            </a:r>
            <a:r>
              <a:rPr dirty="0" spc="-170"/>
              <a:t>sẽ </a:t>
            </a:r>
            <a:r>
              <a:rPr dirty="0" spc="-35"/>
              <a:t>tạo </a:t>
            </a:r>
            <a:r>
              <a:rPr dirty="0" spc="-65"/>
              <a:t>ra </a:t>
            </a:r>
            <a:r>
              <a:rPr dirty="0" spc="-100"/>
              <a:t>2 </a:t>
            </a:r>
            <a:r>
              <a:rPr dirty="0" spc="-130"/>
              <a:t>ngưỡng </a:t>
            </a:r>
            <a:r>
              <a:rPr dirty="0" spc="-45"/>
              <a:t>điện </a:t>
            </a:r>
            <a:r>
              <a:rPr dirty="0" spc="-30"/>
              <a:t>thế </a:t>
            </a:r>
            <a:r>
              <a:rPr dirty="0" spc="-240"/>
              <a:t>UTP </a:t>
            </a:r>
            <a:r>
              <a:rPr dirty="0" spc="-60"/>
              <a:t>(upper </a:t>
            </a:r>
            <a:r>
              <a:rPr dirty="0" spc="-40"/>
              <a:t>trigger </a:t>
            </a:r>
            <a:r>
              <a:rPr dirty="0" spc="-25"/>
              <a:t>point) </a:t>
            </a:r>
            <a:r>
              <a:rPr dirty="0" spc="-135"/>
              <a:t>và</a:t>
            </a:r>
            <a:r>
              <a:rPr dirty="0" spc="-200"/>
              <a:t> </a:t>
            </a:r>
            <a:r>
              <a:rPr dirty="0" spc="-280"/>
              <a:t>LTP</a:t>
            </a:r>
          </a:p>
          <a:p>
            <a:pPr marL="363855">
              <a:lnSpc>
                <a:spcPts val="2280"/>
              </a:lnSpc>
            </a:pPr>
            <a:r>
              <a:rPr dirty="0" spc="-40"/>
              <a:t>(lower trigger</a:t>
            </a:r>
            <a:r>
              <a:rPr dirty="0" spc="-170"/>
              <a:t> </a:t>
            </a:r>
            <a:r>
              <a:rPr dirty="0" spc="-25"/>
              <a:t>point).</a:t>
            </a:r>
          </a:p>
          <a:p>
            <a:pPr marL="530225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530860" algn="l"/>
              </a:tabLst>
            </a:pPr>
            <a:r>
              <a:rPr dirty="0" spc="-135"/>
              <a:t>Tại </a:t>
            </a:r>
            <a:r>
              <a:rPr dirty="0" spc="-70"/>
              <a:t>hai </a:t>
            </a:r>
            <a:r>
              <a:rPr dirty="0" spc="-125"/>
              <a:t>ngưỡng </a:t>
            </a:r>
            <a:r>
              <a:rPr dirty="0" spc="-95"/>
              <a:t>này, </a:t>
            </a:r>
            <a:r>
              <a:rPr dirty="0" spc="-15"/>
              <a:t>tín </a:t>
            </a:r>
            <a:r>
              <a:rPr dirty="0" spc="-60"/>
              <a:t>hiệu </a:t>
            </a:r>
            <a:r>
              <a:rPr dirty="0" spc="-75"/>
              <a:t>đầu </a:t>
            </a:r>
            <a:r>
              <a:rPr dirty="0" spc="-65"/>
              <a:t>ra </a:t>
            </a:r>
            <a:r>
              <a:rPr dirty="0" spc="-170"/>
              <a:t>sẽ </a:t>
            </a:r>
            <a:r>
              <a:rPr dirty="0" spc="-90"/>
              <a:t>chuyển </a:t>
            </a:r>
            <a:r>
              <a:rPr dirty="0" spc="-50"/>
              <a:t>trạng</a:t>
            </a:r>
            <a:r>
              <a:rPr dirty="0" spc="-325"/>
              <a:t> </a:t>
            </a:r>
            <a:r>
              <a:rPr dirty="0" spc="-30"/>
              <a:t>thái.</a:t>
            </a:r>
          </a:p>
        </p:txBody>
      </p:sp>
      <p:sp>
        <p:nvSpPr>
          <p:cNvPr id="4" name="object 4"/>
          <p:cNvSpPr/>
          <p:nvPr/>
        </p:nvSpPr>
        <p:spPr>
          <a:xfrm>
            <a:off x="1882309" y="3940428"/>
            <a:ext cx="4031774" cy="2297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04788" y="4002023"/>
            <a:ext cx="3086100" cy="2200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8404225" cy="120523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dương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vs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dirty="0" sz="2000" spc="-29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âm?</a:t>
            </a:r>
            <a:endParaRPr sz="2000">
              <a:latin typeface="Arial"/>
              <a:cs typeface="Arial"/>
            </a:endParaRPr>
          </a:p>
          <a:p>
            <a:pPr marL="271780" indent="-259079">
              <a:lnSpc>
                <a:spcPts val="228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>
                <a:solidFill>
                  <a:srgbClr val="404040"/>
                </a:solidFill>
                <a:latin typeface="Arial"/>
                <a:cs typeface="Arial"/>
              </a:rPr>
              <a:t>trễ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dương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10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kế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dựa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trên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R1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và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229">
                <a:solidFill>
                  <a:srgbClr val="404040"/>
                </a:solidFill>
                <a:latin typeface="Arial"/>
                <a:cs typeface="Arial"/>
              </a:rPr>
              <a:t>R2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3671" y="3430114"/>
            <a:ext cx="7849328" cy="2180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3063" y="4991100"/>
            <a:ext cx="2314956" cy="571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77384" y="5010911"/>
            <a:ext cx="2276856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408670" cy="215582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chặn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ra: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ứng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dụng,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người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cần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hạn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(đặc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biệt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25">
                <a:solidFill>
                  <a:srgbClr val="404040"/>
                </a:solidFill>
                <a:latin typeface="Arial"/>
                <a:cs typeface="Arial"/>
              </a:rPr>
              <a:t>tối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đa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5V).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Giá 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hạn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việc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dirty="0" sz="2000" spc="-30">
                <a:solidFill>
                  <a:srgbClr val="404040"/>
                </a:solidFill>
                <a:latin typeface="Arial"/>
                <a:cs typeface="Arial"/>
              </a:rPr>
              <a:t>trong 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âm.</a:t>
            </a:r>
            <a:endParaRPr sz="2000">
              <a:latin typeface="Arial"/>
              <a:cs typeface="Arial"/>
            </a:endParaRPr>
          </a:p>
          <a:p>
            <a:pPr algn="just" marL="104139" marR="5715" indent="-91440">
              <a:lnSpc>
                <a:spcPts val="2160"/>
              </a:lnSpc>
              <a:spcBef>
                <a:spcPts val="14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nào? Khi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thuân,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Zener bằng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nhiêu?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nghịch,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Zener  bằng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bao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nhiêu?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5467" y="4543856"/>
            <a:ext cx="829056" cy="267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25467" y="4981955"/>
            <a:ext cx="828675" cy="76200"/>
          </a:xfrm>
          <a:custGeom>
            <a:avLst/>
            <a:gdLst/>
            <a:ahLst/>
            <a:cxnLst/>
            <a:rect l="l" t="t" r="r" b="b"/>
            <a:pathLst>
              <a:path w="828675" h="76200">
                <a:moveTo>
                  <a:pt x="752475" y="0"/>
                </a:moveTo>
                <a:lnTo>
                  <a:pt x="752475" y="76200"/>
                </a:lnTo>
                <a:lnTo>
                  <a:pt x="815975" y="44450"/>
                </a:lnTo>
                <a:lnTo>
                  <a:pt x="765175" y="44450"/>
                </a:lnTo>
                <a:lnTo>
                  <a:pt x="765175" y="31750"/>
                </a:lnTo>
                <a:lnTo>
                  <a:pt x="815975" y="31750"/>
                </a:lnTo>
                <a:lnTo>
                  <a:pt x="752475" y="0"/>
                </a:lnTo>
                <a:close/>
              </a:path>
              <a:path w="828675" h="76200">
                <a:moveTo>
                  <a:pt x="75247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752475" y="44450"/>
                </a:lnTo>
                <a:lnTo>
                  <a:pt x="752475" y="31750"/>
                </a:lnTo>
                <a:close/>
              </a:path>
              <a:path w="828675" h="76200">
                <a:moveTo>
                  <a:pt x="815975" y="31750"/>
                </a:moveTo>
                <a:lnTo>
                  <a:pt x="765175" y="31750"/>
                </a:lnTo>
                <a:lnTo>
                  <a:pt x="765175" y="44450"/>
                </a:lnTo>
                <a:lnTo>
                  <a:pt x="815975" y="44450"/>
                </a:lnTo>
                <a:lnTo>
                  <a:pt x="828675" y="38100"/>
                </a:lnTo>
                <a:lnTo>
                  <a:pt x="815975" y="3175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25467" y="5239511"/>
            <a:ext cx="828675" cy="76200"/>
          </a:xfrm>
          <a:custGeom>
            <a:avLst/>
            <a:gdLst/>
            <a:ahLst/>
            <a:cxnLst/>
            <a:rect l="l" t="t" r="r" b="b"/>
            <a:pathLst>
              <a:path w="82867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82867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828675" h="76200">
                <a:moveTo>
                  <a:pt x="828675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828675" y="44450"/>
                </a:lnTo>
                <a:lnTo>
                  <a:pt x="828675" y="3175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81298" y="4821758"/>
            <a:ext cx="2607310" cy="688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605"/>
              </a:lnSpc>
              <a:spcBef>
                <a:spcPts val="100"/>
              </a:spcBef>
            </a:pPr>
            <a:r>
              <a:rPr dirty="0" baseline="13888" sz="3600" spc="-15">
                <a:latin typeface="Times New Roman"/>
                <a:cs typeface="Times New Roman"/>
              </a:rPr>
              <a:t>V</a:t>
            </a:r>
            <a:r>
              <a:rPr dirty="0" sz="1600" spc="-5">
                <a:latin typeface="Times New Roman"/>
                <a:cs typeface="Times New Roman"/>
              </a:rPr>
              <a:t>di</a:t>
            </a:r>
            <a:r>
              <a:rPr dirty="0" sz="1600">
                <a:latin typeface="Times New Roman"/>
                <a:cs typeface="Times New Roman"/>
              </a:rPr>
              <a:t>o</a:t>
            </a:r>
            <a:r>
              <a:rPr dirty="0" sz="1600" spc="-5">
                <a:latin typeface="Times New Roman"/>
                <a:cs typeface="Times New Roman"/>
              </a:rPr>
              <a:t>de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</a:pPr>
            <a:r>
              <a:rPr dirty="0" baseline="13888" sz="3600" spc="-7">
                <a:latin typeface="Times New Roman"/>
                <a:cs typeface="Times New Roman"/>
              </a:rPr>
              <a:t>V</a:t>
            </a:r>
            <a:r>
              <a:rPr dirty="0" sz="1600" spc="-5">
                <a:latin typeface="Times New Roman"/>
                <a:cs typeface="Times New Roman"/>
              </a:rPr>
              <a:t>Zener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515859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2034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chặn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2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ra: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1822" y="2675395"/>
            <a:ext cx="4133850" cy="3124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34979" y="3481236"/>
            <a:ext cx="4248860" cy="1419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7515859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dirty="0" u="none" sz="4800" spc="-595">
                <a:solidFill>
                  <a:srgbClr val="404040"/>
                </a:solidFill>
              </a:rPr>
              <a:t>Các </a:t>
            </a:r>
            <a:r>
              <a:rPr dirty="0" u="none" sz="4800" spc="-385">
                <a:solidFill>
                  <a:srgbClr val="404040"/>
                </a:solidFill>
              </a:rPr>
              <a:t>ứng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795">
                <a:solidFill>
                  <a:srgbClr val="404040"/>
                </a:solidFill>
              </a:rPr>
              <a:t> </a:t>
            </a:r>
            <a:r>
              <a:rPr dirty="0" u="none" sz="4800" spc="-365">
                <a:solidFill>
                  <a:srgbClr val="404040"/>
                </a:solidFill>
              </a:rPr>
              <a:t>của</a:t>
            </a:r>
            <a:endParaRPr sz="4800"/>
          </a:p>
          <a:p>
            <a:pPr marL="12700">
              <a:lnSpc>
                <a:spcPts val="5330"/>
              </a:lnSpc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80">
                <a:solidFill>
                  <a:srgbClr val="404040"/>
                </a:solidFill>
              </a:rPr>
              <a:t>so </a:t>
            </a:r>
            <a:r>
              <a:rPr dirty="0" u="none" sz="4800" spc="-365">
                <a:solidFill>
                  <a:srgbClr val="404040"/>
                </a:solidFill>
              </a:rPr>
              <a:t>sánh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8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14845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Analog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sang</a:t>
            </a:r>
            <a:r>
              <a:rPr dirty="0" sz="2000" spc="-3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Digital: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9288" y="2327148"/>
            <a:ext cx="3483864" cy="4297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04095" y="2557173"/>
            <a:ext cx="4182015" cy="36526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3121" y="3831862"/>
            <a:ext cx="3483572" cy="1902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686371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20">
                <a:solidFill>
                  <a:srgbClr val="404040"/>
                </a:solidFill>
              </a:rPr>
              <a:t>cộng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37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878839" y="1884426"/>
            <a:ext cx="4945380" cy="142875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04139" marR="5080" indent="-91440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cộng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Op-Amp có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nhiều 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vào,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hệ 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cộng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thống nhất. 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dirty="0" sz="2000" spc="-17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với 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tổng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vào 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nhưng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mang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dấu</a:t>
            </a:r>
            <a:r>
              <a:rPr dirty="0" sz="2000" spc="-15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âm.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4338573"/>
            <a:ext cx="33801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Nếu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dirty="0" sz="2000" spc="5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dirty="0" sz="2000" spc="-195">
                <a:solidFill>
                  <a:srgbClr val="404040"/>
                </a:solidFill>
                <a:latin typeface="Arial"/>
                <a:cs typeface="Arial"/>
              </a:rPr>
              <a:t>R1=R2=Rf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thì </a:t>
            </a:r>
            <a:r>
              <a:rPr dirty="0" sz="2000" spc="-35">
                <a:solidFill>
                  <a:srgbClr val="404040"/>
                </a:solidFill>
                <a:latin typeface="Arial"/>
                <a:cs typeface="Arial"/>
              </a:rPr>
              <a:t>ta</a:t>
            </a:r>
            <a:r>
              <a:rPr dirty="0" sz="2000" spc="-3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có: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05954" y="1808988"/>
            <a:ext cx="3571089" cy="18876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38250" y="3550810"/>
            <a:ext cx="4714875" cy="618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34229" y="4981868"/>
            <a:ext cx="4933216" cy="5898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37844" y="5724144"/>
            <a:ext cx="5743956" cy="5806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6863715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dirty="0" u="none" sz="4800" spc="-480">
                <a:solidFill>
                  <a:srgbClr val="404040"/>
                </a:solidFill>
              </a:rPr>
              <a:t>Ứng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20">
                <a:solidFill>
                  <a:srgbClr val="404040"/>
                </a:solidFill>
              </a:rPr>
              <a:t> </a:t>
            </a:r>
            <a:r>
              <a:rPr dirty="0" u="none" sz="4800" spc="-365">
                <a:solidFill>
                  <a:srgbClr val="404040"/>
                </a:solidFill>
              </a:rPr>
              <a:t>của</a:t>
            </a:r>
            <a:endParaRPr sz="4800"/>
          </a:p>
          <a:p>
            <a:pPr marL="12700">
              <a:lnSpc>
                <a:spcPts val="5330"/>
              </a:lnSpc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20">
                <a:solidFill>
                  <a:srgbClr val="404040"/>
                </a:solidFill>
              </a:rPr>
              <a:t>cộng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37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65106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chuyển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từ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sang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tự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(DAC)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14440" y="2887178"/>
            <a:ext cx="4684088" cy="2810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2544" y="3311276"/>
            <a:ext cx="3847730" cy="1933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86892"/>
            <a:ext cx="6863715" cy="13792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dirty="0" u="none" sz="4800" spc="-480">
                <a:solidFill>
                  <a:srgbClr val="404040"/>
                </a:solidFill>
              </a:rPr>
              <a:t>Ứng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220">
                <a:solidFill>
                  <a:srgbClr val="404040"/>
                </a:solidFill>
              </a:rPr>
              <a:t> </a:t>
            </a:r>
            <a:r>
              <a:rPr dirty="0" u="none" sz="4800" spc="-365">
                <a:solidFill>
                  <a:srgbClr val="404040"/>
                </a:solidFill>
              </a:rPr>
              <a:t>của</a:t>
            </a:r>
            <a:endParaRPr sz="4800"/>
          </a:p>
          <a:p>
            <a:pPr marL="12700">
              <a:lnSpc>
                <a:spcPts val="5330"/>
              </a:lnSpc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320">
                <a:solidFill>
                  <a:srgbClr val="404040"/>
                </a:solidFill>
              </a:rPr>
              <a:t>cộng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370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70434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chuyển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từ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5">
                <a:solidFill>
                  <a:srgbClr val="404040"/>
                </a:solidFill>
                <a:latin typeface="Arial"/>
                <a:cs typeface="Arial"/>
              </a:rPr>
              <a:t>sang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tương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tự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(DAC)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4-bit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13588" y="2760345"/>
            <a:ext cx="4809021" cy="2390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9002" y="3721588"/>
            <a:ext cx="5931878" cy="2533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94067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185">
                <a:solidFill>
                  <a:srgbClr val="404040"/>
                </a:solidFill>
              </a:rPr>
              <a:t>tích </a:t>
            </a:r>
            <a:r>
              <a:rPr dirty="0" u="none" sz="4800" spc="-275">
                <a:solidFill>
                  <a:srgbClr val="404040"/>
                </a:solidFill>
              </a:rPr>
              <a:t>phân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535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878839" y="1884426"/>
            <a:ext cx="8247380" cy="205803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thực hiện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việc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vào.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Nó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thể 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hiện diện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khu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vực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giới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hạn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ngay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dưới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đường </a:t>
            </a:r>
            <a:r>
              <a:rPr dirty="0" sz="2000" spc="-55">
                <a:solidFill>
                  <a:srgbClr val="404040"/>
                </a:solidFill>
                <a:latin typeface="Arial"/>
                <a:cs typeface="Arial"/>
              </a:rPr>
              <a:t>biểu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diễn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vào.</a:t>
            </a:r>
            <a:endParaRPr sz="2000">
              <a:latin typeface="Arial"/>
              <a:cs typeface="Arial"/>
            </a:endParaRPr>
          </a:p>
          <a:p>
            <a:pPr algn="just" marL="104139" marR="8255" indent="-91440">
              <a:lnSpc>
                <a:spcPts val="2160"/>
              </a:lnSpc>
              <a:spcBef>
                <a:spcPts val="14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dirty="0" sz="2000" spc="-125">
                <a:solidFill>
                  <a:srgbClr val="404040"/>
                </a:solidFill>
                <a:latin typeface="Arial"/>
                <a:cs typeface="Arial"/>
              </a:rPr>
              <a:t>cấu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gồm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tiếp 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cổng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qua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25">
                <a:solidFill>
                  <a:srgbClr val="404040"/>
                </a:solidFill>
                <a:latin typeface="Arial"/>
                <a:cs typeface="Arial"/>
              </a:rPr>
              <a:t>tụ</a:t>
            </a:r>
            <a:r>
              <a:rPr dirty="0" sz="2000" spc="-10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điện.</a:t>
            </a:r>
            <a:endParaRPr sz="2000">
              <a:latin typeface="Arial"/>
              <a:cs typeface="Arial"/>
            </a:endParaRPr>
          </a:p>
          <a:p>
            <a:pPr algn="r" marR="448945">
              <a:lnSpc>
                <a:spcPct val="100000"/>
              </a:lnSpc>
              <a:spcBef>
                <a:spcPts val="1120"/>
              </a:spcBef>
            </a:pP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Tỉ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thay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29271" y="4355146"/>
            <a:ext cx="2219325" cy="8760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44537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4800" spc="-260">
                <a:solidFill>
                  <a:srgbClr val="404040"/>
                </a:solidFill>
              </a:rPr>
              <a:t>Mạch </a:t>
            </a:r>
            <a:r>
              <a:rPr dirty="0" u="none" sz="4800" spc="-175">
                <a:solidFill>
                  <a:srgbClr val="404040"/>
                </a:solidFill>
              </a:rPr>
              <a:t>vi </a:t>
            </a:r>
            <a:r>
              <a:rPr dirty="0" u="none" sz="4800" spc="-275">
                <a:solidFill>
                  <a:srgbClr val="404040"/>
                </a:solidFill>
              </a:rPr>
              <a:t>phân </a:t>
            </a:r>
            <a:r>
              <a:rPr dirty="0" u="none" sz="4800" spc="-515">
                <a:solidFill>
                  <a:srgbClr val="404040"/>
                </a:solidFill>
              </a:rPr>
              <a:t>sử </a:t>
            </a:r>
            <a:r>
              <a:rPr dirty="0" u="none" sz="4800" spc="-275">
                <a:solidFill>
                  <a:srgbClr val="404040"/>
                </a:solidFill>
              </a:rPr>
              <a:t>dụng</a:t>
            </a:r>
            <a:r>
              <a:rPr dirty="0" u="none" sz="4800" spc="-565">
                <a:solidFill>
                  <a:srgbClr val="404040"/>
                </a:solidFill>
              </a:rPr>
              <a:t> </a:t>
            </a:r>
            <a:r>
              <a:rPr dirty="0" u="none" sz="4800" spc="-340">
                <a:solidFill>
                  <a:srgbClr val="404040"/>
                </a:solidFill>
              </a:rPr>
              <a:t>Op-Amp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246745" cy="13328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04139" marR="635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vi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thực hiện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phép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toán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vi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phân. </a:t>
            </a:r>
            <a:r>
              <a:rPr dirty="0" sz="2000" spc="-204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dirty="0" sz="2000" spc="-16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bản, </a:t>
            </a:r>
            <a:r>
              <a:rPr dirty="0" sz="2000" spc="-18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của 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vi </a:t>
            </a:r>
            <a:r>
              <a:rPr dirty="0" sz="2000" spc="-8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ngược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lại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tích</a:t>
            </a:r>
            <a:r>
              <a:rPr dirty="0" sz="2000" spc="-229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phân.</a:t>
            </a:r>
            <a:endParaRPr sz="2000">
              <a:latin typeface="Arial"/>
              <a:cs typeface="Arial"/>
            </a:endParaRPr>
          </a:p>
          <a:p>
            <a:pPr marL="104139" indent="-91440">
              <a:lnSpc>
                <a:spcPts val="228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vi </a:t>
            </a:r>
            <a:r>
              <a:rPr dirty="0" sz="2000" spc="-9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gồm </a:t>
            </a:r>
            <a:r>
              <a:rPr dirty="0" sz="2000" spc="-1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dirty="0" sz="2000" spc="25">
                <a:solidFill>
                  <a:srgbClr val="404040"/>
                </a:solidFill>
                <a:latin typeface="Arial"/>
                <a:cs typeface="Arial"/>
              </a:rPr>
              <a:t>tụ</a:t>
            </a:r>
            <a:r>
              <a:rPr dirty="0" sz="2000" spc="2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cổng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dirty="0" sz="2000" spc="-14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dirty="0" sz="2000" spc="-6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dirty="0" sz="2000" spc="-8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dirty="0" sz="2000" spc="-40">
                <a:solidFill>
                  <a:srgbClr val="404040"/>
                </a:solidFill>
                <a:latin typeface="Arial"/>
                <a:cs typeface="Arial"/>
              </a:rPr>
              <a:t>hồi</a:t>
            </a:r>
            <a:endParaRPr sz="2000">
              <a:latin typeface="Arial"/>
              <a:cs typeface="Arial"/>
            </a:endParaRPr>
          </a:p>
          <a:p>
            <a:pPr marL="104139">
              <a:lnSpc>
                <a:spcPts val="2280"/>
              </a:lnSpc>
            </a:pPr>
            <a:r>
              <a:rPr dirty="0" sz="2000" spc="-15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dirty="0" sz="2000" spc="-10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404040"/>
                </a:solidFill>
                <a:latin typeface="Arial"/>
                <a:cs typeface="Arial"/>
              </a:rPr>
              <a:t>đến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cổng</a:t>
            </a:r>
            <a:r>
              <a:rPr dirty="0" sz="2000" spc="-13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404040"/>
                </a:solidFill>
                <a:latin typeface="Arial"/>
                <a:cs typeface="Arial"/>
              </a:rPr>
              <a:t>đảo</a:t>
            </a:r>
            <a:r>
              <a:rPr dirty="0" sz="2000" spc="-12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Arial"/>
                <a:cs typeface="Arial"/>
              </a:rPr>
              <a:t>thông</a:t>
            </a:r>
            <a:r>
              <a:rPr dirty="0" sz="2000" spc="-1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95">
                <a:solidFill>
                  <a:srgbClr val="404040"/>
                </a:solidFill>
                <a:latin typeface="Arial"/>
                <a:cs typeface="Arial"/>
              </a:rPr>
              <a:t>qua</a:t>
            </a:r>
            <a:r>
              <a:rPr dirty="0" sz="2000" spc="-114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dirty="0" sz="2000" spc="-11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Arial"/>
                <a:cs typeface="Arial"/>
              </a:rPr>
              <a:t>trở.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7172" y="3509139"/>
            <a:ext cx="7758144" cy="25984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93179" y="3148583"/>
            <a:ext cx="2362200" cy="790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  <a:tabLst>
                <a:tab pos="8117840" algn="l"/>
              </a:tabLst>
            </a:pPr>
            <a:r>
              <a:rPr dirty="0" spc="-590"/>
              <a:t>Thank</a:t>
            </a:r>
            <a:r>
              <a:rPr dirty="0" spc="-610"/>
              <a:t> </a:t>
            </a:r>
            <a:r>
              <a:rPr dirty="0" spc="-225"/>
              <a:t>you!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Kent Bertilsson</dc:creator>
  <dc:title>PowerPoint-presentation</dc:title>
  <dcterms:created xsi:type="dcterms:W3CDTF">2019-03-22T06:02:33Z</dcterms:created>
  <dcterms:modified xsi:type="dcterms:W3CDTF">2019-03-22T06:02:33Z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