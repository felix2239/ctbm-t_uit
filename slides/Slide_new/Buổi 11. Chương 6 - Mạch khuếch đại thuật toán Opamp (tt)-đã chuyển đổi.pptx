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 h="0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84" y="286892"/>
            <a:ext cx="7964830" cy="137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855" y="1884426"/>
            <a:ext cx="8670289" cy="205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45329" y="6570624"/>
            <a:ext cx="81851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59773" y="6561198"/>
            <a:ext cx="1854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jpg"/><Relationship Id="rId12" Type="http://schemas.openxmlformats.org/officeDocument/2006/relationships/image" Target="../media/image6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jpg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g"/><Relationship Id="rId3" Type="http://schemas.openxmlformats.org/officeDocument/2006/relationships/image" Target="../media/image69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jp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jpg"/><Relationship Id="rId11" Type="http://schemas.openxmlformats.org/officeDocument/2006/relationships/image" Target="../media/image7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291840" cy="6858000"/>
          </a:xfrm>
          <a:custGeom>
            <a:avLst/>
            <a:gdLst/>
            <a:ahLst/>
            <a:cxnLst/>
            <a:rect l="l" t="t" r="r" b="b"/>
            <a:pathLst>
              <a:path w="3291840" h="6858000">
                <a:moveTo>
                  <a:pt x="0" y="6858000"/>
                </a:moveTo>
                <a:lnTo>
                  <a:pt x="3291840" y="6858000"/>
                </a:lnTo>
                <a:lnTo>
                  <a:pt x="32918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0860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831" y="2141220"/>
            <a:ext cx="1978914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55064" y="2141220"/>
            <a:ext cx="819150" cy="1006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20084" y="510540"/>
            <a:ext cx="6139434" cy="1338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70020" y="1168908"/>
            <a:ext cx="5426202" cy="1338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84701" y="670001"/>
            <a:ext cx="5223510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262255" marR="5080" indent="-250190">
              <a:lnSpc>
                <a:spcPts val="5190"/>
              </a:lnSpc>
              <a:spcBef>
                <a:spcPts val="750"/>
              </a:spcBef>
            </a:pPr>
            <a:r>
              <a:rPr dirty="0" spc="-5" b="1">
                <a:latin typeface="Times New Roman"/>
                <a:cs typeface="Times New Roman"/>
              </a:rPr>
              <a:t>CÁC </a:t>
            </a:r>
            <a:r>
              <a:rPr dirty="0" b="1">
                <a:latin typeface="Times New Roman"/>
                <a:cs typeface="Times New Roman"/>
              </a:rPr>
              <a:t>THIẾT BỊ</a:t>
            </a:r>
            <a:r>
              <a:rPr dirty="0" spc="-375" b="1">
                <a:latin typeface="Times New Roman"/>
                <a:cs typeface="Times New Roman"/>
              </a:rPr>
              <a:t> </a:t>
            </a:r>
            <a:r>
              <a:rPr dirty="0" spc="-5" b="1">
                <a:latin typeface="Times New Roman"/>
                <a:cs typeface="Times New Roman"/>
              </a:rPr>
              <a:t>VÀ  </a:t>
            </a:r>
            <a:r>
              <a:rPr dirty="0" b="1">
                <a:latin typeface="Times New Roman"/>
                <a:cs typeface="Times New Roman"/>
              </a:rPr>
              <a:t>MẠCH </a:t>
            </a:r>
            <a:r>
              <a:rPr dirty="0" spc="-5" b="1">
                <a:latin typeface="Times New Roman"/>
                <a:cs typeface="Times New Roman"/>
              </a:rPr>
              <a:t>ĐIỆN</a:t>
            </a:r>
            <a:r>
              <a:rPr dirty="0" spc="-16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TỬ</a:t>
            </a:r>
          </a:p>
        </p:txBody>
      </p:sp>
      <p:sp>
        <p:nvSpPr>
          <p:cNvPr id="9" name="object 9"/>
          <p:cNvSpPr/>
          <p:nvPr/>
        </p:nvSpPr>
        <p:spPr>
          <a:xfrm>
            <a:off x="318515" y="2868180"/>
            <a:ext cx="837438" cy="5112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00683" y="2868180"/>
            <a:ext cx="995934" cy="511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42872" y="2868180"/>
            <a:ext cx="604265" cy="511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90344" y="2868180"/>
            <a:ext cx="822197" cy="5112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8515" y="3115068"/>
            <a:ext cx="742950" cy="5112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04672" y="3115068"/>
            <a:ext cx="582929" cy="5112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82039" y="3115068"/>
            <a:ext cx="375678" cy="5112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52144" y="3115068"/>
            <a:ext cx="753618" cy="5112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50291" y="1999488"/>
            <a:ext cx="2214245" cy="146494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3600" spc="-405">
                <a:solidFill>
                  <a:srgbClr val="FFFFFF"/>
                </a:solidFill>
                <a:latin typeface="Arial"/>
                <a:cs typeface="Arial"/>
              </a:rPr>
              <a:t>Chương</a:t>
            </a:r>
            <a:r>
              <a:rPr dirty="0" sz="3600" spc="-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8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  <a:spcBef>
                <a:spcPts val="969"/>
              </a:spcBef>
            </a:pPr>
            <a:r>
              <a:rPr dirty="0" sz="1800" spc="-105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800" spc="-150" b="1">
                <a:solidFill>
                  <a:srgbClr val="FFFFFF"/>
                </a:solidFill>
                <a:latin typeface="Arial"/>
                <a:cs typeface="Arial"/>
              </a:rPr>
              <a:t>khuếch </a:t>
            </a:r>
            <a:r>
              <a:rPr dirty="0" sz="1800" spc="-90" b="1">
                <a:solidFill>
                  <a:srgbClr val="FFFFFF"/>
                </a:solidFill>
                <a:latin typeface="Arial"/>
                <a:cs typeface="Arial"/>
              </a:rPr>
              <a:t>đại</a:t>
            </a:r>
            <a:r>
              <a:rPr dirty="0" sz="18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Arial"/>
                <a:cs typeface="Arial"/>
              </a:rPr>
              <a:t>thuật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dirty="0" sz="1800" spc="-95" b="1">
                <a:solidFill>
                  <a:srgbClr val="FFFFFF"/>
                </a:solidFill>
                <a:latin typeface="Arial"/>
                <a:cs typeface="Arial"/>
              </a:rPr>
              <a:t>toán</a:t>
            </a:r>
            <a:r>
              <a:rPr dirty="0" sz="18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 b="1">
                <a:solidFill>
                  <a:srgbClr val="FFFFFF"/>
                </a:solidFill>
                <a:latin typeface="Arial"/>
                <a:cs typeface="Arial"/>
              </a:rPr>
              <a:t>Op-Amp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2043" y="3569220"/>
            <a:ext cx="407682" cy="39698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29412" y="3557028"/>
            <a:ext cx="698754" cy="42899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14044" y="3557028"/>
            <a:ext cx="459486" cy="42899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57883" y="3557028"/>
            <a:ext cx="500634" cy="4289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2043" y="3951744"/>
            <a:ext cx="407682" cy="39698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9412" y="3939552"/>
            <a:ext cx="698754" cy="42899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114044" y="3939552"/>
            <a:ext cx="555498" cy="42899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55419" y="3939552"/>
            <a:ext cx="659130" cy="42899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900427" y="3939552"/>
            <a:ext cx="517410" cy="42899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205227" y="3939552"/>
            <a:ext cx="627126" cy="42899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29412" y="4145292"/>
            <a:ext cx="496062" cy="42899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2043" y="4541532"/>
            <a:ext cx="407682" cy="39698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29412" y="4529340"/>
            <a:ext cx="698754" cy="42899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14044" y="4529340"/>
            <a:ext cx="555498" cy="42899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455419" y="4529340"/>
            <a:ext cx="659130" cy="42899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900427" y="4529340"/>
            <a:ext cx="517410" cy="42899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205227" y="4529340"/>
            <a:ext cx="627126" cy="42899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29412" y="4735080"/>
            <a:ext cx="636269" cy="42899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50291" y="3597020"/>
            <a:ext cx="2259330" cy="143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85" b="1">
                <a:solidFill>
                  <a:srgbClr val="FFFFFF"/>
                </a:solidFill>
                <a:latin typeface="Arial"/>
                <a:cs typeface="Arial"/>
              </a:rPr>
              <a:t>đa</a:t>
            </a:r>
            <a:r>
              <a:rPr dirty="0" sz="15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85" b="1">
                <a:solidFill>
                  <a:srgbClr val="FFFFFF"/>
                </a:solidFill>
                <a:latin typeface="Arial"/>
                <a:cs typeface="Arial"/>
              </a:rPr>
              <a:t>hài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ts val="1710"/>
              </a:lnSpc>
              <a:spcBef>
                <a:spcPts val="121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05" b="1">
                <a:solidFill>
                  <a:srgbClr val="FFFFFF"/>
                </a:solidFill>
                <a:latin typeface="Arial"/>
                <a:cs typeface="Arial"/>
              </a:rPr>
              <a:t>dao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động 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tạo </a:t>
            </a:r>
            <a:r>
              <a:rPr dirty="0" sz="1500" spc="-170" b="1">
                <a:solidFill>
                  <a:srgbClr val="FFFFFF"/>
                </a:solidFill>
                <a:latin typeface="Arial"/>
                <a:cs typeface="Arial"/>
              </a:rPr>
              <a:t>sóng</a:t>
            </a:r>
            <a:endParaRPr sz="1500">
              <a:latin typeface="Arial"/>
              <a:cs typeface="Arial"/>
            </a:endParaRPr>
          </a:p>
          <a:p>
            <a:pPr marL="299085">
              <a:lnSpc>
                <a:spcPts val="1710"/>
              </a:lnSpc>
            </a:pPr>
            <a:r>
              <a:rPr dirty="0" sz="1500" spc="-155" b="1">
                <a:solidFill>
                  <a:srgbClr val="FFFFFF"/>
                </a:solidFill>
                <a:latin typeface="Arial"/>
                <a:cs typeface="Arial"/>
              </a:rPr>
              <a:t>Sin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299085" marR="5080" indent="-286385">
              <a:lnSpc>
                <a:spcPts val="1620"/>
              </a:lnSpc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05" b="1">
                <a:solidFill>
                  <a:srgbClr val="FFFFFF"/>
                </a:solidFill>
                <a:latin typeface="Arial"/>
                <a:cs typeface="Arial"/>
              </a:rPr>
              <a:t>dao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đông 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tạo </a:t>
            </a:r>
            <a:r>
              <a:rPr dirty="0" sz="1500" spc="-170" b="1">
                <a:solidFill>
                  <a:srgbClr val="FFFFFF"/>
                </a:solidFill>
                <a:latin typeface="Arial"/>
                <a:cs typeface="Arial"/>
              </a:rPr>
              <a:t>sóng  </a:t>
            </a:r>
            <a:r>
              <a:rPr dirty="0" sz="1500" spc="-150" b="1">
                <a:solidFill>
                  <a:srgbClr val="FFFFFF"/>
                </a:solidFill>
                <a:latin typeface="Arial"/>
                <a:cs typeface="Arial"/>
              </a:rPr>
              <a:t>xung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79926" y="6558178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39530" y="6546595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455F51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783835" y="3159251"/>
            <a:ext cx="1770888" cy="142798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617069" y="3151493"/>
            <a:ext cx="1666701" cy="133419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21634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Mục</a:t>
            </a:r>
            <a:r>
              <a:rPr dirty="0" spc="-430"/>
              <a:t> </a:t>
            </a:r>
            <a:r>
              <a:rPr dirty="0" spc="-100"/>
              <a:t>tiêu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7406005" cy="138239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vận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mạch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đa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hài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vận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sóng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sin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2000" spc="-2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vận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xung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43555" y="3300984"/>
            <a:ext cx="4858512" cy="29489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297243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Mạch </a:t>
            </a:r>
            <a:r>
              <a:rPr dirty="0" spc="-265"/>
              <a:t>đa</a:t>
            </a:r>
            <a:r>
              <a:rPr dirty="0" spc="-530"/>
              <a:t> </a:t>
            </a:r>
            <a:r>
              <a:rPr dirty="0" spc="-235"/>
              <a:t>hài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408670" cy="200278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hài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(multivibrator)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có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song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vuông.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chỉ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thái: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Cắt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hoặc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bão</a:t>
            </a:r>
            <a:r>
              <a:rPr dirty="0" sz="2000" spc="-3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hòa.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3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3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hài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chính:</a:t>
            </a:r>
            <a:endParaRPr sz="20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19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hài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ổn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định</a:t>
            </a:r>
            <a:endParaRPr sz="18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hài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ổn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định</a:t>
            </a:r>
            <a:endParaRPr sz="18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hài </a:t>
            </a:r>
            <a:r>
              <a:rPr dirty="0" sz="18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ổn</a:t>
            </a:r>
            <a:r>
              <a:rPr dirty="0" sz="1800" spc="-3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định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0639" y="4111023"/>
            <a:ext cx="4552015" cy="210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493395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Mạch </a:t>
            </a:r>
            <a:r>
              <a:rPr dirty="0" spc="-265"/>
              <a:t>đa </a:t>
            </a:r>
            <a:r>
              <a:rPr dirty="0" spc="-235"/>
              <a:t>hài </a:t>
            </a:r>
            <a:r>
              <a:rPr dirty="0" spc="-195"/>
              <a:t>ổn</a:t>
            </a:r>
            <a:r>
              <a:rPr dirty="0" spc="-720"/>
              <a:t> </a:t>
            </a:r>
            <a:r>
              <a:rPr dirty="0" spc="-145"/>
              <a:t>định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715510" cy="4404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4139" indent="-91440">
              <a:lnSpc>
                <a:spcPts val="228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hài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ổn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định: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dirty="0" sz="2000" spc="-3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có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trạng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thái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bền:</a:t>
            </a:r>
            <a:endParaRPr sz="20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87">
                <a:solidFill>
                  <a:srgbClr val="404040"/>
                </a:solidFill>
                <a:latin typeface="Arial"/>
                <a:cs typeface="Arial"/>
              </a:rPr>
              <a:t>1 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off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87">
                <a:solidFill>
                  <a:srgbClr val="404040"/>
                </a:solidFill>
                <a:latin typeface="Arial"/>
                <a:cs typeface="Arial"/>
              </a:rPr>
              <a:t>2</a:t>
            </a:r>
            <a:r>
              <a:rPr dirty="0" baseline="-20833" sz="1800" spc="-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00" b="1">
                <a:solidFill>
                  <a:srgbClr val="404040"/>
                </a:solidFill>
                <a:latin typeface="Arial"/>
                <a:cs typeface="Arial"/>
              </a:rPr>
              <a:t>saturation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87">
                <a:solidFill>
                  <a:srgbClr val="404040"/>
                </a:solidFill>
                <a:latin typeface="Arial"/>
                <a:cs typeface="Arial"/>
              </a:rPr>
              <a:t>1  </a:t>
            </a:r>
            <a:r>
              <a:rPr dirty="0" sz="1800" spc="-105" b="1">
                <a:solidFill>
                  <a:srgbClr val="404040"/>
                </a:solidFill>
                <a:latin typeface="Arial"/>
                <a:cs typeface="Arial"/>
              </a:rPr>
              <a:t>saturation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87">
                <a:solidFill>
                  <a:srgbClr val="404040"/>
                </a:solidFill>
                <a:latin typeface="Arial"/>
                <a:cs typeface="Arial"/>
              </a:rPr>
              <a:t>2</a:t>
            </a:r>
            <a:r>
              <a:rPr dirty="0" baseline="-20833" sz="1800" spc="52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off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04139" marR="5080" indent="-91440">
              <a:lnSpc>
                <a:spcPts val="2160"/>
              </a:lnSpc>
              <a:spcBef>
                <a:spcPts val="162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mạch,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giả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1367" sz="1950" spc="-202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dirty="0" sz="2000" spc="-45" b="1">
                <a:solidFill>
                  <a:srgbClr val="404040"/>
                </a:solidFill>
                <a:latin typeface="Arial"/>
                <a:cs typeface="Arial"/>
              </a:rPr>
              <a:t>tốt  </a:t>
            </a:r>
            <a:r>
              <a:rPr dirty="0" sz="2000" spc="-150" b="1">
                <a:solidFill>
                  <a:srgbClr val="404040"/>
                </a:solidFill>
                <a:latin typeface="Arial"/>
                <a:cs typeface="Arial"/>
              </a:rPr>
              <a:t>hơn</a:t>
            </a:r>
            <a:r>
              <a:rPr dirty="0" sz="2000" spc="-13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1367" sz="1950" spc="-157">
                <a:solidFill>
                  <a:srgbClr val="404040"/>
                </a:solidFill>
                <a:latin typeface="Arial"/>
                <a:cs typeface="Arial"/>
              </a:rPr>
              <a:t>2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algn="just" lvl="1" marL="396875" marR="6985" indent="-182880">
              <a:lnSpc>
                <a:spcPct val="90000"/>
              </a:lnSpc>
              <a:spcBef>
                <a:spcPts val="37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đó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1800" spc="-17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0833" sz="1800" spc="-262">
                <a:solidFill>
                  <a:srgbClr val="404040"/>
                </a:solidFill>
                <a:latin typeface="Arial"/>
                <a:cs typeface="Arial"/>
              </a:rPr>
              <a:t>CE1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25" b="1">
                <a:solidFill>
                  <a:srgbClr val="404040"/>
                </a:solidFill>
                <a:latin typeface="Arial"/>
                <a:cs typeface="Arial"/>
              </a:rPr>
              <a:t>giảm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do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đó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dòng 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>
                <a:solidFill>
                  <a:srgbClr val="404040"/>
                </a:solidFill>
                <a:latin typeface="Arial"/>
                <a:cs typeface="Arial"/>
              </a:rPr>
              <a:t>đi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225">
                <a:solidFill>
                  <a:srgbClr val="404040"/>
                </a:solidFill>
                <a:latin typeface="Arial"/>
                <a:cs typeface="Arial"/>
              </a:rPr>
              <a:t>B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87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0833" sz="1800" spc="-135">
                <a:solidFill>
                  <a:srgbClr val="404040"/>
                </a:solidFill>
                <a:latin typeface="Arial"/>
                <a:cs typeface="Arial"/>
              </a:rPr>
              <a:t>B2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25" b="1">
                <a:solidFill>
                  <a:srgbClr val="404040"/>
                </a:solidFill>
                <a:latin typeface="Arial"/>
                <a:cs typeface="Arial"/>
              </a:rPr>
              <a:t>giảm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dirty="0" sz="1800" spc="-145">
                <a:solidFill>
                  <a:srgbClr val="404040"/>
                </a:solidFill>
                <a:latin typeface="Arial"/>
                <a:cs typeface="Arial"/>
              </a:rPr>
              <a:t>Lúc 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này,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0833" sz="1800" spc="-82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tục </a:t>
            </a:r>
            <a:r>
              <a:rPr dirty="0" sz="1800" spc="-145" b="1">
                <a:solidFill>
                  <a:srgbClr val="404040"/>
                </a:solidFill>
                <a:latin typeface="Arial"/>
                <a:cs typeface="Arial"/>
              </a:rPr>
              <a:t>giảm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do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baseline="-20833" sz="1800" spc="-135">
                <a:solidFill>
                  <a:srgbClr val="404040"/>
                </a:solidFill>
                <a:latin typeface="Arial"/>
                <a:cs typeface="Arial"/>
              </a:rPr>
              <a:t>B2 </a:t>
            </a:r>
            <a:r>
              <a:rPr dirty="0" sz="1800" spc="-125" b="1">
                <a:solidFill>
                  <a:srgbClr val="404040"/>
                </a:solidFill>
                <a:latin typeface="Arial"/>
                <a:cs typeface="Arial"/>
              </a:rPr>
              <a:t>giảm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do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đó </a:t>
            </a:r>
            <a:r>
              <a:rPr dirty="0" sz="1800" spc="-17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0833" sz="1800" spc="-262">
                <a:solidFill>
                  <a:srgbClr val="404040"/>
                </a:solidFill>
                <a:latin typeface="Arial"/>
                <a:cs typeface="Arial"/>
              </a:rPr>
              <a:t>CE2 </a:t>
            </a:r>
            <a:r>
              <a:rPr dirty="0" sz="1200" spc="-1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tăng.</a:t>
            </a:r>
            <a:endParaRPr sz="1800">
              <a:latin typeface="Arial"/>
              <a:cs typeface="Arial"/>
            </a:endParaRPr>
          </a:p>
          <a:p>
            <a:pPr lvl="1" marL="396875" indent="-182880">
              <a:lnSpc>
                <a:spcPts val="205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  <a:tab pos="954405" algn="l"/>
                <a:tab pos="1463675" algn="l"/>
                <a:tab pos="1862455" algn="l"/>
                <a:tab pos="2341880" algn="l"/>
                <a:tab pos="2769870" algn="l"/>
                <a:tab pos="3129280" algn="l"/>
                <a:tab pos="3462020" algn="l"/>
                <a:tab pos="3722370" algn="l"/>
                <a:tab pos="4339590" algn="l"/>
              </a:tabLst>
            </a:pP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Đến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dirty="0" sz="1800" spc="-5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dirty="0" sz="1800" spc="-5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dirty="0" sz="1800" spc="5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ú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dirty="0" sz="1800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nà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ó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,</a:t>
            </a:r>
            <a:r>
              <a:rPr dirty="0" sz="1800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dirty="0" sz="1800" spc="-190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89">
                <a:solidFill>
                  <a:srgbClr val="404040"/>
                </a:solidFill>
                <a:latin typeface="Arial"/>
                <a:cs typeface="Arial"/>
              </a:rPr>
              <a:t>1</a:t>
            </a:r>
            <a:r>
              <a:rPr dirty="0" baseline="-20833" sz="1800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</a:t>
            </a:r>
            <a:r>
              <a:rPr dirty="0" sz="1800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dirty="0" sz="1800" spc="-140">
                <a:solidFill>
                  <a:srgbClr val="404040"/>
                </a:solidFill>
                <a:latin typeface="Arial"/>
                <a:cs typeface="Arial"/>
              </a:rPr>
              <a:t>ở</a:t>
            </a:r>
            <a:r>
              <a:rPr dirty="0" sz="1800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dirty="0" sz="1800" spc="55">
                <a:solidFill>
                  <a:srgbClr val="404040"/>
                </a:solidFill>
                <a:latin typeface="Arial"/>
                <a:cs typeface="Arial"/>
              </a:rPr>
              <a:t>t</a:t>
            </a:r>
            <a:r>
              <a:rPr dirty="0" sz="1800" spc="25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ạng</a:t>
            </a:r>
            <a:r>
              <a:rPr dirty="0" sz="1800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thái</a:t>
            </a:r>
            <a:endParaRPr sz="1800">
              <a:latin typeface="Arial"/>
              <a:cs typeface="Arial"/>
            </a:endParaRPr>
          </a:p>
          <a:p>
            <a:pPr marL="396875">
              <a:lnSpc>
                <a:spcPts val="2050"/>
              </a:lnSpc>
            </a:pPr>
            <a:r>
              <a:rPr dirty="0" sz="1800" spc="-110" b="1">
                <a:solidFill>
                  <a:srgbClr val="404040"/>
                </a:solidFill>
                <a:latin typeface="Arial"/>
                <a:cs typeface="Arial"/>
              </a:rPr>
              <a:t>saturation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95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40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thái</a:t>
            </a:r>
            <a:r>
              <a:rPr dirty="0" sz="1800" spc="-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off</a:t>
            </a:r>
            <a:endParaRPr sz="1800">
              <a:latin typeface="Arial"/>
              <a:cs typeface="Arial"/>
            </a:endParaRPr>
          </a:p>
          <a:p>
            <a:pPr algn="just" lvl="1" marL="396875" marR="6350" indent="-182880">
              <a:lnSpc>
                <a:spcPts val="1939"/>
              </a:lnSpc>
              <a:spcBef>
                <a:spcPts val="63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45">
                <a:solidFill>
                  <a:srgbClr val="404040"/>
                </a:solidFill>
                <a:latin typeface="Arial"/>
                <a:cs typeface="Arial"/>
              </a:rPr>
              <a:t>Lúc</a:t>
            </a:r>
            <a:r>
              <a:rPr dirty="0" sz="1800" spc="2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này,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87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off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87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sat 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thành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87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sat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87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off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người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chỉ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giảm  dòng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Input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hoặc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Input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82125" y="2022719"/>
            <a:ext cx="3750479" cy="26373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15353" y="2320290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7460" y="2497073"/>
            <a:ext cx="127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75576" y="2296667"/>
            <a:ext cx="76200" cy="681355"/>
          </a:xfrm>
          <a:custGeom>
            <a:avLst/>
            <a:gdLst/>
            <a:ahLst/>
            <a:cxnLst/>
            <a:rect l="l" t="t" r="r" b="b"/>
            <a:pathLst>
              <a:path w="76200" h="681355">
                <a:moveTo>
                  <a:pt x="31750" y="604647"/>
                </a:moveTo>
                <a:lnTo>
                  <a:pt x="0" y="604647"/>
                </a:lnTo>
                <a:lnTo>
                  <a:pt x="38100" y="680847"/>
                </a:lnTo>
                <a:lnTo>
                  <a:pt x="69850" y="617347"/>
                </a:lnTo>
                <a:lnTo>
                  <a:pt x="31750" y="617347"/>
                </a:lnTo>
                <a:lnTo>
                  <a:pt x="31750" y="604647"/>
                </a:lnTo>
                <a:close/>
              </a:path>
              <a:path w="76200" h="681355">
                <a:moveTo>
                  <a:pt x="44450" y="0"/>
                </a:moveTo>
                <a:lnTo>
                  <a:pt x="31750" y="0"/>
                </a:lnTo>
                <a:lnTo>
                  <a:pt x="31750" y="617347"/>
                </a:lnTo>
                <a:lnTo>
                  <a:pt x="44450" y="617347"/>
                </a:lnTo>
                <a:lnTo>
                  <a:pt x="44450" y="0"/>
                </a:lnTo>
                <a:close/>
              </a:path>
              <a:path w="76200" h="681355">
                <a:moveTo>
                  <a:pt x="76200" y="604647"/>
                </a:moveTo>
                <a:lnTo>
                  <a:pt x="44450" y="604647"/>
                </a:lnTo>
                <a:lnTo>
                  <a:pt x="44450" y="617347"/>
                </a:lnTo>
                <a:lnTo>
                  <a:pt x="69850" y="617347"/>
                </a:lnTo>
                <a:lnTo>
                  <a:pt x="76200" y="604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475980" y="2320290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8088" y="2497073"/>
            <a:ext cx="127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33231" y="2296667"/>
            <a:ext cx="76200" cy="681355"/>
          </a:xfrm>
          <a:custGeom>
            <a:avLst/>
            <a:gdLst/>
            <a:ahLst/>
            <a:cxnLst/>
            <a:rect l="l" t="t" r="r" b="b"/>
            <a:pathLst>
              <a:path w="76200" h="681355">
                <a:moveTo>
                  <a:pt x="31750" y="604647"/>
                </a:moveTo>
                <a:lnTo>
                  <a:pt x="0" y="604647"/>
                </a:lnTo>
                <a:lnTo>
                  <a:pt x="38100" y="680847"/>
                </a:lnTo>
                <a:lnTo>
                  <a:pt x="69850" y="617347"/>
                </a:lnTo>
                <a:lnTo>
                  <a:pt x="31750" y="617347"/>
                </a:lnTo>
                <a:lnTo>
                  <a:pt x="31750" y="604647"/>
                </a:lnTo>
                <a:close/>
              </a:path>
              <a:path w="76200" h="681355">
                <a:moveTo>
                  <a:pt x="44450" y="0"/>
                </a:moveTo>
                <a:lnTo>
                  <a:pt x="31750" y="0"/>
                </a:lnTo>
                <a:lnTo>
                  <a:pt x="31750" y="617347"/>
                </a:lnTo>
                <a:lnTo>
                  <a:pt x="44450" y="617347"/>
                </a:lnTo>
                <a:lnTo>
                  <a:pt x="44450" y="0"/>
                </a:lnTo>
                <a:close/>
              </a:path>
              <a:path w="76200" h="681355">
                <a:moveTo>
                  <a:pt x="76200" y="604647"/>
                </a:moveTo>
                <a:lnTo>
                  <a:pt x="44450" y="604647"/>
                </a:lnTo>
                <a:lnTo>
                  <a:pt x="44450" y="617347"/>
                </a:lnTo>
                <a:lnTo>
                  <a:pt x="69850" y="617347"/>
                </a:lnTo>
                <a:lnTo>
                  <a:pt x="76200" y="604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523733" y="2597022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5842" y="2773806"/>
            <a:ext cx="262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B2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41692" y="3031235"/>
            <a:ext cx="526415" cy="76200"/>
          </a:xfrm>
          <a:custGeom>
            <a:avLst/>
            <a:gdLst/>
            <a:ahLst/>
            <a:cxnLst/>
            <a:rect l="l" t="t" r="r" b="b"/>
            <a:pathLst>
              <a:path w="526415" h="76200">
                <a:moveTo>
                  <a:pt x="449960" y="0"/>
                </a:moveTo>
                <a:lnTo>
                  <a:pt x="449960" y="76200"/>
                </a:lnTo>
                <a:lnTo>
                  <a:pt x="513460" y="44450"/>
                </a:lnTo>
                <a:lnTo>
                  <a:pt x="462660" y="44450"/>
                </a:lnTo>
                <a:lnTo>
                  <a:pt x="462660" y="31750"/>
                </a:lnTo>
                <a:lnTo>
                  <a:pt x="513460" y="31750"/>
                </a:lnTo>
                <a:lnTo>
                  <a:pt x="449960" y="0"/>
                </a:lnTo>
                <a:close/>
              </a:path>
              <a:path w="526415" h="76200">
                <a:moveTo>
                  <a:pt x="44996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49960" y="44450"/>
                </a:lnTo>
                <a:lnTo>
                  <a:pt x="449960" y="31750"/>
                </a:lnTo>
                <a:close/>
              </a:path>
              <a:path w="526415" h="76200">
                <a:moveTo>
                  <a:pt x="513460" y="31750"/>
                </a:moveTo>
                <a:lnTo>
                  <a:pt x="462660" y="31750"/>
                </a:lnTo>
                <a:lnTo>
                  <a:pt x="462660" y="44450"/>
                </a:lnTo>
                <a:lnTo>
                  <a:pt x="513460" y="44450"/>
                </a:lnTo>
                <a:lnTo>
                  <a:pt x="526160" y="38100"/>
                </a:lnTo>
                <a:lnTo>
                  <a:pt x="51346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80731" y="3300984"/>
            <a:ext cx="664210" cy="76200"/>
          </a:xfrm>
          <a:custGeom>
            <a:avLst/>
            <a:gdLst/>
            <a:ahLst/>
            <a:cxnLst/>
            <a:rect l="l" t="t" r="r" b="b"/>
            <a:pathLst>
              <a:path w="66420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664209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664209" h="76200">
                <a:moveTo>
                  <a:pt x="664083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664083" y="44450"/>
                </a:lnTo>
                <a:lnTo>
                  <a:pt x="664083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538084" y="3336797"/>
            <a:ext cx="3651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>
                <a:latin typeface="Times New Roman"/>
                <a:cs typeface="Times New Roman"/>
              </a:rPr>
              <a:t>I</a:t>
            </a:r>
            <a:r>
              <a:rPr dirty="0" sz="1600" spc="-5">
                <a:latin typeface="Times New Roman"/>
                <a:cs typeface="Times New Roman"/>
              </a:rPr>
              <a:t>B1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5952490" y="4942078"/>
            <a:ext cx="3879850" cy="128778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just" marL="195580" marR="5080" indent="-182880">
              <a:lnSpc>
                <a:spcPct val="90000"/>
              </a:lnSpc>
              <a:spcBef>
                <a:spcPts val="315"/>
              </a:spcBef>
              <a:buClr>
                <a:srgbClr val="99CA38"/>
              </a:buClr>
              <a:buFont typeface="Wingdings"/>
              <a:buChar char=""/>
              <a:tabLst>
                <a:tab pos="247650" algn="l"/>
              </a:tabLst>
            </a:pPr>
            <a:r>
              <a:rPr dirty="0" sz="1800" spc="-20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nói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rằng,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hài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ổn 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định,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95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khóa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95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hoặc </a:t>
            </a:r>
            <a:r>
              <a:rPr dirty="0" sz="1800" spc="-180" b="1">
                <a:solidFill>
                  <a:srgbClr val="404040"/>
                </a:solidFill>
                <a:latin typeface="Arial"/>
                <a:cs typeface="Arial"/>
              </a:rPr>
              <a:t>ngược </a:t>
            </a:r>
            <a:r>
              <a:rPr dirty="0" sz="1800" spc="-75" b="1">
                <a:solidFill>
                  <a:srgbClr val="404040"/>
                </a:solidFill>
                <a:latin typeface="Arial"/>
                <a:cs typeface="Arial"/>
              </a:rPr>
              <a:t>lại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, 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60" b="1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1800" spc="-95" b="1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dirty="0" sz="1800" spc="-90" b="1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nếu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ta  </a:t>
            </a:r>
            <a:r>
              <a:rPr dirty="0" sz="1800" spc="-165" b="1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1800" spc="-150" b="1">
                <a:solidFill>
                  <a:srgbClr val="404040"/>
                </a:solidFill>
                <a:latin typeface="Arial"/>
                <a:cs typeface="Arial"/>
              </a:rPr>
              <a:t>kích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thích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1800" spc="-95" b="1">
                <a:solidFill>
                  <a:srgbClr val="404040"/>
                </a:solidFill>
                <a:latin typeface="Arial"/>
                <a:cs typeface="Arial"/>
              </a:rPr>
              <a:t>thay đổi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vào  </a:t>
            </a:r>
            <a:r>
              <a:rPr dirty="0" sz="1800" spc="-80" b="1">
                <a:solidFill>
                  <a:srgbClr val="404040"/>
                </a:solidFill>
                <a:latin typeface="Arial"/>
                <a:cs typeface="Arial"/>
              </a:rPr>
              <a:t>Input </a:t>
            </a:r>
            <a:r>
              <a:rPr dirty="0" sz="1800" spc="-90" b="1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hoặc </a:t>
            </a:r>
            <a:r>
              <a:rPr dirty="0" sz="1800" spc="-80" b="1">
                <a:solidFill>
                  <a:srgbClr val="404040"/>
                </a:solidFill>
                <a:latin typeface="Arial"/>
                <a:cs typeface="Arial"/>
              </a:rPr>
              <a:t>Input</a:t>
            </a:r>
            <a:r>
              <a:rPr dirty="0" sz="1800" spc="-14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90" b="1">
                <a:solidFill>
                  <a:srgbClr val="40404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541134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Mạch </a:t>
            </a:r>
            <a:r>
              <a:rPr dirty="0" spc="-265"/>
              <a:t>đa </a:t>
            </a:r>
            <a:r>
              <a:rPr dirty="0" spc="-235"/>
              <a:t>hài </a:t>
            </a:r>
            <a:r>
              <a:rPr dirty="0" spc="-285"/>
              <a:t>không </a:t>
            </a:r>
            <a:r>
              <a:rPr dirty="0" spc="-195"/>
              <a:t>ổn</a:t>
            </a:r>
            <a:r>
              <a:rPr dirty="0" spc="-780"/>
              <a:t> </a:t>
            </a:r>
            <a:r>
              <a:rPr dirty="0" spc="-145"/>
              <a:t>định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715510" cy="115443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04139" marR="5080" indent="-91440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hài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ổn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định: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bền, </a:t>
            </a:r>
            <a:r>
              <a:rPr dirty="0" sz="2000" spc="-165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của 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transistor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lần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lượt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từ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Q1 </a:t>
            </a:r>
            <a:r>
              <a:rPr dirty="0" sz="2000" spc="-70" b="1">
                <a:solidFill>
                  <a:srgbClr val="404040"/>
                </a:solidFill>
                <a:latin typeface="Arial"/>
                <a:cs typeface="Arial"/>
              </a:rPr>
              <a:t>off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Q2  </a:t>
            </a:r>
            <a:r>
              <a:rPr dirty="0" sz="2000" spc="-175" b="1">
                <a:solidFill>
                  <a:srgbClr val="404040"/>
                </a:solidFill>
                <a:latin typeface="Arial"/>
                <a:cs typeface="Arial"/>
              </a:rPr>
              <a:t>Sat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sang Q1 </a:t>
            </a:r>
            <a:r>
              <a:rPr dirty="0" sz="2000" spc="-145" b="1">
                <a:solidFill>
                  <a:srgbClr val="404040"/>
                </a:solidFill>
                <a:latin typeface="Arial"/>
                <a:cs typeface="Arial"/>
              </a:rPr>
              <a:t>Sat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Q2 </a:t>
            </a:r>
            <a:r>
              <a:rPr dirty="0" sz="2000" spc="-70" b="1">
                <a:solidFill>
                  <a:srgbClr val="404040"/>
                </a:solidFill>
                <a:latin typeface="Arial"/>
                <a:cs typeface="Arial"/>
              </a:rPr>
              <a:t>off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ngược</a:t>
            </a:r>
            <a:r>
              <a:rPr dirty="0" sz="2000" spc="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lại.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160268"/>
            <a:ext cx="47155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1780" indent="-259079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  <a:tab pos="3970654" algn="l"/>
              </a:tabLst>
            </a:pP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mạch,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giả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Q	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đang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ở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0584" y="3308095"/>
            <a:ext cx="4209415" cy="45783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389890">
              <a:lnSpc>
                <a:spcPts val="1265"/>
              </a:lnSpc>
              <a:spcBef>
                <a:spcPts val="130"/>
              </a:spcBef>
            </a:pPr>
            <a:r>
              <a:rPr dirty="0" sz="1300" spc="-50">
                <a:solidFill>
                  <a:srgbClr val="404040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2105"/>
              </a:lnSpc>
            </a:pP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dirty="0" sz="2000" spc="-70" b="1">
                <a:solidFill>
                  <a:srgbClr val="404040"/>
                </a:solidFill>
                <a:latin typeface="Arial"/>
                <a:cs typeface="Arial"/>
              </a:rPr>
              <a:t>off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1367" sz="1950" spc="-202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đang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thái</a:t>
            </a:r>
            <a:r>
              <a:rPr dirty="0" sz="2000" spc="-2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75" b="1">
                <a:solidFill>
                  <a:srgbClr val="404040"/>
                </a:solidFill>
                <a:latin typeface="Arial"/>
                <a:cs typeface="Arial"/>
              </a:rPr>
              <a:t>Sat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7814" y="3896359"/>
            <a:ext cx="2541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1100" algn="l"/>
              </a:tabLst>
            </a:pPr>
            <a:r>
              <a:rPr dirty="0" sz="1200" spc="-60" b="1">
                <a:solidFill>
                  <a:srgbClr val="404040"/>
                </a:solidFill>
                <a:latin typeface="Arial"/>
                <a:cs typeface="Arial"/>
              </a:rPr>
              <a:t>1</a:t>
            </a:r>
            <a:r>
              <a:rPr dirty="0" sz="1200" spc="-60" b="1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dirty="0" sz="1200" spc="-60" b="1">
                <a:solidFill>
                  <a:srgbClr val="404040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0312" y="3763771"/>
            <a:ext cx="45123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100"/>
              </a:spcBef>
              <a:buClr>
                <a:srgbClr val="99CA38"/>
              </a:buClr>
              <a:buFont typeface="Wingdings"/>
              <a:buChar char=""/>
              <a:tabLst>
                <a:tab pos="247650" algn="l"/>
                <a:tab pos="1143000" algn="l"/>
                <a:tab pos="3582035" algn="l"/>
              </a:tabLst>
            </a:pP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Bởi</a:t>
            </a:r>
            <a:r>
              <a:rPr dirty="0" sz="1800" spc="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vì</a:t>
            </a:r>
            <a:r>
              <a:rPr dirty="0" sz="1800" spc="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70" b="1">
                <a:solidFill>
                  <a:srgbClr val="404040"/>
                </a:solidFill>
                <a:latin typeface="Arial"/>
                <a:cs typeface="Arial"/>
              </a:rPr>
              <a:t>Q	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off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nên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đoạn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 </a:t>
            </a:r>
            <a:r>
              <a:rPr dirty="0" sz="1800" spc="-10">
                <a:solidFill>
                  <a:srgbClr val="404040"/>
                </a:solidFill>
                <a:latin typeface="Arial"/>
                <a:cs typeface="Arial"/>
              </a:rPr>
              <a:t>từ</a:t>
            </a:r>
            <a:r>
              <a:rPr dirty="0" sz="1800" spc="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210" b="1">
                <a:solidFill>
                  <a:srgbClr val="404040"/>
                </a:solidFill>
                <a:latin typeface="Arial"/>
                <a:cs typeface="Arial"/>
              </a:rPr>
              <a:t>A	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0V</a:t>
            </a:r>
            <a:r>
              <a:rPr dirty="0" sz="1800" spc="2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bị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0312" y="4010914"/>
            <a:ext cx="4514215" cy="193421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94945" marR="5080">
              <a:lnSpc>
                <a:spcPts val="1939"/>
              </a:lnSpc>
              <a:spcBef>
                <a:spcPts val="345"/>
              </a:spcBef>
            </a:pP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ngắt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đó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thế tại </a:t>
            </a:r>
            <a:r>
              <a:rPr dirty="0" sz="1800" spc="-5">
                <a:solidFill>
                  <a:srgbClr val="404040"/>
                </a:solidFill>
                <a:latin typeface="Arial"/>
                <a:cs typeface="Arial"/>
              </a:rPr>
              <a:t>nút </a:t>
            </a:r>
            <a:r>
              <a:rPr dirty="0" sz="1800" spc="-135" b="1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dirty="0" baseline="-20833" sz="1800" spc="-202" b="1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nối  </a:t>
            </a:r>
            <a:r>
              <a:rPr dirty="0" sz="1800" spc="-110" b="1">
                <a:solidFill>
                  <a:srgbClr val="404040"/>
                </a:solidFill>
                <a:latin typeface="Arial"/>
                <a:cs typeface="Arial"/>
              </a:rPr>
              <a:t>trực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1800" spc="-95" b="1">
                <a:solidFill>
                  <a:srgbClr val="404040"/>
                </a:solidFill>
                <a:latin typeface="Arial"/>
                <a:cs typeface="Arial"/>
              </a:rPr>
              <a:t>lên </a:t>
            </a:r>
            <a:r>
              <a:rPr dirty="0" sz="1800" spc="-160" b="1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bằng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95" b="1">
                <a:solidFill>
                  <a:srgbClr val="404040"/>
                </a:solidFill>
                <a:latin typeface="Arial"/>
                <a:cs typeface="Arial"/>
              </a:rPr>
              <a:t>6V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algn="just" marL="194945" marR="6350" indent="-182245">
              <a:lnSpc>
                <a:spcPts val="1939"/>
              </a:lnSpc>
              <a:spcBef>
                <a:spcPts val="610"/>
              </a:spcBef>
              <a:buClr>
                <a:srgbClr val="99CA38"/>
              </a:buClr>
              <a:buFont typeface="Wingdings"/>
              <a:buChar char=""/>
              <a:tabLst>
                <a:tab pos="247650" algn="l"/>
              </a:tabLst>
            </a:pP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vì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72" b="1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sat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nên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thế tại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295" b="1">
                <a:solidFill>
                  <a:srgbClr val="404040"/>
                </a:solidFill>
                <a:latin typeface="Arial"/>
                <a:cs typeface="Arial"/>
              </a:rPr>
              <a:t>B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của 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72" b="1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20" b="1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1800" spc="-140" b="1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dirty="0" sz="1800" spc="-80" b="1">
                <a:solidFill>
                  <a:srgbClr val="404040"/>
                </a:solidFill>
                <a:latin typeface="Arial"/>
                <a:cs typeface="Arial"/>
              </a:rPr>
              <a:t>0.7V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Do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đó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thế tại  </a:t>
            </a:r>
            <a:r>
              <a:rPr dirty="0" sz="1800" spc="-195" b="1">
                <a:solidFill>
                  <a:srgbClr val="404040"/>
                </a:solidFill>
                <a:latin typeface="Arial"/>
                <a:cs typeface="Arial"/>
              </a:rPr>
              <a:t>B1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cũng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10" b="1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1800" spc="-135" b="1">
                <a:solidFill>
                  <a:srgbClr val="404040"/>
                </a:solidFill>
                <a:latin typeface="Arial"/>
                <a:cs typeface="Arial"/>
              </a:rPr>
              <a:t>hơn</a:t>
            </a:r>
            <a:r>
              <a:rPr dirty="0" sz="1800" spc="-21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80" b="1">
                <a:solidFill>
                  <a:srgbClr val="404040"/>
                </a:solidFill>
                <a:latin typeface="Arial"/>
                <a:cs typeface="Arial"/>
              </a:rPr>
              <a:t>0.7V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algn="just" marL="194945" marR="7620" indent="-182245">
              <a:lnSpc>
                <a:spcPts val="1939"/>
              </a:lnSpc>
              <a:spcBef>
                <a:spcPts val="615"/>
              </a:spcBef>
              <a:buClr>
                <a:srgbClr val="99CA38"/>
              </a:buClr>
              <a:buFont typeface="Wingdings"/>
              <a:buChar char=""/>
              <a:tabLst>
                <a:tab pos="247650" algn="l"/>
              </a:tabLst>
            </a:pPr>
            <a:r>
              <a:rPr dirty="0" sz="1800" spc="-145">
                <a:solidFill>
                  <a:srgbClr val="404040"/>
                </a:solidFill>
                <a:latin typeface="Arial"/>
                <a:cs typeface="Arial"/>
              </a:rPr>
              <a:t>Lúc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này, </a:t>
            </a:r>
            <a:r>
              <a:rPr dirty="0" sz="1800" spc="20">
                <a:solidFill>
                  <a:srgbClr val="404040"/>
                </a:solidFill>
                <a:latin typeface="Arial"/>
                <a:cs typeface="Arial"/>
              </a:rPr>
              <a:t>tụ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25" b="1">
                <a:solidFill>
                  <a:srgbClr val="404040"/>
                </a:solidFill>
                <a:latin typeface="Arial"/>
                <a:cs typeface="Arial"/>
              </a:rPr>
              <a:t>C1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175" b="1">
                <a:solidFill>
                  <a:srgbClr val="404040"/>
                </a:solidFill>
                <a:latin typeface="Arial"/>
                <a:cs typeface="Arial"/>
              </a:rPr>
              <a:t>sạc</a:t>
            </a:r>
            <a:r>
              <a:rPr dirty="0" sz="1800" spc="-175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giữa </a:t>
            </a:r>
            <a:r>
              <a:rPr dirty="0" sz="1800" spc="-105" b="1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1800" spc="-135" b="1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dirty="0" baseline="-20833" sz="1800" spc="-202" b="1">
                <a:solidFill>
                  <a:srgbClr val="404040"/>
                </a:solidFill>
                <a:latin typeface="Arial"/>
                <a:cs typeface="Arial"/>
              </a:rPr>
              <a:t>1</a:t>
            </a:r>
            <a:r>
              <a:rPr dirty="0" sz="1800" spc="-135" b="1">
                <a:solidFill>
                  <a:srgbClr val="404040"/>
                </a:solidFill>
                <a:latin typeface="Arial"/>
                <a:cs typeface="Arial"/>
              </a:rPr>
              <a:t>B</a:t>
            </a:r>
            <a:r>
              <a:rPr dirty="0" baseline="-20833" sz="1800" spc="-202" b="1">
                <a:solidFill>
                  <a:srgbClr val="404040"/>
                </a:solidFill>
                <a:latin typeface="Arial"/>
                <a:cs typeface="Arial"/>
              </a:rPr>
              <a:t>1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dirty="0" baseline="-20833" sz="1800" spc="-195" b="1">
                <a:solidFill>
                  <a:srgbClr val="404040"/>
                </a:solidFill>
                <a:latin typeface="Arial"/>
                <a:cs typeface="Arial"/>
              </a:rPr>
              <a:t>A1B1 </a:t>
            </a:r>
            <a:r>
              <a:rPr dirty="0" sz="1800" spc="-105" b="1">
                <a:solidFill>
                  <a:srgbClr val="404040"/>
                </a:solidFill>
                <a:latin typeface="Arial"/>
                <a:cs typeface="Arial"/>
              </a:rPr>
              <a:t>#</a:t>
            </a:r>
            <a:r>
              <a:rPr dirty="0" sz="1800" spc="-7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95" b="1">
                <a:solidFill>
                  <a:srgbClr val="404040"/>
                </a:solidFill>
                <a:latin typeface="Arial"/>
                <a:cs typeface="Arial"/>
              </a:rPr>
              <a:t>6V-0.7V=5.3V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50279" y="2168651"/>
            <a:ext cx="3493008" cy="2827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290564" y="4127068"/>
            <a:ext cx="3740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o</a:t>
            </a:r>
            <a:r>
              <a:rPr dirty="0" sz="2400" spc="-60">
                <a:latin typeface="Times New Roman"/>
                <a:cs typeface="Times New Roman"/>
              </a:rPr>
              <a:t>f</a:t>
            </a:r>
            <a:r>
              <a:rPr dirty="0" sz="240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22638" y="4127068"/>
            <a:ext cx="4152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Sat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24040" y="3433698"/>
            <a:ext cx="304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6V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97879" y="2135123"/>
            <a:ext cx="466725" cy="368935"/>
          </a:xfrm>
          <a:custGeom>
            <a:avLst/>
            <a:gdLst/>
            <a:ahLst/>
            <a:cxnLst/>
            <a:rect l="l" t="t" r="r" b="b"/>
            <a:pathLst>
              <a:path w="466725" h="368935">
                <a:moveTo>
                  <a:pt x="0" y="368808"/>
                </a:moveTo>
                <a:lnTo>
                  <a:pt x="466344" y="368808"/>
                </a:lnTo>
                <a:lnTo>
                  <a:pt x="466344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979921" y="2161413"/>
            <a:ext cx="304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6V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59623" y="3289553"/>
            <a:ext cx="224154" cy="292100"/>
          </a:xfrm>
          <a:custGeom>
            <a:avLst/>
            <a:gdLst/>
            <a:ahLst/>
            <a:cxnLst/>
            <a:rect l="l" t="t" r="r" b="b"/>
            <a:pathLst>
              <a:path w="224154" h="292100">
                <a:moveTo>
                  <a:pt x="15748" y="208280"/>
                </a:moveTo>
                <a:lnTo>
                  <a:pt x="0" y="292100"/>
                </a:lnTo>
                <a:lnTo>
                  <a:pt x="76453" y="254381"/>
                </a:lnTo>
                <a:lnTo>
                  <a:pt x="64580" y="245363"/>
                </a:lnTo>
                <a:lnTo>
                  <a:pt x="43433" y="245363"/>
                </a:lnTo>
                <a:lnTo>
                  <a:pt x="33400" y="237617"/>
                </a:lnTo>
                <a:lnTo>
                  <a:pt x="41078" y="227515"/>
                </a:lnTo>
                <a:lnTo>
                  <a:pt x="15748" y="208280"/>
                </a:lnTo>
                <a:close/>
              </a:path>
              <a:path w="224154" h="292100">
                <a:moveTo>
                  <a:pt x="41078" y="227515"/>
                </a:moveTo>
                <a:lnTo>
                  <a:pt x="33400" y="237617"/>
                </a:lnTo>
                <a:lnTo>
                  <a:pt x="43433" y="245363"/>
                </a:lnTo>
                <a:lnTo>
                  <a:pt x="51173" y="235182"/>
                </a:lnTo>
                <a:lnTo>
                  <a:pt x="41078" y="227515"/>
                </a:lnTo>
                <a:close/>
              </a:path>
              <a:path w="224154" h="292100">
                <a:moveTo>
                  <a:pt x="51173" y="235182"/>
                </a:moveTo>
                <a:lnTo>
                  <a:pt x="43433" y="245363"/>
                </a:lnTo>
                <a:lnTo>
                  <a:pt x="64580" y="245363"/>
                </a:lnTo>
                <a:lnTo>
                  <a:pt x="51173" y="235182"/>
                </a:lnTo>
                <a:close/>
              </a:path>
              <a:path w="224154" h="292100">
                <a:moveTo>
                  <a:pt x="213995" y="0"/>
                </a:moveTo>
                <a:lnTo>
                  <a:pt x="41078" y="227515"/>
                </a:lnTo>
                <a:lnTo>
                  <a:pt x="51173" y="235182"/>
                </a:lnTo>
                <a:lnTo>
                  <a:pt x="224154" y="7620"/>
                </a:lnTo>
                <a:lnTo>
                  <a:pt x="213995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741157" y="3045028"/>
            <a:ext cx="715645" cy="53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05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&gt;0.7V</a:t>
            </a:r>
            <a:endParaRPr sz="1800">
              <a:latin typeface="Times New Roman"/>
              <a:cs typeface="Times New Roman"/>
            </a:endParaRPr>
          </a:p>
          <a:p>
            <a:pPr marL="121920">
              <a:lnSpc>
                <a:spcPts val="2005"/>
              </a:lnSpc>
            </a:pPr>
            <a:r>
              <a:rPr dirty="0" sz="1800">
                <a:latin typeface="Times New Roman"/>
                <a:cs typeface="Times New Roman"/>
              </a:rPr>
              <a:t>0.7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sz="1800">
                <a:latin typeface="Times New Roman"/>
                <a:cs typeface="Times New Roman"/>
              </a:rPr>
              <a:t>&gt;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53983" y="3569715"/>
            <a:ext cx="164211" cy="93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609715" y="3637026"/>
            <a:ext cx="172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56018" y="3752850"/>
            <a:ext cx="9334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5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04201" y="3785108"/>
            <a:ext cx="9334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5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88271" y="3439744"/>
            <a:ext cx="549275" cy="466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4455">
              <a:lnSpc>
                <a:spcPts val="1855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0.6V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614"/>
              </a:lnSpc>
            </a:pPr>
            <a:r>
              <a:rPr dirty="0" sz="1600" spc="-5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34576" y="3752850"/>
            <a:ext cx="9334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5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14435" y="3708349"/>
            <a:ext cx="2292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B</a:t>
            </a:r>
            <a:r>
              <a:rPr dirty="0" baseline="-21164" sz="1575" spc="15">
                <a:latin typeface="Times New Roman"/>
                <a:cs typeface="Times New Roman"/>
              </a:rPr>
              <a:t>2</a:t>
            </a:r>
            <a:endParaRPr baseline="-21164" sz="157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789419" y="3919702"/>
            <a:ext cx="896137" cy="2316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889242" y="3980688"/>
            <a:ext cx="743585" cy="78105"/>
          </a:xfrm>
          <a:custGeom>
            <a:avLst/>
            <a:gdLst/>
            <a:ahLst/>
            <a:cxnLst/>
            <a:rect l="l" t="t" r="r" b="b"/>
            <a:pathLst>
              <a:path w="743584" h="78104">
                <a:moveTo>
                  <a:pt x="77724" y="0"/>
                </a:moveTo>
                <a:lnTo>
                  <a:pt x="0" y="38862"/>
                </a:lnTo>
                <a:lnTo>
                  <a:pt x="77724" y="77724"/>
                </a:lnTo>
                <a:lnTo>
                  <a:pt x="77724" y="51816"/>
                </a:lnTo>
                <a:lnTo>
                  <a:pt x="64769" y="51816"/>
                </a:lnTo>
                <a:lnTo>
                  <a:pt x="64769" y="25907"/>
                </a:lnTo>
                <a:lnTo>
                  <a:pt x="77724" y="25907"/>
                </a:lnTo>
                <a:lnTo>
                  <a:pt x="77724" y="0"/>
                </a:lnTo>
                <a:close/>
              </a:path>
              <a:path w="743584" h="78104">
                <a:moveTo>
                  <a:pt x="77724" y="25907"/>
                </a:moveTo>
                <a:lnTo>
                  <a:pt x="64769" y="25907"/>
                </a:lnTo>
                <a:lnTo>
                  <a:pt x="64769" y="51816"/>
                </a:lnTo>
                <a:lnTo>
                  <a:pt x="77724" y="51816"/>
                </a:lnTo>
                <a:lnTo>
                  <a:pt x="77724" y="25907"/>
                </a:lnTo>
                <a:close/>
              </a:path>
              <a:path w="743584" h="78104">
                <a:moveTo>
                  <a:pt x="743203" y="25907"/>
                </a:moveTo>
                <a:lnTo>
                  <a:pt x="77724" y="25907"/>
                </a:lnTo>
                <a:lnTo>
                  <a:pt x="77724" y="51816"/>
                </a:lnTo>
                <a:lnTo>
                  <a:pt x="743203" y="51816"/>
                </a:lnTo>
                <a:lnTo>
                  <a:pt x="743203" y="25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230618" y="3556782"/>
            <a:ext cx="499109" cy="78295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80"/>
              </a:spcBef>
            </a:pPr>
            <a:r>
              <a:rPr dirty="0" sz="1600" spc="-5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  <a:p>
            <a:pPr algn="r" marR="26034">
              <a:lnSpc>
                <a:spcPct val="100000"/>
              </a:lnSpc>
              <a:spcBef>
                <a:spcPts val="1000"/>
              </a:spcBef>
            </a:pP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5.3V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541134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Mạch </a:t>
            </a:r>
            <a:r>
              <a:rPr dirty="0" spc="-265"/>
              <a:t>đa </a:t>
            </a:r>
            <a:r>
              <a:rPr dirty="0" spc="-235"/>
              <a:t>hài </a:t>
            </a:r>
            <a:r>
              <a:rPr dirty="0" spc="-285"/>
              <a:t>không </a:t>
            </a:r>
            <a:r>
              <a:rPr dirty="0" spc="-195"/>
              <a:t>ổn</a:t>
            </a:r>
            <a:r>
              <a:rPr dirty="0" spc="-780"/>
              <a:t> </a:t>
            </a:r>
            <a:r>
              <a:rPr dirty="0" spc="-145"/>
              <a:t>định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716145" cy="3697604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1367" sz="1950" spc="-202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đang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dirty="0" sz="2000" spc="-70" b="1">
                <a:solidFill>
                  <a:srgbClr val="404040"/>
                </a:solidFill>
                <a:latin typeface="Arial"/>
                <a:cs typeface="Arial"/>
              </a:rPr>
              <a:t>off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1367" sz="1950" spc="-202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đang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ở 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thái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75" b="1">
                <a:solidFill>
                  <a:srgbClr val="404040"/>
                </a:solidFill>
                <a:latin typeface="Arial"/>
                <a:cs typeface="Arial"/>
              </a:rPr>
              <a:t>Sat</a:t>
            </a:r>
            <a:endParaRPr sz="2000">
              <a:latin typeface="Arial"/>
              <a:cs typeface="Arial"/>
            </a:endParaRPr>
          </a:p>
          <a:p>
            <a:pPr algn="just" lvl="1" marL="396875" marR="5080" indent="-182880">
              <a:lnSpc>
                <a:spcPct val="9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vì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72" b="1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sat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thế tại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điểm </a:t>
            </a:r>
            <a:r>
              <a:rPr dirty="0" sz="1800" spc="-150" b="1">
                <a:solidFill>
                  <a:srgbClr val="404040"/>
                </a:solidFill>
                <a:latin typeface="Arial"/>
                <a:cs typeface="Arial"/>
              </a:rPr>
              <a:t>A2 </a:t>
            </a:r>
            <a:r>
              <a:rPr dirty="0" sz="1800" spc="-200" b="1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đất 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1800" spc="-95" b="1">
                <a:solidFill>
                  <a:srgbClr val="404040"/>
                </a:solidFill>
                <a:latin typeface="Arial"/>
                <a:cs typeface="Arial"/>
              </a:rPr>
              <a:t>0V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Lúc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1800" spc="20">
                <a:solidFill>
                  <a:srgbClr val="404040"/>
                </a:solidFill>
                <a:latin typeface="Arial"/>
                <a:cs typeface="Arial"/>
              </a:rPr>
              <a:t>tụ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25" b="1">
                <a:solidFill>
                  <a:srgbClr val="404040"/>
                </a:solidFill>
                <a:latin typeface="Arial"/>
                <a:cs typeface="Arial"/>
              </a:rPr>
              <a:t>C2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215" b="1">
                <a:solidFill>
                  <a:srgbClr val="404040"/>
                </a:solidFill>
                <a:latin typeface="Arial"/>
                <a:cs typeface="Arial"/>
              </a:rPr>
              <a:t>sạc  </a:t>
            </a:r>
            <a:r>
              <a:rPr dirty="0" sz="1800" spc="-125" b="1">
                <a:solidFill>
                  <a:srgbClr val="404040"/>
                </a:solidFill>
                <a:latin typeface="Arial"/>
                <a:cs typeface="Arial"/>
              </a:rPr>
              <a:t>thông qua </a:t>
            </a:r>
            <a:r>
              <a:rPr dirty="0" sz="1800" spc="-95" b="1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70" b="1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1800" spc="-150" b="1">
                <a:solidFill>
                  <a:srgbClr val="404040"/>
                </a:solidFill>
                <a:latin typeface="Arial"/>
                <a:cs typeface="Arial"/>
              </a:rPr>
              <a:t>R3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algn="just" lvl="1" marL="396875" marR="5080" indent="-182880">
              <a:lnSpc>
                <a:spcPct val="9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Ngay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1800" spc="20">
                <a:solidFill>
                  <a:srgbClr val="404040"/>
                </a:solidFill>
                <a:latin typeface="Arial"/>
                <a:cs typeface="Arial"/>
              </a:rPr>
              <a:t>tụ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25" b="1">
                <a:solidFill>
                  <a:srgbClr val="404040"/>
                </a:solidFill>
                <a:latin typeface="Arial"/>
                <a:cs typeface="Arial"/>
              </a:rPr>
              <a:t>C2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215" b="1">
                <a:solidFill>
                  <a:srgbClr val="404040"/>
                </a:solidFill>
                <a:latin typeface="Arial"/>
                <a:cs typeface="Arial"/>
              </a:rPr>
              <a:t>sạc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1800" spc="45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1800" spc="-80" b="1">
                <a:solidFill>
                  <a:srgbClr val="404040"/>
                </a:solidFill>
                <a:latin typeface="Arial"/>
                <a:cs typeface="Arial"/>
              </a:rPr>
              <a:t>0.7V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, 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lúc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thế tại </a:t>
            </a:r>
            <a:r>
              <a:rPr dirty="0" sz="1800" spc="-195" b="1">
                <a:solidFill>
                  <a:srgbClr val="404040"/>
                </a:solidFill>
                <a:latin typeface="Arial"/>
                <a:cs typeface="Arial"/>
              </a:rPr>
              <a:t>B2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1800" spc="-80" b="1">
                <a:solidFill>
                  <a:srgbClr val="404040"/>
                </a:solidFill>
                <a:latin typeface="Arial"/>
                <a:cs typeface="Arial"/>
              </a:rPr>
              <a:t>0.7V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72" b="1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1200" spc="-114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đang </a:t>
            </a:r>
            <a:r>
              <a:rPr dirty="0" sz="1800" spc="-140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off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55" b="1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135" b="1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1800" spc="-215" b="1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thành  </a:t>
            </a:r>
            <a:r>
              <a:rPr dirty="0" sz="1800" spc="-110" b="1">
                <a:solidFill>
                  <a:srgbClr val="404040"/>
                </a:solidFill>
                <a:latin typeface="Arial"/>
                <a:cs typeface="Arial"/>
              </a:rPr>
              <a:t>sat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Ngay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lúc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này,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điểm </a:t>
            </a:r>
            <a:r>
              <a:rPr dirty="0" sz="1800" spc="-150" b="1">
                <a:solidFill>
                  <a:srgbClr val="404040"/>
                </a:solidFill>
                <a:latin typeface="Arial"/>
                <a:cs typeface="Arial"/>
              </a:rPr>
              <a:t>A1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nối  </a:t>
            </a:r>
            <a:r>
              <a:rPr dirty="0" sz="1800" spc="-60" b="1">
                <a:solidFill>
                  <a:srgbClr val="404040"/>
                </a:solidFill>
                <a:latin typeface="Arial"/>
                <a:cs typeface="Arial"/>
              </a:rPr>
              <a:t>đất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125" b="1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0833" sz="1800" spc="-187" b="1">
                <a:solidFill>
                  <a:srgbClr val="404040"/>
                </a:solidFill>
                <a:latin typeface="Arial"/>
                <a:cs typeface="Arial"/>
              </a:rPr>
              <a:t>A1</a:t>
            </a:r>
            <a:r>
              <a:rPr dirty="0" sz="1800" spc="-125" b="1">
                <a:solidFill>
                  <a:srgbClr val="404040"/>
                </a:solidFill>
                <a:latin typeface="Arial"/>
                <a:cs typeface="Arial"/>
              </a:rPr>
              <a:t>=0V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. Trong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đó </a:t>
            </a: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dirty="0" baseline="-20833" sz="1800" spc="-195" b="1">
                <a:solidFill>
                  <a:srgbClr val="404040"/>
                </a:solidFill>
                <a:latin typeface="Arial"/>
                <a:cs typeface="Arial"/>
              </a:rPr>
              <a:t>A1B1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luôn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giữ 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1800" spc="-80" b="1">
                <a:solidFill>
                  <a:srgbClr val="404040"/>
                </a:solidFill>
                <a:latin typeface="Arial"/>
                <a:cs typeface="Arial"/>
              </a:rPr>
              <a:t>5.3V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do </a:t>
            </a:r>
            <a:r>
              <a:rPr dirty="0" sz="1800" spc="-140">
                <a:solidFill>
                  <a:srgbClr val="404040"/>
                </a:solidFill>
                <a:latin typeface="Arial"/>
                <a:cs typeface="Arial"/>
              </a:rPr>
              <a:t>vậy, </a:t>
            </a: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0833" sz="1800" spc="-195" b="1">
                <a:solidFill>
                  <a:srgbClr val="404040"/>
                </a:solidFill>
                <a:latin typeface="Arial"/>
                <a:cs typeface="Arial"/>
              </a:rPr>
              <a:t>B1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-</a:t>
            </a:r>
            <a:r>
              <a:rPr dirty="0" sz="1800" spc="-75" b="1">
                <a:solidFill>
                  <a:srgbClr val="404040"/>
                </a:solidFill>
                <a:latin typeface="Arial"/>
                <a:cs typeface="Arial"/>
              </a:rPr>
              <a:t>5.3V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Lúc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này 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1800" spc="-215" b="1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295" b="1">
                <a:solidFill>
                  <a:srgbClr val="404040"/>
                </a:solidFill>
                <a:latin typeface="Arial"/>
                <a:cs typeface="Arial"/>
              </a:rPr>
              <a:t>B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72" b="1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14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-</a:t>
            </a:r>
            <a:r>
              <a:rPr dirty="0" sz="1800" spc="-75" b="1">
                <a:solidFill>
                  <a:srgbClr val="404040"/>
                </a:solidFill>
                <a:latin typeface="Arial"/>
                <a:cs typeface="Arial"/>
              </a:rPr>
              <a:t>5.3V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, 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Q</a:t>
            </a:r>
            <a:r>
              <a:rPr dirty="0" baseline="-20833" sz="1800" spc="-172" b="1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đang </a:t>
            </a:r>
            <a:r>
              <a:rPr dirty="0" sz="1800" spc="-140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sat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chuyển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thành 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thái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off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50279" y="2168651"/>
            <a:ext cx="3493008" cy="2827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90564" y="4127068"/>
            <a:ext cx="3740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7E7E7E"/>
                </a:solidFill>
                <a:latin typeface="Times New Roman"/>
                <a:cs typeface="Times New Roman"/>
              </a:rPr>
              <a:t>o</a:t>
            </a:r>
            <a:r>
              <a:rPr dirty="0" sz="2400" spc="-60">
                <a:solidFill>
                  <a:srgbClr val="7E7E7E"/>
                </a:solidFill>
                <a:latin typeface="Times New Roman"/>
                <a:cs typeface="Times New Roman"/>
              </a:rPr>
              <a:t>f</a:t>
            </a:r>
            <a:r>
              <a:rPr dirty="0" sz="2400">
                <a:solidFill>
                  <a:srgbClr val="7E7E7E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22638" y="4127068"/>
            <a:ext cx="4152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7E7E7E"/>
                </a:solidFill>
                <a:latin typeface="Times New Roman"/>
                <a:cs typeface="Times New Roman"/>
              </a:rPr>
              <a:t>Sat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97879" y="2135123"/>
            <a:ext cx="466725" cy="368935"/>
          </a:xfrm>
          <a:custGeom>
            <a:avLst/>
            <a:gdLst/>
            <a:ahLst/>
            <a:cxnLst/>
            <a:rect l="l" t="t" r="r" b="b"/>
            <a:pathLst>
              <a:path w="466725" h="368935">
                <a:moveTo>
                  <a:pt x="0" y="368808"/>
                </a:moveTo>
                <a:lnTo>
                  <a:pt x="466344" y="368808"/>
                </a:lnTo>
                <a:lnTo>
                  <a:pt x="466344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979921" y="2161413"/>
            <a:ext cx="304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6V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59623" y="3289553"/>
            <a:ext cx="224154" cy="292100"/>
          </a:xfrm>
          <a:custGeom>
            <a:avLst/>
            <a:gdLst/>
            <a:ahLst/>
            <a:cxnLst/>
            <a:rect l="l" t="t" r="r" b="b"/>
            <a:pathLst>
              <a:path w="224154" h="292100">
                <a:moveTo>
                  <a:pt x="15748" y="208280"/>
                </a:moveTo>
                <a:lnTo>
                  <a:pt x="0" y="292100"/>
                </a:lnTo>
                <a:lnTo>
                  <a:pt x="76453" y="254381"/>
                </a:lnTo>
                <a:lnTo>
                  <a:pt x="64580" y="245363"/>
                </a:lnTo>
                <a:lnTo>
                  <a:pt x="43433" y="245363"/>
                </a:lnTo>
                <a:lnTo>
                  <a:pt x="33400" y="237617"/>
                </a:lnTo>
                <a:lnTo>
                  <a:pt x="41078" y="227515"/>
                </a:lnTo>
                <a:lnTo>
                  <a:pt x="15748" y="208280"/>
                </a:lnTo>
                <a:close/>
              </a:path>
              <a:path w="224154" h="292100">
                <a:moveTo>
                  <a:pt x="41078" y="227515"/>
                </a:moveTo>
                <a:lnTo>
                  <a:pt x="33400" y="237617"/>
                </a:lnTo>
                <a:lnTo>
                  <a:pt x="43433" y="245363"/>
                </a:lnTo>
                <a:lnTo>
                  <a:pt x="51173" y="235182"/>
                </a:lnTo>
                <a:lnTo>
                  <a:pt x="41078" y="227515"/>
                </a:lnTo>
                <a:close/>
              </a:path>
              <a:path w="224154" h="292100">
                <a:moveTo>
                  <a:pt x="51173" y="235182"/>
                </a:moveTo>
                <a:lnTo>
                  <a:pt x="43433" y="245363"/>
                </a:lnTo>
                <a:lnTo>
                  <a:pt x="64580" y="245363"/>
                </a:lnTo>
                <a:lnTo>
                  <a:pt x="51173" y="235182"/>
                </a:lnTo>
                <a:close/>
              </a:path>
              <a:path w="224154" h="292100">
                <a:moveTo>
                  <a:pt x="213995" y="0"/>
                </a:moveTo>
                <a:lnTo>
                  <a:pt x="41078" y="227515"/>
                </a:lnTo>
                <a:lnTo>
                  <a:pt x="51173" y="235182"/>
                </a:lnTo>
                <a:lnTo>
                  <a:pt x="224154" y="7620"/>
                </a:lnTo>
                <a:lnTo>
                  <a:pt x="213995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741157" y="3045028"/>
            <a:ext cx="715645" cy="53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05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&gt;0.7V</a:t>
            </a:r>
            <a:endParaRPr sz="1800">
              <a:latin typeface="Times New Roman"/>
              <a:cs typeface="Times New Roman"/>
            </a:endParaRPr>
          </a:p>
          <a:p>
            <a:pPr marL="121920">
              <a:lnSpc>
                <a:spcPts val="2005"/>
              </a:lnSpc>
            </a:pPr>
            <a:r>
              <a:rPr dirty="0" sz="1800">
                <a:latin typeface="Times New Roman"/>
                <a:cs typeface="Times New Roman"/>
              </a:rPr>
              <a:t>0.7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sz="1800">
                <a:latin typeface="Times New Roman"/>
                <a:cs typeface="Times New Roman"/>
              </a:rPr>
              <a:t>&gt;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53983" y="3569715"/>
            <a:ext cx="164211" cy="93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424040" y="3433698"/>
            <a:ext cx="425450" cy="472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88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6V</a:t>
            </a:r>
            <a:endParaRPr sz="1800">
              <a:latin typeface="Times New Roman"/>
              <a:cs typeface="Times New Roman"/>
            </a:endParaRPr>
          </a:p>
          <a:p>
            <a:pPr marL="198120">
              <a:lnSpc>
                <a:spcPts val="1639"/>
              </a:lnSpc>
            </a:pPr>
            <a:r>
              <a:rPr dirty="0" sz="1600" spc="-10">
                <a:latin typeface="Times New Roman"/>
                <a:cs typeface="Times New Roman"/>
              </a:rPr>
              <a:t>A</a:t>
            </a:r>
            <a:r>
              <a:rPr dirty="0" baseline="-21164" sz="1575" spc="7">
                <a:latin typeface="Times New Roman"/>
                <a:cs typeface="Times New Roman"/>
              </a:rPr>
              <a:t>1</a:t>
            </a:r>
            <a:endParaRPr baseline="-21164" sz="157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68565" y="3669284"/>
            <a:ext cx="2292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B</a:t>
            </a:r>
            <a:r>
              <a:rPr dirty="0" baseline="-21164" sz="1575" spc="7">
                <a:latin typeface="Times New Roman"/>
                <a:cs typeface="Times New Roman"/>
              </a:rPr>
              <a:t>1</a:t>
            </a:r>
            <a:endParaRPr baseline="-21164" sz="157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88271" y="3439744"/>
            <a:ext cx="464184" cy="466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0">
              <a:lnSpc>
                <a:spcPts val="1855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0V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614"/>
              </a:lnSpc>
            </a:pP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baseline="-21164" sz="1575">
                <a:latin typeface="Times New Roman"/>
                <a:cs typeface="Times New Roman"/>
              </a:rPr>
              <a:t>2</a:t>
            </a:r>
            <a:endParaRPr baseline="-21164" sz="157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14435" y="3708349"/>
            <a:ext cx="161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50071" y="3824173"/>
            <a:ext cx="9398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1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07252" y="3980688"/>
            <a:ext cx="162940" cy="2178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866003" y="3556761"/>
            <a:ext cx="415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Sat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1279" y="4469891"/>
            <a:ext cx="123825" cy="400050"/>
          </a:xfrm>
          <a:custGeom>
            <a:avLst/>
            <a:gdLst/>
            <a:ahLst/>
            <a:cxnLst/>
            <a:rect l="l" t="t" r="r" b="b"/>
            <a:pathLst>
              <a:path w="123825" h="400050">
                <a:moveTo>
                  <a:pt x="0" y="316483"/>
                </a:moveTo>
                <a:lnTo>
                  <a:pt x="18669" y="399668"/>
                </a:lnTo>
                <a:lnTo>
                  <a:pt x="69913" y="339470"/>
                </a:lnTo>
                <a:lnTo>
                  <a:pt x="40131" y="339470"/>
                </a:lnTo>
                <a:lnTo>
                  <a:pt x="27813" y="336422"/>
                </a:lnTo>
                <a:lnTo>
                  <a:pt x="30855" y="324118"/>
                </a:lnTo>
                <a:lnTo>
                  <a:pt x="0" y="316483"/>
                </a:lnTo>
                <a:close/>
              </a:path>
              <a:path w="123825" h="400050">
                <a:moveTo>
                  <a:pt x="30855" y="324118"/>
                </a:moveTo>
                <a:lnTo>
                  <a:pt x="27813" y="336422"/>
                </a:lnTo>
                <a:lnTo>
                  <a:pt x="40131" y="339470"/>
                </a:lnTo>
                <a:lnTo>
                  <a:pt x="43174" y="327166"/>
                </a:lnTo>
                <a:lnTo>
                  <a:pt x="30855" y="324118"/>
                </a:lnTo>
                <a:close/>
              </a:path>
              <a:path w="123825" h="400050">
                <a:moveTo>
                  <a:pt x="43174" y="327166"/>
                </a:moveTo>
                <a:lnTo>
                  <a:pt x="40131" y="339470"/>
                </a:lnTo>
                <a:lnTo>
                  <a:pt x="69913" y="339470"/>
                </a:lnTo>
                <a:lnTo>
                  <a:pt x="73914" y="334771"/>
                </a:lnTo>
                <a:lnTo>
                  <a:pt x="43174" y="327166"/>
                </a:lnTo>
                <a:close/>
              </a:path>
              <a:path w="123825" h="400050">
                <a:moveTo>
                  <a:pt x="110998" y="0"/>
                </a:moveTo>
                <a:lnTo>
                  <a:pt x="30855" y="324118"/>
                </a:lnTo>
                <a:lnTo>
                  <a:pt x="43174" y="327166"/>
                </a:lnTo>
                <a:lnTo>
                  <a:pt x="123317" y="3047"/>
                </a:lnTo>
                <a:lnTo>
                  <a:pt x="110998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302877" y="4821173"/>
            <a:ext cx="3740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o</a:t>
            </a:r>
            <a:r>
              <a:rPr dirty="0" sz="2400" spc="-60">
                <a:latin typeface="Times New Roman"/>
                <a:cs typeface="Times New Roman"/>
              </a:rPr>
              <a:t>f</a:t>
            </a:r>
            <a:r>
              <a:rPr dirty="0" sz="240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 h="0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541134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Mạch </a:t>
            </a:r>
            <a:r>
              <a:rPr dirty="0" spc="-265"/>
              <a:t>đa </a:t>
            </a:r>
            <a:r>
              <a:rPr dirty="0" spc="-235"/>
              <a:t>hài </a:t>
            </a:r>
            <a:r>
              <a:rPr dirty="0" spc="-285"/>
              <a:t>không </a:t>
            </a:r>
            <a:r>
              <a:rPr dirty="0" spc="-195"/>
              <a:t>ổn</a:t>
            </a:r>
            <a:r>
              <a:rPr dirty="0" spc="-780"/>
              <a:t> </a:t>
            </a:r>
            <a:r>
              <a:rPr dirty="0" spc="-145"/>
              <a:t>định</a:t>
            </a:r>
          </a:p>
        </p:txBody>
      </p:sp>
      <p:sp>
        <p:nvSpPr>
          <p:cNvPr id="6" name="object 6"/>
          <p:cNvSpPr/>
          <p:nvPr/>
        </p:nvSpPr>
        <p:spPr>
          <a:xfrm>
            <a:off x="2883407" y="2197607"/>
            <a:ext cx="3818764" cy="3781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503034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Mạch </a:t>
            </a:r>
            <a:r>
              <a:rPr dirty="0" spc="-285"/>
              <a:t>dao </a:t>
            </a:r>
            <a:r>
              <a:rPr dirty="0" spc="-245"/>
              <a:t>động</a:t>
            </a:r>
            <a:r>
              <a:rPr dirty="0" spc="-605"/>
              <a:t> </a:t>
            </a:r>
            <a:r>
              <a:rPr dirty="0" spc="-229"/>
              <a:t>(Oscillator)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409305" cy="195389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có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theo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chu kỳ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nhất 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mạch.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vào,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chỉ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cung 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hoạt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động.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3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chính:</a:t>
            </a:r>
            <a:endParaRPr sz="20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18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Feedback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oscillator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(mạch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hồi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tiếp)</a:t>
            </a:r>
            <a:endParaRPr sz="1800">
              <a:latin typeface="Arial"/>
              <a:cs typeface="Arial"/>
            </a:endParaRPr>
          </a:p>
          <a:p>
            <a:pPr lvl="1" marL="448309" indent="-23431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Relaxation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oscillator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(mạch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tích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thoát)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17420" y="4369308"/>
            <a:ext cx="5519928" cy="1586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503034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Mạch </a:t>
            </a:r>
            <a:r>
              <a:rPr dirty="0" spc="-285"/>
              <a:t>dao </a:t>
            </a:r>
            <a:r>
              <a:rPr dirty="0" spc="-245"/>
              <a:t>động</a:t>
            </a:r>
            <a:r>
              <a:rPr dirty="0" spc="-605"/>
              <a:t> </a:t>
            </a:r>
            <a:r>
              <a:rPr dirty="0" spc="-229"/>
              <a:t>(Oscillator)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407400" cy="105791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dựa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trên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nguyên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tắc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r>
              <a:rPr dirty="0" sz="2000" spc="-1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dương.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3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35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phần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trở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thành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vào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của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Op-Amp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65420" y="3481321"/>
            <a:ext cx="2718111" cy="27579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25230" y="3490402"/>
            <a:ext cx="2678189" cy="25446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503034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Mạch </a:t>
            </a:r>
            <a:r>
              <a:rPr dirty="0" spc="-285"/>
              <a:t>dao </a:t>
            </a:r>
            <a:r>
              <a:rPr dirty="0" spc="-245"/>
              <a:t>động</a:t>
            </a:r>
            <a:r>
              <a:rPr dirty="0" spc="-605"/>
              <a:t> </a:t>
            </a:r>
            <a:r>
              <a:rPr dirty="0" spc="-229"/>
              <a:t>(Oscillator)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8405495" cy="122936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35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điều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kiện để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feedback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Oscillator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là:</a:t>
            </a:r>
            <a:endParaRPr sz="2000">
              <a:latin typeface="Arial"/>
              <a:cs typeface="Arial"/>
            </a:endParaRPr>
          </a:p>
          <a:p>
            <a:pPr lvl="1" marL="396875" indent="-182880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40" b="1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105" b="1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110" b="1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sau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1800" spc="-110" b="1">
                <a:solidFill>
                  <a:srgbClr val="404040"/>
                </a:solidFill>
                <a:latin typeface="Arial"/>
                <a:cs typeface="Arial"/>
              </a:rPr>
              <a:t>phải </a:t>
            </a:r>
            <a:r>
              <a:rPr dirty="0" sz="1800" spc="-155" b="1">
                <a:solidFill>
                  <a:srgbClr val="404040"/>
                </a:solidFill>
                <a:latin typeface="Arial"/>
                <a:cs typeface="Arial"/>
              </a:rPr>
              <a:t>giữ nguyên</a:t>
            </a:r>
            <a:r>
              <a:rPr dirty="0" sz="1800" spc="-17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25" b="1">
                <a:solidFill>
                  <a:srgbClr val="404040"/>
                </a:solidFill>
                <a:latin typeface="Arial"/>
                <a:cs typeface="Arial"/>
              </a:rPr>
              <a:t>pha</a:t>
            </a:r>
            <a:endParaRPr sz="1800">
              <a:latin typeface="Arial"/>
              <a:cs typeface="Arial"/>
            </a:endParaRPr>
          </a:p>
          <a:p>
            <a:pPr lvl="1" marL="396875" marR="5080" indent="-182880">
              <a:lnSpc>
                <a:spcPts val="1950"/>
              </a:lnSpc>
              <a:spcBef>
                <a:spcPts val="62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1800" spc="-215" b="1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155" b="1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90" b="1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170" b="1">
                <a:solidFill>
                  <a:srgbClr val="404040"/>
                </a:solidFill>
                <a:latin typeface="Arial"/>
                <a:cs typeface="Arial"/>
              </a:rPr>
              <a:t>vòng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kín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bắt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buộc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phải </a:t>
            </a:r>
            <a:r>
              <a:rPr dirty="0" sz="1800" spc="-160" b="1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1800" spc="-90" b="1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ổn 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định.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65420" y="3481321"/>
            <a:ext cx="2718111" cy="27579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25230" y="3490402"/>
            <a:ext cx="2678189" cy="25446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503034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Mạch </a:t>
            </a:r>
            <a:r>
              <a:rPr dirty="0" spc="-285"/>
              <a:t>dao </a:t>
            </a:r>
            <a:r>
              <a:rPr dirty="0" spc="-245"/>
              <a:t>động</a:t>
            </a:r>
            <a:r>
              <a:rPr dirty="0" spc="-605"/>
              <a:t> </a:t>
            </a:r>
            <a:r>
              <a:rPr dirty="0" spc="-229"/>
              <a:t>(Oscillator)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52838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35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thức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6671" y="2574035"/>
            <a:ext cx="9162648" cy="2880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503034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Mạch </a:t>
            </a:r>
            <a:r>
              <a:rPr dirty="0" spc="-285"/>
              <a:t>dao </a:t>
            </a:r>
            <a:r>
              <a:rPr dirty="0" spc="-245"/>
              <a:t>động</a:t>
            </a:r>
            <a:r>
              <a:rPr dirty="0" spc="-605"/>
              <a:t> </a:t>
            </a:r>
            <a:r>
              <a:rPr dirty="0" spc="-229"/>
              <a:t>(Oscillator)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35658"/>
            <a:ext cx="8406130" cy="145224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40"/>
              </a:spcBef>
              <a:buClr>
                <a:srgbClr val="99CA38"/>
              </a:buClr>
              <a:buSzPct val="111111"/>
              <a:buFont typeface="Wingdings"/>
              <a:buChar char=""/>
              <a:tabLst>
                <a:tab pos="271145" algn="l"/>
              </a:tabLst>
            </a:pP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Điều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khởi động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hồi</a:t>
            </a:r>
            <a:r>
              <a:rPr dirty="0" sz="1800" spc="-1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tiếp:</a:t>
            </a:r>
            <a:endParaRPr sz="1800">
              <a:latin typeface="Arial"/>
              <a:cs typeface="Arial"/>
            </a:endParaRPr>
          </a:p>
          <a:p>
            <a:pPr lvl="1" marL="396875" marR="6350" indent="-182880">
              <a:lnSpc>
                <a:spcPts val="1939"/>
              </a:lnSpc>
              <a:spcBef>
                <a:spcPts val="484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18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nhỏ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khởi động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(thông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hiệu 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nhiễu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sinh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nhiệt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khởi động</a:t>
            </a:r>
            <a:r>
              <a:rPr dirty="0" sz="1800" spc="-3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mạch)</a:t>
            </a:r>
            <a:endParaRPr sz="1800">
              <a:latin typeface="Arial"/>
              <a:cs typeface="Arial"/>
            </a:endParaRPr>
          </a:p>
          <a:p>
            <a:pPr lvl="1" marL="396875" marR="5080" indent="-182880">
              <a:lnSpc>
                <a:spcPts val="1939"/>
              </a:lnSpc>
              <a:spcBef>
                <a:spcPts val="61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nhiễu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khởi động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tiến trình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hồi 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tiếp.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0312" y="5250307"/>
            <a:ext cx="8205470" cy="104203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algn="just" marL="194945" marR="5080" indent="-182245">
              <a:lnSpc>
                <a:spcPct val="90200"/>
              </a:lnSpc>
              <a:spcBef>
                <a:spcPts val="310"/>
              </a:spcBef>
              <a:buClr>
                <a:srgbClr val="99CA38"/>
              </a:buClr>
              <a:buFont typeface="Wingdings"/>
              <a:buChar char=""/>
              <a:tabLst>
                <a:tab pos="247650" algn="l"/>
              </a:tabLst>
            </a:pP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khoảng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thời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gian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đầu,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chưa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đạt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1800" spc="4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mong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muốn,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hệ 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vòng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kín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5">
                <a:solidFill>
                  <a:srgbClr val="404040"/>
                </a:solidFill>
                <a:latin typeface="Arial"/>
                <a:cs typeface="Arial"/>
              </a:rPr>
              <a:t>tinh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1800" spc="4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1.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đã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đạt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1800" spc="40">
                <a:solidFill>
                  <a:srgbClr val="404040"/>
                </a:solidFill>
                <a:latin typeface="Arial"/>
                <a:cs typeface="Arial"/>
              </a:rPr>
              <a:t>trị 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mong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muôn,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vòng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kín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lại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ổn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định.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37688" y="3378243"/>
            <a:ext cx="5023131" cy="17881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614934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290"/>
              <a:t>dao </a:t>
            </a:r>
            <a:r>
              <a:rPr dirty="0" spc="-250"/>
              <a:t>động </a:t>
            </a:r>
            <a:r>
              <a:rPr dirty="0" spc="-350"/>
              <a:t>cầu</a:t>
            </a:r>
            <a:r>
              <a:rPr dirty="0" spc="-640"/>
              <a:t> </a:t>
            </a:r>
            <a:r>
              <a:rPr dirty="0" spc="-235"/>
              <a:t>Wien  </a:t>
            </a:r>
            <a:r>
              <a:rPr dirty="0" spc="-265"/>
              <a:t>(Wien-Bridge</a:t>
            </a:r>
            <a:r>
              <a:rPr dirty="0" spc="-350"/>
              <a:t> </a:t>
            </a:r>
            <a:r>
              <a:rPr dirty="0" spc="-235"/>
              <a:t>Oscillator)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365125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533400" algn="l"/>
              </a:tabLst>
            </a:pPr>
            <a:r>
              <a:rPr dirty="0" spc="-80"/>
              <a:t>Mạch </a:t>
            </a:r>
            <a:r>
              <a:rPr dirty="0" spc="-95"/>
              <a:t>dao </a:t>
            </a:r>
            <a:r>
              <a:rPr dirty="0" spc="-80"/>
              <a:t>động </a:t>
            </a:r>
            <a:r>
              <a:rPr dirty="0" spc="-130"/>
              <a:t>cầu </a:t>
            </a:r>
            <a:r>
              <a:rPr dirty="0" spc="-70"/>
              <a:t>Wien </a:t>
            </a:r>
            <a:r>
              <a:rPr dirty="0" spc="-75"/>
              <a:t>là </a:t>
            </a:r>
            <a:r>
              <a:rPr dirty="0" spc="-5"/>
              <a:t>một </a:t>
            </a:r>
            <a:r>
              <a:rPr dirty="0" spc="-110"/>
              <a:t>mạch </a:t>
            </a:r>
            <a:r>
              <a:rPr dirty="0" spc="-95"/>
              <a:t>dao </a:t>
            </a:r>
            <a:r>
              <a:rPr dirty="0" spc="-80"/>
              <a:t>động </a:t>
            </a:r>
            <a:r>
              <a:rPr dirty="0" spc="-40"/>
              <a:t>hồi </a:t>
            </a:r>
            <a:r>
              <a:rPr dirty="0" spc="-20"/>
              <a:t>tiếp. </a:t>
            </a:r>
            <a:r>
              <a:rPr dirty="0" spc="-145"/>
              <a:t>Với </a:t>
            </a:r>
            <a:r>
              <a:rPr dirty="0" spc="-110"/>
              <a:t>mạch </a:t>
            </a:r>
            <a:r>
              <a:rPr dirty="0" spc="-40"/>
              <a:t>hồi </a:t>
            </a:r>
            <a:r>
              <a:rPr dirty="0" spc="-15"/>
              <a:t>tiếp  </a:t>
            </a:r>
            <a:r>
              <a:rPr dirty="0" spc="-110"/>
              <a:t>được</a:t>
            </a:r>
            <a:r>
              <a:rPr dirty="0" spc="-125"/>
              <a:t> </a:t>
            </a:r>
            <a:r>
              <a:rPr dirty="0" spc="10"/>
              <a:t>thiết</a:t>
            </a:r>
            <a:r>
              <a:rPr dirty="0" spc="-100"/>
              <a:t> </a:t>
            </a:r>
            <a:r>
              <a:rPr dirty="0" spc="-135"/>
              <a:t>kế</a:t>
            </a:r>
            <a:r>
              <a:rPr dirty="0" spc="-105"/>
              <a:t> </a:t>
            </a:r>
            <a:r>
              <a:rPr dirty="0" spc="-10"/>
              <a:t>từ</a:t>
            </a:r>
            <a:r>
              <a:rPr dirty="0" spc="-110"/>
              <a:t> </a:t>
            </a:r>
            <a:r>
              <a:rPr dirty="0" spc="-160"/>
              <a:t>các</a:t>
            </a:r>
            <a:r>
              <a:rPr dirty="0" spc="-105"/>
              <a:t> </a:t>
            </a:r>
            <a:r>
              <a:rPr dirty="0" spc="-30"/>
              <a:t>linh</a:t>
            </a:r>
            <a:r>
              <a:rPr dirty="0" spc="-105"/>
              <a:t> </a:t>
            </a:r>
            <a:r>
              <a:rPr dirty="0" spc="-65"/>
              <a:t>kiện</a:t>
            </a:r>
            <a:r>
              <a:rPr dirty="0" spc="-100"/>
              <a:t> </a:t>
            </a:r>
            <a:r>
              <a:rPr dirty="0" spc="-45"/>
              <a:t>điện</a:t>
            </a:r>
            <a:r>
              <a:rPr dirty="0" spc="-100"/>
              <a:t> </a:t>
            </a:r>
            <a:r>
              <a:rPr dirty="0" spc="-15"/>
              <a:t>trở</a:t>
            </a:r>
            <a:r>
              <a:rPr dirty="0" spc="-95"/>
              <a:t> </a:t>
            </a:r>
            <a:r>
              <a:rPr dirty="0" spc="-140"/>
              <a:t>và</a:t>
            </a:r>
            <a:r>
              <a:rPr dirty="0" spc="-114"/>
              <a:t> </a:t>
            </a:r>
            <a:r>
              <a:rPr dirty="0" spc="25"/>
              <a:t>tụ</a:t>
            </a:r>
            <a:r>
              <a:rPr dirty="0" spc="-110"/>
              <a:t> </a:t>
            </a:r>
            <a:r>
              <a:rPr dirty="0" spc="-50"/>
              <a:t>điện.</a:t>
            </a:r>
          </a:p>
          <a:p>
            <a:pPr marL="365125" indent="-91440">
              <a:lnSpc>
                <a:spcPts val="2280"/>
              </a:lnSpc>
              <a:spcBef>
                <a:spcPts val="1130"/>
              </a:spcBef>
              <a:buClr>
                <a:srgbClr val="99CA38"/>
              </a:buClr>
              <a:buFont typeface="Wingdings"/>
              <a:buChar char=""/>
              <a:tabLst>
                <a:tab pos="533400" algn="l"/>
              </a:tabLst>
            </a:pPr>
            <a:r>
              <a:rPr dirty="0" spc="-80"/>
              <a:t>Mạch </a:t>
            </a:r>
            <a:r>
              <a:rPr dirty="0" spc="-95"/>
              <a:t>dao </a:t>
            </a:r>
            <a:r>
              <a:rPr dirty="0" spc="-85"/>
              <a:t>động </a:t>
            </a:r>
            <a:r>
              <a:rPr dirty="0" spc="-130"/>
              <a:t>cầu </a:t>
            </a:r>
            <a:r>
              <a:rPr dirty="0" spc="-70"/>
              <a:t>Wien </a:t>
            </a:r>
            <a:r>
              <a:rPr dirty="0" spc="-80"/>
              <a:t>thường </a:t>
            </a:r>
            <a:r>
              <a:rPr dirty="0" spc="-185"/>
              <a:t>sử </a:t>
            </a:r>
            <a:r>
              <a:rPr dirty="0" spc="-95"/>
              <a:t>dụng </a:t>
            </a:r>
            <a:r>
              <a:rPr dirty="0" spc="-40"/>
              <a:t>trong </a:t>
            </a:r>
            <a:r>
              <a:rPr dirty="0" spc="-155"/>
              <a:t>các </a:t>
            </a:r>
            <a:r>
              <a:rPr dirty="0" spc="-125"/>
              <a:t>máy </a:t>
            </a:r>
            <a:r>
              <a:rPr dirty="0" spc="-50"/>
              <a:t>phát </a:t>
            </a:r>
            <a:r>
              <a:rPr dirty="0" spc="-15"/>
              <a:t>tín </a:t>
            </a:r>
            <a:r>
              <a:rPr dirty="0" spc="-60"/>
              <a:t>hiệu </a:t>
            </a:r>
            <a:r>
              <a:rPr dirty="0" spc="-75"/>
              <a:t>hình</a:t>
            </a:r>
            <a:r>
              <a:rPr dirty="0" spc="5"/>
              <a:t> </a:t>
            </a:r>
            <a:r>
              <a:rPr dirty="0" spc="-95"/>
              <a:t>sin</a:t>
            </a:r>
          </a:p>
          <a:p>
            <a:pPr marL="365125">
              <a:lnSpc>
                <a:spcPts val="2280"/>
              </a:lnSpc>
            </a:pPr>
            <a:r>
              <a:rPr dirty="0" spc="-155"/>
              <a:t>ở </a:t>
            </a:r>
            <a:r>
              <a:rPr dirty="0" spc="-45"/>
              <a:t>tần </a:t>
            </a:r>
            <a:r>
              <a:rPr dirty="0" spc="-140"/>
              <a:t>số </a:t>
            </a:r>
            <a:r>
              <a:rPr dirty="0" spc="-40"/>
              <a:t>thấp </a:t>
            </a:r>
            <a:r>
              <a:rPr dirty="0" spc="-80"/>
              <a:t>(dưới</a:t>
            </a:r>
            <a:r>
              <a:rPr dirty="0" spc="-160"/>
              <a:t> </a:t>
            </a:r>
            <a:r>
              <a:rPr dirty="0" spc="-95"/>
              <a:t>1MHz).</a:t>
            </a:r>
          </a:p>
          <a:p>
            <a:pPr marL="365125" indent="-91440">
              <a:lnSpc>
                <a:spcPts val="228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533400" algn="l"/>
              </a:tabLst>
            </a:pPr>
            <a:r>
              <a:rPr dirty="0" spc="-80"/>
              <a:t>Mạch </a:t>
            </a:r>
            <a:r>
              <a:rPr dirty="0" spc="-40"/>
              <a:t>hồi </a:t>
            </a:r>
            <a:r>
              <a:rPr dirty="0" spc="-15"/>
              <a:t>tiếp </a:t>
            </a:r>
            <a:r>
              <a:rPr dirty="0" spc="-375"/>
              <a:t>RC </a:t>
            </a:r>
            <a:r>
              <a:rPr dirty="0" spc="-85"/>
              <a:t>bên dưới </a:t>
            </a:r>
            <a:r>
              <a:rPr dirty="0" spc="-100"/>
              <a:t>còn </a:t>
            </a:r>
            <a:r>
              <a:rPr dirty="0" spc="-110"/>
              <a:t>có </a:t>
            </a:r>
            <a:r>
              <a:rPr dirty="0" spc="-30"/>
              <a:t>tên </a:t>
            </a:r>
            <a:r>
              <a:rPr dirty="0" spc="-75"/>
              <a:t>gọi là </a:t>
            </a:r>
            <a:r>
              <a:rPr dirty="0" spc="-110"/>
              <a:t>mạch </a:t>
            </a:r>
            <a:r>
              <a:rPr dirty="0" spc="-150"/>
              <a:t>Lead-Lag. </a:t>
            </a:r>
            <a:r>
              <a:rPr dirty="0" spc="-80"/>
              <a:t>Mạch </a:t>
            </a:r>
            <a:r>
              <a:rPr dirty="0" spc="-120"/>
              <a:t>này</a:t>
            </a:r>
            <a:r>
              <a:rPr dirty="0" spc="-90"/>
              <a:t> hệ </a:t>
            </a:r>
            <a:r>
              <a:rPr dirty="0" spc="-145"/>
              <a:t>số</a:t>
            </a:r>
          </a:p>
          <a:p>
            <a:pPr marL="365125">
              <a:lnSpc>
                <a:spcPts val="2280"/>
              </a:lnSpc>
            </a:pPr>
            <a:r>
              <a:rPr dirty="0" spc="-130"/>
              <a:t>suy </a:t>
            </a:r>
            <a:r>
              <a:rPr dirty="0" spc="-95"/>
              <a:t>hao </a:t>
            </a:r>
            <a:r>
              <a:rPr dirty="0" spc="-75"/>
              <a:t>là </a:t>
            </a:r>
            <a:r>
              <a:rPr dirty="0" spc="10"/>
              <a:t>1/3 </a:t>
            </a:r>
            <a:r>
              <a:rPr dirty="0" spc="-140"/>
              <a:t>và </a:t>
            </a:r>
            <a:r>
              <a:rPr dirty="0" spc="-35"/>
              <a:t>độ </a:t>
            </a:r>
            <a:r>
              <a:rPr dirty="0" spc="-80"/>
              <a:t>lệch </a:t>
            </a:r>
            <a:r>
              <a:rPr dirty="0" spc="-95"/>
              <a:t>pha </a:t>
            </a:r>
            <a:r>
              <a:rPr dirty="0" spc="-114"/>
              <a:t>bằng </a:t>
            </a:r>
            <a:r>
              <a:rPr dirty="0" spc="-100"/>
              <a:t>0 </a:t>
            </a:r>
            <a:r>
              <a:rPr dirty="0" spc="-20"/>
              <a:t>tại </a:t>
            </a:r>
            <a:r>
              <a:rPr dirty="0" spc="-45"/>
              <a:t>tần</a:t>
            </a:r>
            <a:r>
              <a:rPr dirty="0" spc="-370"/>
              <a:t> </a:t>
            </a:r>
            <a:r>
              <a:rPr dirty="0" spc="-140"/>
              <a:t>số </a:t>
            </a:r>
            <a:r>
              <a:rPr dirty="0" spc="-114"/>
              <a:t>cộng hưởng </a:t>
            </a:r>
            <a:r>
              <a:rPr dirty="0" spc="40"/>
              <a:t>f</a:t>
            </a:r>
            <a:r>
              <a:rPr dirty="0" baseline="-21367" sz="1950" spc="60"/>
              <a:t>r </a:t>
            </a:r>
            <a:r>
              <a:rPr dirty="0" sz="2000" spc="-125"/>
              <a:t>của </a:t>
            </a:r>
            <a:r>
              <a:rPr dirty="0" sz="2000" spc="-100"/>
              <a:t>mạch.</a:t>
            </a:r>
            <a:endParaRPr sz="2000"/>
          </a:p>
        </p:txBody>
      </p:sp>
      <p:sp>
        <p:nvSpPr>
          <p:cNvPr id="4" name="object 4"/>
          <p:cNvSpPr/>
          <p:nvPr/>
        </p:nvSpPr>
        <p:spPr>
          <a:xfrm>
            <a:off x="764896" y="4264073"/>
            <a:ext cx="3547183" cy="18848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78552" y="4345309"/>
            <a:ext cx="3611549" cy="1964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614934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290"/>
              <a:t>dao </a:t>
            </a:r>
            <a:r>
              <a:rPr dirty="0" spc="-250"/>
              <a:t>động </a:t>
            </a:r>
            <a:r>
              <a:rPr dirty="0" spc="-350"/>
              <a:t>cầu</a:t>
            </a:r>
            <a:r>
              <a:rPr dirty="0" spc="-640"/>
              <a:t> </a:t>
            </a:r>
            <a:r>
              <a:rPr dirty="0" spc="-235"/>
              <a:t>Wien  </a:t>
            </a:r>
            <a:r>
              <a:rPr dirty="0" spc="-265"/>
              <a:t>(Wien-Bridge</a:t>
            </a:r>
            <a:r>
              <a:rPr dirty="0" spc="-350"/>
              <a:t> </a:t>
            </a:r>
            <a:r>
              <a:rPr dirty="0" spc="-235"/>
              <a:t>Oscillator)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409940" cy="160718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04139" marR="635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cầu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Wien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lead-lag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lựa chọn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cần 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đại.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cũng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chính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2000" spc="-3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ra.</a:t>
            </a:r>
            <a:endParaRPr sz="2000">
              <a:latin typeface="Arial"/>
              <a:cs typeface="Arial"/>
            </a:endParaRPr>
          </a:p>
          <a:p>
            <a:pPr algn="just" marL="104139" marR="5080" indent="-91440">
              <a:lnSpc>
                <a:spcPts val="2160"/>
              </a:lnSpc>
              <a:spcBef>
                <a:spcPts val="140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cầu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Wien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còn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cầu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5">
                <a:solidFill>
                  <a:srgbClr val="404040"/>
                </a:solidFill>
                <a:latin typeface="Arial"/>
                <a:cs typeface="Arial"/>
              </a:rPr>
              <a:t>thiết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lập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85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Op-Amp.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chọn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3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đảm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bảo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hệ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vòng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kín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toàn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mạch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1.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2256" y="3976635"/>
            <a:ext cx="550545" cy="975994"/>
          </a:xfrm>
          <a:custGeom>
            <a:avLst/>
            <a:gdLst/>
            <a:ahLst/>
            <a:cxnLst/>
            <a:rect l="l" t="t" r="r" b="b"/>
            <a:pathLst>
              <a:path w="550545" h="975995">
                <a:moveTo>
                  <a:pt x="0" y="975697"/>
                </a:moveTo>
                <a:lnTo>
                  <a:pt x="549969" y="975697"/>
                </a:lnTo>
                <a:lnTo>
                  <a:pt x="549969" y="0"/>
                </a:lnTo>
                <a:lnTo>
                  <a:pt x="0" y="0"/>
                </a:lnTo>
                <a:lnTo>
                  <a:pt x="0" y="975697"/>
                </a:lnTo>
                <a:close/>
              </a:path>
            </a:pathLst>
          </a:custGeom>
          <a:solidFill>
            <a:srgbClr val="AADB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80880" y="5268182"/>
            <a:ext cx="1470660" cy="866140"/>
          </a:xfrm>
          <a:custGeom>
            <a:avLst/>
            <a:gdLst/>
            <a:ahLst/>
            <a:cxnLst/>
            <a:rect l="l" t="t" r="r" b="b"/>
            <a:pathLst>
              <a:path w="1470659" h="866139">
                <a:moveTo>
                  <a:pt x="0" y="865994"/>
                </a:moveTo>
                <a:lnTo>
                  <a:pt x="1470600" y="865994"/>
                </a:lnTo>
                <a:lnTo>
                  <a:pt x="1470600" y="0"/>
                </a:lnTo>
                <a:lnTo>
                  <a:pt x="0" y="0"/>
                </a:lnTo>
                <a:lnTo>
                  <a:pt x="0" y="865994"/>
                </a:lnTo>
                <a:close/>
              </a:path>
            </a:pathLst>
          </a:custGeom>
          <a:solidFill>
            <a:srgbClr val="AADB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99188" y="5460673"/>
            <a:ext cx="0" cy="357505"/>
          </a:xfrm>
          <a:custGeom>
            <a:avLst/>
            <a:gdLst/>
            <a:ahLst/>
            <a:cxnLst/>
            <a:rect l="l" t="t" r="r" b="b"/>
            <a:pathLst>
              <a:path w="0" h="357504">
                <a:moveTo>
                  <a:pt x="0" y="0"/>
                </a:moveTo>
                <a:lnTo>
                  <a:pt x="0" y="357238"/>
                </a:lnTo>
              </a:path>
            </a:pathLst>
          </a:custGeom>
          <a:ln w="13668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99188" y="5872965"/>
            <a:ext cx="0" cy="316230"/>
          </a:xfrm>
          <a:custGeom>
            <a:avLst/>
            <a:gdLst/>
            <a:ahLst/>
            <a:cxnLst/>
            <a:rect l="l" t="t" r="r" b="b"/>
            <a:pathLst>
              <a:path w="0" h="316229">
                <a:moveTo>
                  <a:pt x="0" y="0"/>
                </a:moveTo>
                <a:lnTo>
                  <a:pt x="0" y="315857"/>
                </a:lnTo>
              </a:path>
            </a:pathLst>
          </a:custGeom>
          <a:ln w="13668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448500" y="3633081"/>
            <a:ext cx="2172335" cy="1828164"/>
          </a:xfrm>
          <a:custGeom>
            <a:avLst/>
            <a:gdLst/>
            <a:ahLst/>
            <a:cxnLst/>
            <a:rect l="l" t="t" r="r" b="b"/>
            <a:pathLst>
              <a:path w="2172334" h="1828164">
                <a:moveTo>
                  <a:pt x="755792" y="1827592"/>
                </a:moveTo>
                <a:lnTo>
                  <a:pt x="2171781" y="1827592"/>
                </a:lnTo>
                <a:lnTo>
                  <a:pt x="2171781" y="0"/>
                </a:lnTo>
                <a:lnTo>
                  <a:pt x="0" y="0"/>
                </a:lnTo>
                <a:lnTo>
                  <a:pt x="0" y="1443022"/>
                </a:lnTo>
              </a:path>
            </a:pathLst>
          </a:custGeom>
          <a:ln w="13665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875208" y="4626178"/>
            <a:ext cx="22860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13227" sz="1575" spc="-15" i="1">
                <a:solidFill>
                  <a:srgbClr val="0082C5"/>
                </a:solidFill>
                <a:latin typeface="Times New Roman"/>
                <a:cs typeface="Times New Roman"/>
              </a:rPr>
              <a:t>V</a:t>
            </a:r>
            <a:r>
              <a:rPr dirty="0" sz="750" spc="50" i="1">
                <a:solidFill>
                  <a:srgbClr val="0082C5"/>
                </a:solidFill>
                <a:latin typeface="Times New Roman"/>
                <a:cs typeface="Times New Roman"/>
              </a:rPr>
              <a:t>o</a:t>
            </a:r>
            <a:r>
              <a:rPr dirty="0" sz="750" spc="-60" i="1">
                <a:solidFill>
                  <a:srgbClr val="0082C5"/>
                </a:solidFill>
                <a:latin typeface="Times New Roman"/>
                <a:cs typeface="Times New Roman"/>
              </a:rPr>
              <a:t>u</a:t>
            </a:r>
            <a:r>
              <a:rPr dirty="0" sz="750" i="1">
                <a:solidFill>
                  <a:srgbClr val="0082C5"/>
                </a:solidFill>
                <a:latin typeface="Times New Roman"/>
                <a:cs typeface="Times New Roman"/>
              </a:rPr>
              <a:t>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25351" y="4718843"/>
            <a:ext cx="701040" cy="0"/>
          </a:xfrm>
          <a:custGeom>
            <a:avLst/>
            <a:gdLst/>
            <a:ahLst/>
            <a:cxnLst/>
            <a:rect l="l" t="t" r="r" b="b"/>
            <a:pathLst>
              <a:path w="701040" h="0">
                <a:moveTo>
                  <a:pt x="700670" y="0"/>
                </a:moveTo>
                <a:lnTo>
                  <a:pt x="0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204292" y="4965988"/>
            <a:ext cx="288925" cy="1223010"/>
          </a:xfrm>
          <a:custGeom>
            <a:avLst/>
            <a:gdLst/>
            <a:ahLst/>
            <a:cxnLst/>
            <a:rect l="l" t="t" r="r" b="b"/>
            <a:pathLst>
              <a:path w="288925" h="1223010">
                <a:moveTo>
                  <a:pt x="288662" y="0"/>
                </a:moveTo>
                <a:lnTo>
                  <a:pt x="0" y="0"/>
                </a:lnTo>
                <a:lnTo>
                  <a:pt x="0" y="1222834"/>
                </a:lnTo>
              </a:path>
            </a:pathLst>
          </a:custGeom>
          <a:ln w="13668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48500" y="4457665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 h="0">
                <a:moveTo>
                  <a:pt x="0" y="0"/>
                </a:moveTo>
                <a:lnTo>
                  <a:pt x="1044454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424204" y="4320289"/>
            <a:ext cx="701675" cy="796925"/>
          </a:xfrm>
          <a:custGeom>
            <a:avLst/>
            <a:gdLst/>
            <a:ahLst/>
            <a:cxnLst/>
            <a:rect l="l" t="t" r="r" b="b"/>
            <a:pathLst>
              <a:path w="701675" h="796925">
                <a:moveTo>
                  <a:pt x="0" y="0"/>
                </a:moveTo>
                <a:lnTo>
                  <a:pt x="0" y="796796"/>
                </a:lnTo>
                <a:lnTo>
                  <a:pt x="701147" y="398554"/>
                </a:lnTo>
                <a:lnTo>
                  <a:pt x="0" y="0"/>
                </a:lnTo>
                <a:close/>
              </a:path>
            </a:pathLst>
          </a:custGeom>
          <a:solidFill>
            <a:srgbClr val="EBE9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24204" y="4320289"/>
            <a:ext cx="701675" cy="796925"/>
          </a:xfrm>
          <a:custGeom>
            <a:avLst/>
            <a:gdLst/>
            <a:ahLst/>
            <a:cxnLst/>
            <a:rect l="l" t="t" r="r" b="b"/>
            <a:pathLst>
              <a:path w="701675" h="796925">
                <a:moveTo>
                  <a:pt x="0" y="796796"/>
                </a:moveTo>
                <a:lnTo>
                  <a:pt x="701147" y="398554"/>
                </a:lnTo>
                <a:lnTo>
                  <a:pt x="0" y="0"/>
                </a:lnTo>
                <a:lnTo>
                  <a:pt x="0" y="796796"/>
                </a:lnTo>
                <a:close/>
              </a:path>
            </a:pathLst>
          </a:custGeom>
          <a:ln w="13666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452915" y="4348826"/>
            <a:ext cx="9461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15">
                <a:solidFill>
                  <a:srgbClr val="23201D"/>
                </a:solidFill>
                <a:latin typeface="Times New Roman"/>
                <a:cs typeface="Times New Roman"/>
              </a:rPr>
              <a:t>–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52915" y="4843577"/>
            <a:ext cx="10350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15">
                <a:solidFill>
                  <a:srgbClr val="23201D"/>
                </a:solidFill>
                <a:latin typeface="Times New Roman"/>
                <a:cs typeface="Times New Roman"/>
              </a:rPr>
              <a:t>+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91866" y="4684288"/>
            <a:ext cx="68804" cy="68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585631" y="4684288"/>
            <a:ext cx="68804" cy="687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62786" y="5453843"/>
            <a:ext cx="220345" cy="0"/>
          </a:xfrm>
          <a:custGeom>
            <a:avLst/>
            <a:gdLst/>
            <a:ahLst/>
            <a:cxnLst/>
            <a:rect l="l" t="t" r="r" b="b"/>
            <a:pathLst>
              <a:path w="220345" h="0">
                <a:moveTo>
                  <a:pt x="0" y="0"/>
                </a:moveTo>
                <a:lnTo>
                  <a:pt x="219912" y="0"/>
                </a:lnTo>
              </a:path>
            </a:pathLst>
          </a:custGeom>
          <a:ln w="68314">
            <a:solidFill>
              <a:srgbClr val="AADB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248795" y="5405608"/>
            <a:ext cx="247650" cy="110489"/>
          </a:xfrm>
          <a:custGeom>
            <a:avLst/>
            <a:gdLst/>
            <a:ahLst/>
            <a:cxnLst/>
            <a:rect l="l" t="t" r="r" b="b"/>
            <a:pathLst>
              <a:path w="247650" h="110489">
                <a:moveTo>
                  <a:pt x="0" y="55065"/>
                </a:moveTo>
                <a:lnTo>
                  <a:pt x="27651" y="0"/>
                </a:lnTo>
                <a:lnTo>
                  <a:pt x="68635" y="110114"/>
                </a:lnTo>
                <a:lnTo>
                  <a:pt x="110112" y="0"/>
                </a:lnTo>
                <a:lnTo>
                  <a:pt x="137434" y="110114"/>
                </a:lnTo>
                <a:lnTo>
                  <a:pt x="178912" y="0"/>
                </a:lnTo>
                <a:lnTo>
                  <a:pt x="219895" y="110114"/>
                </a:lnTo>
                <a:lnTo>
                  <a:pt x="247547" y="55065"/>
                </a:lnTo>
              </a:path>
            </a:pathLst>
          </a:custGeom>
          <a:ln w="13663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299628" y="5500201"/>
            <a:ext cx="14795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65" i="1">
                <a:solidFill>
                  <a:srgbClr val="23201D"/>
                </a:solidFill>
                <a:latin typeface="Times New Roman"/>
                <a:cs typeface="Times New Roman"/>
              </a:rPr>
              <a:t>R</a:t>
            </a:r>
            <a:r>
              <a:rPr dirty="0" baseline="-18518" sz="1125">
                <a:solidFill>
                  <a:srgbClr val="23201D"/>
                </a:solidFill>
                <a:latin typeface="Times New Roman"/>
                <a:cs typeface="Times New Roman"/>
              </a:rPr>
              <a:t>4</a:t>
            </a:r>
            <a:endParaRPr baseline="-18518" sz="112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70120" y="5426513"/>
            <a:ext cx="82415" cy="683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156458" y="5715034"/>
            <a:ext cx="123417" cy="2471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323052" y="5714803"/>
            <a:ext cx="14859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60" i="1">
                <a:solidFill>
                  <a:srgbClr val="23201D"/>
                </a:solidFill>
                <a:latin typeface="Times New Roman"/>
                <a:cs typeface="Times New Roman"/>
              </a:rPr>
              <a:t>R</a:t>
            </a:r>
            <a:r>
              <a:rPr dirty="0" baseline="-22222" sz="1125">
                <a:solidFill>
                  <a:srgbClr val="23201D"/>
                </a:solidFill>
                <a:latin typeface="Times New Roman"/>
                <a:cs typeface="Times New Roman"/>
              </a:rPr>
              <a:t>3</a:t>
            </a:r>
            <a:endParaRPr baseline="-22222" sz="112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665017" y="5426513"/>
            <a:ext cx="68343" cy="683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108219" y="6188823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 h="0">
                <a:moveTo>
                  <a:pt x="0" y="0"/>
                </a:moveTo>
                <a:lnTo>
                  <a:pt x="206234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5558" y="6230213"/>
            <a:ext cx="151765" cy="0"/>
          </a:xfrm>
          <a:custGeom>
            <a:avLst/>
            <a:gdLst/>
            <a:ahLst/>
            <a:cxnLst/>
            <a:rect l="l" t="t" r="r" b="b"/>
            <a:pathLst>
              <a:path w="151765" h="0">
                <a:moveTo>
                  <a:pt x="0" y="0"/>
                </a:moveTo>
                <a:lnTo>
                  <a:pt x="151161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76953" y="6271202"/>
            <a:ext cx="69215" cy="0"/>
          </a:xfrm>
          <a:custGeom>
            <a:avLst/>
            <a:gdLst/>
            <a:ahLst/>
            <a:cxnLst/>
            <a:rect l="l" t="t" r="r" b="b"/>
            <a:pathLst>
              <a:path w="69215" h="0">
                <a:moveTo>
                  <a:pt x="0" y="0"/>
                </a:moveTo>
                <a:lnTo>
                  <a:pt x="68750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03099" y="6188823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 h="0">
                <a:moveTo>
                  <a:pt x="0" y="0"/>
                </a:moveTo>
                <a:lnTo>
                  <a:pt x="192178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630438" y="6230213"/>
            <a:ext cx="137795" cy="0"/>
          </a:xfrm>
          <a:custGeom>
            <a:avLst/>
            <a:gdLst/>
            <a:ahLst/>
            <a:cxnLst/>
            <a:rect l="l" t="t" r="r" b="b"/>
            <a:pathLst>
              <a:path w="137795" h="0">
                <a:moveTo>
                  <a:pt x="0" y="0"/>
                </a:moveTo>
                <a:lnTo>
                  <a:pt x="137500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57777" y="6271202"/>
            <a:ext cx="83185" cy="0"/>
          </a:xfrm>
          <a:custGeom>
            <a:avLst/>
            <a:gdLst/>
            <a:ahLst/>
            <a:cxnLst/>
            <a:rect l="l" t="t" r="r" b="b"/>
            <a:pathLst>
              <a:path w="83184" h="0">
                <a:moveTo>
                  <a:pt x="0" y="0"/>
                </a:moveTo>
                <a:lnTo>
                  <a:pt x="82822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352411" y="5062036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 h="0">
                <a:moveTo>
                  <a:pt x="0" y="0"/>
                </a:moveTo>
                <a:lnTo>
                  <a:pt x="192161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366080" y="5103430"/>
            <a:ext cx="151765" cy="0"/>
          </a:xfrm>
          <a:custGeom>
            <a:avLst/>
            <a:gdLst/>
            <a:ahLst/>
            <a:cxnLst/>
            <a:rect l="l" t="t" r="r" b="b"/>
            <a:pathLst>
              <a:path w="151765" h="0">
                <a:moveTo>
                  <a:pt x="0" y="0"/>
                </a:moveTo>
                <a:lnTo>
                  <a:pt x="151153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407088" y="5144807"/>
            <a:ext cx="69215" cy="0"/>
          </a:xfrm>
          <a:custGeom>
            <a:avLst/>
            <a:gdLst/>
            <a:ahLst/>
            <a:cxnLst/>
            <a:rect l="l" t="t" r="r" b="b"/>
            <a:pathLst>
              <a:path w="69214" h="0">
                <a:moveTo>
                  <a:pt x="0" y="0"/>
                </a:moveTo>
                <a:lnTo>
                  <a:pt x="68750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386577" y="4601862"/>
            <a:ext cx="123829" cy="2471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536300" y="4607290"/>
            <a:ext cx="15176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35" i="1">
                <a:solidFill>
                  <a:srgbClr val="23201D"/>
                </a:solidFill>
                <a:latin typeface="Times New Roman"/>
                <a:cs typeface="Times New Roman"/>
              </a:rPr>
              <a:t>R</a:t>
            </a:r>
            <a:r>
              <a:rPr dirty="0" baseline="-18518" sz="1125">
                <a:solidFill>
                  <a:srgbClr val="23201D"/>
                </a:solidFill>
                <a:latin typeface="Times New Roman"/>
                <a:cs typeface="Times New Roman"/>
              </a:rPr>
              <a:t>2</a:t>
            </a:r>
            <a:endParaRPr baseline="-18518" sz="1125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414328" y="4437177"/>
            <a:ext cx="68343" cy="68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86577" y="4079834"/>
            <a:ext cx="123829" cy="2472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536300" y="4082538"/>
            <a:ext cx="151765" cy="18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 spc="-35" i="1">
                <a:solidFill>
                  <a:srgbClr val="23201D"/>
                </a:solidFill>
                <a:latin typeface="Times New Roman"/>
                <a:cs typeface="Times New Roman"/>
              </a:rPr>
              <a:t>R</a:t>
            </a:r>
            <a:r>
              <a:rPr dirty="0" baseline="-18518" sz="1125">
                <a:solidFill>
                  <a:srgbClr val="23201D"/>
                </a:solidFill>
                <a:latin typeface="Times New Roman"/>
                <a:cs typeface="Times New Roman"/>
              </a:rPr>
              <a:t>1</a:t>
            </a:r>
            <a:endParaRPr baseline="-18518" sz="1125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52529" y="5562900"/>
            <a:ext cx="223520" cy="35877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59055">
              <a:lnSpc>
                <a:spcPct val="105200"/>
              </a:lnSpc>
              <a:spcBef>
                <a:spcPts val="65"/>
              </a:spcBef>
            </a:pPr>
            <a:r>
              <a:rPr dirty="0" sz="1050" spc="10" i="1">
                <a:solidFill>
                  <a:srgbClr val="23201D"/>
                </a:solidFill>
                <a:latin typeface="Times New Roman"/>
                <a:cs typeface="Times New Roman"/>
              </a:rPr>
              <a:t>C</a:t>
            </a:r>
            <a:r>
              <a:rPr dirty="0" baseline="-22222" sz="1125">
                <a:solidFill>
                  <a:srgbClr val="23201D"/>
                </a:solidFill>
                <a:latin typeface="Times New Roman"/>
                <a:cs typeface="Times New Roman"/>
              </a:rPr>
              <a:t>1  </a:t>
            </a:r>
            <a:r>
              <a:rPr dirty="0" sz="1050" spc="-30" i="1">
                <a:solidFill>
                  <a:srgbClr val="23201D"/>
                </a:solidFill>
                <a:latin typeface="Times New Roman"/>
                <a:cs typeface="Times New Roman"/>
              </a:rPr>
              <a:t>C</a:t>
            </a:r>
            <a:r>
              <a:rPr dirty="0" baseline="-18518" sz="1125" spc="-44">
                <a:solidFill>
                  <a:srgbClr val="23201D"/>
                </a:solidFill>
                <a:latin typeface="Times New Roman"/>
                <a:cs typeface="Times New Roman"/>
              </a:rPr>
              <a:t>2</a:t>
            </a:r>
            <a:endParaRPr baseline="-18518" sz="1125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987768" y="5405622"/>
            <a:ext cx="0" cy="96520"/>
          </a:xfrm>
          <a:custGeom>
            <a:avLst/>
            <a:gdLst/>
            <a:ahLst/>
            <a:cxnLst/>
            <a:rect l="l" t="t" r="r" b="b"/>
            <a:pathLst>
              <a:path w="0" h="96520">
                <a:moveTo>
                  <a:pt x="0" y="0"/>
                </a:moveTo>
                <a:lnTo>
                  <a:pt x="0" y="96444"/>
                </a:lnTo>
              </a:path>
            </a:pathLst>
          </a:custGeom>
          <a:ln w="54675">
            <a:solidFill>
              <a:srgbClr val="AADB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015239" y="5323231"/>
            <a:ext cx="0" cy="274955"/>
          </a:xfrm>
          <a:custGeom>
            <a:avLst/>
            <a:gdLst/>
            <a:ahLst/>
            <a:cxnLst/>
            <a:rect l="l" t="t" r="r" b="b"/>
            <a:pathLst>
              <a:path w="0" h="274954">
                <a:moveTo>
                  <a:pt x="0" y="0"/>
                </a:moveTo>
                <a:lnTo>
                  <a:pt x="0" y="274866"/>
                </a:lnTo>
              </a:path>
            </a:pathLst>
          </a:custGeom>
          <a:ln w="13668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960429" y="5323231"/>
            <a:ext cx="0" cy="274955"/>
          </a:xfrm>
          <a:custGeom>
            <a:avLst/>
            <a:gdLst/>
            <a:ahLst/>
            <a:cxnLst/>
            <a:rect l="l" t="t" r="r" b="b"/>
            <a:pathLst>
              <a:path w="0" h="274954">
                <a:moveTo>
                  <a:pt x="0" y="0"/>
                </a:moveTo>
                <a:lnTo>
                  <a:pt x="0" y="274866"/>
                </a:lnTo>
              </a:path>
            </a:pathLst>
          </a:custGeom>
          <a:ln w="13668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644116" y="5845438"/>
            <a:ext cx="96520" cy="0"/>
          </a:xfrm>
          <a:custGeom>
            <a:avLst/>
            <a:gdLst/>
            <a:ahLst/>
            <a:cxnLst/>
            <a:rect l="l" t="t" r="r" b="b"/>
            <a:pathLst>
              <a:path w="96520" h="0">
                <a:moveTo>
                  <a:pt x="0" y="0"/>
                </a:moveTo>
                <a:lnTo>
                  <a:pt x="96485" y="0"/>
                </a:lnTo>
              </a:path>
            </a:pathLst>
          </a:custGeom>
          <a:ln w="55053">
            <a:solidFill>
              <a:srgbClr val="AADB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561704" y="5872965"/>
            <a:ext cx="275590" cy="0"/>
          </a:xfrm>
          <a:custGeom>
            <a:avLst/>
            <a:gdLst/>
            <a:ahLst/>
            <a:cxnLst/>
            <a:rect l="l" t="t" r="r" b="b"/>
            <a:pathLst>
              <a:path w="275590" h="0">
                <a:moveTo>
                  <a:pt x="274984" y="0"/>
                </a:moveTo>
                <a:lnTo>
                  <a:pt x="0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561704" y="5817916"/>
            <a:ext cx="275590" cy="0"/>
          </a:xfrm>
          <a:custGeom>
            <a:avLst/>
            <a:gdLst/>
            <a:ahLst/>
            <a:cxnLst/>
            <a:rect l="l" t="t" r="r" b="b"/>
            <a:pathLst>
              <a:path w="275590" h="0">
                <a:moveTo>
                  <a:pt x="274984" y="0"/>
                </a:moveTo>
                <a:lnTo>
                  <a:pt x="0" y="0"/>
                </a:lnTo>
              </a:path>
            </a:pathLst>
          </a:custGeom>
          <a:ln w="13662">
            <a:solidFill>
              <a:srgbClr val="2320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8703944" y="5588914"/>
            <a:ext cx="746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FF0000"/>
                </a:solidFill>
                <a:latin typeface="Times New Roman"/>
                <a:cs typeface="Times New Roman"/>
              </a:rPr>
              <a:t>Lead</a:t>
            </a:r>
            <a:r>
              <a:rPr dirty="0" sz="1600" spc="-1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dirty="0" sz="1600" spc="-5">
                <a:solidFill>
                  <a:srgbClr val="FF0000"/>
                </a:solidFill>
                <a:latin typeface="Times New Roman"/>
                <a:cs typeface="Times New Roman"/>
              </a:rPr>
              <a:t>lag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731377" y="5832754"/>
            <a:ext cx="6908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447791" y="4177029"/>
            <a:ext cx="71056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6040" marR="5080" indent="-53340">
              <a:lnSpc>
                <a:spcPct val="100000"/>
              </a:lnSpc>
              <a:spcBef>
                <a:spcPts val="95"/>
              </a:spcBef>
            </a:pPr>
            <a:r>
              <a:rPr dirty="0" sz="1600" spc="-21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sz="1600" spc="-5">
                <a:solidFill>
                  <a:srgbClr val="FF0000"/>
                </a:solidFill>
                <a:latin typeface="Times New Roman"/>
                <a:cs typeface="Times New Roman"/>
              </a:rPr>
              <a:t>olta</a:t>
            </a:r>
            <a:r>
              <a:rPr dirty="0" sz="160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dirty="0" sz="1600" spc="-5">
                <a:solidFill>
                  <a:srgbClr val="FF0000"/>
                </a:solidFill>
                <a:latin typeface="Times New Roman"/>
                <a:cs typeface="Times New Roman"/>
              </a:rPr>
              <a:t>e-  </a:t>
            </a:r>
            <a:r>
              <a:rPr dirty="0" sz="1600" spc="-5">
                <a:solidFill>
                  <a:srgbClr val="FF0000"/>
                </a:solidFill>
                <a:latin typeface="Times New Roman"/>
                <a:cs typeface="Times New Roman"/>
              </a:rPr>
              <a:t>divider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990980" y="4280695"/>
            <a:ext cx="3914775" cy="60060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246370" y="5632009"/>
            <a:ext cx="1343025" cy="54319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762654" y="5670422"/>
            <a:ext cx="1037302" cy="59054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614934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290"/>
              <a:t>dao </a:t>
            </a:r>
            <a:r>
              <a:rPr dirty="0" spc="-250"/>
              <a:t>động </a:t>
            </a:r>
            <a:r>
              <a:rPr dirty="0" spc="-350"/>
              <a:t>cầu</a:t>
            </a:r>
            <a:r>
              <a:rPr dirty="0" spc="-640"/>
              <a:t> </a:t>
            </a:r>
            <a:r>
              <a:rPr dirty="0" spc="-235"/>
              <a:t>Wien  </a:t>
            </a:r>
            <a:r>
              <a:rPr dirty="0" spc="-265"/>
              <a:t>(Wien-Bridge</a:t>
            </a:r>
            <a:r>
              <a:rPr dirty="0" spc="-350"/>
              <a:t> </a:t>
            </a:r>
            <a:r>
              <a:rPr dirty="0" spc="-235"/>
              <a:t>Oscillator)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651573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Điều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kiện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cầu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Wien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ổn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là: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87067" y="2573865"/>
            <a:ext cx="6332881" cy="3567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614934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290"/>
              <a:t>dao </a:t>
            </a:r>
            <a:r>
              <a:rPr dirty="0" spc="-250"/>
              <a:t>động </a:t>
            </a:r>
            <a:r>
              <a:rPr dirty="0" spc="-350"/>
              <a:t>cầu</a:t>
            </a:r>
            <a:r>
              <a:rPr dirty="0" spc="-640"/>
              <a:t> </a:t>
            </a:r>
            <a:r>
              <a:rPr dirty="0" spc="-235"/>
              <a:t>Wien  </a:t>
            </a:r>
            <a:r>
              <a:rPr dirty="0" spc="-265"/>
              <a:t>(Wien-Bridge</a:t>
            </a:r>
            <a:r>
              <a:rPr dirty="0" spc="-350"/>
              <a:t> </a:t>
            </a:r>
            <a:r>
              <a:rPr dirty="0" spc="-235"/>
              <a:t>Oscillator)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56527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Điều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kiện để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cầu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Wien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khởi động</a:t>
            </a:r>
            <a:r>
              <a:rPr dirty="0" sz="2000" spc="-3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là: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34211" y="2817074"/>
            <a:ext cx="8045611" cy="28314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614934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290"/>
              <a:t>dao </a:t>
            </a:r>
            <a:r>
              <a:rPr dirty="0" spc="-250"/>
              <a:t>động </a:t>
            </a:r>
            <a:r>
              <a:rPr dirty="0" spc="-350"/>
              <a:t>cầu</a:t>
            </a:r>
            <a:r>
              <a:rPr dirty="0" spc="-640"/>
              <a:t> </a:t>
            </a:r>
            <a:r>
              <a:rPr dirty="0" spc="-235"/>
              <a:t>Wien  </a:t>
            </a:r>
            <a:r>
              <a:rPr dirty="0" spc="-265"/>
              <a:t>(Wien-Bridge</a:t>
            </a:r>
            <a:r>
              <a:rPr dirty="0" spc="-350"/>
              <a:t> </a:t>
            </a:r>
            <a:r>
              <a:rPr dirty="0" spc="-235"/>
              <a:t>Oscillator)</a:t>
            </a:r>
          </a:p>
        </p:txBody>
      </p:sp>
      <p:sp>
        <p:nvSpPr>
          <p:cNvPr id="3" name="object 3"/>
          <p:cNvSpPr/>
          <p:nvPr/>
        </p:nvSpPr>
        <p:spPr>
          <a:xfrm>
            <a:off x="1136141" y="2441833"/>
            <a:ext cx="3733800" cy="3800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8839" y="1884426"/>
            <a:ext cx="8589010" cy="1129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cầu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Wien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tự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khởi động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r>
              <a:rPr dirty="0" sz="2000" spc="-4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Zener:</a:t>
            </a:r>
            <a:endParaRPr sz="2000">
              <a:latin typeface="Arial"/>
              <a:cs typeface="Arial"/>
            </a:endParaRPr>
          </a:p>
          <a:p>
            <a:pPr lvl="1" marL="4291330" indent="-259079">
              <a:lnSpc>
                <a:spcPts val="2280"/>
              </a:lnSpc>
              <a:spcBef>
                <a:spcPts val="1725"/>
              </a:spcBef>
              <a:buClr>
                <a:srgbClr val="99CA38"/>
              </a:buClr>
              <a:buFont typeface="Wingdings"/>
              <a:buChar char=""/>
              <a:tabLst>
                <a:tab pos="4291965" algn="l"/>
              </a:tabLst>
            </a:pP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đầu ra bé,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</a:t>
            </a:r>
            <a:r>
              <a:rPr dirty="0" sz="2000" spc="1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endParaRPr sz="2000">
              <a:latin typeface="Arial"/>
              <a:cs typeface="Arial"/>
            </a:endParaRPr>
          </a:p>
          <a:p>
            <a:pPr marL="4123690">
              <a:lnSpc>
                <a:spcPts val="2280"/>
              </a:lnSpc>
            </a:pP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vòng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hở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là: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8516" y="4492497"/>
            <a:ext cx="4569460" cy="88011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04139" marR="5080" indent="-91440">
              <a:lnSpc>
                <a:spcPct val="901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đầu ra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Vzener, 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lúc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10">
                <a:solidFill>
                  <a:srgbClr val="404040"/>
                </a:solidFill>
                <a:latin typeface="Arial"/>
                <a:cs typeface="Arial"/>
              </a:rPr>
              <a:t>tắt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1367" sz="1950" spc="-232">
                <a:solidFill>
                  <a:srgbClr val="404040"/>
                </a:solidFill>
                <a:latin typeface="Arial"/>
                <a:cs typeface="Arial"/>
              </a:rPr>
              <a:t>3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Do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đó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dirty="0" baseline="-21367" sz="1950" spc="-127">
                <a:solidFill>
                  <a:srgbClr val="404040"/>
                </a:solidFill>
                <a:latin typeface="Arial"/>
                <a:cs typeface="Arial"/>
              </a:rPr>
              <a:t>cl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=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92124" y="2843783"/>
            <a:ext cx="1104900" cy="31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57960" y="3297554"/>
            <a:ext cx="4734650" cy="5810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290"/>
              <a:t>dao </a:t>
            </a:r>
            <a:r>
              <a:rPr dirty="0" spc="-250"/>
              <a:t>động </a:t>
            </a:r>
            <a:r>
              <a:rPr dirty="0" spc="-180"/>
              <a:t>tích</a:t>
            </a:r>
            <a:r>
              <a:rPr dirty="0" spc="-655"/>
              <a:t> </a:t>
            </a:r>
            <a:r>
              <a:rPr dirty="0" spc="-95"/>
              <a:t>thoát  </a:t>
            </a:r>
            <a:r>
              <a:rPr dirty="0" spc="-295"/>
              <a:t>(Relaxation</a:t>
            </a:r>
            <a:r>
              <a:rPr dirty="0" spc="-350"/>
              <a:t> </a:t>
            </a:r>
            <a:r>
              <a:rPr dirty="0" spc="-225"/>
              <a:t>Oscillator)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38392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xung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tam</a:t>
            </a:r>
            <a:r>
              <a:rPr dirty="0" sz="2000" spc="-3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giác: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244" y="2441508"/>
            <a:ext cx="4078627" cy="22177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74264" y="3988308"/>
            <a:ext cx="7028688" cy="2324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290"/>
              <a:t>dao </a:t>
            </a:r>
            <a:r>
              <a:rPr dirty="0" spc="-250"/>
              <a:t>động </a:t>
            </a:r>
            <a:r>
              <a:rPr dirty="0" spc="-180"/>
              <a:t>tích</a:t>
            </a:r>
            <a:r>
              <a:rPr dirty="0" spc="-650"/>
              <a:t> </a:t>
            </a:r>
            <a:r>
              <a:rPr dirty="0" spc="-105"/>
              <a:t>thoát  </a:t>
            </a:r>
            <a:r>
              <a:rPr dirty="0" spc="-320"/>
              <a:t>(Relaxation</a:t>
            </a:r>
            <a:r>
              <a:rPr dirty="0" spc="-350"/>
              <a:t> </a:t>
            </a:r>
            <a:r>
              <a:rPr dirty="0" spc="-235"/>
              <a:t>Oscillator)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38392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dao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xung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tam</a:t>
            </a:r>
            <a:r>
              <a:rPr dirty="0" sz="2000" spc="-3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giác: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5277" y="2607451"/>
            <a:ext cx="5269575" cy="2061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5487" y="2494724"/>
            <a:ext cx="2473452" cy="1007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7586" y="2529077"/>
            <a:ext cx="2385695" cy="0"/>
          </a:xfrm>
          <a:custGeom>
            <a:avLst/>
            <a:gdLst/>
            <a:ahLst/>
            <a:cxnLst/>
            <a:rect l="l" t="t" r="r" b="b"/>
            <a:pathLst>
              <a:path w="2385695" h="0">
                <a:moveTo>
                  <a:pt x="0" y="0"/>
                </a:moveTo>
                <a:lnTo>
                  <a:pt x="238531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49879" y="2506979"/>
            <a:ext cx="100774" cy="16184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84170" y="2529077"/>
            <a:ext cx="0" cy="1530350"/>
          </a:xfrm>
          <a:custGeom>
            <a:avLst/>
            <a:gdLst/>
            <a:ahLst/>
            <a:cxnLst/>
            <a:rect l="l" t="t" r="r" b="b"/>
            <a:pathLst>
              <a:path w="0" h="1530350">
                <a:moveTo>
                  <a:pt x="0" y="0"/>
                </a:moveTo>
                <a:lnTo>
                  <a:pt x="0" y="1530223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3295" y="2506979"/>
            <a:ext cx="100774" cy="26913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7586" y="2529077"/>
            <a:ext cx="0" cy="2604135"/>
          </a:xfrm>
          <a:custGeom>
            <a:avLst/>
            <a:gdLst/>
            <a:ahLst/>
            <a:cxnLst/>
            <a:rect l="l" t="t" r="r" b="b"/>
            <a:pathLst>
              <a:path w="0" h="2604135">
                <a:moveTo>
                  <a:pt x="0" y="0"/>
                </a:moveTo>
                <a:lnTo>
                  <a:pt x="0" y="260388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5487" y="5099240"/>
            <a:ext cx="3012948" cy="1007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7586" y="5133594"/>
            <a:ext cx="2925445" cy="0"/>
          </a:xfrm>
          <a:custGeom>
            <a:avLst/>
            <a:gdLst/>
            <a:ahLst/>
            <a:cxnLst/>
            <a:rect l="l" t="t" r="r" b="b"/>
            <a:pathLst>
              <a:path w="2925445" h="0">
                <a:moveTo>
                  <a:pt x="0" y="0"/>
                </a:moveTo>
                <a:lnTo>
                  <a:pt x="2925317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89376" y="4024871"/>
            <a:ext cx="100774" cy="1161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23665" y="4059173"/>
            <a:ext cx="0" cy="1073785"/>
          </a:xfrm>
          <a:custGeom>
            <a:avLst/>
            <a:gdLst/>
            <a:ahLst/>
            <a:cxnLst/>
            <a:rect l="l" t="t" r="r" b="b"/>
            <a:pathLst>
              <a:path w="0" h="1073785">
                <a:moveTo>
                  <a:pt x="0" y="1073784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62072" y="4024820"/>
            <a:ext cx="627875" cy="10077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84170" y="405917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 h="0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55299" y="2752873"/>
            <a:ext cx="3494388" cy="18110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10556" y="4842477"/>
            <a:ext cx="2133251" cy="13426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57090" y="5291328"/>
            <a:ext cx="1838325" cy="6191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8755" y="2982544"/>
            <a:ext cx="8049259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035925" algn="l"/>
              </a:tabLst>
            </a:pPr>
            <a:r>
              <a:rPr dirty="0" u="sng" sz="8000" spc="-1989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000" spc="-59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Thank</a:t>
            </a:r>
            <a:r>
              <a:rPr dirty="0" u="sng" sz="8000" spc="-615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 </a:t>
            </a:r>
            <a:r>
              <a:rPr dirty="0" u="sng" sz="8000" spc="-20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you!	</a:t>
            </a:r>
            <a:endParaRPr sz="8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81455" y="4343400"/>
            <a:ext cx="8023859" cy="0"/>
          </a:xfrm>
          <a:custGeom>
            <a:avLst/>
            <a:gdLst/>
            <a:ahLst/>
            <a:cxnLst/>
            <a:rect l="l" t="t" r="r" b="b"/>
            <a:pathLst>
              <a:path w="8023859" h="0">
                <a:moveTo>
                  <a:pt x="0" y="0"/>
                </a:moveTo>
                <a:lnTo>
                  <a:pt x="80238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94660" y="1456944"/>
            <a:ext cx="3494532" cy="28270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59404" y="430148"/>
            <a:ext cx="376555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>
                <a:solidFill>
                  <a:srgbClr val="000000"/>
                </a:solidFill>
                <a:latin typeface="Times New Roman"/>
                <a:cs typeface="Times New Roman"/>
              </a:rPr>
              <a:t>Kiểm tra </a:t>
            </a:r>
            <a:r>
              <a:rPr dirty="0" sz="4000" b="1">
                <a:solidFill>
                  <a:srgbClr val="000000"/>
                </a:solidFill>
                <a:latin typeface="Times New Roman"/>
                <a:cs typeface="Times New Roman"/>
              </a:rPr>
              <a:t>15</a:t>
            </a:r>
            <a:r>
              <a:rPr dirty="0" sz="4000" spc="-30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000" spc="-10" b="1">
                <a:solidFill>
                  <a:srgbClr val="000000"/>
                </a:solidFill>
                <a:latin typeface="Times New Roman"/>
                <a:cs typeface="Times New Roman"/>
              </a:rPr>
              <a:t>phút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2045589" y="4838776"/>
            <a:ext cx="5391150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Giải </a:t>
            </a:r>
            <a:r>
              <a:rPr dirty="0" sz="2400">
                <a:latin typeface="Times New Roman"/>
                <a:cs typeface="Times New Roman"/>
              </a:rPr>
              <a:t>thích cách thức hoạt </a:t>
            </a:r>
            <a:r>
              <a:rPr dirty="0" sz="2400" spc="-5">
                <a:latin typeface="Times New Roman"/>
                <a:cs typeface="Times New Roman"/>
              </a:rPr>
              <a:t>động </a:t>
            </a:r>
            <a:r>
              <a:rPr dirty="0" sz="2400">
                <a:latin typeface="Times New Roman"/>
                <a:cs typeface="Times New Roman"/>
              </a:rPr>
              <a:t>của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mạch.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2400" spc="-5">
                <a:latin typeface="Times New Roman"/>
                <a:cs typeface="Times New Roman"/>
              </a:rPr>
              <a:t>Giả </a:t>
            </a:r>
            <a:r>
              <a:rPr dirty="0" sz="2400">
                <a:latin typeface="Times New Roman"/>
                <a:cs typeface="Times New Roman"/>
              </a:rPr>
              <a:t>sử </a:t>
            </a:r>
            <a:r>
              <a:rPr dirty="0" sz="2400" spc="-5">
                <a:latin typeface="Times New Roman"/>
                <a:cs typeface="Times New Roman"/>
              </a:rPr>
              <a:t>R</a:t>
            </a:r>
            <a:r>
              <a:rPr dirty="0" baseline="-20833" sz="2400" spc="-7">
                <a:latin typeface="Times New Roman"/>
                <a:cs typeface="Times New Roman"/>
              </a:rPr>
              <a:t>2 </a:t>
            </a:r>
            <a:r>
              <a:rPr dirty="0" sz="2400">
                <a:latin typeface="Times New Roman"/>
                <a:cs typeface="Times New Roman"/>
              </a:rPr>
              <a:t>= </a:t>
            </a:r>
            <a:r>
              <a:rPr dirty="0" sz="2400" spc="-5">
                <a:latin typeface="Times New Roman"/>
                <a:cs typeface="Times New Roman"/>
              </a:rPr>
              <a:t>2R</a:t>
            </a:r>
            <a:r>
              <a:rPr dirty="0" baseline="-20833" sz="2400" spc="-7">
                <a:latin typeface="Times New Roman"/>
                <a:cs typeface="Times New Roman"/>
              </a:rPr>
              <a:t>3</a:t>
            </a:r>
            <a:r>
              <a:rPr dirty="0" sz="2400" spc="-5">
                <a:latin typeface="Times New Roman"/>
                <a:cs typeface="Times New Roman"/>
              </a:rPr>
              <a:t>, C</a:t>
            </a:r>
            <a:r>
              <a:rPr dirty="0" baseline="-20833" sz="2400" spc="-7">
                <a:latin typeface="Times New Roman"/>
                <a:cs typeface="Times New Roman"/>
              </a:rPr>
              <a:t>1 </a:t>
            </a:r>
            <a:r>
              <a:rPr dirty="0" sz="2400">
                <a:latin typeface="Times New Roman"/>
                <a:cs typeface="Times New Roman"/>
              </a:rPr>
              <a:t>= </a:t>
            </a:r>
            <a:r>
              <a:rPr dirty="0" sz="2400" spc="-5">
                <a:latin typeface="Times New Roman"/>
                <a:cs typeface="Times New Roman"/>
              </a:rPr>
              <a:t>2C</a:t>
            </a:r>
            <a:r>
              <a:rPr dirty="0" baseline="-20833" sz="2400" spc="-7">
                <a:latin typeface="Times New Roman"/>
                <a:cs typeface="Times New Roman"/>
              </a:rPr>
              <a:t>2 </a:t>
            </a:r>
            <a:r>
              <a:rPr dirty="0" sz="2400">
                <a:latin typeface="Times New Roman"/>
                <a:cs typeface="Times New Roman"/>
              </a:rPr>
              <a:t>,Vẽ lại </a:t>
            </a:r>
            <a:r>
              <a:rPr dirty="0" sz="2400" spc="-55">
                <a:latin typeface="Times New Roman"/>
                <a:cs typeface="Times New Roman"/>
              </a:rPr>
              <a:t>V</a:t>
            </a:r>
            <a:r>
              <a:rPr dirty="0" baseline="-20833" sz="2400" spc="-82">
                <a:latin typeface="Times New Roman"/>
                <a:cs typeface="Times New Roman"/>
              </a:rPr>
              <a:t>out1</a:t>
            </a:r>
            <a:r>
              <a:rPr dirty="0" sz="2400" spc="-55">
                <a:latin typeface="Times New Roman"/>
                <a:cs typeface="Times New Roman"/>
              </a:rPr>
              <a:t>,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V</a:t>
            </a:r>
            <a:r>
              <a:rPr dirty="0" baseline="-20833" sz="2400" spc="-104">
                <a:latin typeface="Times New Roman"/>
                <a:cs typeface="Times New Roman"/>
              </a:rPr>
              <a:t>out2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7614" y="2741116"/>
            <a:ext cx="5676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spc="-480">
                <a:latin typeface="Times New Roman"/>
                <a:cs typeface="Times New Roman"/>
              </a:rPr>
              <a:t>V</a:t>
            </a:r>
            <a:r>
              <a:rPr dirty="0" sz="1600" spc="-5">
                <a:latin typeface="Times New Roman"/>
                <a:cs typeface="Times New Roman"/>
              </a:rPr>
              <a:t>out1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61353" y="2737865"/>
            <a:ext cx="607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spc="-15">
                <a:latin typeface="Times New Roman"/>
                <a:cs typeface="Times New Roman"/>
              </a:rPr>
              <a:t>V</a:t>
            </a:r>
            <a:r>
              <a:rPr dirty="0" sz="1600">
                <a:latin typeface="Times New Roman"/>
                <a:cs typeface="Times New Roman"/>
              </a:rPr>
              <a:t>ou</a:t>
            </a:r>
            <a:r>
              <a:rPr dirty="0" sz="1600" spc="-5">
                <a:latin typeface="Times New Roman"/>
                <a:cs typeface="Times New Roman"/>
              </a:rPr>
              <a:t>t2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Kent Bertilsson</dc:creator>
  <dc:title>PowerPoint-presentation</dc:title>
  <dcterms:created xsi:type="dcterms:W3CDTF">2019-03-22T06:03:04Z</dcterms:created>
  <dcterms:modified xsi:type="dcterms:W3CDTF">2019-03-22T06:03:04Z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