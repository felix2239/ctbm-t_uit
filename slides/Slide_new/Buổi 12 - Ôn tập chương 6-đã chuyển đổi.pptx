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0584" y="908380"/>
            <a:ext cx="796483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425" y="2982544"/>
            <a:ext cx="8131149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839" y="1737207"/>
            <a:ext cx="8148320" cy="1382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1677923"/>
            <a:ext cx="1113282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9431" y="1677923"/>
            <a:ext cx="1172718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9831" y="2144267"/>
            <a:ext cx="1009650" cy="10066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4359" y="2130551"/>
            <a:ext cx="863346" cy="10066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2583" y="2144267"/>
            <a:ext cx="1261110" cy="10066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20011" y="2144267"/>
            <a:ext cx="819150" cy="10066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50291" y="1781936"/>
            <a:ext cx="1697989" cy="104076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dirty="0" sz="3600" spc="-330">
                <a:solidFill>
                  <a:srgbClr val="FFFFFF"/>
                </a:solidFill>
                <a:latin typeface="Arial"/>
                <a:cs typeface="Arial"/>
              </a:rPr>
              <a:t>Ôn </a:t>
            </a:r>
            <a:r>
              <a:rPr dirty="0" sz="3600" spc="-130">
                <a:solidFill>
                  <a:srgbClr val="FFFFFF"/>
                </a:solidFill>
                <a:latin typeface="Arial"/>
                <a:cs typeface="Arial"/>
              </a:rPr>
              <a:t>tập  </a:t>
            </a:r>
            <a:r>
              <a:rPr dirty="0" sz="3600" spc="-275">
                <a:solidFill>
                  <a:srgbClr val="FFFFFF"/>
                </a:solidFill>
                <a:latin typeface="Arial"/>
                <a:cs typeface="Arial"/>
              </a:rPr>
              <a:t>ch</a:t>
            </a:r>
            <a:r>
              <a:rPr dirty="0" sz="3600" spc="-275" b="1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dirty="0" sz="3600" spc="-275">
                <a:solidFill>
                  <a:srgbClr val="FFFFFF"/>
                </a:solidFill>
                <a:latin typeface="Arial"/>
                <a:cs typeface="Arial"/>
              </a:rPr>
              <a:t>ơng</a:t>
            </a:r>
            <a:r>
              <a:rPr dirty="0" sz="3600" spc="-4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3320" y="510540"/>
            <a:ext cx="6171437" cy="13388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63923" y="1168908"/>
            <a:ext cx="5438394" cy="13388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067936" y="670001"/>
            <a:ext cx="525653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73050" marR="5080" indent="-260985">
              <a:lnSpc>
                <a:spcPts val="5190"/>
              </a:lnSpc>
              <a:spcBef>
                <a:spcPts val="750"/>
              </a:spcBef>
            </a:pP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THIẾT BỊ</a:t>
            </a:r>
            <a:r>
              <a:rPr dirty="0" u="none" sz="4800" spc="-114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MẠCH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dirty="0" u="none" sz="4800" spc="-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195">
                <a:solidFill>
                  <a:srgbClr val="404040"/>
                </a:solidFill>
              </a:rPr>
              <a:t>Mục</a:t>
            </a:r>
            <a:r>
              <a:rPr dirty="0" u="none" sz="4800" spc="-430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tiêu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6837680" cy="13823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cộng/trừ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phân/tích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ụng</a:t>
            </a: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555" y="3300984"/>
            <a:ext cx="4858512" cy="2948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7400" cy="1154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9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1.	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Biết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80,000.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tối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đa</a:t>
            </a:r>
            <a:r>
              <a:rPr dirty="0" sz="2000" spc="3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2000">
              <a:latin typeface="Arial"/>
              <a:cs typeface="Arial"/>
            </a:endParaRPr>
          </a:p>
          <a:p>
            <a:pPr algn="just" marL="469900" marR="5080">
              <a:lnSpc>
                <a:spcPct val="89500"/>
              </a:lnSpc>
              <a:spcBef>
                <a:spcPts val="140"/>
              </a:spcBef>
            </a:pPr>
            <a:r>
              <a:rPr dirty="0" sz="2000" spc="-70">
                <a:solidFill>
                  <a:srgbClr val="404040"/>
                </a:solidFill>
                <a:latin typeface="Symbol"/>
                <a:cs typeface="Symbol"/>
              </a:rPr>
              <a:t>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12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V,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70">
                <a:solidFill>
                  <a:srgbClr val="404040"/>
                </a:solidFill>
                <a:latin typeface="Symbol"/>
                <a:cs typeface="Symbol"/>
              </a:rPr>
              <a:t>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15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V.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65">
                <a:solidFill>
                  <a:srgbClr val="404040"/>
                </a:solidFill>
                <a:latin typeface="Arial"/>
                <a:cs typeface="Arial"/>
              </a:rPr>
              <a:t>d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=0.15 mV.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Peak-Peak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nhiêu?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064253"/>
            <a:ext cx="54927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2.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24328" y="2983458"/>
            <a:ext cx="3474368" cy="9974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27508" y="4781372"/>
            <a:ext cx="5672375" cy="14400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55426" y="2028764"/>
            <a:ext cx="3066076" cy="2403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77696" y="4076700"/>
            <a:ext cx="6140196" cy="2232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878839" y="1884426"/>
            <a:ext cx="42951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3.	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UTP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LTP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3693363"/>
            <a:ext cx="69240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0">
                <a:solidFill>
                  <a:srgbClr val="99CA38"/>
                </a:solidFill>
                <a:latin typeface="Arial"/>
                <a:cs typeface="Arial"/>
              </a:rPr>
              <a:t>4.	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Dựa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trên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vào,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vẽ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lại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hình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dáng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ra: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08380"/>
            <a:ext cx="7515859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6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38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4800" spc="-365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4800" spc="-5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4800" spc="-27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48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4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91128" y="2886133"/>
            <a:ext cx="6282392" cy="2623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42951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5.	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UTP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LTP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076444" y="2618232"/>
            <a:ext cx="352044" cy="342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09634" y="3357781"/>
            <a:ext cx="3066076" cy="2405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83252" y="2799588"/>
            <a:ext cx="0" cy="901065"/>
          </a:xfrm>
          <a:custGeom>
            <a:avLst/>
            <a:gdLst/>
            <a:ahLst/>
            <a:cxnLst/>
            <a:rect l="l" t="t" r="r" b="b"/>
            <a:pathLst>
              <a:path w="0" h="901064">
                <a:moveTo>
                  <a:pt x="0" y="900938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83252" y="2799588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19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8488" y="2799588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64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33515" y="2799588"/>
            <a:ext cx="0" cy="1188720"/>
          </a:xfrm>
          <a:custGeom>
            <a:avLst/>
            <a:gdLst/>
            <a:ahLst/>
            <a:cxnLst/>
            <a:rect l="l" t="t" r="r" b="b"/>
            <a:pathLst>
              <a:path w="0" h="1188720">
                <a:moveTo>
                  <a:pt x="0" y="0"/>
                </a:moveTo>
                <a:lnTo>
                  <a:pt x="0" y="118872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78839" y="1779632"/>
            <a:ext cx="7059930" cy="92710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6.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dirty="0" sz="2000" spc="-3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dưới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trên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</a:t>
            </a:r>
            <a:endParaRPr sz="2000">
              <a:latin typeface="Arial"/>
              <a:cs typeface="Arial"/>
            </a:endParaRPr>
          </a:p>
          <a:p>
            <a:pPr algn="ctr" marL="1651635">
              <a:lnSpc>
                <a:spcPct val="100000"/>
              </a:lnSpc>
              <a:spcBef>
                <a:spcPts val="985"/>
              </a:spcBef>
            </a:pPr>
            <a:r>
              <a:rPr dirty="0" sz="2400" spc="-5">
                <a:latin typeface="Times New Roman"/>
                <a:cs typeface="Times New Roman"/>
              </a:rPr>
              <a:t>D1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7349108" y="3740911"/>
            <a:ext cx="149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Z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6.2(V)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08380"/>
            <a:ext cx="7515859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6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38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4800" spc="-365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4800" spc="-5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4800" spc="-27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48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4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18655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7.	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dáng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3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ra: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1111" y="2766814"/>
            <a:ext cx="4257674" cy="2628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08380"/>
            <a:ext cx="68637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6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320">
                <a:solidFill>
                  <a:srgbClr val="404040"/>
                </a:solidFill>
                <a:latin typeface="Arial"/>
                <a:cs typeface="Arial"/>
              </a:rPr>
              <a:t>cộng </a:t>
            </a:r>
            <a:r>
              <a:rPr dirty="0" sz="4800" spc="-5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4800" spc="-27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4800" spc="-3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4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2570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1.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5664" y="3096817"/>
            <a:ext cx="7514486" cy="2191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6627" y="2301313"/>
            <a:ext cx="4815222" cy="2636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86371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20">
                <a:solidFill>
                  <a:srgbClr val="404040"/>
                </a:solidFill>
              </a:rPr>
              <a:t>cộng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37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42614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2.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5049977"/>
            <a:ext cx="45967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0">
                <a:solidFill>
                  <a:srgbClr val="99CA38"/>
                </a:solidFill>
                <a:latin typeface="Arial"/>
                <a:cs typeface="Arial"/>
              </a:rPr>
              <a:t>3.	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5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32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sao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OUT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=5(V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+V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08380"/>
            <a:ext cx="68637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6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320">
                <a:solidFill>
                  <a:srgbClr val="404040"/>
                </a:solidFill>
                <a:latin typeface="Arial"/>
                <a:cs typeface="Arial"/>
              </a:rPr>
              <a:t>cộng </a:t>
            </a:r>
            <a:r>
              <a:rPr dirty="0" sz="4800" spc="-5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4800" spc="-27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4800" spc="-3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4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2570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4.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2092" y="2520281"/>
            <a:ext cx="5114196" cy="305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08380"/>
            <a:ext cx="68637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6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320">
                <a:solidFill>
                  <a:srgbClr val="404040"/>
                </a:solidFill>
                <a:latin typeface="Arial"/>
                <a:cs typeface="Arial"/>
              </a:rPr>
              <a:t>cộng </a:t>
            </a:r>
            <a:r>
              <a:rPr dirty="0" sz="4800" spc="-5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4800" spc="-275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4800" spc="-3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34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2614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5.	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sau: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2092" y="2520281"/>
            <a:ext cx="5114196" cy="305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86371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20">
                <a:solidFill>
                  <a:srgbClr val="404040"/>
                </a:solidFill>
              </a:rPr>
              <a:t>cộng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37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5384800" cy="1382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6.	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kế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sao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thỏa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mãn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thức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sau: 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217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0.1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+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0.2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+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0.3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+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0.4</a:t>
            </a:r>
            <a:r>
              <a:rPr dirty="0" sz="2000" spc="5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4</a:t>
            </a:r>
            <a:endParaRPr baseline="-21367"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Biết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187">
                <a:solidFill>
                  <a:srgbClr val="404040"/>
                </a:solidFill>
                <a:latin typeface="Arial"/>
                <a:cs typeface="Arial"/>
              </a:rPr>
              <a:t>f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=10kOhm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2457" y="286892"/>
            <a:ext cx="570039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815975" marR="5080" indent="-803910">
              <a:lnSpc>
                <a:spcPts val="4900"/>
              </a:lnSpc>
              <a:spcBef>
                <a:spcPts val="98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 </a:t>
            </a:r>
            <a:r>
              <a:rPr dirty="0" u="none" sz="4800" spc="-175">
                <a:solidFill>
                  <a:srgbClr val="404040"/>
                </a:solidFill>
              </a:rPr>
              <a:t>vi </a:t>
            </a:r>
            <a:r>
              <a:rPr dirty="0" u="none" sz="4800" spc="-170">
                <a:solidFill>
                  <a:srgbClr val="404040"/>
                </a:solidFill>
              </a:rPr>
              <a:t>phân/tích</a:t>
            </a:r>
            <a:r>
              <a:rPr dirty="0" u="none" sz="4800" spc="-645">
                <a:solidFill>
                  <a:srgbClr val="404040"/>
                </a:solidFill>
              </a:rPr>
              <a:t> </a:t>
            </a:r>
            <a:r>
              <a:rPr dirty="0" u="none" sz="4800" spc="-270">
                <a:solidFill>
                  <a:srgbClr val="404040"/>
                </a:solidFill>
              </a:rPr>
              <a:t>phân 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195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391150" y="2044807"/>
            <a:ext cx="4429125" cy="18475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39382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75">
                <a:solidFill>
                  <a:srgbClr val="99CA38"/>
                </a:solidFill>
                <a:latin typeface="Arial"/>
                <a:cs typeface="Arial"/>
              </a:rPr>
              <a:t>1.	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rate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change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sau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3693363"/>
            <a:ext cx="45307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6415" algn="l"/>
              </a:tabLst>
            </a:pPr>
            <a:r>
              <a:rPr dirty="0" sz="2000" spc="-70">
                <a:solidFill>
                  <a:srgbClr val="99CA38"/>
                </a:solidFill>
                <a:latin typeface="Arial"/>
                <a:cs typeface="Arial"/>
              </a:rPr>
              <a:t>2.	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Biểu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diễn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3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sau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94127" y="4283129"/>
            <a:ext cx="4972418" cy="19043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  <a:tabLst>
                <a:tab pos="8117840" algn="l"/>
              </a:tabLst>
            </a:pPr>
            <a:r>
              <a:rPr dirty="0" spc="-590"/>
              <a:t>Thank</a:t>
            </a:r>
            <a:r>
              <a:rPr dirty="0" spc="-610"/>
              <a:t> </a:t>
            </a:r>
            <a:r>
              <a:rPr dirty="0" spc="-225"/>
              <a:t>you!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2019-03-22T06:03:28Z</dcterms:created>
  <dcterms:modified xsi:type="dcterms:W3CDTF">2019-03-22T06:03:28Z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