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425" y="2982544"/>
            <a:ext cx="8131149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2935" y="1884426"/>
            <a:ext cx="8660129" cy="2785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0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0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84701" y="670001"/>
            <a:ext cx="522351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THIẾT BỊ</a:t>
            </a:r>
            <a:r>
              <a:rPr dirty="0" u="none" sz="4800" spc="-3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VÀ 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MẠCH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ĐIỆN</a:t>
            </a:r>
            <a:r>
              <a:rPr dirty="0" u="none" sz="4800" spc="-16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TỬ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8515" y="2868180"/>
            <a:ext cx="837438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0683" y="2868180"/>
            <a:ext cx="581406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2043" y="3322332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9412" y="3310140"/>
            <a:ext cx="604266" cy="4289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18032" y="3310140"/>
            <a:ext cx="657606" cy="4289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59991" y="3310140"/>
            <a:ext cx="438137" cy="428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84020" y="3310140"/>
            <a:ext cx="657606" cy="42899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24455" y="3310140"/>
            <a:ext cx="547865" cy="4289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9412" y="3515880"/>
            <a:ext cx="688086" cy="42899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01852" y="3515880"/>
            <a:ext cx="485406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2043" y="3910596"/>
            <a:ext cx="407682" cy="39698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9412" y="3898404"/>
            <a:ext cx="575310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89075" y="3898404"/>
            <a:ext cx="572262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48739" y="3898404"/>
            <a:ext cx="517410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52016" y="3898404"/>
            <a:ext cx="435114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72995" y="3898404"/>
            <a:ext cx="532638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91511" y="3898404"/>
            <a:ext cx="688086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9412" y="4104144"/>
            <a:ext cx="485406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2043" y="4500384"/>
            <a:ext cx="407682" cy="3969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29412" y="4488192"/>
            <a:ext cx="698754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14044" y="4488192"/>
            <a:ext cx="485406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85316" y="4488192"/>
            <a:ext cx="526554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697735" y="4488192"/>
            <a:ext cx="659130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44267" y="4488192"/>
            <a:ext cx="456425" cy="4289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9412" y="4693932"/>
            <a:ext cx="653034" cy="4289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66800" y="4693932"/>
            <a:ext cx="462546" cy="42899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50291" y="1999488"/>
            <a:ext cx="2305685" cy="298894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3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lọc</a:t>
            </a:r>
            <a:endParaRPr sz="1800">
              <a:latin typeface="Arial"/>
              <a:cs typeface="Arial"/>
            </a:endParaRPr>
          </a:p>
          <a:p>
            <a:pPr marL="299085" marR="212725" indent="-286385">
              <a:lnSpc>
                <a:spcPts val="1620"/>
              </a:lnSpc>
              <a:spcBef>
                <a:spcPts val="145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Khái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niệm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và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phân 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loại  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mạch</a:t>
            </a:r>
            <a:r>
              <a:rPr dirty="0" sz="15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C000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299085" marR="5080" indent="-286385">
              <a:lnSpc>
                <a:spcPts val="1620"/>
              </a:lnSpc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14" b="1">
                <a:solidFill>
                  <a:srgbClr val="FFFFFF"/>
                </a:solidFill>
                <a:latin typeface="Arial"/>
                <a:cs typeface="Arial"/>
              </a:rPr>
              <a:t>Đáp </a:t>
            </a:r>
            <a:r>
              <a:rPr dirty="0" sz="1500" spc="-150" b="1">
                <a:solidFill>
                  <a:srgbClr val="FFFFFF"/>
                </a:solidFill>
                <a:latin typeface="Arial"/>
                <a:cs typeface="Arial"/>
              </a:rPr>
              <a:t>ứng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tần </a:t>
            </a:r>
            <a:r>
              <a:rPr dirty="0" sz="1500" spc="-175" b="1">
                <a:solidFill>
                  <a:srgbClr val="FFFFFF"/>
                </a:solidFill>
                <a:latin typeface="Arial"/>
                <a:cs typeface="Arial"/>
              </a:rPr>
              <a:t>số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của 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mạch 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C000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299085" marR="283845" indent="-286385">
              <a:lnSpc>
                <a:spcPts val="1620"/>
              </a:lnSpc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thụ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động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sử  </a:t>
            </a:r>
            <a:r>
              <a:rPr dirty="0" sz="1500" spc="-140" b="1">
                <a:solidFill>
                  <a:srgbClr val="FFFFFF"/>
                </a:solidFill>
                <a:latin typeface="Arial"/>
                <a:cs typeface="Arial"/>
              </a:rPr>
              <a:t>dụng</a:t>
            </a:r>
            <a:r>
              <a:rPr dirty="0" sz="15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85" b="1">
                <a:solidFill>
                  <a:srgbClr val="FFFFFF"/>
                </a:solidFill>
                <a:latin typeface="Arial"/>
                <a:cs typeface="Arial"/>
              </a:rPr>
              <a:t>RC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634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195">
                <a:solidFill>
                  <a:srgbClr val="404040"/>
                </a:solidFill>
              </a:rPr>
              <a:t>Mục</a:t>
            </a:r>
            <a:r>
              <a:rPr dirty="0" u="none" sz="4800" spc="-430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tiêu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5588635" cy="138239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khác</a:t>
            </a: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nhau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555" y="3300984"/>
            <a:ext cx="4858512" cy="2948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6695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385">
                <a:solidFill>
                  <a:srgbClr val="404040"/>
                </a:solidFill>
              </a:rPr>
              <a:t>Khái </a:t>
            </a:r>
            <a:r>
              <a:rPr dirty="0" u="none" sz="4800" spc="-210">
                <a:solidFill>
                  <a:srgbClr val="404040"/>
                </a:solidFill>
              </a:rPr>
              <a:t>niệm </a:t>
            </a:r>
            <a:r>
              <a:rPr dirty="0" u="none" sz="4800" spc="-415">
                <a:solidFill>
                  <a:srgbClr val="404040"/>
                </a:solidFill>
              </a:rPr>
              <a:t>và </a:t>
            </a:r>
            <a:r>
              <a:rPr dirty="0" u="none" sz="4800" spc="-275">
                <a:solidFill>
                  <a:srgbClr val="404040"/>
                </a:solidFill>
              </a:rPr>
              <a:t>phân </a:t>
            </a:r>
            <a:r>
              <a:rPr dirty="0" u="none" sz="4800" spc="-190">
                <a:solidFill>
                  <a:srgbClr val="404040"/>
                </a:solidFill>
              </a:rPr>
              <a:t>loại </a:t>
            </a:r>
            <a:r>
              <a:rPr dirty="0" u="none" sz="4800" spc="-330">
                <a:solidFill>
                  <a:srgbClr val="404040"/>
                </a:solidFill>
              </a:rPr>
              <a:t>mạch</a:t>
            </a:r>
            <a:r>
              <a:rPr dirty="0" u="none" sz="4800" spc="-590">
                <a:solidFill>
                  <a:srgbClr val="404040"/>
                </a:solidFill>
              </a:rPr>
              <a:t> </a:t>
            </a:r>
            <a:r>
              <a:rPr dirty="0" u="none" sz="4800" spc="-215">
                <a:solidFill>
                  <a:srgbClr val="404040"/>
                </a:solidFill>
              </a:rPr>
              <a:t>lọc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400512" y="5165200"/>
            <a:ext cx="1113790" cy="720090"/>
          </a:xfrm>
          <a:custGeom>
            <a:avLst/>
            <a:gdLst/>
            <a:ahLst/>
            <a:cxnLst/>
            <a:rect l="l" t="t" r="r" b="b"/>
            <a:pathLst>
              <a:path w="1113790" h="720089">
                <a:moveTo>
                  <a:pt x="0" y="718946"/>
                </a:moveTo>
                <a:lnTo>
                  <a:pt x="10512" y="718946"/>
                </a:lnTo>
                <a:lnTo>
                  <a:pt x="21025" y="718946"/>
                </a:lnTo>
                <a:lnTo>
                  <a:pt x="37846" y="718946"/>
                </a:lnTo>
                <a:lnTo>
                  <a:pt x="67281" y="718946"/>
                </a:lnTo>
                <a:lnTo>
                  <a:pt x="89936" y="714590"/>
                </a:lnTo>
                <a:lnTo>
                  <a:pt x="136237" y="679728"/>
                </a:lnTo>
                <a:lnTo>
                  <a:pt x="160448" y="649214"/>
                </a:lnTo>
                <a:lnTo>
                  <a:pt x="185741" y="609974"/>
                </a:lnTo>
                <a:lnTo>
                  <a:pt x="212398" y="562003"/>
                </a:lnTo>
                <a:lnTo>
                  <a:pt x="240702" y="505298"/>
                </a:lnTo>
                <a:lnTo>
                  <a:pt x="270934" y="439854"/>
                </a:lnTo>
                <a:lnTo>
                  <a:pt x="303376" y="365669"/>
                </a:lnTo>
                <a:lnTo>
                  <a:pt x="330274" y="302205"/>
                </a:lnTo>
                <a:lnTo>
                  <a:pt x="355835" y="244786"/>
                </a:lnTo>
                <a:lnTo>
                  <a:pt x="380183" y="193411"/>
                </a:lnTo>
                <a:lnTo>
                  <a:pt x="403439" y="148080"/>
                </a:lnTo>
                <a:lnTo>
                  <a:pt x="425727" y="108794"/>
                </a:lnTo>
                <a:lnTo>
                  <a:pt x="447170" y="75551"/>
                </a:lnTo>
                <a:lnTo>
                  <a:pt x="488012" y="27198"/>
                </a:lnTo>
                <a:lnTo>
                  <a:pt x="526947" y="3022"/>
                </a:lnTo>
                <a:lnTo>
                  <a:pt x="546006" y="0"/>
                </a:lnTo>
                <a:lnTo>
                  <a:pt x="564958" y="3022"/>
                </a:lnTo>
                <a:lnTo>
                  <a:pt x="603029" y="27198"/>
                </a:lnTo>
                <a:lnTo>
                  <a:pt x="642142" y="75551"/>
                </a:lnTo>
                <a:lnTo>
                  <a:pt x="662397" y="108794"/>
                </a:lnTo>
                <a:lnTo>
                  <a:pt x="683281" y="148080"/>
                </a:lnTo>
                <a:lnTo>
                  <a:pt x="704916" y="193411"/>
                </a:lnTo>
                <a:lnTo>
                  <a:pt x="727427" y="244786"/>
                </a:lnTo>
                <a:lnTo>
                  <a:pt x="750936" y="302205"/>
                </a:lnTo>
                <a:lnTo>
                  <a:pt x="775565" y="365669"/>
                </a:lnTo>
                <a:lnTo>
                  <a:pt x="809590" y="433279"/>
                </a:lnTo>
                <a:lnTo>
                  <a:pt x="840858" y="494508"/>
                </a:lnTo>
                <a:lnTo>
                  <a:pt x="869677" y="549058"/>
                </a:lnTo>
                <a:lnTo>
                  <a:pt x="896355" y="596632"/>
                </a:lnTo>
                <a:lnTo>
                  <a:pt x="921199" y="636933"/>
                </a:lnTo>
                <a:lnTo>
                  <a:pt x="944518" y="669664"/>
                </a:lnTo>
                <a:lnTo>
                  <a:pt x="987807" y="711228"/>
                </a:lnTo>
                <a:lnTo>
                  <a:pt x="1008393" y="719466"/>
                </a:lnTo>
                <a:lnTo>
                  <a:pt x="1028683" y="718946"/>
                </a:lnTo>
                <a:lnTo>
                  <a:pt x="1063176" y="718946"/>
                </a:lnTo>
                <a:lnTo>
                  <a:pt x="1089860" y="718946"/>
                </a:lnTo>
                <a:lnTo>
                  <a:pt x="1107083" y="718946"/>
                </a:lnTo>
                <a:lnTo>
                  <a:pt x="1113191" y="718946"/>
                </a:lnTo>
              </a:path>
            </a:pathLst>
          </a:custGeom>
          <a:ln w="16709">
            <a:solidFill>
              <a:srgbClr val="0088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14879" y="5884146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 h="0">
                <a:moveTo>
                  <a:pt x="1652865" y="0"/>
                </a:moveTo>
                <a:lnTo>
                  <a:pt x="0" y="0"/>
                </a:lnTo>
              </a:path>
            </a:pathLst>
          </a:custGeom>
          <a:ln w="1665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0512" y="4740512"/>
            <a:ext cx="0" cy="1278255"/>
          </a:xfrm>
          <a:custGeom>
            <a:avLst/>
            <a:gdLst/>
            <a:ahLst/>
            <a:cxnLst/>
            <a:rect l="l" t="t" r="r" b="b"/>
            <a:pathLst>
              <a:path w="0" h="1278254">
                <a:moveTo>
                  <a:pt x="0" y="0"/>
                </a:moveTo>
                <a:lnTo>
                  <a:pt x="0" y="1277893"/>
                </a:lnTo>
              </a:path>
            </a:pathLst>
          </a:custGeom>
          <a:ln w="1682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71775" y="5753358"/>
            <a:ext cx="7302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0" i="1">
                <a:solidFill>
                  <a:srgbClr val="23201D"/>
                </a:solidFill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66872" y="4673368"/>
            <a:ext cx="50800" cy="100965"/>
          </a:xfrm>
          <a:custGeom>
            <a:avLst/>
            <a:gdLst/>
            <a:ahLst/>
            <a:cxnLst/>
            <a:rect l="l" t="t" r="r" b="b"/>
            <a:pathLst>
              <a:path w="50800" h="100964">
                <a:moveTo>
                  <a:pt x="33640" y="0"/>
                </a:moveTo>
                <a:lnTo>
                  <a:pt x="0" y="100444"/>
                </a:lnTo>
                <a:lnTo>
                  <a:pt x="50461" y="100444"/>
                </a:lnTo>
                <a:lnTo>
                  <a:pt x="3364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50924" y="5850337"/>
            <a:ext cx="84455" cy="67310"/>
          </a:xfrm>
          <a:custGeom>
            <a:avLst/>
            <a:gdLst/>
            <a:ahLst/>
            <a:cxnLst/>
            <a:rect l="l" t="t" r="r" b="b"/>
            <a:pathLst>
              <a:path w="84454" h="67310">
                <a:moveTo>
                  <a:pt x="0" y="0"/>
                </a:moveTo>
                <a:lnTo>
                  <a:pt x="0" y="67129"/>
                </a:lnTo>
                <a:lnTo>
                  <a:pt x="84102" y="33808"/>
                </a:lnTo>
                <a:lnTo>
                  <a:pt x="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10592" y="4959034"/>
            <a:ext cx="1652905" cy="895985"/>
          </a:xfrm>
          <a:custGeom>
            <a:avLst/>
            <a:gdLst/>
            <a:ahLst/>
            <a:cxnLst/>
            <a:rect l="l" t="t" r="r" b="b"/>
            <a:pathLst>
              <a:path w="1652904" h="895985">
                <a:moveTo>
                  <a:pt x="0" y="0"/>
                </a:moveTo>
                <a:lnTo>
                  <a:pt x="42694" y="48"/>
                </a:lnTo>
                <a:lnTo>
                  <a:pt x="95046" y="388"/>
                </a:lnTo>
                <a:lnTo>
                  <a:pt x="152368" y="1312"/>
                </a:lnTo>
                <a:lnTo>
                  <a:pt x="209973" y="3110"/>
                </a:lnTo>
                <a:lnTo>
                  <a:pt x="263175" y="6075"/>
                </a:lnTo>
                <a:lnTo>
                  <a:pt x="307288" y="10498"/>
                </a:lnTo>
                <a:lnTo>
                  <a:pt x="337625" y="16670"/>
                </a:lnTo>
                <a:lnTo>
                  <a:pt x="356000" y="16279"/>
                </a:lnTo>
                <a:lnTo>
                  <a:pt x="393369" y="40200"/>
                </a:lnTo>
                <a:lnTo>
                  <a:pt x="432590" y="96558"/>
                </a:lnTo>
                <a:lnTo>
                  <a:pt x="453281" y="136713"/>
                </a:lnTo>
                <a:lnTo>
                  <a:pt x="474898" y="184752"/>
                </a:lnTo>
                <a:lnTo>
                  <a:pt x="497597" y="240598"/>
                </a:lnTo>
                <a:lnTo>
                  <a:pt x="521530" y="304179"/>
                </a:lnTo>
                <a:lnTo>
                  <a:pt x="546853" y="375417"/>
                </a:lnTo>
                <a:lnTo>
                  <a:pt x="573720" y="454237"/>
                </a:lnTo>
                <a:lnTo>
                  <a:pt x="598319" y="519526"/>
                </a:lnTo>
                <a:lnTo>
                  <a:pt x="621674" y="579592"/>
                </a:lnTo>
                <a:lnTo>
                  <a:pt x="643883" y="634435"/>
                </a:lnTo>
                <a:lnTo>
                  <a:pt x="665043" y="684055"/>
                </a:lnTo>
                <a:lnTo>
                  <a:pt x="685251" y="728451"/>
                </a:lnTo>
                <a:lnTo>
                  <a:pt x="704605" y="767625"/>
                </a:lnTo>
                <a:lnTo>
                  <a:pt x="723203" y="801575"/>
                </a:lnTo>
                <a:lnTo>
                  <a:pt x="758522" y="853807"/>
                </a:lnTo>
                <a:lnTo>
                  <a:pt x="791987" y="885145"/>
                </a:lnTo>
                <a:lnTo>
                  <a:pt x="824380" y="895592"/>
                </a:lnTo>
                <a:lnTo>
                  <a:pt x="840419" y="892980"/>
                </a:lnTo>
                <a:lnTo>
                  <a:pt x="872667" y="872088"/>
                </a:lnTo>
                <a:lnTo>
                  <a:pt x="905796" y="830303"/>
                </a:lnTo>
                <a:lnTo>
                  <a:pt x="940586" y="767625"/>
                </a:lnTo>
                <a:lnTo>
                  <a:pt x="958848" y="728451"/>
                </a:lnTo>
                <a:lnTo>
                  <a:pt x="977817" y="684055"/>
                </a:lnTo>
                <a:lnTo>
                  <a:pt x="997593" y="634435"/>
                </a:lnTo>
                <a:lnTo>
                  <a:pt x="1018272" y="579592"/>
                </a:lnTo>
                <a:lnTo>
                  <a:pt x="1039951" y="519526"/>
                </a:lnTo>
                <a:lnTo>
                  <a:pt x="1062730" y="454237"/>
                </a:lnTo>
                <a:lnTo>
                  <a:pt x="1089496" y="375417"/>
                </a:lnTo>
                <a:lnTo>
                  <a:pt x="1114736" y="304179"/>
                </a:lnTo>
                <a:lnTo>
                  <a:pt x="1138603" y="240598"/>
                </a:lnTo>
                <a:lnTo>
                  <a:pt x="1161250" y="184752"/>
                </a:lnTo>
                <a:lnTo>
                  <a:pt x="1182829" y="136713"/>
                </a:lnTo>
                <a:lnTo>
                  <a:pt x="1203492" y="96558"/>
                </a:lnTo>
                <a:lnTo>
                  <a:pt x="1242683" y="40200"/>
                </a:lnTo>
                <a:lnTo>
                  <a:pt x="1280044" y="16279"/>
                </a:lnTo>
                <a:lnTo>
                  <a:pt x="1298419" y="16670"/>
                </a:lnTo>
                <a:lnTo>
                  <a:pt x="1334984" y="10498"/>
                </a:lnTo>
                <a:lnTo>
                  <a:pt x="1383559" y="6075"/>
                </a:lnTo>
                <a:lnTo>
                  <a:pt x="1439753" y="3110"/>
                </a:lnTo>
                <a:lnTo>
                  <a:pt x="1499173" y="1312"/>
                </a:lnTo>
                <a:lnTo>
                  <a:pt x="1557426" y="388"/>
                </a:lnTo>
                <a:lnTo>
                  <a:pt x="1610121" y="48"/>
                </a:lnTo>
                <a:lnTo>
                  <a:pt x="1652865" y="0"/>
                </a:lnTo>
              </a:path>
            </a:pathLst>
          </a:custGeom>
          <a:ln w="16698">
            <a:solidFill>
              <a:srgbClr val="0088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08747" y="5884146"/>
            <a:ext cx="1939289" cy="0"/>
          </a:xfrm>
          <a:custGeom>
            <a:avLst/>
            <a:gdLst/>
            <a:ahLst/>
            <a:cxnLst/>
            <a:rect l="l" t="t" r="r" b="b"/>
            <a:pathLst>
              <a:path w="1939290" h="0">
                <a:moveTo>
                  <a:pt x="1938813" y="0"/>
                </a:moveTo>
                <a:lnTo>
                  <a:pt x="0" y="0"/>
                </a:lnTo>
              </a:path>
            </a:pathLst>
          </a:custGeom>
          <a:ln w="1665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93772" y="4740512"/>
            <a:ext cx="0" cy="1278255"/>
          </a:xfrm>
          <a:custGeom>
            <a:avLst/>
            <a:gdLst/>
            <a:ahLst/>
            <a:cxnLst/>
            <a:rect l="l" t="t" r="r" b="b"/>
            <a:pathLst>
              <a:path w="0" h="1278254">
                <a:moveTo>
                  <a:pt x="0" y="0"/>
                </a:moveTo>
                <a:lnTo>
                  <a:pt x="0" y="1277893"/>
                </a:lnTo>
              </a:path>
            </a:pathLst>
          </a:custGeom>
          <a:ln w="1682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55643" y="5756299"/>
            <a:ext cx="7302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0" i="1">
                <a:solidFill>
                  <a:srgbClr val="23201D"/>
                </a:solidFill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60131" y="4690038"/>
            <a:ext cx="67310" cy="84455"/>
          </a:xfrm>
          <a:custGeom>
            <a:avLst/>
            <a:gdLst/>
            <a:ahLst/>
            <a:cxnLst/>
            <a:rect l="l" t="t" r="r" b="b"/>
            <a:pathLst>
              <a:path w="67309" h="84454">
                <a:moveTo>
                  <a:pt x="33640" y="0"/>
                </a:moveTo>
                <a:lnTo>
                  <a:pt x="0" y="84275"/>
                </a:lnTo>
                <a:lnTo>
                  <a:pt x="67281" y="84275"/>
                </a:lnTo>
                <a:lnTo>
                  <a:pt x="3364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430739" y="5866998"/>
            <a:ext cx="84455" cy="50800"/>
          </a:xfrm>
          <a:custGeom>
            <a:avLst/>
            <a:gdLst/>
            <a:ahLst/>
            <a:cxnLst/>
            <a:rect l="l" t="t" r="r" b="b"/>
            <a:pathLst>
              <a:path w="84454" h="50800">
                <a:moveTo>
                  <a:pt x="0" y="0"/>
                </a:moveTo>
                <a:lnTo>
                  <a:pt x="0" y="50469"/>
                </a:lnTo>
                <a:lnTo>
                  <a:pt x="84102" y="17148"/>
                </a:lnTo>
                <a:lnTo>
                  <a:pt x="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70033" y="5156746"/>
            <a:ext cx="1534795" cy="727710"/>
          </a:xfrm>
          <a:custGeom>
            <a:avLst/>
            <a:gdLst/>
            <a:ahLst/>
            <a:cxnLst/>
            <a:rect l="l" t="t" r="r" b="b"/>
            <a:pathLst>
              <a:path w="1534795" h="727710">
                <a:moveTo>
                  <a:pt x="0" y="727399"/>
                </a:moveTo>
                <a:lnTo>
                  <a:pt x="108633" y="727399"/>
                </a:lnTo>
                <a:lnTo>
                  <a:pt x="172941" y="727399"/>
                </a:lnTo>
                <a:lnTo>
                  <a:pt x="218213" y="727399"/>
                </a:lnTo>
                <a:lnTo>
                  <a:pt x="269735" y="727399"/>
                </a:lnTo>
                <a:lnTo>
                  <a:pt x="315577" y="727165"/>
                </a:lnTo>
                <a:lnTo>
                  <a:pt x="366597" y="725530"/>
                </a:lnTo>
                <a:lnTo>
                  <a:pt x="419498" y="721092"/>
                </a:lnTo>
                <a:lnTo>
                  <a:pt x="470980" y="712448"/>
                </a:lnTo>
                <a:lnTo>
                  <a:pt x="517745" y="698198"/>
                </a:lnTo>
                <a:lnTo>
                  <a:pt x="556494" y="676940"/>
                </a:lnTo>
                <a:lnTo>
                  <a:pt x="591186" y="641096"/>
                </a:lnTo>
                <a:lnTo>
                  <a:pt x="619571" y="592717"/>
                </a:lnTo>
                <a:lnTo>
                  <a:pt x="641648" y="544432"/>
                </a:lnTo>
                <a:lnTo>
                  <a:pt x="657417" y="508870"/>
                </a:lnTo>
                <a:lnTo>
                  <a:pt x="668087" y="486049"/>
                </a:lnTo>
                <a:lnTo>
                  <a:pt x="685896" y="446497"/>
                </a:lnTo>
                <a:lnTo>
                  <a:pt x="708465" y="395532"/>
                </a:lnTo>
                <a:lnTo>
                  <a:pt x="733413" y="338469"/>
                </a:lnTo>
                <a:lnTo>
                  <a:pt x="758361" y="280625"/>
                </a:lnTo>
                <a:lnTo>
                  <a:pt x="780929" y="227318"/>
                </a:lnTo>
                <a:lnTo>
                  <a:pt x="798739" y="183863"/>
                </a:lnTo>
                <a:lnTo>
                  <a:pt x="809409" y="155579"/>
                </a:lnTo>
                <a:lnTo>
                  <a:pt x="825178" y="125017"/>
                </a:lnTo>
                <a:lnTo>
                  <a:pt x="847255" y="88205"/>
                </a:lnTo>
                <a:lnTo>
                  <a:pt x="875640" y="51392"/>
                </a:lnTo>
                <a:lnTo>
                  <a:pt x="910332" y="20830"/>
                </a:lnTo>
                <a:lnTo>
                  <a:pt x="967633" y="0"/>
                </a:lnTo>
                <a:lnTo>
                  <a:pt x="993719" y="2079"/>
                </a:lnTo>
                <a:lnTo>
                  <a:pt x="1011863" y="4160"/>
                </a:lnTo>
                <a:lnTo>
                  <a:pt x="1107719" y="4160"/>
                </a:lnTo>
                <a:lnTo>
                  <a:pt x="1285804" y="4160"/>
                </a:lnTo>
                <a:lnTo>
                  <a:pt x="1457580" y="4160"/>
                </a:lnTo>
                <a:lnTo>
                  <a:pt x="1534514" y="4160"/>
                </a:lnTo>
              </a:path>
            </a:pathLst>
          </a:custGeom>
          <a:ln w="16690">
            <a:solidFill>
              <a:srgbClr val="0088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84400" y="5884146"/>
            <a:ext cx="1990089" cy="0"/>
          </a:xfrm>
          <a:custGeom>
            <a:avLst/>
            <a:gdLst/>
            <a:ahLst/>
            <a:cxnLst/>
            <a:rect l="l" t="t" r="r" b="b"/>
            <a:pathLst>
              <a:path w="1990089" h="0">
                <a:moveTo>
                  <a:pt x="1989882" y="0"/>
                </a:moveTo>
                <a:lnTo>
                  <a:pt x="0" y="0"/>
                </a:lnTo>
              </a:path>
            </a:pathLst>
          </a:custGeom>
          <a:ln w="1665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70033" y="4740512"/>
            <a:ext cx="0" cy="1278255"/>
          </a:xfrm>
          <a:custGeom>
            <a:avLst/>
            <a:gdLst/>
            <a:ahLst/>
            <a:cxnLst/>
            <a:rect l="l" t="t" r="r" b="b"/>
            <a:pathLst>
              <a:path w="0" h="1278254">
                <a:moveTo>
                  <a:pt x="0" y="0"/>
                </a:moveTo>
                <a:lnTo>
                  <a:pt x="0" y="1277893"/>
                </a:lnTo>
              </a:path>
            </a:pathLst>
          </a:custGeom>
          <a:ln w="1682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676083" y="5757278"/>
            <a:ext cx="7302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0" i="1">
                <a:solidFill>
                  <a:srgbClr val="23201D"/>
                </a:solidFill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60045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528320" algn="l"/>
              </a:tabLst>
            </a:pPr>
            <a:r>
              <a:rPr dirty="0" spc="-80"/>
              <a:t>Mạch </a:t>
            </a:r>
            <a:r>
              <a:rPr dirty="0" spc="-70"/>
              <a:t>lọc </a:t>
            </a:r>
            <a:r>
              <a:rPr dirty="0" spc="-75"/>
              <a:t>là </a:t>
            </a:r>
            <a:r>
              <a:rPr dirty="0" spc="-110"/>
              <a:t>mạch </a:t>
            </a:r>
            <a:r>
              <a:rPr dirty="0" spc="-114"/>
              <a:t>có </a:t>
            </a:r>
            <a:r>
              <a:rPr dirty="0" spc="-20"/>
              <a:t>thể </a:t>
            </a:r>
            <a:r>
              <a:rPr dirty="0" spc="-114"/>
              <a:t>chặn </a:t>
            </a:r>
            <a:r>
              <a:rPr dirty="0" spc="-110"/>
              <a:t>hoặc </a:t>
            </a:r>
            <a:r>
              <a:rPr dirty="0" spc="-70"/>
              <a:t>làm </a:t>
            </a:r>
            <a:r>
              <a:rPr dirty="0" spc="-105"/>
              <a:t>yếu </a:t>
            </a:r>
            <a:r>
              <a:rPr dirty="0" spc="-160"/>
              <a:t>các </a:t>
            </a:r>
            <a:r>
              <a:rPr dirty="0" spc="-45"/>
              <a:t>tần </a:t>
            </a:r>
            <a:r>
              <a:rPr dirty="0" spc="-140"/>
              <a:t>số </a:t>
            </a:r>
            <a:r>
              <a:rPr dirty="0" spc="-95"/>
              <a:t>không mong </a:t>
            </a:r>
            <a:r>
              <a:rPr dirty="0" spc="-70"/>
              <a:t>muốn </a:t>
            </a:r>
            <a:r>
              <a:rPr dirty="0" spc="-155"/>
              <a:t>và  </a:t>
            </a:r>
            <a:r>
              <a:rPr dirty="0" spc="-90"/>
              <a:t>cho </a:t>
            </a:r>
            <a:r>
              <a:rPr dirty="0" spc="-160"/>
              <a:t>các </a:t>
            </a:r>
            <a:r>
              <a:rPr dirty="0" spc="-45"/>
              <a:t>tần </a:t>
            </a:r>
            <a:r>
              <a:rPr dirty="0" spc="-140"/>
              <a:t>số </a:t>
            </a:r>
            <a:r>
              <a:rPr dirty="0" spc="-90"/>
              <a:t>mong </a:t>
            </a:r>
            <a:r>
              <a:rPr dirty="0" spc="-60"/>
              <a:t>muốn </a:t>
            </a:r>
            <a:r>
              <a:rPr dirty="0"/>
              <a:t>đi </a:t>
            </a:r>
            <a:r>
              <a:rPr dirty="0" spc="-95"/>
              <a:t>qua </a:t>
            </a:r>
            <a:r>
              <a:rPr dirty="0" spc="-90"/>
              <a:t>với </a:t>
            </a:r>
            <a:r>
              <a:rPr dirty="0" spc="-180"/>
              <a:t>sự </a:t>
            </a:r>
            <a:r>
              <a:rPr dirty="0" spc="-130"/>
              <a:t>suy </a:t>
            </a:r>
            <a:r>
              <a:rPr dirty="0" spc="-95"/>
              <a:t>hao </a:t>
            </a:r>
            <a:r>
              <a:rPr dirty="0" spc="-40"/>
              <a:t>thấp</a:t>
            </a:r>
            <a:r>
              <a:rPr dirty="0" spc="-280"/>
              <a:t> </a:t>
            </a:r>
            <a:r>
              <a:rPr dirty="0" spc="-50"/>
              <a:t>nhất.</a:t>
            </a:r>
          </a:p>
          <a:p>
            <a:pPr marL="526415" indent="-257810">
              <a:lnSpc>
                <a:spcPct val="10000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527050" algn="l"/>
              </a:tabLst>
            </a:pPr>
            <a:r>
              <a:rPr dirty="0" spc="-220"/>
              <a:t>Có </a:t>
            </a:r>
            <a:r>
              <a:rPr dirty="0" spc="-60"/>
              <a:t>nhiều </a:t>
            </a:r>
            <a:r>
              <a:rPr dirty="0" spc="-45"/>
              <a:t>loại </a:t>
            </a:r>
            <a:r>
              <a:rPr dirty="0" spc="-110"/>
              <a:t>mạch </a:t>
            </a:r>
            <a:r>
              <a:rPr dirty="0" spc="-65"/>
              <a:t>lọc </a:t>
            </a:r>
            <a:r>
              <a:rPr dirty="0" spc="-114"/>
              <a:t>khác</a:t>
            </a:r>
            <a:r>
              <a:rPr dirty="0" spc="-160"/>
              <a:t> </a:t>
            </a:r>
            <a:r>
              <a:rPr dirty="0" spc="-75"/>
              <a:t>nhau:</a:t>
            </a:r>
          </a:p>
          <a:p>
            <a:pPr lvl="1" marL="704215" indent="-234315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Font typeface="Wingdings"/>
              <a:buChar char=""/>
              <a:tabLst>
                <a:tab pos="704850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hạ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800">
              <a:latin typeface="Arial"/>
              <a:cs typeface="Arial"/>
            </a:endParaRPr>
          </a:p>
          <a:p>
            <a:pPr lvl="1" marL="704215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704850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thượng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800">
              <a:latin typeface="Arial"/>
              <a:cs typeface="Arial"/>
            </a:endParaRPr>
          </a:p>
          <a:p>
            <a:pPr lvl="1" marL="704215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704850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dải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800">
              <a:latin typeface="Arial"/>
              <a:cs typeface="Arial"/>
            </a:endParaRPr>
          </a:p>
          <a:p>
            <a:pPr lvl="1" marL="704215" indent="-234315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704850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loc </a:t>
            </a:r>
            <a:r>
              <a:rPr dirty="0" sz="1800" spc="20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endParaRPr sz="1800">
              <a:latin typeface="Arial"/>
              <a:cs typeface="Arial"/>
            </a:endParaRPr>
          </a:p>
          <a:p>
            <a:pPr marL="255904"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994535">
              <a:lnSpc>
                <a:spcPct val="100000"/>
              </a:lnSpc>
              <a:tabLst>
                <a:tab pos="4608830" algn="l"/>
                <a:tab pos="6885305" algn="l"/>
              </a:tabLst>
            </a:pPr>
            <a:r>
              <a:rPr dirty="0" sz="1300" spc="-5">
                <a:solidFill>
                  <a:srgbClr val="23201D"/>
                </a:solidFill>
                <a:latin typeface="Times New Roman"/>
                <a:cs typeface="Times New Roman"/>
              </a:rPr>
              <a:t>Gain	Gain	Gain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3212" y="4690038"/>
            <a:ext cx="50800" cy="84455"/>
          </a:xfrm>
          <a:custGeom>
            <a:avLst/>
            <a:gdLst/>
            <a:ahLst/>
            <a:cxnLst/>
            <a:rect l="l" t="t" r="r" b="b"/>
            <a:pathLst>
              <a:path w="50800" h="84454">
                <a:moveTo>
                  <a:pt x="16820" y="0"/>
                </a:moveTo>
                <a:lnTo>
                  <a:pt x="0" y="84275"/>
                </a:lnTo>
                <a:lnTo>
                  <a:pt x="50461" y="84275"/>
                </a:lnTo>
                <a:lnTo>
                  <a:pt x="1682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40641" y="5866998"/>
            <a:ext cx="101600" cy="50800"/>
          </a:xfrm>
          <a:custGeom>
            <a:avLst/>
            <a:gdLst/>
            <a:ahLst/>
            <a:cxnLst/>
            <a:rect l="l" t="t" r="r" b="b"/>
            <a:pathLst>
              <a:path w="101600" h="50800">
                <a:moveTo>
                  <a:pt x="0" y="0"/>
                </a:moveTo>
                <a:lnTo>
                  <a:pt x="0" y="50469"/>
                </a:lnTo>
                <a:lnTo>
                  <a:pt x="101125" y="17148"/>
                </a:lnTo>
                <a:lnTo>
                  <a:pt x="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6773" y="5127104"/>
            <a:ext cx="1129665" cy="757555"/>
          </a:xfrm>
          <a:custGeom>
            <a:avLst/>
            <a:gdLst/>
            <a:ahLst/>
            <a:cxnLst/>
            <a:rect l="l" t="t" r="r" b="b"/>
            <a:pathLst>
              <a:path w="1129665" h="757554">
                <a:moveTo>
                  <a:pt x="0" y="0"/>
                </a:moveTo>
                <a:lnTo>
                  <a:pt x="148858" y="10176"/>
                </a:lnTo>
                <a:lnTo>
                  <a:pt x="242356" y="17089"/>
                </a:lnTo>
                <a:lnTo>
                  <a:pt x="319987" y="23908"/>
                </a:lnTo>
                <a:lnTo>
                  <a:pt x="421241" y="33802"/>
                </a:lnTo>
                <a:lnTo>
                  <a:pt x="494852" y="48318"/>
                </a:lnTo>
                <a:lnTo>
                  <a:pt x="557563" y="63082"/>
                </a:lnTo>
                <a:lnTo>
                  <a:pt x="610837" y="78401"/>
                </a:lnTo>
                <a:lnTo>
                  <a:pt x="656137" y="94586"/>
                </a:lnTo>
                <a:lnTo>
                  <a:pt x="694927" y="111945"/>
                </a:lnTo>
                <a:lnTo>
                  <a:pt x="728669" y="130786"/>
                </a:lnTo>
                <a:lnTo>
                  <a:pt x="779205" y="176944"/>
                </a:lnTo>
                <a:lnTo>
                  <a:pt x="801958" y="213710"/>
                </a:lnTo>
                <a:lnTo>
                  <a:pt x="826302" y="258756"/>
                </a:lnTo>
                <a:lnTo>
                  <a:pt x="851453" y="309127"/>
                </a:lnTo>
                <a:lnTo>
                  <a:pt x="876627" y="361864"/>
                </a:lnTo>
                <a:lnTo>
                  <a:pt x="901042" y="414008"/>
                </a:lnTo>
                <a:lnTo>
                  <a:pt x="923914" y="462603"/>
                </a:lnTo>
                <a:lnTo>
                  <a:pt x="944459" y="504690"/>
                </a:lnTo>
                <a:lnTo>
                  <a:pt x="967076" y="549554"/>
                </a:lnTo>
                <a:lnTo>
                  <a:pt x="991461" y="595865"/>
                </a:lnTo>
                <a:lnTo>
                  <a:pt x="1017318" y="640992"/>
                </a:lnTo>
                <a:lnTo>
                  <a:pt x="1044354" y="682305"/>
                </a:lnTo>
                <a:lnTo>
                  <a:pt x="1072274" y="717172"/>
                </a:lnTo>
                <a:lnTo>
                  <a:pt x="1100782" y="742961"/>
                </a:lnTo>
                <a:lnTo>
                  <a:pt x="1129586" y="757041"/>
                </a:lnTo>
              </a:path>
            </a:pathLst>
          </a:custGeom>
          <a:ln w="16712">
            <a:solidFill>
              <a:srgbClr val="0088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1149" y="5884146"/>
            <a:ext cx="1670050" cy="0"/>
          </a:xfrm>
          <a:custGeom>
            <a:avLst/>
            <a:gdLst/>
            <a:ahLst/>
            <a:cxnLst/>
            <a:rect l="l" t="t" r="r" b="b"/>
            <a:pathLst>
              <a:path w="1670050" h="0">
                <a:moveTo>
                  <a:pt x="1669615" y="0"/>
                </a:moveTo>
                <a:lnTo>
                  <a:pt x="0" y="0"/>
                </a:lnTo>
              </a:path>
            </a:pathLst>
          </a:custGeom>
          <a:ln w="1665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6773" y="4723841"/>
            <a:ext cx="0" cy="1294765"/>
          </a:xfrm>
          <a:custGeom>
            <a:avLst/>
            <a:gdLst/>
            <a:ahLst/>
            <a:cxnLst/>
            <a:rect l="l" t="t" r="r" b="b"/>
            <a:pathLst>
              <a:path w="0" h="1294764">
                <a:moveTo>
                  <a:pt x="0" y="0"/>
                </a:moveTo>
                <a:lnTo>
                  <a:pt x="0" y="1294564"/>
                </a:lnTo>
              </a:path>
            </a:pathLst>
          </a:custGeom>
          <a:ln w="16829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059931" y="5758259"/>
            <a:ext cx="7302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0" i="1">
                <a:solidFill>
                  <a:srgbClr val="23201D"/>
                </a:solidFill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2109" y="4442127"/>
            <a:ext cx="34607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5">
                <a:solidFill>
                  <a:srgbClr val="23201D"/>
                </a:solidFill>
                <a:latin typeface="Times New Roman"/>
                <a:cs typeface="Times New Roman"/>
              </a:rPr>
              <a:t>G</a:t>
            </a:r>
            <a:r>
              <a:rPr dirty="0" sz="1300" spc="-50">
                <a:solidFill>
                  <a:srgbClr val="23201D"/>
                </a:solidFill>
                <a:latin typeface="Times New Roman"/>
                <a:cs typeface="Times New Roman"/>
              </a:rPr>
              <a:t>a</a:t>
            </a:r>
            <a:r>
              <a:rPr dirty="0" sz="1300" spc="30">
                <a:solidFill>
                  <a:srgbClr val="23201D"/>
                </a:solidFill>
                <a:latin typeface="Times New Roman"/>
                <a:cs typeface="Times New Roman"/>
              </a:rPr>
              <a:t>i</a:t>
            </a:r>
            <a:r>
              <a:rPr dirty="0" sz="1300" spc="15">
                <a:solidFill>
                  <a:srgbClr val="23201D"/>
                </a:solidFill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7104" y="5866998"/>
            <a:ext cx="101600" cy="50800"/>
          </a:xfrm>
          <a:custGeom>
            <a:avLst/>
            <a:gdLst/>
            <a:ahLst/>
            <a:cxnLst/>
            <a:rect l="l" t="t" r="r" b="b"/>
            <a:pathLst>
              <a:path w="101600" h="50800">
                <a:moveTo>
                  <a:pt x="0" y="0"/>
                </a:moveTo>
                <a:lnTo>
                  <a:pt x="0" y="50469"/>
                </a:lnTo>
                <a:lnTo>
                  <a:pt x="100983" y="17148"/>
                </a:lnTo>
                <a:lnTo>
                  <a:pt x="0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43114" y="4690038"/>
            <a:ext cx="67945" cy="83820"/>
          </a:xfrm>
          <a:custGeom>
            <a:avLst/>
            <a:gdLst/>
            <a:ahLst/>
            <a:cxnLst/>
            <a:rect l="l" t="t" r="r" b="b"/>
            <a:pathLst>
              <a:path w="67945" h="83820">
                <a:moveTo>
                  <a:pt x="33659" y="0"/>
                </a:moveTo>
                <a:lnTo>
                  <a:pt x="0" y="83774"/>
                </a:lnTo>
                <a:lnTo>
                  <a:pt x="67320" y="83774"/>
                </a:lnTo>
                <a:lnTo>
                  <a:pt x="33659" y="0"/>
                </a:lnTo>
                <a:close/>
              </a:path>
            </a:pathLst>
          </a:custGeom>
          <a:solidFill>
            <a:srgbClr val="2320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075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405">
                <a:solidFill>
                  <a:srgbClr val="404040"/>
                </a:solidFill>
              </a:rPr>
              <a:t>Đáp </a:t>
            </a:r>
            <a:r>
              <a:rPr dirty="0" u="none" sz="4800" spc="-380">
                <a:solidFill>
                  <a:srgbClr val="404040"/>
                </a:solidFill>
              </a:rPr>
              <a:t>ứng </a:t>
            </a:r>
            <a:r>
              <a:rPr dirty="0" u="none" sz="4800" spc="-155">
                <a:solidFill>
                  <a:srgbClr val="404040"/>
                </a:solidFill>
              </a:rPr>
              <a:t>tần </a:t>
            </a:r>
            <a:r>
              <a:rPr dirty="0" u="none" sz="4800" spc="-380">
                <a:solidFill>
                  <a:srgbClr val="404040"/>
                </a:solidFill>
              </a:rPr>
              <a:t>số </a:t>
            </a:r>
            <a:r>
              <a:rPr dirty="0" u="none" sz="4800" spc="-350">
                <a:solidFill>
                  <a:srgbClr val="404040"/>
                </a:solidFill>
              </a:rPr>
              <a:t>của </a:t>
            </a:r>
            <a:r>
              <a:rPr dirty="0" u="none" sz="4800" spc="-330">
                <a:solidFill>
                  <a:srgbClr val="404040"/>
                </a:solidFill>
              </a:rPr>
              <a:t>mạch</a:t>
            </a:r>
            <a:r>
              <a:rPr dirty="0" u="none" sz="4800" spc="-430">
                <a:solidFill>
                  <a:srgbClr val="404040"/>
                </a:solidFill>
              </a:rPr>
              <a:t> </a:t>
            </a:r>
            <a:r>
              <a:rPr dirty="0" u="none" sz="4800" spc="-215">
                <a:solidFill>
                  <a:srgbClr val="404040"/>
                </a:solidFill>
              </a:rPr>
              <a:t>lọc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7400" cy="13328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việc khảo sát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mạch,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linh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thay</a:t>
            </a:r>
            <a:r>
              <a:rPr dirty="0" sz="2000" spc="-3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đổi.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ts val="228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khảo sát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mà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dirty="0" sz="2000" spc="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khác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3061" y="3498772"/>
            <a:ext cx="8782149" cy="252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2694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hạ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797" y="3210869"/>
            <a:ext cx="3059871" cy="1645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54962" y="5147690"/>
            <a:ext cx="933774" cy="409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2694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hạ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88764" y="2881429"/>
            <a:ext cx="4800599" cy="276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3797" y="3210869"/>
            <a:ext cx="3059871" cy="1645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54962" y="5147690"/>
            <a:ext cx="933774" cy="4095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7844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thượng</a:t>
            </a:r>
            <a:r>
              <a:rPr dirty="0" sz="20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239" y="2881865"/>
            <a:ext cx="2623019" cy="1490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3482" y="4838319"/>
            <a:ext cx="933774" cy="409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7844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thượng</a:t>
            </a:r>
            <a:r>
              <a:rPr dirty="0" sz="20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239" y="2881865"/>
            <a:ext cx="2623019" cy="1490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00550" y="2783074"/>
            <a:ext cx="4773083" cy="27040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43482" y="4838319"/>
            <a:ext cx="933774" cy="4095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3272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dải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9339" y="2878043"/>
            <a:ext cx="4228745" cy="2276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3272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dải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9339" y="2878043"/>
            <a:ext cx="4228745" cy="2276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4679" y="3193897"/>
            <a:ext cx="3724602" cy="19808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4580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3482" y="4838319"/>
            <a:ext cx="933774" cy="409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06440" y="1772411"/>
            <a:ext cx="2772156" cy="4392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545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 </a:t>
            </a:r>
            <a:r>
              <a:rPr dirty="0" u="none" sz="4800" spc="-135">
                <a:solidFill>
                  <a:srgbClr val="404040"/>
                </a:solidFill>
              </a:rPr>
              <a:t>linh </a:t>
            </a:r>
            <a:r>
              <a:rPr dirty="0" u="none" sz="4800" spc="-229">
                <a:solidFill>
                  <a:srgbClr val="404040"/>
                </a:solidFill>
              </a:rPr>
              <a:t>kiện</a:t>
            </a:r>
            <a:r>
              <a:rPr dirty="0" u="none" sz="4800" spc="-730">
                <a:solidFill>
                  <a:srgbClr val="404040"/>
                </a:solidFill>
              </a:rPr>
              <a:t> </a:t>
            </a:r>
            <a:r>
              <a:rPr dirty="0" u="none" sz="4800" spc="-1005">
                <a:solidFill>
                  <a:srgbClr val="404040"/>
                </a:solidFill>
              </a:rPr>
              <a:t>RC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4599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30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thông: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06440" y="1772411"/>
            <a:ext cx="2772156" cy="439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3291" y="2607530"/>
            <a:ext cx="3437840" cy="2418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  <a:tabLst>
                <a:tab pos="8117840" algn="l"/>
              </a:tabLst>
            </a:pPr>
            <a:r>
              <a:rPr dirty="0" spc="-590"/>
              <a:t>Thank</a:t>
            </a:r>
            <a:r>
              <a:rPr dirty="0" spc="-610"/>
              <a:t> </a:t>
            </a:r>
            <a:r>
              <a:rPr dirty="0" spc="-225"/>
              <a:t>you!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2019-03-22T06:03:53Z</dcterms:created>
  <dcterms:modified xsi:type="dcterms:W3CDTF">2019-03-22T06:03:53Z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