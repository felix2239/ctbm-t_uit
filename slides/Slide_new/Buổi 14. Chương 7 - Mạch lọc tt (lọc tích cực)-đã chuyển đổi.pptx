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7425" y="2982544"/>
            <a:ext cx="8131149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9780" y="1884426"/>
            <a:ext cx="8346439" cy="150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Relationship Id="rId4" Type="http://schemas.openxmlformats.org/officeDocument/2006/relationships/image" Target="../media/image55.png"/><Relationship Id="rId5" Type="http://schemas.openxmlformats.org/officeDocument/2006/relationships/image" Target="../media/image56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Relationship Id="rId4" Type="http://schemas.openxmlformats.org/officeDocument/2006/relationships/image" Target="../media/image6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Relationship Id="rId4" Type="http://schemas.openxmlformats.org/officeDocument/2006/relationships/image" Target="../media/image69.png"/><Relationship Id="rId5" Type="http://schemas.openxmlformats.org/officeDocument/2006/relationships/image" Target="../media/image70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jp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Relationship Id="rId3" Type="http://schemas.openxmlformats.org/officeDocument/2006/relationships/image" Target="../media/image7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Relationship Id="rId4" Type="http://schemas.openxmlformats.org/officeDocument/2006/relationships/image" Target="../media/image81.png"/><Relationship Id="rId5" Type="http://schemas.openxmlformats.org/officeDocument/2006/relationships/image" Target="../media/image82.jpg"/><Relationship Id="rId6" Type="http://schemas.openxmlformats.org/officeDocument/2006/relationships/image" Target="../media/image83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Relationship Id="rId3" Type="http://schemas.openxmlformats.org/officeDocument/2006/relationships/image" Target="../media/image85.jpg"/><Relationship Id="rId4" Type="http://schemas.openxmlformats.org/officeDocument/2006/relationships/image" Target="../media/image86.jpg"/><Relationship Id="rId5" Type="http://schemas.openxmlformats.org/officeDocument/2006/relationships/image" Target="../media/image8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jpg"/><Relationship Id="rId3" Type="http://schemas.openxmlformats.org/officeDocument/2006/relationships/image" Target="../media/image89.jpg"/><Relationship Id="rId4" Type="http://schemas.openxmlformats.org/officeDocument/2006/relationships/image" Target="../media/image90.png"/><Relationship Id="rId5" Type="http://schemas.openxmlformats.org/officeDocument/2006/relationships/image" Target="../media/image9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55064" y="2141220"/>
            <a:ext cx="104013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0084" y="510540"/>
            <a:ext cx="6139434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0020" y="1168908"/>
            <a:ext cx="5426202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84701" y="670001"/>
            <a:ext cx="522351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62255" marR="5080" indent="-250190">
              <a:lnSpc>
                <a:spcPts val="5190"/>
              </a:lnSpc>
              <a:spcBef>
                <a:spcPts val="750"/>
              </a:spcBef>
            </a:pP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THIẾT BỊ</a:t>
            </a:r>
            <a:r>
              <a:rPr dirty="0" u="none" sz="4800" spc="-3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VÀ 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MẠCH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ĐIỆN</a:t>
            </a:r>
            <a:r>
              <a:rPr dirty="0" u="none" sz="4800" spc="-16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TỬ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8515" y="2868180"/>
            <a:ext cx="837438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0683" y="2868180"/>
            <a:ext cx="581406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26819" y="2868180"/>
            <a:ext cx="660654" cy="511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30679" y="2868180"/>
            <a:ext cx="645413" cy="5112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0291" y="1999488"/>
            <a:ext cx="1946275" cy="1217930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3600" spc="-405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43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254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800" spc="-150" b="1">
                <a:solidFill>
                  <a:srgbClr val="FFFFFF"/>
                </a:solidFill>
                <a:latin typeface="Arial"/>
                <a:cs typeface="Arial"/>
              </a:rPr>
              <a:t>lọc </a:t>
            </a: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tích</a:t>
            </a:r>
            <a:r>
              <a:rPr dirty="0" sz="18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20" b="1">
                <a:solidFill>
                  <a:srgbClr val="FFFFFF"/>
                </a:solidFill>
                <a:latin typeface="Arial"/>
                <a:cs typeface="Arial"/>
              </a:rPr>
              <a:t>cực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2043" y="3322332"/>
            <a:ext cx="407682" cy="3969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9412" y="3310140"/>
            <a:ext cx="604266" cy="428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18032" y="3310140"/>
            <a:ext cx="657606" cy="42899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59991" y="3310140"/>
            <a:ext cx="688085" cy="4289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32432" y="3310140"/>
            <a:ext cx="485406" cy="42899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03704" y="3310140"/>
            <a:ext cx="550926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40507" y="3310140"/>
            <a:ext cx="538721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2043" y="3704856"/>
            <a:ext cx="407682" cy="39698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9412" y="3692664"/>
            <a:ext cx="698754" cy="42899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14044" y="3692664"/>
            <a:ext cx="485406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85316" y="3692664"/>
            <a:ext cx="550926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22120" y="3692664"/>
            <a:ext cx="538721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046732" y="3692664"/>
            <a:ext cx="718566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54223" y="3692664"/>
            <a:ext cx="621030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2043" y="4088904"/>
            <a:ext cx="407682" cy="3969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9412" y="4076712"/>
            <a:ext cx="698754" cy="428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14044" y="4076712"/>
            <a:ext cx="485406" cy="428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385316" y="4076712"/>
            <a:ext cx="550926" cy="428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722120" y="4076712"/>
            <a:ext cx="538721" cy="428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046732" y="4076712"/>
            <a:ext cx="718566" cy="42899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554223" y="4076712"/>
            <a:ext cx="531113" cy="42899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52043" y="4472952"/>
            <a:ext cx="407682" cy="39698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29412" y="4460760"/>
            <a:ext cx="698754" cy="42899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14044" y="4460760"/>
            <a:ext cx="485406" cy="42899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85316" y="4460760"/>
            <a:ext cx="550926" cy="42899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22120" y="4460760"/>
            <a:ext cx="538721" cy="42899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046732" y="4460760"/>
            <a:ext cx="718566" cy="42899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54223" y="4460760"/>
            <a:ext cx="500634" cy="42899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52043" y="4855476"/>
            <a:ext cx="407682" cy="39698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29412" y="4843284"/>
            <a:ext cx="698754" cy="4289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14044" y="4843284"/>
            <a:ext cx="485406" cy="42899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85316" y="4843284"/>
            <a:ext cx="550926" cy="42899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22120" y="4843284"/>
            <a:ext cx="538721" cy="42899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046732" y="4843284"/>
            <a:ext cx="596645" cy="42899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430779" y="4843284"/>
            <a:ext cx="718566" cy="42899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50291" y="3350133"/>
            <a:ext cx="2601595" cy="1787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Khái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niệm </a:t>
            </a: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tích</a:t>
            </a:r>
            <a:r>
              <a:rPr dirty="0" sz="15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85" b="1">
                <a:solidFill>
                  <a:srgbClr val="FFFFFF"/>
                </a:solidFill>
                <a:latin typeface="Arial"/>
                <a:cs typeface="Arial"/>
              </a:rPr>
              <a:t>cực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tích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r>
              <a:rPr dirty="0" sz="1500" spc="-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Arial"/>
                <a:cs typeface="Arial"/>
              </a:rPr>
              <a:t>thấp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2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tích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r>
              <a:rPr dirty="0" sz="1500" spc="-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cao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2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tích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r>
              <a:rPr dirty="0" sz="1500" spc="-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FFFFFF"/>
                </a:solidFill>
                <a:latin typeface="Arial"/>
                <a:cs typeface="Arial"/>
              </a:rPr>
              <a:t>dải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lọc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tích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 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triệt</a:t>
            </a:r>
            <a:r>
              <a:rPr dirty="0" sz="1500" spc="-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thông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79926" y="6558178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1634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195">
                <a:solidFill>
                  <a:srgbClr val="404040"/>
                </a:solidFill>
              </a:rPr>
              <a:t>Mục</a:t>
            </a:r>
            <a:r>
              <a:rPr dirty="0" u="none" sz="4800" spc="-430">
                <a:solidFill>
                  <a:srgbClr val="404040"/>
                </a:solidFill>
              </a:rPr>
              <a:t> </a:t>
            </a:r>
            <a:r>
              <a:rPr dirty="0" u="none" sz="4800" spc="-100">
                <a:solidFill>
                  <a:srgbClr val="404040"/>
                </a:solidFill>
              </a:rPr>
              <a:t>tiêu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6446520" cy="93091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bản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khác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nhau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3555" y="3300984"/>
            <a:ext cx="4858512" cy="2948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67639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385">
                <a:solidFill>
                  <a:srgbClr val="404040"/>
                </a:solidFill>
              </a:rPr>
              <a:t>Khái </a:t>
            </a:r>
            <a:r>
              <a:rPr dirty="0" u="none" sz="4800" spc="-210">
                <a:solidFill>
                  <a:srgbClr val="404040"/>
                </a:solidFill>
              </a:rPr>
              <a:t>niệm </a:t>
            </a:r>
            <a:r>
              <a:rPr dirty="0" u="none" sz="4800" spc="-33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</a:t>
            </a:r>
            <a:r>
              <a:rPr dirty="0" u="none" sz="4800" spc="-615">
                <a:solidFill>
                  <a:srgbClr val="404040"/>
                </a:solidFill>
              </a:rPr>
              <a:t> </a:t>
            </a:r>
            <a:r>
              <a:rPr dirty="0" u="none" sz="4800" spc="-420">
                <a:solidFill>
                  <a:srgbClr val="404040"/>
                </a:solidFill>
              </a:rPr>
              <a:t>cực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9940" cy="3560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1780" indent="-259079">
              <a:lnSpc>
                <a:spcPts val="228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thêm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(ví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dụ</a:t>
            </a:r>
            <a:r>
              <a:rPr dirty="0" sz="2000" spc="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như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Op-Amp)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tiến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hành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3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hiệu.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ưu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>
                <a:solidFill>
                  <a:srgbClr val="404040"/>
                </a:solidFill>
                <a:latin typeface="Arial"/>
                <a:cs typeface="Arial"/>
              </a:rPr>
              <a:t>thụ</a:t>
            </a:r>
            <a:r>
              <a:rPr dirty="0" sz="2000" spc="-3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là:</a:t>
            </a:r>
            <a:endParaRPr sz="2000">
              <a:latin typeface="Arial"/>
              <a:cs typeface="Arial"/>
            </a:endParaRPr>
          </a:p>
          <a:p>
            <a:pPr algn="just" lvl="1" marL="396875" marR="6350" indent="-182880">
              <a:lnSpc>
                <a:spcPts val="1939"/>
              </a:lnSpc>
              <a:spcBef>
                <a:spcPts val="44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thường,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thụ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luôn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suy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hao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nhất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định.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việc </a:t>
            </a: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sử 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Op-Amp mà mạch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mục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đích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bù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r>
              <a:rPr dirty="0" sz="1800" spc="-2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suy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hao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đó.</a:t>
            </a:r>
            <a:endParaRPr sz="1800">
              <a:latin typeface="Arial"/>
              <a:cs typeface="Arial"/>
            </a:endParaRPr>
          </a:p>
          <a:p>
            <a:pPr algn="just" lvl="1" marL="396875" marR="8255" indent="-182880">
              <a:lnSpc>
                <a:spcPts val="1950"/>
              </a:lnSpc>
              <a:spcBef>
                <a:spcPts val="60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lớn,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hưởng 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1800" spc="4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r>
              <a:rPr dirty="0" sz="1800" spc="-3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nội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nguồn.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ts val="2050"/>
              </a:lnSpc>
              <a:spcBef>
                <a:spcPts val="35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bé,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hưởng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bởi</a:t>
            </a:r>
            <a:endParaRPr sz="1800">
              <a:latin typeface="Arial"/>
              <a:cs typeface="Arial"/>
            </a:endParaRPr>
          </a:p>
          <a:p>
            <a:pPr marL="396875">
              <a:lnSpc>
                <a:spcPts val="2050"/>
              </a:lnSpc>
            </a:pP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1800" spc="4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1800" spc="-3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tải.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ts val="205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dirty="0" sz="1800" spc="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dễ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dàng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>
                <a:solidFill>
                  <a:srgbClr val="404040"/>
                </a:solidFill>
                <a:latin typeface="Arial"/>
                <a:cs typeface="Arial"/>
              </a:rPr>
              <a:t>bị</a:t>
            </a:r>
            <a:endParaRPr sz="1800">
              <a:latin typeface="Arial"/>
              <a:cs typeface="Arial"/>
            </a:endParaRPr>
          </a:p>
          <a:p>
            <a:pPr marL="396875">
              <a:lnSpc>
                <a:spcPts val="2050"/>
              </a:lnSpc>
            </a:pP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động.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515493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405">
                <a:solidFill>
                  <a:srgbClr val="404040"/>
                </a:solidFill>
              </a:rPr>
              <a:t>Đáp </a:t>
            </a:r>
            <a:r>
              <a:rPr dirty="0" u="none" sz="4800" spc="-385">
                <a:solidFill>
                  <a:srgbClr val="404040"/>
                </a:solidFill>
              </a:rPr>
              <a:t>ứng </a:t>
            </a:r>
            <a:r>
              <a:rPr dirty="0" u="none" sz="4800" spc="-155">
                <a:solidFill>
                  <a:srgbClr val="404040"/>
                </a:solidFill>
              </a:rPr>
              <a:t>tần</a:t>
            </a:r>
            <a:r>
              <a:rPr dirty="0" u="none" sz="4800" spc="-229">
                <a:solidFill>
                  <a:srgbClr val="404040"/>
                </a:solidFill>
              </a:rPr>
              <a:t> </a:t>
            </a:r>
            <a:r>
              <a:rPr dirty="0" u="none" sz="4800" spc="-405">
                <a:solidFill>
                  <a:srgbClr val="404040"/>
                </a:solidFill>
              </a:rPr>
              <a:t>số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355">
                <a:solidFill>
                  <a:srgbClr val="404040"/>
                </a:solidFill>
              </a:rPr>
              <a:t>của </a:t>
            </a:r>
            <a:r>
              <a:rPr dirty="0" u="none" sz="4800" spc="-33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</a:t>
            </a:r>
            <a:r>
              <a:rPr dirty="0" u="none" sz="4800" spc="-525">
                <a:solidFill>
                  <a:srgbClr val="404040"/>
                </a:solidFill>
              </a:rPr>
              <a:t> </a:t>
            </a:r>
            <a:r>
              <a:rPr dirty="0" u="none" sz="4800" spc="-420">
                <a:solidFill>
                  <a:srgbClr val="404040"/>
                </a:solidFill>
              </a:rPr>
              <a:t>cực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4594860" cy="343281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phổ</a:t>
            </a: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biến:</a:t>
            </a:r>
            <a:endParaRPr sz="2000">
              <a:latin typeface="Arial"/>
              <a:cs typeface="Arial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41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Butterworth: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băng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lọc,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ra tương 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đối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dirty="0" sz="1800" spc="-1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định.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99CA38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107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Chebyshev: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1800" spc="-10">
                <a:solidFill>
                  <a:srgbClr val="404040"/>
                </a:solidFill>
                <a:latin typeface="Arial"/>
                <a:cs typeface="Arial"/>
              </a:rPr>
              <a:t>roll-off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nhất,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do 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1800" spc="20">
                <a:solidFill>
                  <a:srgbClr val="404040"/>
                </a:solidFill>
                <a:latin typeface="Arial"/>
                <a:cs typeface="Arial"/>
              </a:rPr>
              <a:t>triệt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tiêu </a:t>
            </a:r>
            <a:r>
              <a:rPr dirty="0" sz="18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1800" spc="10">
                <a:solidFill>
                  <a:srgbClr val="404040"/>
                </a:solidFill>
                <a:latin typeface="Arial"/>
                <a:cs typeface="Arial"/>
              </a:rPr>
              <a:t>tối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đa</a:t>
            </a:r>
            <a:r>
              <a:rPr dirty="0" sz="1800" spc="-2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các 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mong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muốn.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Tuy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nhiên,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ra không 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trong 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băng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tần hoạt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động.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99CA38"/>
              </a:buClr>
              <a:buFont typeface="Wingdings"/>
              <a:buChar char=""/>
            </a:pPr>
            <a:endParaRPr sz="2500">
              <a:latin typeface="Times New Roman"/>
              <a:cs typeface="Times New Roman"/>
            </a:endParaRPr>
          </a:p>
          <a:p>
            <a:pPr lvl="1" marL="396875" indent="-182880">
              <a:lnSpc>
                <a:spcPct val="100000"/>
              </a:lnSpc>
              <a:spcBef>
                <a:spcPts val="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Bessel: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16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đôc </a:t>
            </a:r>
            <a:r>
              <a:rPr dirty="0" sz="1800" spc="-10">
                <a:solidFill>
                  <a:srgbClr val="404040"/>
                </a:solidFill>
                <a:latin typeface="Arial"/>
                <a:cs typeface="Arial"/>
              </a:rPr>
              <a:t>roll-off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bé</a:t>
            </a:r>
            <a:r>
              <a:rPr dirty="0" sz="1800" spc="-14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nhất.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51832" y="2092643"/>
            <a:ext cx="4309601" cy="3345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515493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405">
                <a:solidFill>
                  <a:srgbClr val="404040"/>
                </a:solidFill>
              </a:rPr>
              <a:t>Đáp </a:t>
            </a:r>
            <a:r>
              <a:rPr dirty="0" u="none" sz="4800" spc="-385">
                <a:solidFill>
                  <a:srgbClr val="404040"/>
                </a:solidFill>
              </a:rPr>
              <a:t>ứng </a:t>
            </a:r>
            <a:r>
              <a:rPr dirty="0" u="none" sz="4800" spc="-155">
                <a:solidFill>
                  <a:srgbClr val="404040"/>
                </a:solidFill>
              </a:rPr>
              <a:t>tần</a:t>
            </a:r>
            <a:r>
              <a:rPr dirty="0" u="none" sz="4800" spc="-229">
                <a:solidFill>
                  <a:srgbClr val="404040"/>
                </a:solidFill>
              </a:rPr>
              <a:t> </a:t>
            </a:r>
            <a:r>
              <a:rPr dirty="0" u="none" sz="4800" spc="-405">
                <a:solidFill>
                  <a:srgbClr val="404040"/>
                </a:solidFill>
              </a:rPr>
              <a:t>số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355">
                <a:solidFill>
                  <a:srgbClr val="404040"/>
                </a:solidFill>
              </a:rPr>
              <a:t>của </a:t>
            </a:r>
            <a:r>
              <a:rPr dirty="0" u="none" sz="4800" spc="-33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</a:t>
            </a:r>
            <a:r>
              <a:rPr dirty="0" u="none" sz="4800" spc="-525">
                <a:solidFill>
                  <a:srgbClr val="404040"/>
                </a:solidFill>
              </a:rPr>
              <a:t> </a:t>
            </a:r>
            <a:r>
              <a:rPr dirty="0" u="none" sz="4800" spc="-420">
                <a:solidFill>
                  <a:srgbClr val="404040"/>
                </a:solidFill>
              </a:rPr>
              <a:t>cực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853940" cy="11544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45" b="1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229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40" b="1">
                <a:solidFill>
                  <a:srgbClr val="404040"/>
                </a:solidFill>
                <a:latin typeface="Arial"/>
                <a:cs typeface="Arial"/>
              </a:rPr>
              <a:t>hãm </a:t>
            </a:r>
            <a:r>
              <a:rPr dirty="0" sz="2000" spc="-160" b="1">
                <a:solidFill>
                  <a:srgbClr val="404040"/>
                </a:solidFill>
                <a:latin typeface="Arial"/>
                <a:cs typeface="Arial"/>
              </a:rPr>
              <a:t>Damping </a:t>
            </a:r>
            <a:r>
              <a:rPr dirty="0" sz="2000" spc="-145" b="1">
                <a:solidFill>
                  <a:srgbClr val="404040"/>
                </a:solidFill>
                <a:latin typeface="Arial"/>
                <a:cs typeface="Arial"/>
              </a:rPr>
              <a:t>Factor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dirty="0" sz="2000" spc="-165">
                <a:solidFill>
                  <a:srgbClr val="404040"/>
                </a:solidFill>
                <a:latin typeface="Arial"/>
                <a:cs typeface="Arial"/>
              </a:rPr>
              <a:t>Đây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trọng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mạch 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cực.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Nó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R1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229">
                <a:solidFill>
                  <a:srgbClr val="404040"/>
                </a:solidFill>
                <a:latin typeface="Arial"/>
                <a:cs typeface="Arial"/>
              </a:rPr>
              <a:t>R2 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âm.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064253"/>
            <a:ext cx="4854575" cy="170307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Tùy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khác 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nhau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(Butterworth,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Bessel,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Chebyshev)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mà 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60">
                <a:solidFill>
                  <a:srgbClr val="404040"/>
                </a:solidFill>
                <a:latin typeface="Arial"/>
                <a:cs typeface="Arial"/>
              </a:rPr>
              <a:t>DF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khác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nhau. </a:t>
            </a:r>
            <a:r>
              <a:rPr dirty="0" sz="2000" spc="-254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60">
                <a:solidFill>
                  <a:srgbClr val="404040"/>
                </a:solidFill>
                <a:latin typeface="Arial"/>
                <a:cs typeface="Arial"/>
              </a:rPr>
              <a:t>DF 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này mà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lựa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chọn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R1, 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R2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phù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hợp,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nhất.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12610" y="2132284"/>
            <a:ext cx="3699847" cy="28664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07131" y="3301746"/>
            <a:ext cx="1676743" cy="5905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61289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434">
                <a:solidFill>
                  <a:srgbClr val="404040"/>
                </a:solidFill>
              </a:rPr>
              <a:t>Tần </a:t>
            </a:r>
            <a:r>
              <a:rPr dirty="0" u="none" sz="4800" spc="-380">
                <a:solidFill>
                  <a:srgbClr val="404040"/>
                </a:solidFill>
              </a:rPr>
              <a:t>số </a:t>
            </a:r>
            <a:r>
              <a:rPr dirty="0" u="none" sz="4800" spc="-210">
                <a:solidFill>
                  <a:srgbClr val="404040"/>
                </a:solidFill>
              </a:rPr>
              <a:t>cắt </a:t>
            </a:r>
            <a:r>
              <a:rPr dirty="0" u="none" sz="4800" spc="-415">
                <a:solidFill>
                  <a:srgbClr val="404040"/>
                </a:solidFill>
              </a:rPr>
              <a:t>và </a:t>
            </a:r>
            <a:r>
              <a:rPr dirty="0" u="none" sz="4800" spc="-140">
                <a:solidFill>
                  <a:srgbClr val="404040"/>
                </a:solidFill>
              </a:rPr>
              <a:t>độ </a:t>
            </a:r>
            <a:r>
              <a:rPr dirty="0" u="none" sz="4800" spc="-270">
                <a:solidFill>
                  <a:srgbClr val="404040"/>
                </a:solidFill>
              </a:rPr>
              <a:t>dốc</a:t>
            </a:r>
            <a:r>
              <a:rPr dirty="0" u="none" sz="4800" spc="-570">
                <a:solidFill>
                  <a:srgbClr val="404040"/>
                </a:solidFill>
              </a:rPr>
              <a:t> </a:t>
            </a:r>
            <a:r>
              <a:rPr dirty="0" u="none" sz="4800" spc="-95">
                <a:solidFill>
                  <a:srgbClr val="404040"/>
                </a:solidFill>
              </a:rPr>
              <a:t>roll-off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8275320" cy="193103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cắt fc là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số,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mà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Av(dB)=</a:t>
            </a:r>
            <a:r>
              <a:rPr dirty="0" sz="2000" spc="-2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-3dB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Av(dB)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ngay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</a:t>
            </a:r>
            <a:r>
              <a:rPr dirty="0" sz="2000" spc="-3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cắt.</a:t>
            </a:r>
            <a:endParaRPr sz="2000">
              <a:latin typeface="Arial"/>
              <a:cs typeface="Arial"/>
            </a:endParaRPr>
          </a:p>
          <a:p>
            <a:pPr algn="just" marL="12700" marR="5080">
              <a:lnSpc>
                <a:spcPts val="2160"/>
              </a:lnSpc>
              <a:spcBef>
                <a:spcPts val="1425"/>
              </a:spcBef>
            </a:pP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-20dB/dec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tức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là,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Av(dB)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giảm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20dB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mỗi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lên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10 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lần.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lọc,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bậc 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mắc 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nhiều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r>
              <a:rPr dirty="0" sz="2000" spc="-3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4922" y="3801291"/>
            <a:ext cx="4055602" cy="2475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69229" y="4606290"/>
            <a:ext cx="0" cy="1390015"/>
          </a:xfrm>
          <a:custGeom>
            <a:avLst/>
            <a:gdLst/>
            <a:ahLst/>
            <a:cxnLst/>
            <a:rect l="l" t="t" r="r" b="b"/>
            <a:pathLst>
              <a:path w="0" h="1390014">
                <a:moveTo>
                  <a:pt x="0" y="0"/>
                </a:moveTo>
                <a:lnTo>
                  <a:pt x="0" y="1389405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23665" y="5365241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 h="0">
                <a:moveTo>
                  <a:pt x="0" y="0"/>
                </a:moveTo>
                <a:lnTo>
                  <a:pt x="2160270" y="0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77946" y="473430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 h="0">
                <a:moveTo>
                  <a:pt x="0" y="0"/>
                </a:moveTo>
                <a:lnTo>
                  <a:pt x="2160269" y="0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61289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434">
                <a:solidFill>
                  <a:srgbClr val="404040"/>
                </a:solidFill>
              </a:rPr>
              <a:t>Tần </a:t>
            </a:r>
            <a:r>
              <a:rPr dirty="0" u="none" sz="4800" spc="-380">
                <a:solidFill>
                  <a:srgbClr val="404040"/>
                </a:solidFill>
              </a:rPr>
              <a:t>số </a:t>
            </a:r>
            <a:r>
              <a:rPr dirty="0" u="none" sz="4800" spc="-210">
                <a:solidFill>
                  <a:srgbClr val="404040"/>
                </a:solidFill>
              </a:rPr>
              <a:t>cắt </a:t>
            </a:r>
            <a:r>
              <a:rPr dirty="0" u="none" sz="4800" spc="-415">
                <a:solidFill>
                  <a:srgbClr val="404040"/>
                </a:solidFill>
              </a:rPr>
              <a:t>và </a:t>
            </a:r>
            <a:r>
              <a:rPr dirty="0" u="none" sz="4800" spc="-140">
                <a:solidFill>
                  <a:srgbClr val="404040"/>
                </a:solidFill>
              </a:rPr>
              <a:t>độ </a:t>
            </a:r>
            <a:r>
              <a:rPr dirty="0" u="none" sz="4800" spc="-270">
                <a:solidFill>
                  <a:srgbClr val="404040"/>
                </a:solidFill>
              </a:rPr>
              <a:t>dốc</a:t>
            </a:r>
            <a:r>
              <a:rPr dirty="0" u="none" sz="4800" spc="-570">
                <a:solidFill>
                  <a:srgbClr val="404040"/>
                </a:solidFill>
              </a:rPr>
              <a:t> </a:t>
            </a:r>
            <a:r>
              <a:rPr dirty="0" u="none" sz="4800" spc="-95">
                <a:solidFill>
                  <a:srgbClr val="404040"/>
                </a:solidFill>
              </a:rPr>
              <a:t>roll-off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06628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</a:t>
            </a:r>
            <a:r>
              <a:rPr dirty="0" sz="2000" spc="-2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241039"/>
            <a:ext cx="15570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Butterworth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55126" y="1975343"/>
            <a:ext cx="6320637" cy="1792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6806" y="3937622"/>
            <a:ext cx="8565659" cy="23218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7484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170">
                <a:solidFill>
                  <a:srgbClr val="404040"/>
                </a:solidFill>
              </a:rPr>
              <a:t>thấp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841843" y="1847826"/>
            <a:ext cx="4008634" cy="26354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86155" y="4263771"/>
            <a:ext cx="1181471" cy="180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77611" y="3825240"/>
            <a:ext cx="3680460" cy="24825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78839" y="1856260"/>
            <a:ext cx="4582795" cy="31864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bậc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nhất:</a:t>
            </a:r>
            <a:endParaRPr sz="2000">
              <a:latin typeface="Arial"/>
              <a:cs typeface="Arial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41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85" b="1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165" b="1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hồi  </a:t>
            </a:r>
            <a:r>
              <a:rPr dirty="0" sz="1800" spc="-70" b="1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dirty="0" sz="1800" spc="-165" b="1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1800" spc="-85" b="1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140" b="1">
                <a:solidFill>
                  <a:srgbClr val="404040"/>
                </a:solidFill>
                <a:latin typeface="Arial"/>
                <a:cs typeface="Arial"/>
              </a:rPr>
              <a:t>bộ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thông  </a:t>
            </a:r>
            <a:r>
              <a:rPr dirty="0" sz="1800" spc="-95" b="1">
                <a:solidFill>
                  <a:srgbClr val="404040"/>
                </a:solidFill>
                <a:latin typeface="Arial"/>
                <a:cs typeface="Arial"/>
              </a:rPr>
              <a:t>thấp </a:t>
            </a:r>
            <a:r>
              <a:rPr dirty="0" sz="1800" spc="-330" b="1">
                <a:solidFill>
                  <a:srgbClr val="404040"/>
                </a:solidFill>
                <a:latin typeface="Arial"/>
                <a:cs typeface="Arial"/>
              </a:rPr>
              <a:t>RC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Op- 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Amp.</a:t>
            </a:r>
            <a:endParaRPr sz="1800">
              <a:latin typeface="Arial"/>
              <a:cs typeface="Arial"/>
            </a:endParaRPr>
          </a:p>
          <a:p>
            <a:pPr lvl="1" marL="396875" marR="7620" indent="-182880">
              <a:lnSpc>
                <a:spcPts val="1939"/>
              </a:lnSpc>
              <a:spcBef>
                <a:spcPts val="63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gọi là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“</a:t>
            </a:r>
            <a:r>
              <a:rPr dirty="0" sz="1800" spc="-85" b="1">
                <a:solidFill>
                  <a:srgbClr val="404040"/>
                </a:solidFill>
                <a:latin typeface="Arial"/>
                <a:cs typeface="Arial"/>
              </a:rPr>
              <a:t>bậc </a:t>
            </a:r>
            <a:r>
              <a:rPr dirty="0" sz="1800" spc="-50" b="1">
                <a:solidFill>
                  <a:srgbClr val="404040"/>
                </a:solidFill>
                <a:latin typeface="Arial"/>
                <a:cs typeface="Arial"/>
              </a:rPr>
              <a:t>nhất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”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vì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duy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nhất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tổ </a:t>
            </a:r>
            <a:r>
              <a:rPr dirty="0" sz="1800" spc="-140" b="1">
                <a:solidFill>
                  <a:srgbClr val="404040"/>
                </a:solidFill>
                <a:latin typeface="Arial"/>
                <a:cs typeface="Arial"/>
              </a:rPr>
              <a:t>hợp </a:t>
            </a:r>
            <a:r>
              <a:rPr dirty="0" sz="1800" spc="-330" b="1">
                <a:solidFill>
                  <a:srgbClr val="404040"/>
                </a:solidFill>
                <a:latin typeface="Arial"/>
                <a:cs typeface="Arial"/>
              </a:rPr>
              <a:t>RC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1800" spc="-3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mạch.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36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1800" spc="-210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70" b="1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(roll-off)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dirty="0" sz="1800" spc="-2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-20dB/dec.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39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1800" spc="-210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25" b="1">
                <a:solidFill>
                  <a:srgbClr val="404040"/>
                </a:solidFill>
                <a:latin typeface="Arial"/>
                <a:cs typeface="Arial"/>
              </a:rPr>
              <a:t>cắt</a:t>
            </a:r>
            <a:r>
              <a:rPr dirty="0" sz="1800" spc="-27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endParaRPr sz="1800">
              <a:latin typeface="Arial"/>
              <a:cs typeface="Arial"/>
            </a:endParaRPr>
          </a:p>
          <a:p>
            <a:pPr lvl="1" marL="396875" marR="7620" indent="-182880">
              <a:lnSpc>
                <a:spcPts val="1939"/>
              </a:lnSpc>
              <a:spcBef>
                <a:spcPts val="63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1800" spc="-105">
                <a:solidFill>
                  <a:srgbClr val="99CA38"/>
                </a:solidFill>
                <a:latin typeface="Arial"/>
                <a:cs typeface="Arial"/>
              </a:rPr>
              <a:t>băng </a:t>
            </a:r>
            <a:r>
              <a:rPr dirty="0" sz="1800" spc="-45">
                <a:solidFill>
                  <a:srgbClr val="99CA38"/>
                </a:solidFill>
                <a:latin typeface="Arial"/>
                <a:cs typeface="Arial"/>
              </a:rPr>
              <a:t>tần  hoạt </a:t>
            </a:r>
            <a:r>
              <a:rPr dirty="0" sz="1800" spc="-70">
                <a:solidFill>
                  <a:srgbClr val="99CA38"/>
                </a:solidFill>
                <a:latin typeface="Arial"/>
                <a:cs typeface="Arial"/>
              </a:rPr>
              <a:t>động</a:t>
            </a:r>
            <a:r>
              <a:rPr dirty="0" sz="1800" spc="-140">
                <a:solidFill>
                  <a:srgbClr val="99CA38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37634" y="5208790"/>
            <a:ext cx="1962495" cy="5911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26252" y="4511040"/>
            <a:ext cx="567055" cy="582930"/>
          </a:xfrm>
          <a:custGeom>
            <a:avLst/>
            <a:gdLst/>
            <a:ahLst/>
            <a:cxnLst/>
            <a:rect l="l" t="t" r="r" b="b"/>
            <a:pathLst>
              <a:path w="567054" h="582929">
                <a:moveTo>
                  <a:pt x="566674" y="0"/>
                </a:moveTo>
                <a:lnTo>
                  <a:pt x="0" y="582549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35396" y="4546091"/>
            <a:ext cx="826135" cy="848994"/>
          </a:xfrm>
          <a:custGeom>
            <a:avLst/>
            <a:gdLst/>
            <a:ahLst/>
            <a:cxnLst/>
            <a:rect l="l" t="t" r="r" b="b"/>
            <a:pathLst>
              <a:path w="826134" h="848995">
                <a:moveTo>
                  <a:pt x="825626" y="0"/>
                </a:moveTo>
                <a:lnTo>
                  <a:pt x="0" y="848613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24728" y="4594859"/>
            <a:ext cx="1089660" cy="1120140"/>
          </a:xfrm>
          <a:custGeom>
            <a:avLst/>
            <a:gdLst/>
            <a:ahLst/>
            <a:cxnLst/>
            <a:rect l="l" t="t" r="r" b="b"/>
            <a:pathLst>
              <a:path w="1089659" h="1120139">
                <a:moveTo>
                  <a:pt x="1089405" y="0"/>
                </a:moveTo>
                <a:lnTo>
                  <a:pt x="0" y="1119682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25311" y="4821935"/>
            <a:ext cx="1066800" cy="1096645"/>
          </a:xfrm>
          <a:custGeom>
            <a:avLst/>
            <a:gdLst/>
            <a:ahLst/>
            <a:cxnLst/>
            <a:rect l="l" t="t" r="r" b="b"/>
            <a:pathLst>
              <a:path w="1066800" h="1096645">
                <a:moveTo>
                  <a:pt x="1066799" y="0"/>
                </a:moveTo>
                <a:lnTo>
                  <a:pt x="0" y="1096568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28588" y="5120640"/>
            <a:ext cx="774700" cy="796290"/>
          </a:xfrm>
          <a:custGeom>
            <a:avLst/>
            <a:gdLst/>
            <a:ahLst/>
            <a:cxnLst/>
            <a:rect l="l" t="t" r="r" b="b"/>
            <a:pathLst>
              <a:path w="774700" h="796289">
                <a:moveTo>
                  <a:pt x="774318" y="0"/>
                </a:moveTo>
                <a:lnTo>
                  <a:pt x="0" y="795896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04431" y="5443728"/>
            <a:ext cx="485775" cy="499109"/>
          </a:xfrm>
          <a:custGeom>
            <a:avLst/>
            <a:gdLst/>
            <a:ahLst/>
            <a:cxnLst/>
            <a:rect l="l" t="t" r="r" b="b"/>
            <a:pathLst>
              <a:path w="485775" h="499110">
                <a:moveTo>
                  <a:pt x="485267" y="0"/>
                </a:moveTo>
                <a:lnTo>
                  <a:pt x="0" y="498805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09231" y="5740908"/>
            <a:ext cx="191770" cy="196850"/>
          </a:xfrm>
          <a:custGeom>
            <a:avLst/>
            <a:gdLst/>
            <a:ahLst/>
            <a:cxnLst/>
            <a:rect l="l" t="t" r="r" b="b"/>
            <a:pathLst>
              <a:path w="191770" h="196850">
                <a:moveTo>
                  <a:pt x="191516" y="0"/>
                </a:moveTo>
                <a:lnTo>
                  <a:pt x="0" y="196799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35396" y="4511040"/>
            <a:ext cx="272415" cy="280035"/>
          </a:xfrm>
          <a:custGeom>
            <a:avLst/>
            <a:gdLst/>
            <a:ahLst/>
            <a:cxnLst/>
            <a:rect l="l" t="t" r="r" b="b"/>
            <a:pathLst>
              <a:path w="272414" h="280035">
                <a:moveTo>
                  <a:pt x="272161" y="0"/>
                </a:moveTo>
                <a:lnTo>
                  <a:pt x="0" y="279781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7484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170">
                <a:solidFill>
                  <a:srgbClr val="404040"/>
                </a:solidFill>
              </a:rPr>
              <a:t>thấp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4580890" cy="24638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bậc</a:t>
            </a: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hai:</a:t>
            </a:r>
            <a:endParaRPr sz="2000">
              <a:latin typeface="Arial"/>
              <a:cs typeface="Arial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41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Mục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đích: </a:t>
            </a:r>
            <a:r>
              <a:rPr dirty="0" sz="1800" spc="-18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dirty="0" sz="1800" spc="-3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đường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ứng 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-20dB/dec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lên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-40dB/dec.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đó,  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18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1800" spc="-125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–fc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được  </a:t>
            </a:r>
            <a:r>
              <a:rPr dirty="0" sz="1800" spc="20">
                <a:solidFill>
                  <a:srgbClr val="404040"/>
                </a:solidFill>
                <a:latin typeface="Arial"/>
                <a:cs typeface="Arial"/>
              </a:rPr>
              <a:t>triệt </a:t>
            </a:r>
            <a:r>
              <a:rPr dirty="0" sz="1800" spc="-10">
                <a:solidFill>
                  <a:srgbClr val="404040"/>
                </a:solidFill>
                <a:latin typeface="Arial"/>
                <a:cs typeface="Arial"/>
              </a:rPr>
              <a:t>tiêu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nhiều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hơn. </a:t>
            </a:r>
            <a:r>
              <a:rPr dirty="0" sz="1800" spc="-140">
                <a:solidFill>
                  <a:srgbClr val="404040"/>
                </a:solidFill>
                <a:latin typeface="Arial"/>
                <a:cs typeface="Arial"/>
              </a:rPr>
              <a:t>Bộ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15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chất 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chọn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cao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hơn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(selective)</a:t>
            </a:r>
            <a:endParaRPr sz="1800">
              <a:latin typeface="Arial"/>
              <a:cs typeface="Arial"/>
            </a:endParaRPr>
          </a:p>
          <a:p>
            <a:pPr algn="just" lvl="1" marL="396875" marR="5080" indent="-182880">
              <a:lnSpc>
                <a:spcPts val="1939"/>
              </a:lnSpc>
              <a:spcBef>
                <a:spcPts val="63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3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1800" spc="-135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bậc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hai 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hay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16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1800" spc="-55">
                <a:solidFill>
                  <a:srgbClr val="404040"/>
                </a:solidFill>
                <a:latin typeface="Arial"/>
                <a:cs typeface="Arial"/>
              </a:rPr>
              <a:t>nhiều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nhất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1800" spc="-10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lọc 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thấp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 Sallen-Key.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62438" y="2207484"/>
            <a:ext cx="3483143" cy="23851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48044" y="2845307"/>
            <a:ext cx="567055" cy="582930"/>
          </a:xfrm>
          <a:custGeom>
            <a:avLst/>
            <a:gdLst/>
            <a:ahLst/>
            <a:cxnLst/>
            <a:rect l="l" t="t" r="r" b="b"/>
            <a:pathLst>
              <a:path w="567054" h="582929">
                <a:moveTo>
                  <a:pt x="566674" y="0"/>
                </a:moveTo>
                <a:lnTo>
                  <a:pt x="0" y="582549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55664" y="2878835"/>
            <a:ext cx="826135" cy="848994"/>
          </a:xfrm>
          <a:custGeom>
            <a:avLst/>
            <a:gdLst/>
            <a:ahLst/>
            <a:cxnLst/>
            <a:rect l="l" t="t" r="r" b="b"/>
            <a:pathLst>
              <a:path w="826134" h="848995">
                <a:moveTo>
                  <a:pt x="825627" y="0"/>
                </a:moveTo>
                <a:lnTo>
                  <a:pt x="0" y="848613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44996" y="2927604"/>
            <a:ext cx="1089660" cy="1120140"/>
          </a:xfrm>
          <a:custGeom>
            <a:avLst/>
            <a:gdLst/>
            <a:ahLst/>
            <a:cxnLst/>
            <a:rect l="l" t="t" r="r" b="b"/>
            <a:pathLst>
              <a:path w="1089659" h="1120139">
                <a:moveTo>
                  <a:pt x="1089405" y="0"/>
                </a:moveTo>
                <a:lnTo>
                  <a:pt x="0" y="1119632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47104" y="3156204"/>
            <a:ext cx="1066800" cy="1096645"/>
          </a:xfrm>
          <a:custGeom>
            <a:avLst/>
            <a:gdLst/>
            <a:ahLst/>
            <a:cxnLst/>
            <a:rect l="l" t="t" r="r" b="b"/>
            <a:pathLst>
              <a:path w="1066800" h="1096645">
                <a:moveTo>
                  <a:pt x="1066800" y="0"/>
                </a:moveTo>
                <a:lnTo>
                  <a:pt x="0" y="1096518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50380" y="3454908"/>
            <a:ext cx="774700" cy="796290"/>
          </a:xfrm>
          <a:custGeom>
            <a:avLst/>
            <a:gdLst/>
            <a:ahLst/>
            <a:cxnLst/>
            <a:rect l="l" t="t" r="r" b="b"/>
            <a:pathLst>
              <a:path w="774700" h="796289">
                <a:moveTo>
                  <a:pt x="774319" y="0"/>
                </a:moveTo>
                <a:lnTo>
                  <a:pt x="0" y="795908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26223" y="3776471"/>
            <a:ext cx="485775" cy="499109"/>
          </a:xfrm>
          <a:custGeom>
            <a:avLst/>
            <a:gdLst/>
            <a:ahLst/>
            <a:cxnLst/>
            <a:rect l="l" t="t" r="r" b="b"/>
            <a:pathLst>
              <a:path w="485775" h="499110">
                <a:moveTo>
                  <a:pt x="485267" y="0"/>
                </a:moveTo>
                <a:lnTo>
                  <a:pt x="0" y="498855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29500" y="4075176"/>
            <a:ext cx="191770" cy="196850"/>
          </a:xfrm>
          <a:custGeom>
            <a:avLst/>
            <a:gdLst/>
            <a:ahLst/>
            <a:cxnLst/>
            <a:rect l="l" t="t" r="r" b="b"/>
            <a:pathLst>
              <a:path w="191770" h="196850">
                <a:moveTo>
                  <a:pt x="191516" y="0"/>
                </a:moveTo>
                <a:lnTo>
                  <a:pt x="0" y="19685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55664" y="2845307"/>
            <a:ext cx="272415" cy="280035"/>
          </a:xfrm>
          <a:custGeom>
            <a:avLst/>
            <a:gdLst/>
            <a:ahLst/>
            <a:cxnLst/>
            <a:rect l="l" t="t" r="r" b="b"/>
            <a:pathLst>
              <a:path w="272415" h="280035">
                <a:moveTo>
                  <a:pt x="272161" y="0"/>
                </a:moveTo>
                <a:lnTo>
                  <a:pt x="0" y="27978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07807" y="2927604"/>
            <a:ext cx="1205230" cy="2796540"/>
          </a:xfrm>
          <a:custGeom>
            <a:avLst/>
            <a:gdLst/>
            <a:ahLst/>
            <a:cxnLst/>
            <a:rect l="l" t="t" r="r" b="b"/>
            <a:pathLst>
              <a:path w="1205229" h="2796540">
                <a:moveTo>
                  <a:pt x="0" y="0"/>
                </a:moveTo>
                <a:lnTo>
                  <a:pt x="1204722" y="2795955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39661" y="4261865"/>
            <a:ext cx="0" cy="1463040"/>
          </a:xfrm>
          <a:custGeom>
            <a:avLst/>
            <a:gdLst/>
            <a:ahLst/>
            <a:cxnLst/>
            <a:rect l="l" t="t" r="r" b="b"/>
            <a:pathLst>
              <a:path w="0" h="1463039">
                <a:moveTo>
                  <a:pt x="0" y="0"/>
                </a:moveTo>
                <a:lnTo>
                  <a:pt x="0" y="1463039"/>
                </a:lnTo>
              </a:path>
            </a:pathLst>
          </a:custGeom>
          <a:ln w="2286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24721" y="4277105"/>
            <a:ext cx="0" cy="1449070"/>
          </a:xfrm>
          <a:custGeom>
            <a:avLst/>
            <a:gdLst/>
            <a:ahLst/>
            <a:cxnLst/>
            <a:rect l="l" t="t" r="r" b="b"/>
            <a:pathLst>
              <a:path w="0" h="1449070">
                <a:moveTo>
                  <a:pt x="0" y="0"/>
                </a:moveTo>
                <a:lnTo>
                  <a:pt x="0" y="1448549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48221" y="5724905"/>
            <a:ext cx="2468880" cy="0"/>
          </a:xfrm>
          <a:custGeom>
            <a:avLst/>
            <a:gdLst/>
            <a:ahLst/>
            <a:cxnLst/>
            <a:rect l="l" t="t" r="r" b="b"/>
            <a:pathLst>
              <a:path w="2468879" h="0">
                <a:moveTo>
                  <a:pt x="0" y="0"/>
                </a:moveTo>
                <a:lnTo>
                  <a:pt x="2468879" y="0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06795" y="5619089"/>
            <a:ext cx="22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40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85176" y="3156204"/>
            <a:ext cx="76200" cy="1120140"/>
          </a:xfrm>
          <a:custGeom>
            <a:avLst/>
            <a:gdLst/>
            <a:ahLst/>
            <a:cxnLst/>
            <a:rect l="l" t="t" r="r" b="b"/>
            <a:pathLst>
              <a:path w="76200" h="1120139">
                <a:moveTo>
                  <a:pt x="44450" y="63500"/>
                </a:moveTo>
                <a:lnTo>
                  <a:pt x="31750" y="63500"/>
                </a:lnTo>
                <a:lnTo>
                  <a:pt x="31750" y="1119632"/>
                </a:lnTo>
                <a:lnTo>
                  <a:pt x="44450" y="1119632"/>
                </a:lnTo>
                <a:lnTo>
                  <a:pt x="44450" y="63500"/>
                </a:lnTo>
                <a:close/>
              </a:path>
              <a:path w="76200" h="112013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2013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85176" y="3654552"/>
            <a:ext cx="76200" cy="640080"/>
          </a:xfrm>
          <a:custGeom>
            <a:avLst/>
            <a:gdLst/>
            <a:ahLst/>
            <a:cxnLst/>
            <a:rect l="l" t="t" r="r" b="b"/>
            <a:pathLst>
              <a:path w="76200" h="640079">
                <a:moveTo>
                  <a:pt x="44450" y="63500"/>
                </a:moveTo>
                <a:lnTo>
                  <a:pt x="31750" y="63500"/>
                </a:lnTo>
                <a:lnTo>
                  <a:pt x="31750" y="640080"/>
                </a:lnTo>
                <a:lnTo>
                  <a:pt x="44450" y="640080"/>
                </a:lnTo>
                <a:lnTo>
                  <a:pt x="44450" y="63500"/>
                </a:lnTo>
                <a:close/>
              </a:path>
              <a:path w="76200" h="6400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6400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7484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170">
                <a:solidFill>
                  <a:srgbClr val="404040"/>
                </a:solidFill>
              </a:rPr>
              <a:t>thấp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3400425" cy="6591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bậc</a:t>
            </a:r>
            <a:r>
              <a:rPr dirty="0" sz="2000" spc="-229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hai:</a:t>
            </a:r>
            <a:endParaRPr sz="20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SzPct val="94444"/>
              <a:buFont typeface="Wingdings"/>
              <a:buChar char=""/>
              <a:tabLst>
                <a:tab pos="397510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thấp</a:t>
            </a:r>
            <a:r>
              <a:rPr dirty="0" sz="1800" spc="-1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Sallen-Key: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62438" y="2207484"/>
            <a:ext cx="3483143" cy="23851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48044" y="2845307"/>
            <a:ext cx="567055" cy="582930"/>
          </a:xfrm>
          <a:custGeom>
            <a:avLst/>
            <a:gdLst/>
            <a:ahLst/>
            <a:cxnLst/>
            <a:rect l="l" t="t" r="r" b="b"/>
            <a:pathLst>
              <a:path w="567054" h="582929">
                <a:moveTo>
                  <a:pt x="566674" y="0"/>
                </a:moveTo>
                <a:lnTo>
                  <a:pt x="0" y="582549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55664" y="2878835"/>
            <a:ext cx="826135" cy="848994"/>
          </a:xfrm>
          <a:custGeom>
            <a:avLst/>
            <a:gdLst/>
            <a:ahLst/>
            <a:cxnLst/>
            <a:rect l="l" t="t" r="r" b="b"/>
            <a:pathLst>
              <a:path w="826134" h="848995">
                <a:moveTo>
                  <a:pt x="825627" y="0"/>
                </a:moveTo>
                <a:lnTo>
                  <a:pt x="0" y="848613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44996" y="2927604"/>
            <a:ext cx="1089660" cy="1120140"/>
          </a:xfrm>
          <a:custGeom>
            <a:avLst/>
            <a:gdLst/>
            <a:ahLst/>
            <a:cxnLst/>
            <a:rect l="l" t="t" r="r" b="b"/>
            <a:pathLst>
              <a:path w="1089659" h="1120139">
                <a:moveTo>
                  <a:pt x="1089405" y="0"/>
                </a:moveTo>
                <a:lnTo>
                  <a:pt x="0" y="1119632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47104" y="3156204"/>
            <a:ext cx="1066800" cy="1096645"/>
          </a:xfrm>
          <a:custGeom>
            <a:avLst/>
            <a:gdLst/>
            <a:ahLst/>
            <a:cxnLst/>
            <a:rect l="l" t="t" r="r" b="b"/>
            <a:pathLst>
              <a:path w="1066800" h="1096645">
                <a:moveTo>
                  <a:pt x="1066800" y="0"/>
                </a:moveTo>
                <a:lnTo>
                  <a:pt x="0" y="1096518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50380" y="3454908"/>
            <a:ext cx="774700" cy="796290"/>
          </a:xfrm>
          <a:custGeom>
            <a:avLst/>
            <a:gdLst/>
            <a:ahLst/>
            <a:cxnLst/>
            <a:rect l="l" t="t" r="r" b="b"/>
            <a:pathLst>
              <a:path w="774700" h="796289">
                <a:moveTo>
                  <a:pt x="774319" y="0"/>
                </a:moveTo>
                <a:lnTo>
                  <a:pt x="0" y="795908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26223" y="3776471"/>
            <a:ext cx="485775" cy="499109"/>
          </a:xfrm>
          <a:custGeom>
            <a:avLst/>
            <a:gdLst/>
            <a:ahLst/>
            <a:cxnLst/>
            <a:rect l="l" t="t" r="r" b="b"/>
            <a:pathLst>
              <a:path w="485775" h="499110">
                <a:moveTo>
                  <a:pt x="485267" y="0"/>
                </a:moveTo>
                <a:lnTo>
                  <a:pt x="0" y="498855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29500" y="4075176"/>
            <a:ext cx="191770" cy="196850"/>
          </a:xfrm>
          <a:custGeom>
            <a:avLst/>
            <a:gdLst/>
            <a:ahLst/>
            <a:cxnLst/>
            <a:rect l="l" t="t" r="r" b="b"/>
            <a:pathLst>
              <a:path w="191770" h="196850">
                <a:moveTo>
                  <a:pt x="191516" y="0"/>
                </a:moveTo>
                <a:lnTo>
                  <a:pt x="0" y="19685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55664" y="2845307"/>
            <a:ext cx="272415" cy="280035"/>
          </a:xfrm>
          <a:custGeom>
            <a:avLst/>
            <a:gdLst/>
            <a:ahLst/>
            <a:cxnLst/>
            <a:rect l="l" t="t" r="r" b="b"/>
            <a:pathLst>
              <a:path w="272415" h="280035">
                <a:moveTo>
                  <a:pt x="272161" y="0"/>
                </a:moveTo>
                <a:lnTo>
                  <a:pt x="0" y="27978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07807" y="2927604"/>
            <a:ext cx="1205230" cy="2796540"/>
          </a:xfrm>
          <a:custGeom>
            <a:avLst/>
            <a:gdLst/>
            <a:ahLst/>
            <a:cxnLst/>
            <a:rect l="l" t="t" r="r" b="b"/>
            <a:pathLst>
              <a:path w="1205229" h="2796540">
                <a:moveTo>
                  <a:pt x="0" y="0"/>
                </a:moveTo>
                <a:lnTo>
                  <a:pt x="1204722" y="2795955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39661" y="4261865"/>
            <a:ext cx="0" cy="1463040"/>
          </a:xfrm>
          <a:custGeom>
            <a:avLst/>
            <a:gdLst/>
            <a:ahLst/>
            <a:cxnLst/>
            <a:rect l="l" t="t" r="r" b="b"/>
            <a:pathLst>
              <a:path w="0" h="1463039">
                <a:moveTo>
                  <a:pt x="0" y="0"/>
                </a:moveTo>
                <a:lnTo>
                  <a:pt x="0" y="1463039"/>
                </a:lnTo>
              </a:path>
            </a:pathLst>
          </a:custGeom>
          <a:ln w="2286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24721" y="4277105"/>
            <a:ext cx="0" cy="1449070"/>
          </a:xfrm>
          <a:custGeom>
            <a:avLst/>
            <a:gdLst/>
            <a:ahLst/>
            <a:cxnLst/>
            <a:rect l="l" t="t" r="r" b="b"/>
            <a:pathLst>
              <a:path w="0" h="1449070">
                <a:moveTo>
                  <a:pt x="0" y="0"/>
                </a:moveTo>
                <a:lnTo>
                  <a:pt x="0" y="1448549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48221" y="5724905"/>
            <a:ext cx="2468880" cy="0"/>
          </a:xfrm>
          <a:custGeom>
            <a:avLst/>
            <a:gdLst/>
            <a:ahLst/>
            <a:cxnLst/>
            <a:rect l="l" t="t" r="r" b="b"/>
            <a:pathLst>
              <a:path w="2468879" h="0">
                <a:moveTo>
                  <a:pt x="0" y="0"/>
                </a:moveTo>
                <a:lnTo>
                  <a:pt x="2468879" y="0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06795" y="5619089"/>
            <a:ext cx="22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40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85176" y="3156204"/>
            <a:ext cx="76200" cy="1120140"/>
          </a:xfrm>
          <a:custGeom>
            <a:avLst/>
            <a:gdLst/>
            <a:ahLst/>
            <a:cxnLst/>
            <a:rect l="l" t="t" r="r" b="b"/>
            <a:pathLst>
              <a:path w="76200" h="1120139">
                <a:moveTo>
                  <a:pt x="44450" y="63500"/>
                </a:moveTo>
                <a:lnTo>
                  <a:pt x="31750" y="63500"/>
                </a:lnTo>
                <a:lnTo>
                  <a:pt x="31750" y="1119632"/>
                </a:lnTo>
                <a:lnTo>
                  <a:pt x="44450" y="1119632"/>
                </a:lnTo>
                <a:lnTo>
                  <a:pt x="44450" y="63500"/>
                </a:lnTo>
                <a:close/>
              </a:path>
              <a:path w="76200" h="112013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2013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85176" y="3654552"/>
            <a:ext cx="76200" cy="640080"/>
          </a:xfrm>
          <a:custGeom>
            <a:avLst/>
            <a:gdLst/>
            <a:ahLst/>
            <a:cxnLst/>
            <a:rect l="l" t="t" r="r" b="b"/>
            <a:pathLst>
              <a:path w="76200" h="640079">
                <a:moveTo>
                  <a:pt x="44450" y="63500"/>
                </a:moveTo>
                <a:lnTo>
                  <a:pt x="31750" y="63500"/>
                </a:lnTo>
                <a:lnTo>
                  <a:pt x="31750" y="640080"/>
                </a:lnTo>
                <a:lnTo>
                  <a:pt x="44450" y="640080"/>
                </a:lnTo>
                <a:lnTo>
                  <a:pt x="44450" y="63500"/>
                </a:lnTo>
                <a:close/>
              </a:path>
              <a:path w="76200" h="6400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6400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01728" y="2798362"/>
            <a:ext cx="4604018" cy="2882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17675" y="4992623"/>
            <a:ext cx="2695955" cy="8671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7484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170">
                <a:solidFill>
                  <a:srgbClr val="404040"/>
                </a:solidFill>
              </a:rPr>
              <a:t>thấp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583430" cy="8794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cắt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bên. 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Đồng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dirty="0" sz="2000" spc="-165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R1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đáp 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theo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Butterworth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27354" y="2494407"/>
            <a:ext cx="4237507" cy="2581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0580" y="3046476"/>
            <a:ext cx="4677156" cy="137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28522" y="4149090"/>
            <a:ext cx="4319270" cy="226060"/>
          </a:xfrm>
          <a:custGeom>
            <a:avLst/>
            <a:gdLst/>
            <a:ahLst/>
            <a:cxnLst/>
            <a:rect l="l" t="t" r="r" b="b"/>
            <a:pathLst>
              <a:path w="4319270" h="226060">
                <a:moveTo>
                  <a:pt x="0" y="225551"/>
                </a:moveTo>
                <a:lnTo>
                  <a:pt x="4319016" y="225551"/>
                </a:lnTo>
                <a:lnTo>
                  <a:pt x="4319016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3200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6272" y="5752591"/>
            <a:ext cx="3224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0835" indent="-3181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31470" algn="l"/>
              </a:tabLst>
            </a:pPr>
            <a:r>
              <a:rPr dirty="0" sz="2400" spc="-5">
                <a:latin typeface="Times New Roman"/>
                <a:cs typeface="Times New Roman"/>
              </a:rPr>
              <a:t>ĐS: 7.23KHz,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586Ohm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7484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170">
                <a:solidFill>
                  <a:srgbClr val="404040"/>
                </a:solidFill>
              </a:rPr>
              <a:t>thấp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9000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</a:t>
            </a:r>
            <a:r>
              <a:rPr dirty="0" sz="2000" spc="-25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bậc: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62438" y="2207484"/>
            <a:ext cx="3483143" cy="23851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48044" y="2845307"/>
            <a:ext cx="567055" cy="582930"/>
          </a:xfrm>
          <a:custGeom>
            <a:avLst/>
            <a:gdLst/>
            <a:ahLst/>
            <a:cxnLst/>
            <a:rect l="l" t="t" r="r" b="b"/>
            <a:pathLst>
              <a:path w="567054" h="582929">
                <a:moveTo>
                  <a:pt x="566674" y="0"/>
                </a:moveTo>
                <a:lnTo>
                  <a:pt x="0" y="582549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55664" y="2878835"/>
            <a:ext cx="826135" cy="848994"/>
          </a:xfrm>
          <a:custGeom>
            <a:avLst/>
            <a:gdLst/>
            <a:ahLst/>
            <a:cxnLst/>
            <a:rect l="l" t="t" r="r" b="b"/>
            <a:pathLst>
              <a:path w="826134" h="848995">
                <a:moveTo>
                  <a:pt x="825627" y="0"/>
                </a:moveTo>
                <a:lnTo>
                  <a:pt x="0" y="848613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44996" y="2927604"/>
            <a:ext cx="1089660" cy="1120140"/>
          </a:xfrm>
          <a:custGeom>
            <a:avLst/>
            <a:gdLst/>
            <a:ahLst/>
            <a:cxnLst/>
            <a:rect l="l" t="t" r="r" b="b"/>
            <a:pathLst>
              <a:path w="1089659" h="1120139">
                <a:moveTo>
                  <a:pt x="1089405" y="0"/>
                </a:moveTo>
                <a:lnTo>
                  <a:pt x="0" y="1119632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47104" y="3156204"/>
            <a:ext cx="1066800" cy="1096645"/>
          </a:xfrm>
          <a:custGeom>
            <a:avLst/>
            <a:gdLst/>
            <a:ahLst/>
            <a:cxnLst/>
            <a:rect l="l" t="t" r="r" b="b"/>
            <a:pathLst>
              <a:path w="1066800" h="1096645">
                <a:moveTo>
                  <a:pt x="1066800" y="0"/>
                </a:moveTo>
                <a:lnTo>
                  <a:pt x="0" y="1096518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50380" y="3454908"/>
            <a:ext cx="774700" cy="796290"/>
          </a:xfrm>
          <a:custGeom>
            <a:avLst/>
            <a:gdLst/>
            <a:ahLst/>
            <a:cxnLst/>
            <a:rect l="l" t="t" r="r" b="b"/>
            <a:pathLst>
              <a:path w="774700" h="796289">
                <a:moveTo>
                  <a:pt x="774319" y="0"/>
                </a:moveTo>
                <a:lnTo>
                  <a:pt x="0" y="795908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26223" y="3776471"/>
            <a:ext cx="485775" cy="499109"/>
          </a:xfrm>
          <a:custGeom>
            <a:avLst/>
            <a:gdLst/>
            <a:ahLst/>
            <a:cxnLst/>
            <a:rect l="l" t="t" r="r" b="b"/>
            <a:pathLst>
              <a:path w="485775" h="499110">
                <a:moveTo>
                  <a:pt x="485267" y="0"/>
                </a:moveTo>
                <a:lnTo>
                  <a:pt x="0" y="498855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29500" y="4075176"/>
            <a:ext cx="191770" cy="196850"/>
          </a:xfrm>
          <a:custGeom>
            <a:avLst/>
            <a:gdLst/>
            <a:ahLst/>
            <a:cxnLst/>
            <a:rect l="l" t="t" r="r" b="b"/>
            <a:pathLst>
              <a:path w="191770" h="196850">
                <a:moveTo>
                  <a:pt x="191516" y="0"/>
                </a:moveTo>
                <a:lnTo>
                  <a:pt x="0" y="19685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55664" y="2845307"/>
            <a:ext cx="272415" cy="280035"/>
          </a:xfrm>
          <a:custGeom>
            <a:avLst/>
            <a:gdLst/>
            <a:ahLst/>
            <a:cxnLst/>
            <a:rect l="l" t="t" r="r" b="b"/>
            <a:pathLst>
              <a:path w="272415" h="280035">
                <a:moveTo>
                  <a:pt x="272161" y="0"/>
                </a:moveTo>
                <a:lnTo>
                  <a:pt x="0" y="27978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07807" y="2927604"/>
            <a:ext cx="1205230" cy="2796540"/>
          </a:xfrm>
          <a:custGeom>
            <a:avLst/>
            <a:gdLst/>
            <a:ahLst/>
            <a:cxnLst/>
            <a:rect l="l" t="t" r="r" b="b"/>
            <a:pathLst>
              <a:path w="1205229" h="2796540">
                <a:moveTo>
                  <a:pt x="0" y="0"/>
                </a:moveTo>
                <a:lnTo>
                  <a:pt x="1204722" y="2795955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39661" y="4261865"/>
            <a:ext cx="0" cy="1463040"/>
          </a:xfrm>
          <a:custGeom>
            <a:avLst/>
            <a:gdLst/>
            <a:ahLst/>
            <a:cxnLst/>
            <a:rect l="l" t="t" r="r" b="b"/>
            <a:pathLst>
              <a:path w="0" h="1463039">
                <a:moveTo>
                  <a:pt x="0" y="0"/>
                </a:moveTo>
                <a:lnTo>
                  <a:pt x="0" y="1463039"/>
                </a:lnTo>
              </a:path>
            </a:pathLst>
          </a:custGeom>
          <a:ln w="2286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24721" y="4277105"/>
            <a:ext cx="0" cy="1449070"/>
          </a:xfrm>
          <a:custGeom>
            <a:avLst/>
            <a:gdLst/>
            <a:ahLst/>
            <a:cxnLst/>
            <a:rect l="l" t="t" r="r" b="b"/>
            <a:pathLst>
              <a:path w="0" h="1449070">
                <a:moveTo>
                  <a:pt x="0" y="0"/>
                </a:moveTo>
                <a:lnTo>
                  <a:pt x="0" y="1448549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48221" y="5724905"/>
            <a:ext cx="2468880" cy="0"/>
          </a:xfrm>
          <a:custGeom>
            <a:avLst/>
            <a:gdLst/>
            <a:ahLst/>
            <a:cxnLst/>
            <a:rect l="l" t="t" r="r" b="b"/>
            <a:pathLst>
              <a:path w="2468879" h="0">
                <a:moveTo>
                  <a:pt x="0" y="0"/>
                </a:moveTo>
                <a:lnTo>
                  <a:pt x="2468879" y="0"/>
                </a:lnTo>
              </a:path>
            </a:pathLst>
          </a:custGeom>
          <a:ln w="198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106795" y="5619089"/>
            <a:ext cx="22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40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85176" y="3156204"/>
            <a:ext cx="76200" cy="1120140"/>
          </a:xfrm>
          <a:custGeom>
            <a:avLst/>
            <a:gdLst/>
            <a:ahLst/>
            <a:cxnLst/>
            <a:rect l="l" t="t" r="r" b="b"/>
            <a:pathLst>
              <a:path w="76200" h="1120139">
                <a:moveTo>
                  <a:pt x="44450" y="63500"/>
                </a:moveTo>
                <a:lnTo>
                  <a:pt x="31750" y="63500"/>
                </a:lnTo>
                <a:lnTo>
                  <a:pt x="31750" y="1119632"/>
                </a:lnTo>
                <a:lnTo>
                  <a:pt x="44450" y="1119632"/>
                </a:lnTo>
                <a:lnTo>
                  <a:pt x="44450" y="63500"/>
                </a:lnTo>
                <a:close/>
              </a:path>
              <a:path w="76200" h="112013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2013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85176" y="3654552"/>
            <a:ext cx="76200" cy="640080"/>
          </a:xfrm>
          <a:custGeom>
            <a:avLst/>
            <a:gdLst/>
            <a:ahLst/>
            <a:cxnLst/>
            <a:rect l="l" t="t" r="r" b="b"/>
            <a:pathLst>
              <a:path w="76200" h="640079">
                <a:moveTo>
                  <a:pt x="44450" y="63500"/>
                </a:moveTo>
                <a:lnTo>
                  <a:pt x="31750" y="63500"/>
                </a:lnTo>
                <a:lnTo>
                  <a:pt x="31750" y="640080"/>
                </a:lnTo>
                <a:lnTo>
                  <a:pt x="44450" y="640080"/>
                </a:lnTo>
                <a:lnTo>
                  <a:pt x="44450" y="63500"/>
                </a:lnTo>
                <a:close/>
              </a:path>
              <a:path w="76200" h="6400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6400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82054" y="2472585"/>
            <a:ext cx="4264563" cy="17442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35963" y="2325623"/>
            <a:ext cx="4398645" cy="1949450"/>
          </a:xfrm>
          <a:custGeom>
            <a:avLst/>
            <a:gdLst/>
            <a:ahLst/>
            <a:cxnLst/>
            <a:rect l="l" t="t" r="r" b="b"/>
            <a:pathLst>
              <a:path w="4398645" h="1949450">
                <a:moveTo>
                  <a:pt x="0" y="1949195"/>
                </a:moveTo>
                <a:lnTo>
                  <a:pt x="4398264" y="1949195"/>
                </a:lnTo>
                <a:lnTo>
                  <a:pt x="4398264" y="0"/>
                </a:lnTo>
                <a:lnTo>
                  <a:pt x="0" y="0"/>
                </a:lnTo>
                <a:lnTo>
                  <a:pt x="0" y="1949195"/>
                </a:lnTo>
                <a:close/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24571" y="2985516"/>
            <a:ext cx="828040" cy="2740025"/>
          </a:xfrm>
          <a:custGeom>
            <a:avLst/>
            <a:gdLst/>
            <a:ahLst/>
            <a:cxnLst/>
            <a:rect l="l" t="t" r="r" b="b"/>
            <a:pathLst>
              <a:path w="828040" h="2740025">
                <a:moveTo>
                  <a:pt x="0" y="0"/>
                </a:moveTo>
                <a:lnTo>
                  <a:pt x="827912" y="2739428"/>
                </a:lnTo>
              </a:path>
            </a:pathLst>
          </a:custGeom>
          <a:ln w="12192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85176" y="3968496"/>
            <a:ext cx="76200" cy="360680"/>
          </a:xfrm>
          <a:custGeom>
            <a:avLst/>
            <a:gdLst/>
            <a:ahLst/>
            <a:cxnLst/>
            <a:rect l="l" t="t" r="r" b="b"/>
            <a:pathLst>
              <a:path w="76200" h="360679">
                <a:moveTo>
                  <a:pt x="44450" y="63499"/>
                </a:moveTo>
                <a:lnTo>
                  <a:pt x="31750" y="63499"/>
                </a:lnTo>
                <a:lnTo>
                  <a:pt x="31750" y="360425"/>
                </a:lnTo>
                <a:lnTo>
                  <a:pt x="44450" y="360425"/>
                </a:lnTo>
                <a:lnTo>
                  <a:pt x="44450" y="63499"/>
                </a:lnTo>
                <a:close/>
              </a:path>
              <a:path w="76200" h="360679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360679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346126" y="4474234"/>
            <a:ext cx="4168794" cy="17104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31391" y="4405884"/>
            <a:ext cx="4398645" cy="1818639"/>
          </a:xfrm>
          <a:custGeom>
            <a:avLst/>
            <a:gdLst/>
            <a:ahLst/>
            <a:cxnLst/>
            <a:rect l="l" t="t" r="r" b="b"/>
            <a:pathLst>
              <a:path w="4398645" h="1818639">
                <a:moveTo>
                  <a:pt x="0" y="1818131"/>
                </a:moveTo>
                <a:lnTo>
                  <a:pt x="4398264" y="1818131"/>
                </a:lnTo>
                <a:lnTo>
                  <a:pt x="4398264" y="0"/>
                </a:lnTo>
                <a:lnTo>
                  <a:pt x="0" y="0"/>
                </a:lnTo>
                <a:lnTo>
                  <a:pt x="0" y="1818131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10856" y="2927604"/>
            <a:ext cx="611505" cy="2796540"/>
          </a:xfrm>
          <a:custGeom>
            <a:avLst/>
            <a:gdLst/>
            <a:ahLst/>
            <a:cxnLst/>
            <a:rect l="l" t="t" r="r" b="b"/>
            <a:pathLst>
              <a:path w="611504" h="2796540">
                <a:moveTo>
                  <a:pt x="0" y="0"/>
                </a:moveTo>
                <a:lnTo>
                  <a:pt x="611377" y="2795955"/>
                </a:lnTo>
              </a:path>
            </a:pathLst>
          </a:custGeom>
          <a:ln w="12191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97484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170">
                <a:solidFill>
                  <a:srgbClr val="404040"/>
                </a:solidFill>
              </a:rPr>
              <a:t>thấp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244840" cy="87947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Cho</a:t>
            </a:r>
            <a:r>
              <a:rPr dirty="0" sz="2000" spc="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tầng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dưới,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biết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270">
                <a:solidFill>
                  <a:srgbClr val="404040"/>
                </a:solidFill>
                <a:latin typeface="Arial"/>
                <a:cs typeface="Arial"/>
              </a:rPr>
              <a:t>A1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=R</a:t>
            </a:r>
            <a:r>
              <a:rPr dirty="0" baseline="-21367" sz="1950" spc="-270">
                <a:solidFill>
                  <a:srgbClr val="404040"/>
                </a:solidFill>
                <a:latin typeface="Arial"/>
                <a:cs typeface="Arial"/>
              </a:rPr>
              <a:t>A2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=R</a:t>
            </a:r>
            <a:r>
              <a:rPr dirty="0" baseline="-21367" sz="1950" spc="-270">
                <a:solidFill>
                  <a:srgbClr val="404040"/>
                </a:solidFill>
                <a:latin typeface="Arial"/>
                <a:cs typeface="Arial"/>
              </a:rPr>
              <a:t>B1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=R</a:t>
            </a:r>
            <a:r>
              <a:rPr dirty="0" baseline="-21367" sz="1950" spc="-270">
                <a:solidFill>
                  <a:srgbClr val="404040"/>
                </a:solidFill>
                <a:latin typeface="Arial"/>
                <a:cs typeface="Arial"/>
              </a:rPr>
              <a:t>B2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= 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225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=R</a:t>
            </a:r>
            <a:r>
              <a:rPr dirty="0" baseline="-21367" sz="1950" spc="-225">
                <a:solidFill>
                  <a:srgbClr val="404040"/>
                </a:solidFill>
                <a:latin typeface="Arial"/>
                <a:cs typeface="Arial"/>
              </a:rPr>
              <a:t>4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=1.8K</a:t>
            </a:r>
            <a:r>
              <a:rPr dirty="0" sz="2000" spc="-150">
                <a:solidFill>
                  <a:srgbClr val="404040"/>
                </a:solidFill>
                <a:latin typeface="Symbol"/>
                <a:cs typeface="Symbol"/>
              </a:rPr>
              <a:t>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tụ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nhau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C.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380">
                <a:solidFill>
                  <a:srgbClr val="404040"/>
                </a:solidFill>
                <a:latin typeface="Arial"/>
                <a:cs typeface="Arial"/>
              </a:rPr>
              <a:t>C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có 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cắt là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2.68kHz.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232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307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có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theo</a:t>
            </a:r>
            <a:r>
              <a:rPr dirty="0" sz="2000" spc="-2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Butterworth.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35792" y="3183943"/>
            <a:ext cx="7490802" cy="30735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3272" y="3064764"/>
            <a:ext cx="7896225" cy="3260090"/>
          </a:xfrm>
          <a:custGeom>
            <a:avLst/>
            <a:gdLst/>
            <a:ahLst/>
            <a:cxnLst/>
            <a:rect l="l" t="t" r="r" b="b"/>
            <a:pathLst>
              <a:path w="7896225" h="3260090">
                <a:moveTo>
                  <a:pt x="0" y="3259836"/>
                </a:moveTo>
                <a:lnTo>
                  <a:pt x="7895844" y="3259836"/>
                </a:lnTo>
                <a:lnTo>
                  <a:pt x="7895844" y="0"/>
                </a:lnTo>
                <a:lnTo>
                  <a:pt x="0" y="0"/>
                </a:lnTo>
                <a:lnTo>
                  <a:pt x="0" y="3259836"/>
                </a:lnTo>
                <a:close/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6204" y="5765088"/>
            <a:ext cx="41643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0835" indent="-3181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31470" algn="l"/>
              </a:tabLst>
            </a:pPr>
            <a:r>
              <a:rPr dirty="0" sz="2400" spc="-5">
                <a:latin typeface="Times New Roman"/>
                <a:cs typeface="Times New Roman"/>
              </a:rPr>
              <a:t>ĐS: </a:t>
            </a:r>
            <a:r>
              <a:rPr dirty="0" sz="2400" spc="-40">
                <a:latin typeface="Times New Roman"/>
                <a:cs typeface="Times New Roman"/>
              </a:rPr>
              <a:t>33nF, </a:t>
            </a:r>
            <a:r>
              <a:rPr dirty="0" sz="2400" spc="-5">
                <a:latin typeface="Times New Roman"/>
                <a:cs typeface="Times New Roman"/>
              </a:rPr>
              <a:t>274Ohm, </a:t>
            </a:r>
            <a:r>
              <a:rPr dirty="0" sz="2400">
                <a:latin typeface="Times New Roman"/>
                <a:cs typeface="Times New Roman"/>
              </a:rPr>
              <a:t>2.22kOhm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71830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365">
                <a:solidFill>
                  <a:srgbClr val="404040"/>
                </a:solidFill>
              </a:rPr>
              <a:t>cao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3486155" y="4083939"/>
            <a:ext cx="1181471" cy="180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8839" y="1856260"/>
            <a:ext cx="4582795" cy="293941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bậc</a:t>
            </a: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nhất:</a:t>
            </a:r>
            <a:endParaRPr sz="2000">
              <a:latin typeface="Arial"/>
              <a:cs typeface="Arial"/>
            </a:endParaRPr>
          </a:p>
          <a:p>
            <a:pPr algn="just" lvl="1" marL="396875" marR="5080" indent="-182880">
              <a:lnSpc>
                <a:spcPct val="90000"/>
              </a:lnSpc>
              <a:spcBef>
                <a:spcPts val="41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1800" spc="-60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85" b="1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165" b="1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hồi  </a:t>
            </a:r>
            <a:r>
              <a:rPr dirty="0" sz="1800" spc="-70" b="1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dirty="0" sz="1800" spc="-165" b="1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110" b="1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1800" spc="-85" b="1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1800" spc="-135" b="1">
                <a:solidFill>
                  <a:srgbClr val="404040"/>
                </a:solidFill>
                <a:latin typeface="Arial"/>
                <a:cs typeface="Arial"/>
              </a:rPr>
              <a:t>bộ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130" b="1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1800" spc="-175" b="1">
                <a:solidFill>
                  <a:srgbClr val="404040"/>
                </a:solidFill>
                <a:latin typeface="Arial"/>
                <a:cs typeface="Arial"/>
              </a:rPr>
              <a:t>cao  </a:t>
            </a:r>
            <a:r>
              <a:rPr dirty="0" sz="1800" spc="-330" b="1">
                <a:solidFill>
                  <a:srgbClr val="404040"/>
                </a:solidFill>
                <a:latin typeface="Arial"/>
                <a:cs typeface="Arial"/>
              </a:rPr>
              <a:t>RC </a:t>
            </a:r>
            <a:r>
              <a:rPr dirty="0" sz="1800" spc="-35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1800" spc="-2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404040"/>
                </a:solidFill>
                <a:latin typeface="Arial"/>
                <a:cs typeface="Arial"/>
              </a:rPr>
              <a:t>Op-Amp.</a:t>
            </a:r>
            <a:endParaRPr sz="1800">
              <a:latin typeface="Arial"/>
              <a:cs typeface="Arial"/>
            </a:endParaRPr>
          </a:p>
          <a:p>
            <a:pPr lvl="1" marL="396875" marR="7620" indent="-182880">
              <a:lnSpc>
                <a:spcPts val="1939"/>
              </a:lnSpc>
              <a:spcBef>
                <a:spcPts val="63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gọi là </a:t>
            </a:r>
            <a:r>
              <a:rPr dirty="0" sz="1800" spc="-85">
                <a:solidFill>
                  <a:srgbClr val="404040"/>
                </a:solidFill>
                <a:latin typeface="Arial"/>
                <a:cs typeface="Arial"/>
              </a:rPr>
              <a:t>“</a:t>
            </a:r>
            <a:r>
              <a:rPr dirty="0" sz="1800" spc="-85" b="1">
                <a:solidFill>
                  <a:srgbClr val="404040"/>
                </a:solidFill>
                <a:latin typeface="Arial"/>
                <a:cs typeface="Arial"/>
              </a:rPr>
              <a:t>bậc </a:t>
            </a:r>
            <a:r>
              <a:rPr dirty="0" sz="1800" spc="-50" b="1">
                <a:solidFill>
                  <a:srgbClr val="404040"/>
                </a:solidFill>
                <a:latin typeface="Arial"/>
                <a:cs typeface="Arial"/>
              </a:rPr>
              <a:t>nhất</a:t>
            </a:r>
            <a:r>
              <a:rPr dirty="0" sz="1800" spc="-50">
                <a:solidFill>
                  <a:srgbClr val="404040"/>
                </a:solidFill>
                <a:latin typeface="Arial"/>
                <a:cs typeface="Arial"/>
              </a:rPr>
              <a:t>”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bởi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vì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duy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nhất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1800" spc="-65" b="1">
                <a:solidFill>
                  <a:srgbClr val="404040"/>
                </a:solidFill>
                <a:latin typeface="Arial"/>
                <a:cs typeface="Arial"/>
              </a:rPr>
              <a:t>tổ </a:t>
            </a:r>
            <a:r>
              <a:rPr dirty="0" sz="1800" spc="-140" b="1">
                <a:solidFill>
                  <a:srgbClr val="404040"/>
                </a:solidFill>
                <a:latin typeface="Arial"/>
                <a:cs typeface="Arial"/>
              </a:rPr>
              <a:t>hợp </a:t>
            </a:r>
            <a:r>
              <a:rPr dirty="0" sz="1800" spc="-330" b="1">
                <a:solidFill>
                  <a:srgbClr val="404040"/>
                </a:solidFill>
                <a:latin typeface="Arial"/>
                <a:cs typeface="Arial"/>
              </a:rPr>
              <a:t>RC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dirty="0" sz="1800" spc="-3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404040"/>
                </a:solidFill>
                <a:latin typeface="Arial"/>
                <a:cs typeface="Arial"/>
              </a:rPr>
              <a:t>mạch.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36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1800" spc="-210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75" b="1">
                <a:solidFill>
                  <a:srgbClr val="404040"/>
                </a:solidFill>
                <a:latin typeface="Arial"/>
                <a:cs typeface="Arial"/>
              </a:rPr>
              <a:t>dốc </a:t>
            </a:r>
            <a:r>
              <a:rPr dirty="0" sz="1800" spc="-20">
                <a:solidFill>
                  <a:srgbClr val="404040"/>
                </a:solidFill>
                <a:latin typeface="Arial"/>
                <a:cs typeface="Arial"/>
              </a:rPr>
              <a:t>(roll-off)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dirty="0" sz="1800" spc="-1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404040"/>
                </a:solidFill>
                <a:latin typeface="Arial"/>
                <a:cs typeface="Arial"/>
              </a:rPr>
              <a:t>-20dB/dec.</a:t>
            </a:r>
            <a:endParaRPr sz="18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80" b="1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1800" spc="-210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20" b="1">
                <a:solidFill>
                  <a:srgbClr val="404040"/>
                </a:solidFill>
                <a:latin typeface="Arial"/>
                <a:cs typeface="Arial"/>
              </a:rPr>
              <a:t>cắt</a:t>
            </a:r>
            <a:r>
              <a:rPr dirty="0" sz="1800" spc="-29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endParaRPr sz="1800">
              <a:latin typeface="Arial"/>
              <a:cs typeface="Arial"/>
            </a:endParaRPr>
          </a:p>
          <a:p>
            <a:pPr lvl="1" marL="396875" marR="7620" indent="-182880">
              <a:lnSpc>
                <a:spcPts val="1939"/>
              </a:lnSpc>
              <a:spcBef>
                <a:spcPts val="63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1800" spc="-114" b="1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1800" spc="-215" b="1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1800" spc="-155" b="1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18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1800" spc="-105">
                <a:solidFill>
                  <a:srgbClr val="99CA38"/>
                </a:solidFill>
                <a:latin typeface="Arial"/>
                <a:cs typeface="Arial"/>
              </a:rPr>
              <a:t>băng </a:t>
            </a:r>
            <a:r>
              <a:rPr dirty="0" sz="1800" spc="-45">
                <a:solidFill>
                  <a:srgbClr val="99CA38"/>
                </a:solidFill>
                <a:latin typeface="Arial"/>
                <a:cs typeface="Arial"/>
              </a:rPr>
              <a:t>tần  hoạt </a:t>
            </a:r>
            <a:r>
              <a:rPr dirty="0" sz="1800" spc="-70">
                <a:solidFill>
                  <a:srgbClr val="99CA38"/>
                </a:solidFill>
                <a:latin typeface="Arial"/>
                <a:cs typeface="Arial"/>
              </a:rPr>
              <a:t>động</a:t>
            </a:r>
            <a:r>
              <a:rPr dirty="0" sz="1800" spc="-140">
                <a:solidFill>
                  <a:srgbClr val="99CA38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404040"/>
                </a:solidFill>
                <a:latin typeface="Arial"/>
                <a:cs typeface="Arial"/>
              </a:rPr>
              <a:t>là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37634" y="5208790"/>
            <a:ext cx="1962495" cy="591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9793" y="3607314"/>
            <a:ext cx="3238762" cy="26413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421880" y="4419600"/>
            <a:ext cx="653415" cy="669925"/>
          </a:xfrm>
          <a:custGeom>
            <a:avLst/>
            <a:gdLst/>
            <a:ahLst/>
            <a:cxnLst/>
            <a:rect l="l" t="t" r="r" b="b"/>
            <a:pathLst>
              <a:path w="653415" h="669925">
                <a:moveTo>
                  <a:pt x="653288" y="0"/>
                </a:moveTo>
                <a:lnTo>
                  <a:pt x="0" y="669798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32547" y="4459223"/>
            <a:ext cx="951865" cy="975994"/>
          </a:xfrm>
          <a:custGeom>
            <a:avLst/>
            <a:gdLst/>
            <a:ahLst/>
            <a:cxnLst/>
            <a:rect l="l" t="t" r="r" b="b"/>
            <a:pathLst>
              <a:path w="951865" h="975995">
                <a:moveTo>
                  <a:pt x="951737" y="0"/>
                </a:moveTo>
                <a:lnTo>
                  <a:pt x="0" y="975867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20356" y="4515611"/>
            <a:ext cx="1256030" cy="1287780"/>
          </a:xfrm>
          <a:custGeom>
            <a:avLst/>
            <a:gdLst/>
            <a:ahLst/>
            <a:cxnLst/>
            <a:rect l="l" t="t" r="r" b="b"/>
            <a:pathLst>
              <a:path w="1256029" h="1287779">
                <a:moveTo>
                  <a:pt x="1255776" y="0"/>
                </a:moveTo>
                <a:lnTo>
                  <a:pt x="0" y="1287564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37704" y="4776215"/>
            <a:ext cx="1229995" cy="1261110"/>
          </a:xfrm>
          <a:custGeom>
            <a:avLst/>
            <a:gdLst/>
            <a:ahLst/>
            <a:cxnLst/>
            <a:rect l="l" t="t" r="r" b="b"/>
            <a:pathLst>
              <a:path w="1229995" h="1261110">
                <a:moveTo>
                  <a:pt x="1229868" y="0"/>
                </a:moveTo>
                <a:lnTo>
                  <a:pt x="0" y="1260982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85176" y="5120640"/>
            <a:ext cx="892810" cy="915669"/>
          </a:xfrm>
          <a:custGeom>
            <a:avLst/>
            <a:gdLst/>
            <a:ahLst/>
            <a:cxnLst/>
            <a:rect l="l" t="t" r="r" b="b"/>
            <a:pathLst>
              <a:path w="892809" h="915670">
                <a:moveTo>
                  <a:pt x="892555" y="0"/>
                </a:moveTo>
                <a:lnTo>
                  <a:pt x="0" y="915225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203692" y="5490971"/>
            <a:ext cx="559435" cy="574040"/>
          </a:xfrm>
          <a:custGeom>
            <a:avLst/>
            <a:gdLst/>
            <a:ahLst/>
            <a:cxnLst/>
            <a:rect l="l" t="t" r="r" b="b"/>
            <a:pathLst>
              <a:path w="559434" h="574039">
                <a:moveTo>
                  <a:pt x="559434" y="0"/>
                </a:moveTo>
                <a:lnTo>
                  <a:pt x="0" y="573582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554211" y="5833871"/>
            <a:ext cx="220979" cy="226695"/>
          </a:xfrm>
          <a:custGeom>
            <a:avLst/>
            <a:gdLst/>
            <a:ahLst/>
            <a:cxnLst/>
            <a:rect l="l" t="t" r="r" b="b"/>
            <a:pathLst>
              <a:path w="220979" h="226695">
                <a:moveTo>
                  <a:pt x="220726" y="0"/>
                </a:moveTo>
                <a:lnTo>
                  <a:pt x="0" y="226313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32547" y="4419600"/>
            <a:ext cx="313690" cy="321945"/>
          </a:xfrm>
          <a:custGeom>
            <a:avLst/>
            <a:gdLst/>
            <a:ahLst/>
            <a:cxnLst/>
            <a:rect l="l" t="t" r="r" b="b"/>
            <a:pathLst>
              <a:path w="313690" h="321945">
                <a:moveTo>
                  <a:pt x="313690" y="0"/>
                </a:moveTo>
                <a:lnTo>
                  <a:pt x="0" y="321691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31635" y="1790700"/>
            <a:ext cx="3579875" cy="23301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71830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365">
                <a:solidFill>
                  <a:srgbClr val="404040"/>
                </a:solidFill>
              </a:rPr>
              <a:t>cao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3298825" cy="6591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bậc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hai:</a:t>
            </a:r>
            <a:endParaRPr sz="2000">
              <a:latin typeface="Arial"/>
              <a:cs typeface="Arial"/>
            </a:endParaRPr>
          </a:p>
          <a:p>
            <a:pPr lvl="1" marL="396875" indent="-18288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SzPct val="94444"/>
              <a:buFont typeface="Wingdings"/>
              <a:buChar char=""/>
              <a:tabLst>
                <a:tab pos="397510" algn="l"/>
              </a:tabLst>
            </a:pPr>
            <a:r>
              <a:rPr dirty="0" sz="18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18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18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1800" spc="-120">
                <a:solidFill>
                  <a:srgbClr val="404040"/>
                </a:solidFill>
                <a:latin typeface="Arial"/>
                <a:cs typeface="Arial"/>
              </a:rPr>
              <a:t>cao</a:t>
            </a:r>
            <a:r>
              <a:rPr dirty="0" sz="1800" spc="-1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404040"/>
                </a:solidFill>
                <a:latin typeface="Arial"/>
                <a:cs typeface="Arial"/>
              </a:rPr>
              <a:t>Sallen-Key: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8034" y="2936862"/>
            <a:ext cx="3951470" cy="27640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17675" y="4992623"/>
            <a:ext cx="2695955" cy="867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9345" y="2557294"/>
            <a:ext cx="3237280" cy="26428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1440" y="3369564"/>
            <a:ext cx="653415" cy="669925"/>
          </a:xfrm>
          <a:custGeom>
            <a:avLst/>
            <a:gdLst/>
            <a:ahLst/>
            <a:cxnLst/>
            <a:rect l="l" t="t" r="r" b="b"/>
            <a:pathLst>
              <a:path w="653415" h="669925">
                <a:moveTo>
                  <a:pt x="653287" y="0"/>
                </a:moveTo>
                <a:lnTo>
                  <a:pt x="0" y="669798"/>
                </a:lnTo>
              </a:path>
            </a:pathLst>
          </a:custGeom>
          <a:ln w="12191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20583" y="3409188"/>
            <a:ext cx="951865" cy="975994"/>
          </a:xfrm>
          <a:custGeom>
            <a:avLst/>
            <a:gdLst/>
            <a:ahLst/>
            <a:cxnLst/>
            <a:rect l="l" t="t" r="r" b="b"/>
            <a:pathLst>
              <a:path w="951865" h="975995">
                <a:moveTo>
                  <a:pt x="951738" y="0"/>
                </a:moveTo>
                <a:lnTo>
                  <a:pt x="0" y="975868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08392" y="3465576"/>
            <a:ext cx="1256030" cy="1287780"/>
          </a:xfrm>
          <a:custGeom>
            <a:avLst/>
            <a:gdLst/>
            <a:ahLst/>
            <a:cxnLst/>
            <a:rect l="l" t="t" r="r" b="b"/>
            <a:pathLst>
              <a:path w="1256029" h="1287779">
                <a:moveTo>
                  <a:pt x="1255776" y="0"/>
                </a:moveTo>
                <a:lnTo>
                  <a:pt x="0" y="1287526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25740" y="3727703"/>
            <a:ext cx="1229995" cy="1261110"/>
          </a:xfrm>
          <a:custGeom>
            <a:avLst/>
            <a:gdLst/>
            <a:ahLst/>
            <a:cxnLst/>
            <a:rect l="l" t="t" r="r" b="b"/>
            <a:pathLst>
              <a:path w="1229995" h="1261110">
                <a:moveTo>
                  <a:pt x="1229867" y="0"/>
                </a:moveTo>
                <a:lnTo>
                  <a:pt x="0" y="1260983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74735" y="4070603"/>
            <a:ext cx="892810" cy="915669"/>
          </a:xfrm>
          <a:custGeom>
            <a:avLst/>
            <a:gdLst/>
            <a:ahLst/>
            <a:cxnLst/>
            <a:rect l="l" t="t" r="r" b="b"/>
            <a:pathLst>
              <a:path w="892809" h="915670">
                <a:moveTo>
                  <a:pt x="892556" y="0"/>
                </a:moveTo>
                <a:lnTo>
                  <a:pt x="0" y="915289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491728" y="4440935"/>
            <a:ext cx="559435" cy="574040"/>
          </a:xfrm>
          <a:custGeom>
            <a:avLst/>
            <a:gdLst/>
            <a:ahLst/>
            <a:cxnLst/>
            <a:rect l="l" t="t" r="r" b="b"/>
            <a:pathLst>
              <a:path w="559434" h="574039">
                <a:moveTo>
                  <a:pt x="559435" y="0"/>
                </a:moveTo>
                <a:lnTo>
                  <a:pt x="0" y="573532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43771" y="4785359"/>
            <a:ext cx="220979" cy="226695"/>
          </a:xfrm>
          <a:custGeom>
            <a:avLst/>
            <a:gdLst/>
            <a:ahLst/>
            <a:cxnLst/>
            <a:rect l="l" t="t" r="r" b="b"/>
            <a:pathLst>
              <a:path w="220979" h="226695">
                <a:moveTo>
                  <a:pt x="220725" y="0"/>
                </a:moveTo>
                <a:lnTo>
                  <a:pt x="0" y="226313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20583" y="3369564"/>
            <a:ext cx="313690" cy="321945"/>
          </a:xfrm>
          <a:custGeom>
            <a:avLst/>
            <a:gdLst/>
            <a:ahLst/>
            <a:cxnLst/>
            <a:rect l="l" t="t" r="r" b="b"/>
            <a:pathLst>
              <a:path w="313690" h="321945">
                <a:moveTo>
                  <a:pt x="313690" y="0"/>
                </a:moveTo>
                <a:lnTo>
                  <a:pt x="0" y="321691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88480" y="3499103"/>
            <a:ext cx="795020" cy="1549400"/>
          </a:xfrm>
          <a:custGeom>
            <a:avLst/>
            <a:gdLst/>
            <a:ahLst/>
            <a:cxnLst/>
            <a:rect l="l" t="t" r="r" b="b"/>
            <a:pathLst>
              <a:path w="795020" h="1549400">
                <a:moveTo>
                  <a:pt x="794512" y="0"/>
                </a:moveTo>
                <a:lnTo>
                  <a:pt x="0" y="154940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71830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365">
                <a:solidFill>
                  <a:srgbClr val="404040"/>
                </a:solidFill>
              </a:rPr>
              <a:t>cao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581525" cy="11544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Chọn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kiện 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sao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cắt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20kHz 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theo 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Butterworth.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0580" y="3182111"/>
            <a:ext cx="4677156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28522" y="4284726"/>
            <a:ext cx="4319270" cy="226060"/>
          </a:xfrm>
          <a:custGeom>
            <a:avLst/>
            <a:gdLst/>
            <a:ahLst/>
            <a:cxnLst/>
            <a:rect l="l" t="t" r="r" b="b"/>
            <a:pathLst>
              <a:path w="4319270" h="226060">
                <a:moveTo>
                  <a:pt x="0" y="225551"/>
                </a:moveTo>
                <a:lnTo>
                  <a:pt x="4319016" y="225551"/>
                </a:lnTo>
                <a:lnTo>
                  <a:pt x="4319016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3200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64042" y="2793196"/>
            <a:ext cx="3948725" cy="27624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71830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420">
                <a:solidFill>
                  <a:srgbClr val="404040"/>
                </a:solidFill>
              </a:rPr>
              <a:t>cực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750">
                <a:solidFill>
                  <a:srgbClr val="404040"/>
                </a:solidFill>
              </a:rPr>
              <a:t> </a:t>
            </a:r>
            <a:r>
              <a:rPr dirty="0" u="none" sz="4800" spc="-365">
                <a:solidFill>
                  <a:srgbClr val="404040"/>
                </a:solidFill>
              </a:rPr>
              <a:t>cao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8243570" cy="120523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bậc:</a:t>
            </a:r>
            <a:endParaRPr sz="20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đáp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Butterworth,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bên dưới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dốc</a:t>
            </a:r>
            <a:r>
              <a:rPr dirty="0" sz="2000" spc="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roll-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5">
                <a:solidFill>
                  <a:srgbClr val="404040"/>
                </a:solidFill>
                <a:latin typeface="Arial"/>
                <a:cs typeface="Arial"/>
              </a:rPr>
              <a:t>off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</a:t>
            </a:r>
            <a:r>
              <a:rPr dirty="0" sz="2000" spc="-26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nhiêu?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9247" y="3435392"/>
            <a:ext cx="7924071" cy="2780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450977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265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</a:t>
            </a:r>
            <a:r>
              <a:rPr dirty="0" u="none" sz="4800" spc="-600">
                <a:solidFill>
                  <a:srgbClr val="404040"/>
                </a:solidFill>
              </a:rPr>
              <a:t> </a:t>
            </a:r>
            <a:r>
              <a:rPr dirty="0" u="none" sz="4800" spc="-425">
                <a:solidFill>
                  <a:srgbClr val="404040"/>
                </a:solidFill>
              </a:rPr>
              <a:t>cực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180">
                <a:solidFill>
                  <a:srgbClr val="404040"/>
                </a:solidFill>
              </a:rPr>
              <a:t>thông </a:t>
            </a:r>
            <a:r>
              <a:rPr dirty="0" u="none" sz="4800" spc="-235">
                <a:solidFill>
                  <a:srgbClr val="404040"/>
                </a:solidFill>
              </a:rPr>
              <a:t>dải </a:t>
            </a:r>
            <a:r>
              <a:rPr dirty="0" u="none" sz="4800" spc="-305">
                <a:solidFill>
                  <a:srgbClr val="404040"/>
                </a:solidFill>
              </a:rPr>
              <a:t>đơn</a:t>
            </a:r>
            <a:r>
              <a:rPr dirty="0" u="none" sz="4800" spc="-700">
                <a:solidFill>
                  <a:srgbClr val="404040"/>
                </a:solidFill>
              </a:rPr>
              <a:t> </a:t>
            </a:r>
            <a:r>
              <a:rPr dirty="0" u="none" sz="4800" spc="-295">
                <a:solidFill>
                  <a:srgbClr val="404040"/>
                </a:solidFill>
              </a:rPr>
              <a:t>giản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70840" indent="-259079">
              <a:lnSpc>
                <a:spcPts val="228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371475" algn="l"/>
              </a:tabLst>
            </a:pPr>
            <a:r>
              <a:rPr dirty="0" spc="-80"/>
              <a:t>Mạch </a:t>
            </a:r>
            <a:r>
              <a:rPr dirty="0" spc="-65"/>
              <a:t>lọc </a:t>
            </a:r>
            <a:r>
              <a:rPr dirty="0" spc="-55"/>
              <a:t>thông </a:t>
            </a:r>
            <a:r>
              <a:rPr dirty="0" spc="-70"/>
              <a:t>dải </a:t>
            </a:r>
            <a:r>
              <a:rPr dirty="0" spc="-110"/>
              <a:t>có </a:t>
            </a:r>
            <a:r>
              <a:rPr dirty="0" spc="-20"/>
              <a:t>thể </a:t>
            </a:r>
            <a:r>
              <a:rPr dirty="0" spc="-130"/>
              <a:t>xem </a:t>
            </a:r>
            <a:r>
              <a:rPr dirty="0" spc="-90"/>
              <a:t>như </a:t>
            </a:r>
            <a:r>
              <a:rPr dirty="0" spc="-5"/>
              <a:t>một</a:t>
            </a:r>
            <a:r>
              <a:rPr dirty="0" spc="290"/>
              <a:t> </a:t>
            </a:r>
            <a:r>
              <a:rPr dirty="0" spc="-110"/>
              <a:t>mạch </a:t>
            </a:r>
            <a:r>
              <a:rPr dirty="0" spc="-55"/>
              <a:t>kết </a:t>
            </a:r>
            <a:r>
              <a:rPr dirty="0" spc="-95"/>
              <a:t>hợp </a:t>
            </a:r>
            <a:r>
              <a:rPr dirty="0" spc="-110"/>
              <a:t>giữa mạch </a:t>
            </a:r>
            <a:r>
              <a:rPr dirty="0" spc="-65"/>
              <a:t>lọc </a:t>
            </a:r>
            <a:r>
              <a:rPr dirty="0" spc="-50"/>
              <a:t>thông</a:t>
            </a:r>
          </a:p>
          <a:p>
            <a:pPr marL="203200">
              <a:lnSpc>
                <a:spcPts val="2280"/>
              </a:lnSpc>
            </a:pPr>
            <a:r>
              <a:rPr dirty="0" spc="-40"/>
              <a:t>thấp </a:t>
            </a:r>
            <a:r>
              <a:rPr dirty="0" spc="-95"/>
              <a:t>giao </a:t>
            </a:r>
            <a:r>
              <a:rPr dirty="0" spc="-90"/>
              <a:t>với </a:t>
            </a:r>
            <a:r>
              <a:rPr dirty="0" spc="-110"/>
              <a:t>mạch </a:t>
            </a:r>
            <a:r>
              <a:rPr dirty="0" spc="-65"/>
              <a:t>lọc </a:t>
            </a:r>
            <a:r>
              <a:rPr dirty="0" spc="-45"/>
              <a:t>thông</a:t>
            </a:r>
            <a:r>
              <a:rPr dirty="0" spc="-275"/>
              <a:t> </a:t>
            </a:r>
            <a:r>
              <a:rPr dirty="0" spc="-110"/>
              <a:t>cao.</a:t>
            </a:r>
          </a:p>
          <a:p>
            <a:pPr marL="369570" indent="-257810">
              <a:lnSpc>
                <a:spcPct val="100000"/>
              </a:lnSpc>
              <a:spcBef>
                <a:spcPts val="1160"/>
              </a:spcBef>
              <a:buClr>
                <a:srgbClr val="99CA38"/>
              </a:buClr>
              <a:buFont typeface="Wingdings"/>
              <a:buChar char=""/>
              <a:tabLst>
                <a:tab pos="370205" algn="l"/>
              </a:tabLst>
            </a:pPr>
            <a:r>
              <a:rPr dirty="0" spc="-210"/>
              <a:t>Tần </a:t>
            </a:r>
            <a:r>
              <a:rPr dirty="0" spc="-140"/>
              <a:t>số </a:t>
            </a:r>
            <a:r>
              <a:rPr dirty="0" spc="-75"/>
              <a:t>cắt </a:t>
            </a:r>
            <a:r>
              <a:rPr dirty="0" spc="-85"/>
              <a:t>dưới </a:t>
            </a:r>
            <a:r>
              <a:rPr dirty="0" spc="-80"/>
              <a:t>fc1 </a:t>
            </a:r>
            <a:r>
              <a:rPr dirty="0" spc="-85"/>
              <a:t>chính </a:t>
            </a:r>
            <a:r>
              <a:rPr dirty="0" spc="-75"/>
              <a:t>là </a:t>
            </a:r>
            <a:r>
              <a:rPr dirty="0" spc="-40"/>
              <a:t>tần </a:t>
            </a:r>
            <a:r>
              <a:rPr dirty="0" spc="-140"/>
              <a:t>số </a:t>
            </a:r>
            <a:r>
              <a:rPr dirty="0" spc="-75"/>
              <a:t>cắt </a:t>
            </a:r>
            <a:r>
              <a:rPr dirty="0" spc="-125"/>
              <a:t>của </a:t>
            </a:r>
            <a:r>
              <a:rPr dirty="0" spc="-110"/>
              <a:t>mạch </a:t>
            </a:r>
            <a:r>
              <a:rPr dirty="0" spc="-65"/>
              <a:t>lọc </a:t>
            </a:r>
            <a:r>
              <a:rPr dirty="0" spc="-45"/>
              <a:t>thông</a:t>
            </a:r>
            <a:r>
              <a:rPr dirty="0" spc="-245"/>
              <a:t> </a:t>
            </a:r>
            <a:r>
              <a:rPr dirty="0" spc="-125"/>
              <a:t>cao</a:t>
            </a:r>
          </a:p>
          <a:p>
            <a:pPr marL="36957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370205" algn="l"/>
              </a:tabLst>
            </a:pPr>
            <a:r>
              <a:rPr dirty="0" spc="-210"/>
              <a:t>Tần </a:t>
            </a:r>
            <a:r>
              <a:rPr dirty="0" spc="-140"/>
              <a:t>số </a:t>
            </a:r>
            <a:r>
              <a:rPr dirty="0" spc="-75"/>
              <a:t>cắt </a:t>
            </a:r>
            <a:r>
              <a:rPr dirty="0" spc="-15"/>
              <a:t>trên </a:t>
            </a:r>
            <a:r>
              <a:rPr dirty="0" spc="-85"/>
              <a:t>fc2 chính </a:t>
            </a:r>
            <a:r>
              <a:rPr dirty="0" spc="-75"/>
              <a:t>là </a:t>
            </a:r>
            <a:r>
              <a:rPr dirty="0" spc="-45"/>
              <a:t>tần </a:t>
            </a:r>
            <a:r>
              <a:rPr dirty="0" spc="-140"/>
              <a:t>số </a:t>
            </a:r>
            <a:r>
              <a:rPr dirty="0" spc="-75"/>
              <a:t>cắt </a:t>
            </a:r>
            <a:r>
              <a:rPr dirty="0" spc="-125"/>
              <a:t>của </a:t>
            </a:r>
            <a:r>
              <a:rPr dirty="0" spc="-110"/>
              <a:t>mạch </a:t>
            </a:r>
            <a:r>
              <a:rPr dirty="0" spc="-65"/>
              <a:t>lọc </a:t>
            </a:r>
            <a:r>
              <a:rPr dirty="0" spc="-45"/>
              <a:t>thông</a:t>
            </a:r>
            <a:r>
              <a:rPr dirty="0" spc="-275"/>
              <a:t> </a:t>
            </a:r>
            <a:r>
              <a:rPr dirty="0" spc="-40"/>
              <a:t>thấp</a:t>
            </a:r>
          </a:p>
        </p:txBody>
      </p:sp>
      <p:sp>
        <p:nvSpPr>
          <p:cNvPr id="4" name="object 4"/>
          <p:cNvSpPr/>
          <p:nvPr/>
        </p:nvSpPr>
        <p:spPr>
          <a:xfrm>
            <a:off x="54476" y="3848867"/>
            <a:ext cx="5502803" cy="2246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47359" y="3713988"/>
            <a:ext cx="4355592" cy="25496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450977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265">
                <a:solidFill>
                  <a:srgbClr val="404040"/>
                </a:solidFill>
              </a:rPr>
              <a:t>Mạch </a:t>
            </a:r>
            <a:r>
              <a:rPr dirty="0" u="none" sz="4800" spc="-215">
                <a:solidFill>
                  <a:srgbClr val="404040"/>
                </a:solidFill>
              </a:rPr>
              <a:t>lọc </a:t>
            </a:r>
            <a:r>
              <a:rPr dirty="0" u="none" sz="4800" spc="-185">
                <a:solidFill>
                  <a:srgbClr val="404040"/>
                </a:solidFill>
              </a:rPr>
              <a:t>tích</a:t>
            </a:r>
            <a:r>
              <a:rPr dirty="0" u="none" sz="4800" spc="-600">
                <a:solidFill>
                  <a:srgbClr val="404040"/>
                </a:solidFill>
              </a:rPr>
              <a:t> </a:t>
            </a:r>
            <a:r>
              <a:rPr dirty="0" u="none" sz="4800" spc="-425">
                <a:solidFill>
                  <a:srgbClr val="404040"/>
                </a:solidFill>
              </a:rPr>
              <a:t>cực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180">
                <a:solidFill>
                  <a:srgbClr val="404040"/>
                </a:solidFill>
              </a:rPr>
              <a:t>thông </a:t>
            </a:r>
            <a:r>
              <a:rPr dirty="0" u="none" sz="4800" spc="-235">
                <a:solidFill>
                  <a:srgbClr val="404040"/>
                </a:solidFill>
              </a:rPr>
              <a:t>dải </a:t>
            </a:r>
            <a:r>
              <a:rPr dirty="0" u="none" sz="4800" spc="-305">
                <a:solidFill>
                  <a:srgbClr val="404040"/>
                </a:solidFill>
              </a:rPr>
              <a:t>đơn</a:t>
            </a:r>
            <a:r>
              <a:rPr dirty="0" u="none" sz="4800" spc="-700">
                <a:solidFill>
                  <a:srgbClr val="404040"/>
                </a:solidFill>
              </a:rPr>
              <a:t> </a:t>
            </a:r>
            <a:r>
              <a:rPr dirty="0" u="none" sz="4800" spc="-295">
                <a:solidFill>
                  <a:srgbClr val="404040"/>
                </a:solidFill>
              </a:rPr>
              <a:t>giản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279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99CA38"/>
                </a:solidFill>
                <a:latin typeface="Wingdings"/>
                <a:cs typeface="Wingdings"/>
              </a:rPr>
              <a:t>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2788412"/>
            <a:ext cx="22796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99CA38"/>
                </a:solidFill>
                <a:latin typeface="Wingdings"/>
                <a:cs typeface="Wingdings"/>
              </a:rPr>
              <a:t>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476" y="3848867"/>
            <a:ext cx="5502803" cy="2246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47359" y="3713988"/>
            <a:ext cx="4355592" cy="25496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48561" y="1876044"/>
            <a:ext cx="1866900" cy="438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43144" y="1918716"/>
            <a:ext cx="2267712" cy="4145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56065" y="2883973"/>
            <a:ext cx="1118874" cy="2395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57013" y="2903601"/>
            <a:ext cx="1209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04040"/>
                </a:solidFill>
                <a:latin typeface="Georgia"/>
                <a:cs typeface="Georgia"/>
              </a:rPr>
              <a:t>BW=fc2-fc1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07782" y="3077210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 h="0">
                <a:moveTo>
                  <a:pt x="0" y="0"/>
                </a:moveTo>
                <a:lnTo>
                  <a:pt x="310896" y="0"/>
                </a:lnTo>
              </a:path>
            </a:pathLst>
          </a:custGeom>
          <a:ln w="16763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098918" y="2802381"/>
            <a:ext cx="558800" cy="4121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5080">
              <a:lnSpc>
                <a:spcPts val="1185"/>
              </a:lnSpc>
              <a:spcBef>
                <a:spcPts val="110"/>
              </a:spcBef>
            </a:pPr>
            <a:r>
              <a:rPr dirty="0" sz="1450" spc="-545">
                <a:solidFill>
                  <a:srgbClr val="404040"/>
                </a:solidFill>
                <a:latin typeface="Arial"/>
                <a:cs typeface="Arial"/>
              </a:rPr>
              <a:t>𝑓</a:t>
            </a:r>
            <a:r>
              <a:rPr dirty="0" baseline="-13888" sz="1800" spc="67">
                <a:solidFill>
                  <a:srgbClr val="404040"/>
                </a:solidFill>
                <a:latin typeface="Arial"/>
                <a:cs typeface="Arial"/>
              </a:rPr>
              <a:t>0</a:t>
            </a:r>
            <a:endParaRPr baseline="-13888" sz="1800">
              <a:latin typeface="Arial"/>
              <a:cs typeface="Arial"/>
            </a:endParaRPr>
          </a:p>
          <a:p>
            <a:pPr marL="12700">
              <a:lnSpc>
                <a:spcPts val="1845"/>
              </a:lnSpc>
            </a:pP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Q=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7396098" y="3079750"/>
            <a:ext cx="33528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130">
                <a:solidFill>
                  <a:srgbClr val="404040"/>
                </a:solidFill>
                <a:latin typeface="Arial"/>
                <a:cs typeface="Arial"/>
              </a:rPr>
              <a:t>𝐵</a:t>
            </a:r>
            <a:r>
              <a:rPr dirty="0" sz="1450" spc="459">
                <a:solidFill>
                  <a:srgbClr val="404040"/>
                </a:solidFill>
                <a:latin typeface="Arial"/>
                <a:cs typeface="Arial"/>
              </a:rPr>
              <a:t>𝑊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7278370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265">
                <a:solidFill>
                  <a:srgbClr val="404040"/>
                </a:solidFill>
              </a:rPr>
              <a:t>Mạch</a:t>
            </a:r>
            <a:r>
              <a:rPr dirty="0" u="none" sz="4800" spc="-360">
                <a:solidFill>
                  <a:srgbClr val="404040"/>
                </a:solidFill>
              </a:rPr>
              <a:t> </a:t>
            </a:r>
            <a:r>
              <a:rPr dirty="0" u="none" sz="4800" spc="-215">
                <a:solidFill>
                  <a:srgbClr val="404040"/>
                </a:solidFill>
              </a:rPr>
              <a:t>lọc</a:t>
            </a:r>
            <a:r>
              <a:rPr dirty="0" u="none" sz="4800" spc="-360">
                <a:solidFill>
                  <a:srgbClr val="404040"/>
                </a:solidFill>
              </a:rPr>
              <a:t> </a:t>
            </a:r>
            <a:r>
              <a:rPr dirty="0" u="none" sz="4800" spc="-265">
                <a:solidFill>
                  <a:srgbClr val="404040"/>
                </a:solidFill>
              </a:rPr>
              <a:t>đa</a:t>
            </a:r>
            <a:r>
              <a:rPr dirty="0" u="none" sz="4800" spc="-365">
                <a:solidFill>
                  <a:srgbClr val="404040"/>
                </a:solidFill>
              </a:rPr>
              <a:t> </a:t>
            </a:r>
            <a:r>
              <a:rPr dirty="0" u="none" sz="4800" spc="-150">
                <a:solidFill>
                  <a:srgbClr val="404040"/>
                </a:solidFill>
              </a:rPr>
              <a:t>hồi</a:t>
            </a:r>
            <a:r>
              <a:rPr dirty="0" u="none" sz="4800" spc="-355">
                <a:solidFill>
                  <a:srgbClr val="404040"/>
                </a:solidFill>
              </a:rPr>
              <a:t> </a:t>
            </a:r>
            <a:r>
              <a:rPr dirty="0" u="none" sz="4800" spc="-100">
                <a:solidFill>
                  <a:srgbClr val="404040"/>
                </a:solidFill>
              </a:rPr>
              <a:t>tiếp</a:t>
            </a:r>
            <a:r>
              <a:rPr dirty="0" u="none" sz="4800" spc="-350">
                <a:solidFill>
                  <a:srgbClr val="404040"/>
                </a:solidFill>
              </a:rPr>
              <a:t>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365">
                <a:solidFill>
                  <a:srgbClr val="404040"/>
                </a:solidFill>
              </a:rPr>
              <a:t> </a:t>
            </a:r>
            <a:r>
              <a:rPr dirty="0" u="none" sz="4800" spc="-235">
                <a:solidFill>
                  <a:srgbClr val="404040"/>
                </a:solidFill>
              </a:rPr>
              <a:t>dải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215">
                <a:solidFill>
                  <a:srgbClr val="404040"/>
                </a:solidFill>
              </a:rPr>
              <a:t>(multiple-feedback</a:t>
            </a:r>
            <a:r>
              <a:rPr dirty="0" u="none" sz="4800" spc="-335">
                <a:solidFill>
                  <a:srgbClr val="404040"/>
                </a:solidFill>
              </a:rPr>
              <a:t> </a:t>
            </a:r>
            <a:r>
              <a:rPr dirty="0" u="none" sz="4800" spc="-65">
                <a:solidFill>
                  <a:srgbClr val="404040"/>
                </a:solidFill>
              </a:rPr>
              <a:t>filter)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116388" y="1964077"/>
            <a:ext cx="4789611" cy="32300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544056" y="2663951"/>
            <a:ext cx="2626360" cy="0"/>
          </a:xfrm>
          <a:custGeom>
            <a:avLst/>
            <a:gdLst/>
            <a:ahLst/>
            <a:cxnLst/>
            <a:rect l="l" t="t" r="r" b="b"/>
            <a:pathLst>
              <a:path w="2626359" h="0">
                <a:moveTo>
                  <a:pt x="2625852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44056" y="2663951"/>
            <a:ext cx="0" cy="1304925"/>
          </a:xfrm>
          <a:custGeom>
            <a:avLst/>
            <a:gdLst/>
            <a:ahLst/>
            <a:cxnLst/>
            <a:rect l="l" t="t" r="r" b="b"/>
            <a:pathLst>
              <a:path w="0" h="1304925">
                <a:moveTo>
                  <a:pt x="0" y="0"/>
                </a:moveTo>
                <a:lnTo>
                  <a:pt x="0" y="1304798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43371" y="3968496"/>
            <a:ext cx="900430" cy="0"/>
          </a:xfrm>
          <a:custGeom>
            <a:avLst/>
            <a:gdLst/>
            <a:ahLst/>
            <a:cxnLst/>
            <a:rect l="l" t="t" r="r" b="b"/>
            <a:pathLst>
              <a:path w="900429" h="0">
                <a:moveTo>
                  <a:pt x="900049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43371" y="1897379"/>
            <a:ext cx="0" cy="2070735"/>
          </a:xfrm>
          <a:custGeom>
            <a:avLst/>
            <a:gdLst/>
            <a:ahLst/>
            <a:cxnLst/>
            <a:rect l="l" t="t" r="r" b="b"/>
            <a:pathLst>
              <a:path w="0" h="2070735">
                <a:moveTo>
                  <a:pt x="0" y="2070608"/>
                </a:moveTo>
                <a:lnTo>
                  <a:pt x="0" y="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43371" y="1897379"/>
            <a:ext cx="3526154" cy="0"/>
          </a:xfrm>
          <a:custGeom>
            <a:avLst/>
            <a:gdLst/>
            <a:ahLst/>
            <a:cxnLst/>
            <a:rect l="l" t="t" r="r" b="b"/>
            <a:pathLst>
              <a:path w="3526154" h="0">
                <a:moveTo>
                  <a:pt x="0" y="0"/>
                </a:moveTo>
                <a:lnTo>
                  <a:pt x="3525901" y="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69907" y="1897379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4">
                <a:moveTo>
                  <a:pt x="0" y="0"/>
                </a:moveTo>
                <a:lnTo>
                  <a:pt x="0" y="765937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33971" y="2753867"/>
            <a:ext cx="2581910" cy="0"/>
          </a:xfrm>
          <a:custGeom>
            <a:avLst/>
            <a:gdLst/>
            <a:ahLst/>
            <a:cxnLst/>
            <a:rect l="l" t="t" r="r" b="b"/>
            <a:pathLst>
              <a:path w="2581909" h="0">
                <a:moveTo>
                  <a:pt x="2581909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33971" y="2753867"/>
            <a:ext cx="0" cy="1214755"/>
          </a:xfrm>
          <a:custGeom>
            <a:avLst/>
            <a:gdLst/>
            <a:ahLst/>
            <a:cxnLst/>
            <a:rect l="l" t="t" r="r" b="b"/>
            <a:pathLst>
              <a:path w="0" h="1214754">
                <a:moveTo>
                  <a:pt x="0" y="0"/>
                </a:moveTo>
                <a:lnTo>
                  <a:pt x="0" y="1214755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33971" y="3968496"/>
            <a:ext cx="630555" cy="0"/>
          </a:xfrm>
          <a:custGeom>
            <a:avLst/>
            <a:gdLst/>
            <a:ahLst/>
            <a:cxnLst/>
            <a:rect l="l" t="t" r="r" b="b"/>
            <a:pathLst>
              <a:path w="630554" h="0">
                <a:moveTo>
                  <a:pt x="0" y="0"/>
                </a:moveTo>
                <a:lnTo>
                  <a:pt x="630047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63383" y="3361944"/>
            <a:ext cx="0" cy="607695"/>
          </a:xfrm>
          <a:custGeom>
            <a:avLst/>
            <a:gdLst/>
            <a:ahLst/>
            <a:cxnLst/>
            <a:rect l="l" t="t" r="r" b="b"/>
            <a:pathLst>
              <a:path w="0" h="607695">
                <a:moveTo>
                  <a:pt x="0" y="607313"/>
                </a:moveTo>
                <a:lnTo>
                  <a:pt x="0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63383" y="3316223"/>
            <a:ext cx="1951989" cy="0"/>
          </a:xfrm>
          <a:custGeom>
            <a:avLst/>
            <a:gdLst/>
            <a:ahLst/>
            <a:cxnLst/>
            <a:rect l="l" t="t" r="r" b="b"/>
            <a:pathLst>
              <a:path w="1951990" h="0">
                <a:moveTo>
                  <a:pt x="0" y="0"/>
                </a:moveTo>
                <a:lnTo>
                  <a:pt x="1951863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215628" y="2753867"/>
            <a:ext cx="0" cy="562610"/>
          </a:xfrm>
          <a:custGeom>
            <a:avLst/>
            <a:gdLst/>
            <a:ahLst/>
            <a:cxnLst/>
            <a:rect l="l" t="t" r="r" b="b"/>
            <a:pathLst>
              <a:path w="0" h="562610">
                <a:moveTo>
                  <a:pt x="0" y="0"/>
                </a:moveTo>
                <a:lnTo>
                  <a:pt x="0" y="562356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98625" y="4538090"/>
            <a:ext cx="1823974" cy="4776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64640" y="5234202"/>
            <a:ext cx="1093622" cy="1998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77777" y="5580888"/>
            <a:ext cx="968289" cy="5013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78839" y="1884426"/>
            <a:ext cx="4880610" cy="410400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842644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đường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khác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nhau,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đường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dirty="0" baseline="-21367" sz="1950" spc="-254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, 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đường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qua</a:t>
            </a:r>
            <a:r>
              <a:rPr dirty="0" sz="2000" spc="-35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232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algn="just" marL="104139" marR="841375" indent="-91440">
              <a:lnSpc>
                <a:spcPts val="2160"/>
              </a:lnSpc>
              <a:spcBef>
                <a:spcPts val="14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245">
                <a:solidFill>
                  <a:srgbClr val="404040"/>
                </a:solidFill>
                <a:latin typeface="Arial"/>
                <a:cs typeface="Arial"/>
              </a:rPr>
              <a:t>Tổ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hợp 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315">
                <a:solidFill>
                  <a:srgbClr val="404040"/>
                </a:solidFill>
                <a:latin typeface="Arial"/>
                <a:cs typeface="Arial"/>
              </a:rPr>
              <a:t>1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dirty="0" baseline="-21367" sz="1950" spc="-315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r>
              <a:rPr dirty="0" sz="2000" spc="-1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thấp.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ts val="2280"/>
              </a:lnSpc>
              <a:spcBef>
                <a:spcPts val="112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  <a:tab pos="643255" algn="l"/>
                <a:tab pos="1195070" algn="l"/>
                <a:tab pos="1777364" algn="l"/>
                <a:tab pos="2387600" algn="l"/>
                <a:tab pos="3050540" algn="l"/>
                <a:tab pos="3608070" algn="l"/>
              </a:tabLst>
            </a:pPr>
            <a:r>
              <a:rPr dirty="0" sz="2000" spc="-245">
                <a:solidFill>
                  <a:srgbClr val="404040"/>
                </a:solidFill>
                <a:latin typeface="Arial"/>
                <a:cs typeface="Arial"/>
              </a:rPr>
              <a:t>Tổ	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hợp	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dirty="0" baseline="-21367" sz="1950" spc="-315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dirty="0" sz="2000" spc="-21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dirty="0" baseline="-21367" sz="1950" spc="-315">
                <a:solidFill>
                  <a:srgbClr val="404040"/>
                </a:solidFill>
                <a:latin typeface="Arial"/>
                <a:cs typeface="Arial"/>
              </a:rPr>
              <a:t>2	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	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động	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như	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cao.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Times New Roman"/>
              <a:cs typeface="Times New Roman"/>
            </a:endParaRPr>
          </a:p>
          <a:p>
            <a:pPr marL="25908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Tần số trung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tâm</a:t>
            </a:r>
            <a:endParaRPr sz="2400">
              <a:latin typeface="Times New Roman"/>
              <a:cs typeface="Times New Roman"/>
            </a:endParaRPr>
          </a:p>
          <a:p>
            <a:pPr algn="ctr" marR="76835">
              <a:lnSpc>
                <a:spcPct val="100000"/>
              </a:lnSpc>
              <a:spcBef>
                <a:spcPts val="1565"/>
              </a:spcBef>
            </a:pPr>
            <a:r>
              <a:rPr dirty="0" sz="2400" spc="-5">
                <a:latin typeface="Times New Roman"/>
                <a:cs typeface="Times New Roman"/>
              </a:rPr>
              <a:t>Độ </a:t>
            </a:r>
            <a:r>
              <a:rPr dirty="0" sz="2400">
                <a:latin typeface="Times New Roman"/>
                <a:cs typeface="Times New Roman"/>
              </a:rPr>
              <a:t>chọn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lọc</a:t>
            </a:r>
            <a:endParaRPr sz="2400">
              <a:latin typeface="Times New Roman"/>
              <a:cs typeface="Times New Roman"/>
            </a:endParaRPr>
          </a:p>
          <a:p>
            <a:pPr marL="1660525">
              <a:lnSpc>
                <a:spcPct val="100000"/>
              </a:lnSpc>
              <a:spcBef>
                <a:spcPts val="795"/>
              </a:spcBef>
            </a:pPr>
            <a:r>
              <a:rPr dirty="0" sz="2400" spc="-5">
                <a:latin typeface="Times New Roman"/>
                <a:cs typeface="Times New Roman"/>
              </a:rPr>
              <a:t>Độ </a:t>
            </a:r>
            <a:r>
              <a:rPr dirty="0" sz="2400">
                <a:latin typeface="Times New Roman"/>
                <a:cs typeface="Times New Roman"/>
              </a:rPr>
              <a:t>lợi tại tần số trung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tâm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727837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u="none" sz="4800" spc="-265">
                <a:solidFill>
                  <a:srgbClr val="404040"/>
                </a:solidFill>
              </a:rPr>
              <a:t>Mạch</a:t>
            </a:r>
            <a:r>
              <a:rPr dirty="0" u="none" sz="4800" spc="-360">
                <a:solidFill>
                  <a:srgbClr val="404040"/>
                </a:solidFill>
              </a:rPr>
              <a:t> </a:t>
            </a:r>
            <a:r>
              <a:rPr dirty="0" u="none" sz="4800" spc="-215">
                <a:solidFill>
                  <a:srgbClr val="404040"/>
                </a:solidFill>
              </a:rPr>
              <a:t>lọc</a:t>
            </a:r>
            <a:r>
              <a:rPr dirty="0" u="none" sz="4800" spc="-360">
                <a:solidFill>
                  <a:srgbClr val="404040"/>
                </a:solidFill>
              </a:rPr>
              <a:t> </a:t>
            </a:r>
            <a:r>
              <a:rPr dirty="0" u="none" sz="4800" spc="-265">
                <a:solidFill>
                  <a:srgbClr val="404040"/>
                </a:solidFill>
              </a:rPr>
              <a:t>đa</a:t>
            </a:r>
            <a:r>
              <a:rPr dirty="0" u="none" sz="4800" spc="-365">
                <a:solidFill>
                  <a:srgbClr val="404040"/>
                </a:solidFill>
              </a:rPr>
              <a:t> </a:t>
            </a:r>
            <a:r>
              <a:rPr dirty="0" u="none" sz="4800" spc="-150">
                <a:solidFill>
                  <a:srgbClr val="404040"/>
                </a:solidFill>
              </a:rPr>
              <a:t>hồi</a:t>
            </a:r>
            <a:r>
              <a:rPr dirty="0" u="none" sz="4800" spc="-360">
                <a:solidFill>
                  <a:srgbClr val="404040"/>
                </a:solidFill>
              </a:rPr>
              <a:t> </a:t>
            </a:r>
            <a:r>
              <a:rPr dirty="0" u="none" sz="4800" spc="-100">
                <a:solidFill>
                  <a:srgbClr val="404040"/>
                </a:solidFill>
              </a:rPr>
              <a:t>tiếp</a:t>
            </a:r>
            <a:r>
              <a:rPr dirty="0" u="none" sz="4800" spc="-345">
                <a:solidFill>
                  <a:srgbClr val="404040"/>
                </a:solidFill>
              </a:rPr>
              <a:t> </a:t>
            </a:r>
            <a:r>
              <a:rPr dirty="0" u="none" sz="4800" spc="-180">
                <a:solidFill>
                  <a:srgbClr val="404040"/>
                </a:solidFill>
              </a:rPr>
              <a:t>thông</a:t>
            </a:r>
            <a:r>
              <a:rPr dirty="0" u="none" sz="4800" spc="-365">
                <a:solidFill>
                  <a:srgbClr val="404040"/>
                </a:solidFill>
              </a:rPr>
              <a:t> </a:t>
            </a:r>
            <a:r>
              <a:rPr dirty="0" u="none" sz="4800" spc="-235">
                <a:solidFill>
                  <a:srgbClr val="404040"/>
                </a:solidFill>
              </a:rPr>
              <a:t>dải  </a:t>
            </a:r>
            <a:r>
              <a:rPr dirty="0" u="none" sz="4800" spc="-204">
                <a:solidFill>
                  <a:srgbClr val="404040"/>
                </a:solidFill>
              </a:rPr>
              <a:t>(multiple-feedback</a:t>
            </a:r>
            <a:r>
              <a:rPr dirty="0" u="none" sz="4800" spc="-340">
                <a:solidFill>
                  <a:srgbClr val="404040"/>
                </a:solidFill>
              </a:rPr>
              <a:t> </a:t>
            </a:r>
            <a:r>
              <a:rPr dirty="0" u="none" sz="4800" spc="-55">
                <a:solidFill>
                  <a:srgbClr val="404040"/>
                </a:solidFill>
              </a:rPr>
              <a:t>filter)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043045" cy="8794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trung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tâm,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lợi 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trung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tâm,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chọn 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băng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bên.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98625" y="4538090"/>
            <a:ext cx="1823974" cy="477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4640" y="5234202"/>
            <a:ext cx="1093622" cy="199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77777" y="5580888"/>
            <a:ext cx="968289" cy="5013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23471" y="1828367"/>
            <a:ext cx="4111380" cy="27775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18917" y="4367276"/>
            <a:ext cx="3241040" cy="1621155"/>
          </a:xfrm>
          <a:prstGeom prst="rect">
            <a:avLst/>
          </a:prstGeom>
        </p:spPr>
        <p:txBody>
          <a:bodyPr wrap="square" lIns="0" tIns="211454" rIns="0" bIns="0" rtlCol="0" vert="horz">
            <a:spAutoFit/>
          </a:bodyPr>
          <a:lstStyle/>
          <a:p>
            <a:pPr marL="951230">
              <a:lnSpc>
                <a:spcPct val="100000"/>
              </a:lnSpc>
              <a:spcBef>
                <a:spcPts val="1664"/>
              </a:spcBef>
            </a:pPr>
            <a:r>
              <a:rPr dirty="0" sz="2400">
                <a:latin typeface="Times New Roman"/>
                <a:cs typeface="Times New Roman"/>
              </a:rPr>
              <a:t>Tần số trung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tâm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400" spc="-5">
                <a:latin typeface="Times New Roman"/>
                <a:cs typeface="Times New Roman"/>
              </a:rPr>
              <a:t>Độ </a:t>
            </a:r>
            <a:r>
              <a:rPr dirty="0" sz="2400">
                <a:latin typeface="Times New Roman"/>
                <a:cs typeface="Times New Roman"/>
              </a:rPr>
              <a:t>chọn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lọc</a:t>
            </a:r>
            <a:endParaRPr sz="24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  <a:spcBef>
                <a:spcPts val="790"/>
              </a:spcBef>
            </a:pPr>
            <a:r>
              <a:rPr dirty="0" sz="2400" spc="-5">
                <a:latin typeface="Times New Roman"/>
                <a:cs typeface="Times New Roman"/>
              </a:rPr>
              <a:t>Độ </a:t>
            </a:r>
            <a:r>
              <a:rPr dirty="0" sz="2400">
                <a:latin typeface="Times New Roman"/>
                <a:cs typeface="Times New Roman"/>
              </a:rPr>
              <a:t>lợi tại tần số trung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tâm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757428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 u="none" sz="4800" spc="-265">
                <a:solidFill>
                  <a:srgbClr val="404040"/>
                </a:solidFill>
              </a:rPr>
              <a:t>Mạch</a:t>
            </a:r>
            <a:r>
              <a:rPr dirty="0" u="none" sz="4800" spc="-360">
                <a:solidFill>
                  <a:srgbClr val="404040"/>
                </a:solidFill>
              </a:rPr>
              <a:t> </a:t>
            </a:r>
            <a:r>
              <a:rPr dirty="0" u="none" sz="4800" spc="-215">
                <a:solidFill>
                  <a:srgbClr val="404040"/>
                </a:solidFill>
              </a:rPr>
              <a:t>lọc</a:t>
            </a:r>
            <a:r>
              <a:rPr dirty="0" u="none" sz="4800" spc="-360">
                <a:solidFill>
                  <a:srgbClr val="404040"/>
                </a:solidFill>
              </a:rPr>
              <a:t> </a:t>
            </a:r>
            <a:r>
              <a:rPr dirty="0" u="none" sz="4800" spc="-265">
                <a:solidFill>
                  <a:srgbClr val="404040"/>
                </a:solidFill>
              </a:rPr>
              <a:t>đa</a:t>
            </a:r>
            <a:r>
              <a:rPr dirty="0" u="none" sz="4800" spc="-365">
                <a:solidFill>
                  <a:srgbClr val="404040"/>
                </a:solidFill>
              </a:rPr>
              <a:t> </a:t>
            </a:r>
            <a:r>
              <a:rPr dirty="0" u="none" sz="4800" spc="-150">
                <a:solidFill>
                  <a:srgbClr val="404040"/>
                </a:solidFill>
              </a:rPr>
              <a:t>hồi</a:t>
            </a:r>
            <a:r>
              <a:rPr dirty="0" u="none" sz="4800" spc="-355">
                <a:solidFill>
                  <a:srgbClr val="404040"/>
                </a:solidFill>
              </a:rPr>
              <a:t> </a:t>
            </a:r>
            <a:r>
              <a:rPr dirty="0" u="none" sz="4800" spc="-100">
                <a:solidFill>
                  <a:srgbClr val="404040"/>
                </a:solidFill>
              </a:rPr>
              <a:t>tiếp</a:t>
            </a:r>
            <a:r>
              <a:rPr dirty="0" u="none" sz="4800" spc="-350">
                <a:solidFill>
                  <a:srgbClr val="404040"/>
                </a:solidFill>
              </a:rPr>
              <a:t> </a:t>
            </a:r>
            <a:r>
              <a:rPr dirty="0" u="none" sz="4800" spc="5">
                <a:solidFill>
                  <a:srgbClr val="404040"/>
                </a:solidFill>
              </a:rPr>
              <a:t>triệt</a:t>
            </a:r>
            <a:r>
              <a:rPr dirty="0" u="none" sz="4800" spc="-365">
                <a:solidFill>
                  <a:srgbClr val="404040"/>
                </a:solidFill>
              </a:rPr>
              <a:t> </a:t>
            </a:r>
            <a:r>
              <a:rPr dirty="0" u="none" sz="4800" spc="-180">
                <a:solidFill>
                  <a:srgbClr val="404040"/>
                </a:solidFill>
              </a:rPr>
              <a:t>thông  </a:t>
            </a:r>
            <a:r>
              <a:rPr dirty="0" u="none" sz="4800" spc="-215">
                <a:solidFill>
                  <a:srgbClr val="404040"/>
                </a:solidFill>
              </a:rPr>
              <a:t>(multiple-feedback</a:t>
            </a:r>
            <a:r>
              <a:rPr dirty="0" u="none" sz="4800" spc="-335">
                <a:solidFill>
                  <a:srgbClr val="404040"/>
                </a:solidFill>
              </a:rPr>
              <a:t> </a:t>
            </a:r>
            <a:r>
              <a:rPr dirty="0" u="none" sz="4800" spc="-65">
                <a:solidFill>
                  <a:srgbClr val="404040"/>
                </a:solidFill>
              </a:rPr>
              <a:t>filter)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332295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triệt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57101" y="2602286"/>
            <a:ext cx="5409615" cy="3589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  <a:tabLst>
                <a:tab pos="8117840" algn="l"/>
              </a:tabLst>
            </a:pPr>
            <a:r>
              <a:rPr dirty="0" spc="-590"/>
              <a:t>Thank</a:t>
            </a:r>
            <a:r>
              <a:rPr dirty="0" spc="-610"/>
              <a:t> </a:t>
            </a:r>
            <a:r>
              <a:rPr dirty="0" spc="-225"/>
              <a:t>you!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2019-03-22T06:04:15Z</dcterms:created>
  <dcterms:modified xsi:type="dcterms:W3CDTF">2019-03-22T06:04:15Z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